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374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428" r:id="rId17"/>
    <p:sldId id="429" r:id="rId18"/>
    <p:sldId id="399" r:id="rId19"/>
    <p:sldId id="400" r:id="rId20"/>
    <p:sldId id="401" r:id="rId21"/>
    <p:sldId id="402" r:id="rId22"/>
    <p:sldId id="403" r:id="rId23"/>
    <p:sldId id="404" r:id="rId24"/>
    <p:sldId id="443" r:id="rId25"/>
    <p:sldId id="405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30" r:id="rId35"/>
    <p:sldId id="431" r:id="rId36"/>
    <p:sldId id="432" r:id="rId37"/>
    <p:sldId id="439" r:id="rId38"/>
    <p:sldId id="440" r:id="rId39"/>
    <p:sldId id="441" r:id="rId40"/>
    <p:sldId id="442" r:id="rId41"/>
    <p:sldId id="434" r:id="rId42"/>
    <p:sldId id="415" r:id="rId43"/>
    <p:sldId id="416" r:id="rId44"/>
    <p:sldId id="417" r:id="rId45"/>
    <p:sldId id="418" r:id="rId46"/>
    <p:sldId id="419" r:id="rId47"/>
    <p:sldId id="420" r:id="rId48"/>
    <p:sldId id="421" r:id="rId49"/>
    <p:sldId id="422" r:id="rId50"/>
    <p:sldId id="423" r:id="rId51"/>
    <p:sldId id="424" r:id="rId52"/>
    <p:sldId id="444" r:id="rId53"/>
    <p:sldId id="445" r:id="rId54"/>
    <p:sldId id="425" r:id="rId55"/>
    <p:sldId id="426" r:id="rId56"/>
    <p:sldId id="427" r:id="rId5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D7371"/>
    <a:srgbClr val="AEC87A"/>
    <a:srgbClr val="FFFF66"/>
    <a:srgbClr val="EEB500"/>
    <a:srgbClr val="FFFF99"/>
    <a:srgbClr val="FFC000"/>
    <a:srgbClr val="F2F2F2"/>
    <a:srgbClr val="A27B00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ลักษณะชุดรูปแบบ 1 - เน้น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ลักษณะชุดรูปแบบ 1 - เน้น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50841" autoAdjust="0"/>
  </p:normalViewPr>
  <p:slideViewPr>
    <p:cSldViewPr>
      <p:cViewPr varScale="1">
        <p:scale>
          <a:sx n="118" d="100"/>
          <a:sy n="118" d="100"/>
        </p:scale>
        <p:origin x="14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1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38039-F159-45C3-A644-7F42F872B1BA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AE29B-0941-44F9-87BD-2E5ACC3A546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5471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6B566-7E78-41FF-B18B-FAC0950C1B4C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ยึด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3A03-8F57-4F17-854D-AECA137870C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11718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803A03-8F57-4F17-854D-AECA137870CB}" type="slidenum">
              <a:rPr lang="th-TH" smtClean="0"/>
              <a:pPr/>
              <a:t>56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276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A3CC-3460-4A29-AFAC-63894EDB35C0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B9C3-C0BD-4545-A800-14CB27685080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28258-93D8-4333-9E5D-99B83EFDD29E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64C54-771F-4F59-92CF-8473E607310A}" type="datetime1">
              <a:rPr lang="th-TH" smtClean="0"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0853A-CCC9-44C8-8815-4B0499767B5A}" type="datetime1">
              <a:rPr lang="th-TH" smtClean="0"/>
              <a:t>20/01/69</a:t>
            </a:fld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656C-5296-4BBC-8246-6312FC190DCC}" type="datetime1">
              <a:rPr lang="th-TH" smtClean="0"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0A43-4610-496B-BCD8-27C06D223FB8}" type="datetime1">
              <a:rPr lang="th-TH" smtClean="0"/>
              <a:t>20/01/69</a:t>
            </a:fld>
            <a:endParaRPr lang="th-TH"/>
          </a:p>
        </p:txBody>
      </p:sp>
      <p:sp>
        <p:nvSpPr>
          <p:cNvPr id="3" name="ตัวยึด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676A-94BE-4082-9D82-AED1B440F5E4}" type="datetime1">
              <a:rPr lang="th-TH" smtClean="0"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93C1-6CA2-45FF-BD4C-D48E31AE48BE}" type="datetime1">
              <a:rPr lang="th-TH" smtClean="0"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3FB0-4C7E-4ADA-A019-5BE0B04E0A4C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FF2FC-ECB3-4156-B512-6E72F48D4088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DD003-09AF-48B6-87BA-DBF82759C92B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ตัวแทนข้อความ 3"/>
          <p:cNvSpPr txBox="1">
            <a:spLocks/>
          </p:cNvSpPr>
          <p:nvPr/>
        </p:nvSpPr>
        <p:spPr>
          <a:xfrm>
            <a:off x="4661756" y="3067274"/>
            <a:ext cx="4248472" cy="19269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6">
                  <a:lumMod val="75000"/>
                </a:schemeClr>
              </a:buClr>
            </a:pPr>
            <a:br>
              <a:rPr lang="th-TH" sz="2800" b="1" i="1" dirty="0">
                <a:solidFill>
                  <a:srgbClr val="FF0066"/>
                </a:solidFill>
              </a:rPr>
            </a:br>
            <a:endParaRPr lang="th-TH" sz="2800" b="1" dirty="0">
              <a:solidFill>
                <a:srgbClr val="FF0066"/>
              </a:solidFill>
              <a:latin typeface="TH Baijam" pitchFamily="2" charset="-34"/>
              <a:cs typeface="TH Baijam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1517" y="777276"/>
            <a:ext cx="795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800" b="1" dirty="0">
                <a:solidFill>
                  <a:srgbClr val="FE0067"/>
                </a:solidFill>
                <a:latin typeface="AngsanaUPC" pitchFamily="18" charset="-34"/>
                <a:cs typeface="AngsanaUPC" pitchFamily="18" charset="-34"/>
              </a:rPr>
              <a:t>การสำรวจระบบ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923" y="240033"/>
            <a:ext cx="938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gsanaUPC" pitchFamily="18" charset="-34"/>
                <a:cs typeface="AngsanaUPC" pitchFamily="18" charset="-34"/>
              </a:rPr>
              <a:t>บทที่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301" y="-27384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Wide Latin" pitchFamily="18" charset="0"/>
                <a:cs typeface="#ZF Terminal" pitchFamily="2" charset="0"/>
              </a:rPr>
              <a:t>4</a:t>
            </a:r>
            <a:endParaRPr lang="th-TH" sz="7200" b="1" dirty="0">
              <a:solidFill>
                <a:schemeClr val="tx1">
                  <a:lumMod val="50000"/>
                  <a:lumOff val="50000"/>
                </a:schemeClr>
              </a:solidFill>
              <a:latin typeface="Wide Latin" pitchFamily="18" charset="0"/>
              <a:cs typeface="#ZF Terminal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9" y="1214085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sz="4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System Investigation</a:t>
            </a:r>
            <a:r>
              <a:rPr lang="th-TH" sz="4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</a:t>
            </a:r>
          </a:p>
        </p:txBody>
      </p:sp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1</a:t>
            </a:fld>
            <a:endParaRPr lang="th-TH"/>
          </a:p>
        </p:txBody>
      </p:sp>
      <p:sp>
        <p:nvSpPr>
          <p:cNvPr id="3" name="ตัวแทนข้อความ 3">
            <a:extLst>
              <a:ext uri="{FF2B5EF4-FFF2-40B4-BE49-F238E27FC236}">
                <a16:creationId xmlns:a16="http://schemas.microsoft.com/office/drawing/2014/main" id="{080FD7AC-B78D-AA12-7F13-3CFAD1FEACFE}"/>
              </a:ext>
            </a:extLst>
          </p:cNvPr>
          <p:cNvSpPr txBox="1">
            <a:spLocks/>
          </p:cNvSpPr>
          <p:nvPr/>
        </p:nvSpPr>
        <p:spPr>
          <a:xfrm>
            <a:off x="4385407" y="4157509"/>
            <a:ext cx="4703107" cy="836712"/>
          </a:xfrm>
          <a:prstGeom prst="rect">
            <a:avLst/>
          </a:prstGeom>
          <a:solidFill>
            <a:srgbClr val="F2F2F2">
              <a:alpha val="38824"/>
            </a:srgbClr>
          </a:solidFill>
        </p:spPr>
        <p:txBody>
          <a:bodyPr/>
          <a:lstStyle>
            <a:defPPr>
              <a:defRPr lang="th-TH"/>
            </a:defPPr>
            <a:lvl1pPr marL="342900" indent="-3429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ITC2006 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การวิเคราะห์และออกแบบระบบสารสนเทศ</a:t>
            </a:r>
          </a:p>
          <a:p>
            <a:pPr algn="r"/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  อ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เขมวิทย์ จิตตะ</a:t>
            </a:r>
            <a:r>
              <a:rPr lang="th-TH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ยโศ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ธร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สี่เหลี่ยมผืนผ้า 28"/>
          <p:cNvSpPr/>
          <p:nvPr/>
        </p:nvSpPr>
        <p:spPr>
          <a:xfrm>
            <a:off x="1571271" y="116219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</a:p>
        </p:txBody>
      </p:sp>
      <p:sp>
        <p:nvSpPr>
          <p:cNvPr id="30" name="สี่เหลี่ยมผืนผ้า 29"/>
          <p:cNvSpPr/>
          <p:nvPr/>
        </p:nvSpPr>
        <p:spPr>
          <a:xfrm>
            <a:off x="1001010" y="116192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1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01272" y="355303"/>
            <a:ext cx="6323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รายละเอียดของเนื้อหา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1571271" y="175274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1001010" y="175247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2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</a:t>
            </a:fld>
            <a:endParaRPr lang="th-TH" sz="320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24880" y="1268760"/>
            <a:ext cx="7579568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เพื่อให้ได้ข้อมูลตามที่ต้องการ และเหมาะสม ต้องการมีกำหนดขอบเขตของข้อมูล ที่ต้องการซึ่งแบ่งเป็น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4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กลุ่มดังนี้ </a:t>
            </a:r>
          </a:p>
          <a:p>
            <a:pPr marL="457200" lvl="1" indent="0">
              <a:buClr>
                <a:srgbClr val="FF0066"/>
              </a:buClr>
              <a:buNone/>
              <a:defRPr/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. ข้อมูลเกี่ยวกับองค์กร</a:t>
            </a:r>
          </a:p>
          <a:p>
            <a:pPr marL="457200" lvl="1" indent="0">
              <a:buClr>
                <a:srgbClr val="FF0066"/>
              </a:buClr>
              <a:buNone/>
              <a:defRPr/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. ข้อมูลเกี่ยวกับบุคลากร</a:t>
            </a:r>
            <a:endParaRPr lang="th-TH" sz="3200" dirty="0">
              <a:latin typeface="TH SarabunPSK" pitchFamily="34" charset="-34"/>
              <a:cs typeface="TH SarabunPSK" pitchFamily="34" charset="-34"/>
            </a:endParaRPr>
          </a:p>
          <a:p>
            <a:pPr marL="457200" lvl="1" indent="0">
              <a:buClr>
                <a:srgbClr val="FF0066"/>
              </a:buClr>
              <a:buNone/>
              <a:defRPr/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3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. ข้อมูลเกี่ยวกับงาน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 </a:t>
            </a:r>
          </a:p>
          <a:p>
            <a:pPr marL="457200" lvl="1" indent="0">
              <a:buClr>
                <a:srgbClr val="FF0066"/>
              </a:buClr>
              <a:buNone/>
              <a:defRPr/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4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. ข้อมูลเกี่ยวกับสภาพแวดล้อม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 </a:t>
            </a:r>
          </a:p>
          <a:p>
            <a:pPr lvl="1"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sz="3200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>
          <a:xfrm>
            <a:off x="6553200" y="6568566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</a:t>
            </a:fld>
            <a:endParaRPr lang="th-TH" sz="3200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7838" y="1778124"/>
            <a:ext cx="7579568" cy="3052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เป้าหมายขององค์กร 	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Goals of the Company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เป้าหมายขององค์กรคือ เป้าหมายระยะยาวและแผนการกลยุทธ์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ที่กำหนดไว้ ซึ่งเป็นตัวบอกให้รู้ถึงจุดมุ่งหมายใน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5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ถึง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7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ปี ข้างหน้า วัตถุประสงค์ในการศึกษาถึงเป้าหมายขององค์กร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เพื่อกำหนดทิศทางและขอบเขตการวิเคราะห์ระบบ </a:t>
            </a:r>
          </a:p>
          <a:p>
            <a:pPr marL="457200" lvl="1" indent="0">
              <a:buClr>
                <a:srgbClr val="FF0066"/>
              </a:buClr>
              <a:buNone/>
              <a:defRPr/>
            </a:pPr>
            <a:endParaRPr lang="th-TH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ข้อมูลขององค์กร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824488793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24880" y="1844824"/>
            <a:ext cx="7795592" cy="23762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โครงสร้างขององค์กร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Organizational </a:t>
            </a:r>
            <a:r>
              <a:rPr lang="en-US" b="1" dirty="0" err="1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Structre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การศึกษาถึงโครงสร้างองค์กรนั้น เพื่อต้องการให้ทราบถึงหลักการการบริหารงาน และทิศทางขององค์กร นอกจากจะได้ทราบว่า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ใครเป็นใคร ทำหน้าที่อะไร จะได้นำเสนอข้อมูลตามที่แต่ละระบบต้องการ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ข้อมูลขององค์กร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252310470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772816"/>
            <a:ext cx="7795592" cy="3484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วัตถุประสงค์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Objectives and Purposes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ในองค์กรแบ่งเป็นแผนกหรือหน่วยงานย่อย ๆ ซึ่งในแต่ละแผนก แต่ละหน่วยงาน ก็มีวัตถุประสงค์ของตนเองโดยต้องสอดคล้องกันและสนับสนุนเป้าหมายขององค์กร วัตถุประสงค์ของการศึกษาวัตถุประสงค์ของแต่ละแผนก คือ เพื่อเป็นแนวทางให้รู้ทิศทาง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ของการไหล (รับ/ส่ง) ของข้อมูล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ข้อมูลขององค์กร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21005393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772816"/>
            <a:ext cx="7795592" cy="2692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นโยบาย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Policies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นโยบายเป็น</a:t>
            </a:r>
            <a:r>
              <a:rPr lang="th-TH" b="1" dirty="0" err="1">
                <a:latin typeface="TH SarabunPSK" pitchFamily="34" charset="-34"/>
                <a:cs typeface="TH SarabunPSK" pitchFamily="34" charset="-34"/>
              </a:rPr>
              <a:t>กฏ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ในการดำเนินงานขององค์กร ซึ่งต้องทำให้บรรลุเป้าหมายขององค์กร การศึกษาถึงนโยบายขององค์กรนั้น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เพื่อให้ทราบถึงความต้องการระบบสารสนเทศขององค์กร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ข้อมูลขององค์กร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7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425478879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อำนาจหน้าที่ความรับผิดชอบ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Authority and Responsibility Relationships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	จากโครงสร้างขององค์กรสามารถทราบได้ว่าใครเป็นใครในองค์กร และอำนาจหน้าที่ของเขา แต่บางครั้งการดำเนินงานจริง ๆ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ก็แตกต่างจากโครงสร้างที่กำหนด  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	 วัตถุประสงค์ของการศึกษาข้อมูลนี้คือ เพื่อให้ให้ทราบถึงการ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ปฏิบัติงานจริง ๆ ของบุคลากรแต่ละระดับ และทราบว่าใคร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มีหน้าที่ มีอำนาจในการตัดสินใจด้านใดบ้างตามที่ปฏิบัติอยู่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ข้อมูลเกี่ยวกับบุคลากร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8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085988099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หน้าที่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Job duties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ศึกษาการปฏิบัติงาน หน้าที่การงานขององค์แต่ละตำแหน่ง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ในองค์กร โดยการศึกษา จากเอกสารต่าง ๆ รวมทั้งคู่มือ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ที่เกิดขึ้นในระบบ เพื่อให้ทราบความเป็นไปของการดำเนินงาน 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ข้อมูลเกี่ยวกับบุคลากร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6820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2692782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ความสัมพันธ์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Interpersonal relationships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ในองค์กรใด ๆ ก็ตาม ความสัมพันธ์ ของบุคลากรเกิดขึ้น  โดยที่ทุกคน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ชอบที่จะทำงานร่วมกันเพื่อให้งานเสร็จลุล่วงไปด้วยดี และให้เวลาน้อยที่สุด ซึ่งบางครั้งการทำงานดังกล่าว อาจทำให้แตกต่างไปจากระบบการทำงาน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ที่ได้กำหนดไว้ในโครงสร้างขององค์กร นักวิเคราะห์ระบบ จำเป็นต้องหาข้อมูลจากเหตุการณ์ที่เกิดขึ้นจริง ๆ มากกว่าที่จะศึกษาจากข้อความ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ในเอกสารที่เขียนไว้ว่า การทำงานควรจะเป็นอย่างไร วัตถุประสงค์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ของการศึกษาความสัมพันธ์ของบุคลากรนั้น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ข้อมูลเกี่ยวกับบุคลากร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68566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790590941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ความต้องการสารสนเทศ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Information needs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การศึกษาความต้องการสารสนเทศนั้นเพื่อให้ทราบว่าสารสนเทศ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ที่ใช้ในระบบปัจจุบัน เป็นสารสนเทศที่ได้ตรงตามความต้องการมากแค่ไหน และทราบถึงความต้องการสารสนเทศจริง ๆ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ของผู้บริหารแต่ละระดับ นักวิเคราะห์ต้องทำการเปรียบเทียบ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ความต้องการของสารสนเทศที่ได้รับ เพื่อช่วยในการประเมิน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ความ</a:t>
            </a:r>
            <a:r>
              <a:rPr lang="th-TH" b="1" dirty="0" err="1">
                <a:latin typeface="TH SarabunPSK" pitchFamily="34" charset="-34"/>
                <a:cs typeface="TH SarabunPSK" pitchFamily="34" charset="-34"/>
              </a:rPr>
              <a:t>สมดุลย์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ของการไหลของข้อมูลภายในระบบได้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ข้อมูลเกี่ยวกับบุคลากร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11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3071279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การไหลของข้อมูล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Task and Work flows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วัตถุประสงค์ในการศึกษาการทำงานและระบบงาน คือ เพื่อทราบว่าการไหล หรือการรับ/การส่งข้อมูลภายในระบบ และการแปลงข้อมูลโดยหน้าที่ภายในระบบ การศึกษานี้ทำได้ โดยการรวบรวมเอกสาร แบบฟอร์มต่างๆ ที่เกิดขึ้นภายในระบบงานปัจจุบัน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ในแต่ละกระบวนการ โดยทั่วไปจะเน้นการศึกษาที่ข้อมูล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และการเปลี่ยนแปลงข้อมูลในโครงสร้างระบบ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12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758603389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วิธีการและกระบวนการทำงาน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Methods and procedures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การศึกษาวิธีการ และกระบวนการทำงานนี้เป็นการศึกษา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ที่กระบวนการจริงๆ โดยมุ่งเน้นจุดศูนย์กลางของงานโดยศึกษา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ว่างานอะไร โดยใคร ด้วยเครื่องมืออะไร มีตารางการทำงานอย่างไร ภายใต้กฎเกณฑ์ใด ซึ่งแตกต่างจากการศึกษาการทำงาน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และระบบงาน การศึกษาข้อมูลดังกล่าวนี้เน้นที่การกระทำ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และกระบวนการ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13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751084085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ตารางการทำงานและปริมาณงาน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Work schedules Volumes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ศึกษาว่าจำนวนงานเท่าไรที่ต้องการให้เสร็จ ในระยะเวลาที่กำหนดหรือไม่ ซึ่งจะทำให้รู้ว่าควรนำเอาระบบคอมพิวเตอร์มาช่วยในการพัฒนาระบบใหม่หรือไม่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9262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14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540076940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มาตรฐานการปฏิบัติงาน (</a:t>
            </a:r>
            <a:r>
              <a:rPr lang="en-US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Performance Standard)</a:t>
            </a:r>
            <a:br>
              <a:rPr lang="en-US" b="1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ระบบการทำงานของทุกองค์กรมีการกำหนดมาตรฐานการปฏิบัติงาน 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เพื่อวัดและประเมินผลงาน ซึ่งในการวัดและประเมินงานนั้นไม่เพียงแต่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ดูที่ตารางการทำงาน ปริมาณ แต่ดูที่คุณภาพ ความถูกต้อง ความเชื่อถือได้ และการยอมรับสารสนเทศของงานนั้นด้วย 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วัตถุประสงค์ของการศึกษานี้ คือเปรียบเทียบการทำงานจริงๆ และมาตรฐานของงานว่าเป็นไป ตามที่กำหนดหรือไม่ เพื่อทราบถึงคุณภาพของระบบงาน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ความบกพร่องของปัจจัยที่เกิดความบกพร่อง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597228460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2534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16</a:t>
            </a:fld>
            <a:endParaRPr lang="th-TH" sz="32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sz="28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เกณฑ์ของมาตรฐานการปฏิบัติงาน เช่น</a:t>
            </a:r>
          </a:p>
          <a:p>
            <a:pPr marL="0" indent="0">
              <a:buNone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	</a:t>
            </a:r>
            <a:r>
              <a:rPr lang="th-TH" sz="28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1. ปริมาณงานและระยะเวลาที่ปฏิบัติ 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เป็นการกำหนดว่างาน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ต้องมีปริมาณเท่าไร และควรจะใช้เวลาปฏิบัติมากน้อยเพียงใดงานจึงจะเสร็จ</a:t>
            </a:r>
          </a:p>
          <a:p>
            <a:pPr marL="0" indent="0">
              <a:buNone/>
            </a:pPr>
            <a:r>
              <a:rPr lang="th-TH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28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	2. คุณภาพของงาน 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เป็นการกำหนดว่าผลงานที่ปฏิบัติได้นั้นควรมีคุณภาพดีมากน้อยเพียงใด โดยส่วนใหญ่มักกำหนดว่าคุณภาพของงาน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จะต้องมีความครบถ้วน ประณีต ถูกต้องเชื่อถือได้ ประหยัดทั้งเวลาและ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 ทรัพยากร</a:t>
            </a:r>
          </a:p>
          <a:p>
            <a:pPr marL="0" indent="0">
              <a:buNone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	</a:t>
            </a:r>
            <a:endPara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13650006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17</a:t>
            </a:fld>
            <a:endParaRPr lang="th-TH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sz="28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เกณฑ์ของมาตรฐานการปฏิบัติงาน เช่น</a:t>
            </a:r>
          </a:p>
          <a:p>
            <a:pPr marL="0" indent="0">
              <a:buNone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	</a:t>
            </a:r>
            <a:r>
              <a:rPr lang="th-TH" sz="28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ลักษณะการแสดงออกขณะปฏิบัติงาน 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งานบางตำแหน่งไม่สามารถกำหนดมาตรฐานด้วย คุณภาพหรือปริมาณ แต่เป็นงานที่ต้องปฏิบัติโดยการใช้บุคลิกหรือลักษณะเฉพาะบางอย่างประกอบ เช่น การใช้สีหน้าและน้ำเสียงของบรรณารักษ์บริการตอบคำถามและช่วยการค้นคว้าในระหว่างการ ติดต่อสื่อสารกับผู้ใช้ห้องสมุด </a:t>
            </a:r>
          </a:p>
          <a:p>
            <a:pPr marL="0" indent="0">
              <a:buNone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  พฤติกรรมและบุคลิกลักษณะที่แสดงออกถือเป็นองค์ประกอบที่สำคัญ</a:t>
            </a:r>
          </a:p>
          <a:p>
            <a:pPr marL="0" indent="0">
              <a:buNone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  สำหรับตำแหน่งงานบริการที่ต้องติดต่อกับสาธารณชน เพราะถือได้ว่า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  เป็นตัวแทนขององค์การ 	</a:t>
            </a:r>
            <a:endPara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66191240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เครื่องมือที่ใช้ควบคุม (</a:t>
            </a:r>
            <a:r>
              <a:rPr lang="en-US" b="1" dirty="0" err="1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Contorl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Mechanisms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ศึกษาว่าอะไรเป็นตัวควบคุมระบบการทำงาน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เช่น ตำแหน่งงาน และภาระงาน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ข้อมูลเกี่ยวกับงาน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18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817346082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การกำหนดขอบเขตงาน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Resources available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วัตถุประสงค์ของการศึกษาเกี่ยวกับทรัพยากรที่มีอยู่นั้น คือ ต้องการทราบว่า ทรัพยากรที่องค์กรมีอยู่นั้นมีอะไรบ้าง จัดสรรอย่างไร ใช้อย่างคุ้มค่าหรือไม่ และถ้าต้องการมีการออกแบบใหม่ต้องซื้ออุปกรณ์ใดเพิ่ม สามารถนำทรัพยากรเก่ามาใช้กับระบบงานใหม่ ได้หรือไม่ ทรัพยากรในที่นี้ รวมถึงบุคคลากรในองค์กรด้วย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เพื่อเพิ่มฐานความรู้ของบุคลากร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ขอบเขตของข้อมูล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ข้อมูลเกี่ยวกับสภาพแวดล้อม</a:t>
            </a:r>
            <a:endParaRPr lang="en-US" sz="40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006391291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71600" y="1200944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วิธีการรวบรวมข้อมูลอาจทำได้หลายวิธี ขึ้นอยู่กับชนิดข้อมูล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ที่เราต้องการ การรวบรวมข้อมูลแยกได้ดังต่อไปนี้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การรวบรวมจากเอกสาร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Documents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แบบสอบถาม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Questionnaire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3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การสัมภาษณ์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Interview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4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การสังเกต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Observation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819985227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แหล่งข้อมูลจากเอกสารที่มีอยู่ในองค์กรที่นักวิเคราะห์และออกแบบระบบ ควรจะศึกษาและรวบรวมข้อมูลมีดังต่อไปนี้</a:t>
            </a:r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  <a:defRPr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	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โครงสร้างขององค์กร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Organization Charts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	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นโยบาย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Policy Manuals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	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คู่มือวิธีการปฏิบัติงาน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Methods and  Procedures Manuals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	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หน้าที่ความรับผิดชอบ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Job Descriptions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	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แบบฟอร์มรายงานต่าง ๆ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Forms and Reports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        	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การรับ/ส่งเอกสารและกระบวนการทำงาน  			 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Document Flow and Work Flow Diagram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		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ผังระบบงาน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 Flowcharts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การรวบรวมจากเอกสาร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Documents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21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736941134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กรณีที่องค์กรมีระบบงานคอมพิวเตอร์อยู่แล้ว เอกสารที่ต้องศึกษาเพิ่มเติมคือ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เอกสารเกี่ยวกับโปรแกรมคอมพิวเตอร์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Computer Program Documentation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คำอธิบายข้อมูล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 Dictionary listing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•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คู่มือการใช้ระบบงานคอมพิวเตอร์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Computer Operations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       Manuals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การรวบรวมจากเอกสาร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Documents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4503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22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818075287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แบบสอบถามเป็นเครื่องมือชนิดหนึ่งที่สร้างขึ้นเพื่อวัดความคิดเห็นต่างๆ หรือวัดความจริงที่ไม่ทราบ อันจะทำให้ได้มาซึ่งข้อเท็จจริงทั้งในอดีต ปัจจุบัน และการคาดคะเนเหตุการณ์ในอนาคต</a:t>
            </a:r>
          </a:p>
          <a:p>
            <a:pPr>
              <a:lnSpc>
                <a:spcPct val="90000"/>
              </a:lnSpc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ส่วนใหญ่จะอยู่ในรูปของคำถามเป็นชุดๆ เพื่อวัดสิ่งที่ต้องการวัด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โดยมีคำถามเป็นตัวกระตุ้นเร่งเร้า ให้บุคคลตอบออกมา นับว่าเป็นเครื่องมือที่นิยมใช้วัดทางด้านจิตพิสัย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Affective Domain) 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เมื่อเปรียบเทียบกับการสัมภาษณ์ แบบสอบถาม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จะเป็นแบบ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Impersonal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ซึ่งเป็นการหาข้อมูลได้ทีละมาก ๆ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จากจำนวนมาก เหมาะกับการที่ต้องหาข้อมูลจากคน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จำนวนมาก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23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3654511307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92267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24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โครงสร้างของแบบสอบถาม </a:t>
            </a:r>
          </a:p>
          <a:p>
            <a:pPr marL="0" indent="0">
              <a:buNone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	แบบสอบถามมีหลายชนิดแต่ไม่ว่าจะเป็นแบบสอบถามชนิดใดจะมีโครงสร้างหรือ ส่วนประกอบที่สำคัญ 3 ส่วน ดังนี้ </a:t>
            </a:r>
          </a:p>
          <a:p>
            <a:pPr marL="0" indent="0">
              <a:buNone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	1. คำชี้แจงในการตอบแบบสอบถาม </a:t>
            </a:r>
          </a:p>
          <a:p>
            <a:pPr marL="0" indent="0">
              <a:buNone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	2. สถานภาพทั่วไป ในส่วนนี้เป็นรายละเอียดส่วนตัว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ของผู้ตอบ </a:t>
            </a:r>
          </a:p>
          <a:p>
            <a:pPr marL="0" indent="0">
              <a:buNone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		3. ข้อคำถามเกี่ยวกับพฤติกรรมที่จะวัด จะถาม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   เกี่ยวกับสิ่งที่ต้องการจะวัด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71132513"/>
      </p:ext>
    </p:extLst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การวางแผนสำหรับการใช้แบบสอบถาม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กำหนดวัตถุประสงค์ที่แน่นอนสำหรับการรวบรวมข้อมูลที่ต้องการ แบบสอบถามที่ได้นั้นต้องกำหนดทางเลือกข้อคิดเห็น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เป็นทั้งคำถามปิดและคำถามเปิดเพื่อ ขอความคิดเห็นจากผู้ตอบ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กำหนดผู้ตอบแบบสอบถาม ถ้ามีจำนวนผู้ตอบมากกว่าควรใช้การสุ่ม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            3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. กำหนดแบบสอบถามเพื่อให้ผู้ตอบยอมรับแบบสอบถามนั้น</a:t>
            </a:r>
            <a:br>
              <a:rPr lang="en-US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            4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. กำหนดรูปแบบ (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Forms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) ของแบบสอบถามและวิธีการ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ประเมินผล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500432161"/>
      </p:ext>
    </p:extLst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การเขียนแบบสอบถาม ชนิดของคำถาม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รูปแบบของคำถามในแบบสอบถามแบ่งเป็น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ชนิด ดังนี้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. คำถามปลายเปิด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Open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-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ended questions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เป็นแบบสอบถามที่ไม่มีทางเลือกให้เลือกตอบ แต่ให้ผู้ตอบแบบสอบถาม แสดงความคิดเห็นของตนเอง 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ตัวอย่างคำถามปลายปิด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“ </a:t>
            </a:r>
            <a:r>
              <a:rPr lang="th-TH" sz="2800" b="1" i="1" dirty="0">
                <a:latin typeface="TH SarabunPSK" pitchFamily="34" charset="-34"/>
                <a:cs typeface="TH SarabunPSK" pitchFamily="34" charset="-34"/>
              </a:rPr>
              <a:t>คุณคิดว่าหน่วยงานต้องปรับปรุงอะไรเป็นอย่างแรก</a:t>
            </a:r>
            <a:br>
              <a:rPr lang="th-TH" sz="2800" b="1" i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i="1" dirty="0">
                <a:latin typeface="TH SarabunPSK" pitchFamily="34" charset="-34"/>
                <a:cs typeface="TH SarabunPSK" pitchFamily="34" charset="-34"/>
              </a:rPr>
              <a:t> 	      เพื่อให้สามารถให้บริการลูกค้าได้รวดเร็วขึ้น</a:t>
            </a:r>
            <a:r>
              <a:rPr lang="en-US" sz="2800" b="1" i="1" dirty="0">
                <a:latin typeface="TH SarabunPSK" pitchFamily="34" charset="-34"/>
                <a:cs typeface="TH SarabunPSK" pitchFamily="34" charset="-34"/>
              </a:rPr>
              <a:t>”</a:t>
            </a:r>
            <a:endParaRPr lang="th-TH" sz="2800" b="1" i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None/>
              <a:defRPr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	     ……………………………………………………………………………….</a:t>
            </a:r>
            <a:endParaRPr lang="th-TH" sz="28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558281207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90000"/>
              </a:lnSpc>
              <a:buNone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คำถามปลายปิด (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Closed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-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ended questions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เป็นคำถามที่มีคำตอบให้ผู้ตอบแบบสอบถาม โดยการ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เลือกคำตอบตามความคิดเห็น แบบสอบถามชนิดนี้มีหลายรูปแบบดังนี้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  2.1 </a:t>
            </a:r>
            <a:r>
              <a:rPr lang="th-TH" b="1" dirty="0" err="1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Multiple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 err="1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choice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เป็นตัวเลือกให้เลือกตอบ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ดังตัวอย่าง </a:t>
            </a:r>
          </a:p>
          <a:p>
            <a:pPr marL="1295400" lvl="2" indent="-3810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คุณบริการลูกค้าวันละประมาณกี่คน</a:t>
            </a:r>
          </a:p>
          <a:p>
            <a:pPr marL="1295400" lvl="2" indent="-381000">
              <a:lnSpc>
                <a:spcPct val="90000"/>
              </a:lnSpc>
              <a:buNone/>
              <a:defRPr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[  ] 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0-5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คน 			[  ] 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6-10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คน </a:t>
            </a:r>
          </a:p>
          <a:p>
            <a:pPr marL="1295400" lvl="2" indent="-381000">
              <a:lnSpc>
                <a:spcPct val="90000"/>
              </a:lnSpc>
              <a:buNone/>
              <a:defRPr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[  ] 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11-15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คน 		[  ]  มากกว่า 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15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คน </a:t>
            </a:r>
            <a:endParaRPr lang="en-US" sz="28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27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201956855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2.2 Rating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- 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Scale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เป็นคำถามที่ให้ตอบคำถามที่เป็นอัตราในการตอบคำถามนั้นๆ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ดังตัวอย่าง</a:t>
            </a:r>
          </a:p>
          <a:p>
            <a:pPr lvl="1">
              <a:lnSpc>
                <a:spcPct val="90000"/>
              </a:lnSpc>
              <a:buNone/>
              <a:defRPr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	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คุณเห็นด้วยกับนโยบายการนำเอาคอมพิวเตอร์มาใช้ในองค์กร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มากแค่ไหน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		[  ] เห็นด้วยมากที่สุด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		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[  ] เห็นด้วยมาก </a:t>
            </a:r>
          </a:p>
          <a:p>
            <a:pPr lvl="1">
              <a:lnSpc>
                <a:spcPct val="90000"/>
              </a:lnSpc>
              <a:buNone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			[  ] เห็นด้วยปานกลาง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		[  ] เห็นด้วยน้อย</a:t>
            </a:r>
          </a:p>
          <a:p>
            <a:pPr lvl="1">
              <a:lnSpc>
                <a:spcPct val="90000"/>
              </a:lnSpc>
              <a:buNone/>
              <a:defRPr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 			[  ]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ไม่เห็นด้วย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68385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28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392887114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2.3 Ranking </a:t>
            </a: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- </a:t>
            </a:r>
            <a:r>
              <a:rPr lang="en-US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Scale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เป็นคำถามที่ผู้ตอบแบบสอบถามต้องเลือกคำตอบระดับความคิดเห็น เรียงลำดับความสำคัญ ดังตัวอย่าง</a:t>
            </a:r>
          </a:p>
          <a:p>
            <a:pPr lvl="1">
              <a:lnSpc>
                <a:spcPct val="90000"/>
              </a:lnSpc>
              <a:buNone/>
              <a:defRPr/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		3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. เรียงลำดับตามความพอใจในการทำงานของคุณ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		__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เงินเดือน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		__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ผลประโยชน์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		__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เพื่อนร่วมงาน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		__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สภาพแวดล้อมในการทำงาน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		__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หัวหน้างาน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endParaRPr lang="en-US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68566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4499650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หลักการเขียนแบบสอบถาม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คำถามควรเป็นคำถามในเพียงหัวข้อเดียว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คำถามควรเหมาะสมกับผู้ตอบที่จะตอบได้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3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เรียงคำถามให้ต่อเนื่องสัมพันธ์กัน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4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คำถามควรออกแบบสำหรับคะแนนที่ง่ายในการวิเคราะห์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5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คำถามควรเป็นคำถามที่ชัดเจน กะทัดรัด เข้าใจง่าย มีข้อความ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103242804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ข้อดีของแบบสอบถาม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ประหยัดเวลา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ง่าย สะดวก และรวดเร็ว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th-TH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ข้อเสียของแบบสอบถาม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การทำแบบสอบถามที่ได้ผลตามความต้องนั้นยาก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มีข้อจำกัดในการได้ข้อมูลตามความต้องการ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แบบสอบถาม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Questionnaire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68385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31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325387583"/>
      </p:ext>
    </p:extLst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เป็นการเก็บรวบรวมข้อมูลโดยการพูดคุยซักถามบุคลากร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เพื่อให้ได้ข้อมูล ตามที่นักวิเคราะห์ระบบต้องการ ซึ่งเป็นวิธีหาข้อมูลที่สำคัญอีกวิธีหนึ่ง นักวิเคราะห์ต้องเตรียมตัวสัมภาษณ์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โดยศึกษาข้อมูลเกี่ยวกับองค์กรบางส่วนเพื่อเตรียมคำถามในการสัมภาษณ์ ผู้ที่จะสัมภาษณ์จะเป็นผู้บริหารระดับสูง ระดับกลาง ระดับล่าง เรื่องมาจนถึงพนักงาน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68385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32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188394987"/>
      </p:ext>
    </p:extLst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การสัมภาษณ์เริ่มจากผู้บริหารระดับสูงนั้น เพื่อต้องการทราบถึงวัตถุประสงค์ ขององค์กรและความต้องการของระบบของผู้บริหารแต่ละระดับ สิ่งที่ควรคำนึงถึงกาสัมภาษณ์นั้นคือ ควรทำให้ผู้ถูกสัมภาษณ์รู้สึกว่าเป็นการสนทนากันตามปกติ โดยมิให้เขามีความรู้สึกว่าเขาจะถูกแย่งงาน และพยายามเปิดโอกาสให้เขาออกความคิดเห็นและมีส่วนร่วมในการออกแบบระบบ เพื่อให้เขา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มีความรู้สึกที่ดีต่อระบบใหม่ที่กำลังพัฒนาขึ้น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33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841640401"/>
      </p:ext>
    </p:extLst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7650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34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th-TH" sz="36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องค์ประกอบของการสัมภาษณ์</a:t>
            </a:r>
            <a:endParaRPr lang="en-US" sz="3600" b="1" dirty="0">
              <a:latin typeface="TH SarabunPSK" pitchFamily="34" charset="-34"/>
              <a:cs typeface="TH SarabunPSK" pitchFamily="34" charset="-34"/>
            </a:endParaRPr>
          </a:p>
          <a:p>
            <a:pPr>
              <a:buNone/>
            </a:pPr>
            <a:r>
              <a:rPr lang="en-US" sz="2800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	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1. ผู้สัมภาษณ์ </a:t>
            </a:r>
          </a:p>
          <a:p>
            <a:pPr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	2. ผู้ให้สัมภาษณ์ </a:t>
            </a:r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pPr>
              <a:buNone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	3.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เรื่องที่จะสัมภาษณ์ </a:t>
            </a:r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pPr>
              <a:buNone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	4.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เป้าหมายการสัมภาษณ์ </a:t>
            </a:r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pPr>
              <a:buNone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		    5.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วิธีการสัมภาษณ์ </a:t>
            </a:r>
          </a:p>
          <a:p>
            <a:pPr>
              <a:lnSpc>
                <a:spcPct val="80000"/>
              </a:lnSpc>
              <a:buNone/>
              <a:defRPr/>
            </a:pP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0863942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92267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35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th-TH" sz="36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ประเภทของการสัมภาษณ์</a:t>
            </a:r>
            <a:endParaRPr lang="en-US" sz="3600" b="1" dirty="0"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การสัมภาษณ์แบบมีเค้าโครง หรือแบบมาตรฐาน</a:t>
            </a:r>
          </a:p>
          <a:p>
            <a:pPr marL="609600" indent="-609600"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Structured interview or standardized interview)</a:t>
            </a:r>
          </a:p>
          <a:p>
            <a:pPr marL="609600" indent="-609600">
              <a:buFontTx/>
              <a:buAutoNum type="arabicPeriod" startAt="2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การสัมภาษณ์แบบมีเค้าโครงน้อย หรือไม่มีเค้าโครงเลย</a:t>
            </a:r>
          </a:p>
          <a:p>
            <a:pPr marL="609600" indent="-609600"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Less structured interview) 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buNone/>
              <a:defRPr/>
            </a:pP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82133456"/>
      </p:ext>
    </p:extLst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92267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36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th-TH" sz="3600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ประเภทของการสัมภาษณ์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FontTx/>
              <a:buAutoNum type="arabicPeriod"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การสัมภาษณ์แบบมีเค้าโครง หรือแบบมาตรฐาน</a:t>
            </a:r>
          </a:p>
          <a:p>
            <a:pPr marL="609600" indent="-609600">
              <a:buNone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     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Structured interview or standardized interview)</a:t>
            </a: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คือ การสัมภาษณ์ที่ผู้สัมภาษณ์มีแบบสอบถามที่กำหนดคำถามคำตอบไว้แน่นอน ผู้ถูกสัมภาษณ์ทุกคนจะได้รับคำถามเช่นเดียวกันนี้เหมือนกันทุกคน</a:t>
            </a:r>
          </a:p>
          <a:p>
            <a:pPr marL="609600" indent="-609600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buNone/>
              <a:defRPr/>
            </a:pP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6646504"/>
      </p:ext>
    </p:extLst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68385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37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th-TH" sz="3600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ประเภทของการสัมภาษณ์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FontTx/>
              <a:buAutoNum type="arabicPeriod"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การสัมภาษณ์แบบมีเค้าโครง หรือแบบมาตรฐาน</a:t>
            </a:r>
          </a:p>
          <a:p>
            <a:pPr marL="609600" indent="-609600">
              <a:buNone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     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Structured interview or standardized interview)</a:t>
            </a:r>
          </a:p>
          <a:p>
            <a:pPr marL="609600" indent="-609600">
              <a:buNone/>
            </a:pP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	</a:t>
            </a:r>
            <a:r>
              <a:rPr lang="th-TH" b="1" u="sng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ข้อดี</a:t>
            </a: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 ของการสัมภาษณ์แบบนี้ คือ ให้ความสะดวกสำหรับ</a:t>
            </a:r>
            <a:b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ผู้สัมภาษณ์ ส่วนข้อเสียคือในกรณีที่ใช้คำถามแบบปิด </a:t>
            </a:r>
            <a:b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closed end) </a:t>
            </a: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อาจกำหนดคำตอบไว้ไม่ครอบคลุมถึงข้อเท็จจริง </a:t>
            </a:r>
            <a:b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ที่ผู้ตอบจะเลือกทำให้ข้อมูลที่ได้ไม่ตรงกับความจริง</a:t>
            </a:r>
          </a:p>
          <a:p>
            <a:pPr marL="609600" indent="-609600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buNone/>
              <a:defRPr/>
            </a:pP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78272649"/>
      </p:ext>
    </p:extLst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38</a:t>
            </a:fld>
            <a:endParaRPr lang="th-TH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67544" y="3501008"/>
            <a:ext cx="8382000" cy="30845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CC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แบบสัมภาษณ์คณะกรรมการประกันคุณภาพการศึกษาของสถานศึกษา</a:t>
            </a:r>
          </a:p>
          <a:p>
            <a:pPr eaLnBrk="1" hangingPunct="1">
              <a:spcBef>
                <a:spcPct val="50000"/>
              </a:spcBef>
            </a:pPr>
            <a:r>
              <a:rPr lang="th-TH" u="sng" dirty="0">
                <a:solidFill>
                  <a:srgbClr val="FF3300"/>
                </a:solidFill>
                <a:latin typeface="TH SarabunPSK" pitchFamily="34" charset="-34"/>
                <a:cs typeface="TH SarabunPSK" pitchFamily="34" charset="-34"/>
              </a:rPr>
              <a:t>ตอนที่  1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   ข้อมูลส่วนตัว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	1.1  เพศ		( ) ชาย		( ) หญิง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	1.2  อายุ.................ปี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	1.3  ประสบการณ์เกี่ยวกับการประกันคุณภาพการศึกษา.............ปี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th-TH" sz="3600" b="1" dirty="0">
                <a:solidFill>
                  <a:schemeClr val="bg2">
                    <a:lumMod val="10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ประเภทของการสัมภาษณ์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FontTx/>
              <a:buAutoNum type="arabicPeriod"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การสัมภาษณ์แบบมีเค้าโครง หรือแบบมาตรฐาน</a:t>
            </a:r>
          </a:p>
          <a:p>
            <a:pPr marL="609600" indent="-609600">
              <a:buNone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     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Structured interview or standardized interview)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07749864"/>
      </p:ext>
    </p:extLst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39</a:t>
            </a:fld>
            <a:endParaRPr lang="th-TH"/>
          </a:p>
        </p:txBody>
      </p:sp>
      <p:sp>
        <p:nvSpPr>
          <p:cNvPr id="5" name="ตัวแทนหมายเลขภาพนิ่ง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th-T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F499C0-951C-4684-8E64-66AE9798A65C}" type="slidenum">
              <a:rPr lang="th-TH" smtClean="0"/>
              <a:pPr/>
              <a:t>39</a:t>
            </a:fld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043608" y="980728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AutoNum type="arabicPeriod"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การสัมภาษณ์แบบมีเค้าโครง หรือแบบมาตรฐาน</a:t>
            </a:r>
          </a:p>
          <a:p>
            <a:pPr marL="609600" indent="-609600">
              <a:buNone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     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Structured interview or standardized interview)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827584" y="1732805"/>
            <a:ext cx="7620000" cy="5047536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CC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u="sng" dirty="0">
                <a:solidFill>
                  <a:srgbClr val="FF3300"/>
                </a:solidFill>
                <a:latin typeface="TH SarabunPSK" pitchFamily="34" charset="-34"/>
                <a:cs typeface="TH SarabunPSK" pitchFamily="34" charset="-34"/>
              </a:rPr>
              <a:t>ตอนที่  2</a:t>
            </a:r>
            <a:r>
              <a:rPr lang="th-TH" u="sng" dirty="0"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การดำเนินงานประกันคุณภาพการศึกษาของสถานศึกษา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2.1  คณะกรรมการฯ ได้เตรียมการในเรื่องใดบ้าง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    (  )  การจัดทำคู่มือการประกันคุณภาพภายในสถานศึกษา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    ( )  การฝึกอบรมครูและบุคลากรในสถานศึกษา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    ( )  การขอรับคำปรึกษาจากบุคลากรภายนอกสถานศึกษา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 	    ( )  การเตรียมงบประมาณ</a:t>
            </a:r>
          </a:p>
          <a:p>
            <a:pPr eaLnBrk="1" hangingPunct="1">
              <a:spcBef>
                <a:spcPct val="50000"/>
              </a:spcBef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	2.2   มีมาตรฐานใดบ้างที่ผ่านและไม่ผ่านการประเมิน</a:t>
            </a:r>
          </a:p>
          <a:p>
            <a:pPr eaLnBrk="1" hangingPunct="1">
              <a:spcBef>
                <a:spcPct val="50000"/>
              </a:spcBef>
            </a:pPr>
            <a:endParaRPr lang="th-TH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17101956"/>
      </p:ext>
    </p:extLst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40</a:t>
            </a:fld>
            <a:endParaRPr lang="th-TH"/>
          </a:p>
        </p:txBody>
      </p:sp>
      <p:sp>
        <p:nvSpPr>
          <p:cNvPr id="5" name="ตัวแทนหมายเลขภาพนิ่ง 3"/>
          <p:cNvSpPr txBox="1">
            <a:spLocks/>
          </p:cNvSpPr>
          <p:nvPr/>
        </p:nvSpPr>
        <p:spPr>
          <a:xfrm>
            <a:off x="6553200" y="65922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th-T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F499C0-951C-4684-8E64-66AE9798A65C}" type="slidenum">
              <a:rPr lang="th-TH" sz="3200" smtClean="0"/>
              <a:pPr/>
              <a:t>40</a:t>
            </a:fld>
            <a:endParaRPr lang="th-TH" sz="3200"/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43608" y="1813519"/>
            <a:ext cx="7795592" cy="47787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AutoNum type="arabicPeriod" startAt="2"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การสัมภาษณ์แบบมีเค้าโครงน้อย หรือไม่มีเค้าโครงเลย</a:t>
            </a:r>
          </a:p>
          <a:p>
            <a:pPr marL="609600" indent="-609600">
              <a:buNone/>
            </a:pPr>
            <a:r>
              <a:rPr lang="th-TH" sz="2800" b="1" dirty="0">
                <a:solidFill>
                  <a:schemeClr val="tx2"/>
                </a:solidFill>
                <a:latin typeface="TH SarabunPSK" pitchFamily="34" charset="-34"/>
                <a:cs typeface="TH SarabunPSK" pitchFamily="34" charset="-34"/>
              </a:rPr>
              <a:t>	 	</a:t>
            </a:r>
            <a:r>
              <a:rPr lang="th-TH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คือ การสัมภาษณ์แบบที่ไม่มีการกำหนดคำถามคำตอบไว้ตายตัวแน่นอนมีความยืดหยุ่นได้ ผู้สัมภาษณ์ต้องอาศัยประสบการณ์</a:t>
            </a:r>
            <a:br>
              <a:rPr lang="th-TH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และความชำนาญเข้าช่วย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b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	โดยอาศัยวัตถุประสงค์ในการวิจัยเป็นหลักว่าต้องการค้นหาข้อเท็จจริงในเรื่องใดก็ดำเนินการต่าง ๆ ตามนั้น และสร้างบรรยากาศเป็นหลักว่าต้องการค้นหาข้อเท็จจริงในเรื่องใดก็ดำเนินการต่าง ๆ ตามนั้น และสร้างบรรยากาศในการสัมภาษณ์ให้เหมาะสม ทำให้ผู้สัมภาษณ์ ได้ความจริงตามต้องการ</a:t>
            </a:r>
          </a:p>
          <a:p>
            <a:pPr marL="609600" indent="-609600">
              <a:buNone/>
            </a:pPr>
            <a:endParaRPr lang="th-TH" sz="24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None/>
            </a:pPr>
            <a:endParaRPr lang="th-TH" sz="24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buNone/>
              <a:defRPr/>
            </a:pP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24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56836688"/>
      </p:ext>
    </p:extLst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18946" y="2338097"/>
            <a:ext cx="8153400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spAutoFit/>
          </a:bodyPr>
          <a:lstStyle>
            <a:lvl1pPr marL="533400" indent="-5334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บทบาทหน้าที่ของคณะกรรมการสถานศึกษาขั้นพื้นฐาน มีความเหมาะสม</a:t>
            </a:r>
            <a:br>
              <a:rPr lang="th-TH" dirty="0">
                <a:latin typeface="TH SarabunPSK" pitchFamily="34" charset="-34"/>
                <a:cs typeface="TH SarabunPSK" pitchFamily="34" charset="-34"/>
              </a:rPr>
            </a:br>
            <a:r>
              <a:rPr lang="th-TH" dirty="0">
                <a:latin typeface="TH SarabunPSK" pitchFamily="34" charset="-34"/>
                <a:cs typeface="TH SarabunPSK" pitchFamily="34" charset="-34"/>
              </a:rPr>
              <a:t>และมีความเป็นไปได้ในทางปฏิบัติหรือไม่ อย่างไร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……………………………………………………………………………………………….……………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คณะกรรมการสถานศึกษาขั้นพื้นฐาน สามารถดำเนินงานตามบทบาทหน้าที่</a:t>
            </a:r>
            <a:br>
              <a:rPr lang="th-TH" dirty="0">
                <a:latin typeface="TH SarabunPSK" pitchFamily="34" charset="-34"/>
                <a:cs typeface="TH SarabunPSK" pitchFamily="34" charset="-34"/>
              </a:rPr>
            </a:br>
            <a:r>
              <a:rPr lang="th-TH" dirty="0">
                <a:latin typeface="TH SarabunPSK" pitchFamily="34" charset="-34"/>
                <a:cs typeface="TH SarabunPSK" pitchFamily="34" charset="-34"/>
              </a:rPr>
              <a:t>ได้หรือไม่ อย่างไร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……………………………………………………………………………..………………………….…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h-TH" dirty="0">
                <a:latin typeface="TH SarabunPSK" pitchFamily="34" charset="-34"/>
                <a:cs typeface="TH SarabunPSK" pitchFamily="34" charset="-34"/>
              </a:rPr>
              <a:t>ผลการดำเนินงานของคณะกรรมการสถานศึกษาขั้นพื้นฐานมีอะไรบ้าง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……………………………………………………………………………………………….</a:t>
            </a:r>
            <a:br>
              <a:rPr lang="en-US" dirty="0">
                <a:latin typeface="TH SarabunPSK" pitchFamily="34" charset="-34"/>
                <a:cs typeface="TH SarabunPSK" pitchFamily="34" charset="-34"/>
              </a:rPr>
            </a:br>
            <a:endParaRPr lang="th-TH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92267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41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043608" y="1264697"/>
            <a:ext cx="7795592" cy="103360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  <a:defRPr/>
            </a:pPr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pPr marL="609600" indent="-609600">
              <a:buFontTx/>
              <a:buAutoNum type="arabicPeriod" startAt="2"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การสัมภาษณ์แบบมีเค้าโครงน้อย หรือไม่มีเค้าโครงเลย</a:t>
            </a:r>
          </a:p>
        </p:txBody>
      </p:sp>
    </p:spTree>
    <p:extLst>
      <p:ext uri="{BB962C8B-B14F-4D97-AF65-F5344CB8AC3E}">
        <p14:creationId xmlns:p14="http://schemas.microsoft.com/office/powerpoint/2010/main" val="2299844560"/>
      </p:ext>
    </p:extLst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Char char="§"/>
              <a:defRPr/>
            </a:pPr>
            <a:r>
              <a:rPr lang="th-TH" sz="36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ขั้นตอนการสัมภาษณ์</a:t>
            </a:r>
            <a:endParaRPr lang="en-US" sz="3600" b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buNone/>
              <a:defRPr/>
            </a:pPr>
            <a:r>
              <a:rPr lang="en-US" sz="2800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กำหนดแหล่งที่มาของข้อมูล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โดยทั่วไปนักวิเคราะห์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ควรสัมภาษณ์ตั้งแต่ ผู้บริหารระดับสูงลงมา เพื่อทราบวัตถุประสงค์ขององค์การ ปัญหาความต้องการสารสนเทศและความต้องการระบบ ซึ่งการสัมภาษณ์ตั้งแต่ผู้บริหารระดับสูงลงมาจนถึงผู้ปฏิบัติงานนั้น ทำให้ผู้ปฏิบัติงานให้ความร่วมมือมากยิ่งขึ้น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เพราะเขาได้รู้ว่าผู้บริหารเป็นผู้ต้องการให้มีการวิเคราะห์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และออกแบบระบบ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90000"/>
              </a:lnSpc>
              <a:buClr>
                <a:srgbClr val="FF0066"/>
              </a:buClr>
              <a:buFont typeface="Wingdings" pitchFamily="2" charset="2"/>
              <a:buChar char="§"/>
              <a:defRPr/>
            </a:pP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42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971444927"/>
      </p:ext>
    </p:extLst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เตรียมตัวสัมภาษณ์</a:t>
            </a:r>
            <a:endParaRPr lang="th-TH" sz="3000" b="1" dirty="0">
              <a:solidFill>
                <a:srgbClr val="00B050"/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ก่อนการสัมภาษณ์นั้น ผู้สัมภาษณ์ต้องกำหนด ความต้องการ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โดยการเขียนวัตถุประสงค์ในการสัมภาษณ์ จากนั้นก็เขียน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Outline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เพื่อให้ครอบคลุม สิ่งที่ควรสัมภาษณ์หลังจากนั้นต้องทำการนัดหมาย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ผู้ที่จะสัมภาษณ์ นักวิเคราะห์ระบบต้องศึกษาข้อมูล เกี่ยวกับผู้ที่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เขาจะสัมภาษณ์ เช่น หน้าที่ความรับผิดชอบในองค์กร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43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766593074"/>
      </p:ext>
    </p:extLst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เตรียมตัวสัมภาษณ์</a:t>
            </a:r>
            <a:endParaRPr lang="th-TH" sz="3000" b="1" dirty="0">
              <a:solidFill>
                <a:srgbClr val="00B050"/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lnSpc>
                <a:spcPct val="80000"/>
              </a:lnSpc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ขั้นตอนการดำเนินการสัมภาษณ์ การดำเนินการสัมภาษณ์เป็นขั้นตอน ที่สำคัญที่สุดซึ่งจะต้องทำให้การสัมภาษณ์เป็นไปตามความต้องการหรือไม่นั้น นักวิเคราะห์ควรจะมีทักษะ ในการสัมภาษณ์ โดยต้องให้การสัมภาษณ์เป็นไปอย่างต่อเนื่อง ควรสัมภาษณ์ตัวต่อตัว ยิ่งไปกว่านั้น นักวิเคราะห์ระบบควรจะพยายามพูดให้น้อยที่สุด เพื่อจะได้เปิดโอกาสให้ผู้ถูกสัมภาษณ์ได้แสดงความคิดเห็น ให้มากที่สุด </a:t>
            </a:r>
          </a:p>
          <a:p>
            <a:pPr>
              <a:lnSpc>
                <a:spcPct val="80000"/>
              </a:lnSpc>
              <a:defRPr/>
            </a:pP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44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83569137"/>
      </p:ext>
    </p:extLst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ในการสัมภาษณ์นักวิเคราะห์ควรหลีกเลี่ยงสิ่งต่อไปนี้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การตั้งคำถามนำ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Beware of Leading questions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คำถามนำนั้นควรเป็นคำถามที่เป็นกลาง ไม่ควรเอียงไปทางใด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ทางหนึ่ง ซึ่งจะมีอิทธิพลต่อผู้ถูกสัมภาษณ์ </a:t>
            </a:r>
            <a:r>
              <a:rPr lang="th-TH" b="1" u="sng" dirty="0">
                <a:solidFill>
                  <a:srgbClr val="FF0000"/>
                </a:solidFill>
                <a:latin typeface="TH SarabunPSK" pitchFamily="34" charset="-34"/>
                <a:cs typeface="TH SarabunPSK" pitchFamily="34" charset="-34"/>
              </a:rPr>
              <a:t>ควรหลีกเลี่ยงคำถามต่อไปนี้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" จริงหรือไม่ที่ว่า................................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...............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"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" คุณเห็นด้วยหรือไม่ว่า........................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.............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"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endParaRPr lang="th-TH" sz="28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481346642"/>
      </p:ext>
    </p:extLst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ในการสัมภาษณ์นักวิเคราะห์ควรหลีกเลี่ยงสิ่งต่อไปนี้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หลีกเลี่ยงการนำเพื่อสรุป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Avoid premature conclusion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นักวิเคราะห์ควรระวังในการสัมภาษณ์ ซึ่งควรแน่ใจว่าได้ข้อมูลครบถ้วน ตามความต้องการ แล้วค่อยถามนำเพื่อสรุป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เพราะถ้าถามเพื่อนำสรุปโดยที่ยังได้ข้อมูลไม่ครบอาจทำให้ยาก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ที่จะดำเนินการสัมภาษณ์ใหม่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578327141"/>
      </p:ext>
    </p:extLst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ในการสัมภาษณ์นักวิเคราะห์ควรหลีกเลี่ยงสิ่งต่อไปนี้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b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3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ไม่ควรที่จะคล้อยตาม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กรณีผู้ถูกสัมภาษณ์แสดงความคิดเห็นในทางลบต่อองค์กร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และเกิดความไม่พอใจ นักวิเคราะห์ไม่ควรคล้อยตาม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เพียงแต่ทำความเข้าใจเท่านั้น</a:t>
            </a:r>
            <a:endParaRPr lang="th-TH" sz="28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47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889575628"/>
      </p:ext>
    </p:extLst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ในการสัมภาษณ์นักวิเคราะห์ควรหลีกเลี่ยงสิ่งต่อไปนี้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b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4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. อย่าถูกจูงใจโดยใคร</a:t>
            </a:r>
            <a:b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ไม่ควรที่จะมีใครเป็นผู้มีอิทธิพลต่อเรา เช่น พยายามที่จะเอาในผู้บริหาร จนทำให้ปิดบังความเป็นจริง หรือปัญหาขององค์กร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48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4169804637"/>
      </p:ext>
    </p:extLst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ข้อดีของการสัมภาษณ์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ข้อมูลที่ได้เป็นข้อมูลที่มีคุณภาพ เนื่องจากเป็นข้อมูลที่ได้รับ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โดยการพูดคุยกัน ซึ่งเกิดขึ้นจากการดำเนินงานจริงๆ ในระบบ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นักวิเคราะห์ได้ความคิดเห็นและคำแนะนำในการออกแบบระบบ ทำให้ผู้ถูกสัมภาษณ์มีส่วนร่วมในการออกแบบ ซึ่งทำให้ลดการต่อต้านระบบใหม่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065487577"/>
      </p:ext>
    </p:extLst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ข้อเสียของการสัมภาษณ์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เสียเวลามาก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นักวิเคราะห์อาจคล้อยตามความคิดเห็นที่เป็นอคติ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Bias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ของผู้ถูกสัมภาษณ์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การสัมภาษณ์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Interview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4174565450"/>
      </p:ext>
    </p:extLst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การสังเกตเป็นการรวบรวมข้อมูล โดยการดูกระบวนการทำงานจริง ของระบบอย่างเดียว โดยไม่มีการสอบถามใด ๆ อาจใช้แบบสอบถามเป็นแนว ผู้สังเกตการณ์ต้องรู้ว่า จะสังเกตอะไร และต้องทำการบันทึกข้อมูลเกี่ยวกับการปฏิบัติงานในขณะสังเกต สรุปการสังเกต ข้อมูลที่ได้จะถูกต้องแม่นยำเพียงใด ขึ้นอยู่กับความสามารถของผู้สังเกตการณ์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ซึ่งผู้สังเกตการณ์ ต้องมีความละเอียดรอบคอบมีไหวพริบและความ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ยุติธรรม</a:t>
            </a:r>
          </a:p>
          <a:p>
            <a:pPr>
              <a:buNone/>
              <a:defRPr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การสังเกตการปฏิบัติการในองค์การ อาจกระทำโดยให้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ผู้สังเกตรู้ตัว หรือสังเกต โดยไม่ให้ผู้ถูกสังเกตรู้ตัวก็ได้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การสังเกต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Observation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4791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51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155151635"/>
      </p:ext>
    </p:extLst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52</a:t>
            </a:fld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ประเภทของการสังเกต การสังเกตแบ่งออกได้หลายแบบดังนี้ </a:t>
            </a:r>
          </a:p>
          <a:p>
            <a:pPr marL="0" indent="0"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ก. แบ่งตามการเข้าร่วม สามารถแบ่งได้ 2 ประเภท ดังนี้  </a:t>
            </a:r>
          </a:p>
          <a:p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      1. การสังเกตแบบมีส่วนร่วม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Participant Observation)</a:t>
            </a:r>
            <a:b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หมายถึง การสังเกตที่ ผู้สังเกตเข้าไปมีส่วนร่วมในกิจกรรมต่างของผู้ที่ต้องการสังเกต ซึ่งลักษณะเช่นนี้จะทำให้ได้รายละเอียด หรือข้อมูลที่แน่นอน ถูกต้อง ชัดเจน เช่น 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การศึกษาเกี่ยวกับความเป็นอยู่ของชาวสลัม หรือ 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พวกชาวเขา เป็นต้น   การสังเกตแบบนี้ผู้สังเกตจะไม่สามารถ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จดบันทึกรายละเอียดเกี่ยวกับ สิ่งที่ต้องการสังเกตได้ทันที และต้อง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ใช้เวลาในการสังเกตนาน  อีกทั้งอาจเกิดความลำเอียงได้ </a:t>
            </a:r>
          </a:p>
          <a:p>
            <a:pPr marL="0" indent="0">
              <a:buNone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 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 marL="0" indent="0"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การสังเกต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Observation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71274652"/>
      </p:ext>
    </p:extLst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>
          <a:xfrm>
            <a:off x="6553200" y="654885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53</a:t>
            </a:fld>
            <a:endParaRPr lang="th-TH" sz="3200"/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ประเภทของการสังเกต การสังเกตแบ่งออกได้หลายแบบดังนี้ </a:t>
            </a:r>
          </a:p>
          <a:p>
            <a:pPr marL="0" indent="0"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ก. แบ่งตามการเข้าร่วม สามารถแบ่งได้ 2 ประเภท ดังนี้  </a:t>
            </a:r>
          </a:p>
          <a:p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      2. การสังเกตแบบไม่มีส่วนร่วม (</a:t>
            </a:r>
            <a:r>
              <a:rPr lang="en-US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Non-participant</a:t>
            </a: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หมายถึง การสังเกตที่ผู้สังเกตไม่ได้เข้าไปมีส่วนร่วมในกิจกรรมต่างๆ 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แต่คอยเฝ้าดูอยู่ห่างๆ การสังเกตแบบนี้ อาจให้ผู้ถูกสังเกตรู้ตัวหรือไม่ให้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ผู้ถูกสังเกตรู้ตัวก็ได้ </a:t>
            </a:r>
          </a:p>
          <a:p>
            <a:pPr marL="0" indent="0">
              <a:buNone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   การสังเกต แบบไม่มีส่วนร่วมนี้จะกำจัดความลำเอียงของผู้สังเกต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          ได้ และสามารถจดบันทึกรายละเอียดของสิ่งที่ต้องการสังเกตได้ </a:t>
            </a:r>
          </a:p>
          <a:p>
            <a:pPr marL="0" indent="0">
              <a:buNone/>
            </a:pP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การสังเกต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Observation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47161806"/>
      </p:ext>
    </p:extLst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 ข้อดีของการสังเกต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ข้อมูลที่ได้จากเหตุการณ์จริง ๆ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System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-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related tasks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)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ซึ่งเป็นข้อมูลที่เชื่อถือได้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ข้อมูลที่ได้จากการเก็บข้อมูล จากการสังเกตโดย ไม่มีการ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เตรียมตัว เหมือนการทำแบบสอบถาม หรือการสัมภาษณ์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3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ข้อมูลที่ได้เป็นข้อมูลที่น่าเชื่อมาก เนื่องจากผู้สังเกตการณ์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เป็นผู้เห็นเหตุการณ์จริงๆ ด้วยตา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การสังเกต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Observation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6820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54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001031000"/>
      </p:ext>
    </p:extLst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th-TH" b="1" dirty="0">
                <a:solidFill>
                  <a:srgbClr val="00B050"/>
                </a:solidFill>
                <a:latin typeface="TH SarabunPSK" pitchFamily="34" charset="-34"/>
                <a:cs typeface="TH SarabunPSK" pitchFamily="34" charset="-34"/>
              </a:rPr>
              <a:t>ข้อเสียของการสังเกต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ไม่สะดวก กรณีที่กระบวนการเกิดขึ้นไม่บ่อยก็ต้องใช้เวลา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กรณีที่บุคลากรรู้ว่ามีคนสังเกตการทำงานของเขา เขาอาจจะไม่ได้ทำเหมือนปกติ ที่เคยทำ ทำให้ได้ข้อมูลที่ไม่ตรงกับความจริง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3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. ต้องใช้คนที่มีความสามารถสูงในการสังเกต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การสังเกต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Observation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44322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068428962"/>
      </p:ext>
    </p:extLst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วิธีรวบรวมข้อมูล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43608" y="1813520"/>
            <a:ext cx="7795592" cy="283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66"/>
              </a:buClr>
              <a:buFont typeface="Wingdings" pitchFamily="2" charset="2"/>
              <a:buChar char="§"/>
              <a:defRPr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การสุ่มใช้การการหาข้อมูลที่มีบุคลากรจำนวนมาก เหตุการณ์มากและ มีการเปลี่ยนแปลง การทำงานมากไม่สามารศึกษาจากทุกกลุ่ม ทุกกระบวนการได้ ซึ่งทำให้เสียเวลา และค่าใช้จ่ายมาก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จึงต้องนำเอาวิธีทางสถิติ เข้ามาช่วยโดยการใช้การสุ่มเอาข้อมูลบางส่วน วิธีนี้เป็นวิธีที่ได้ผลดีอีกวิธีหนึ่ง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1071786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5. 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การสุ่ม (</a:t>
            </a:r>
            <a:r>
              <a:rPr lang="en-US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Sampling</a:t>
            </a:r>
            <a:r>
              <a:rPr lang="th-TH" sz="40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0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3930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b="1" smtClean="0"/>
              <a:pPr/>
              <a:t>56</a:t>
            </a:fld>
            <a:endParaRPr lang="th-TH" sz="3200" b="1"/>
          </a:p>
        </p:txBody>
      </p:sp>
    </p:spTree>
    <p:extLst>
      <p:ext uri="{BB962C8B-B14F-4D97-AF65-F5344CB8AC3E}">
        <p14:creationId xmlns:p14="http://schemas.microsoft.com/office/powerpoint/2010/main" val="1205041331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16945</TotalTime>
  <Words>4394</Words>
  <Application>Microsoft Macintosh PowerPoint</Application>
  <PresentationFormat>On-screen Show (4:3)</PresentationFormat>
  <Paragraphs>318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Aharoni</vt:lpstr>
      <vt:lpstr>AngsanaUPC</vt:lpstr>
      <vt:lpstr>Arial</vt:lpstr>
      <vt:lpstr>Calibri</vt:lpstr>
      <vt:lpstr>TH Baijam</vt:lpstr>
      <vt:lpstr>TH SarabunPSK</vt:lpstr>
      <vt:lpstr>Wide Latin</vt:lpstr>
      <vt:lpstr>Wingdings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KIT</dc:creator>
  <cp:lastModifiedBy>เขมวิทย์ จิตตะยโศธร</cp:lastModifiedBy>
  <cp:revision>5767</cp:revision>
  <dcterms:created xsi:type="dcterms:W3CDTF">2011-07-24T06:58:47Z</dcterms:created>
  <dcterms:modified xsi:type="dcterms:W3CDTF">2026-01-20T01:02:41Z</dcterms:modified>
</cp:coreProperties>
</file>