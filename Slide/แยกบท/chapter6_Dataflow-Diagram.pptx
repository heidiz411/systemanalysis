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56" r:id="rId2"/>
    <p:sldId id="376" r:id="rId3"/>
    <p:sldId id="374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3" r:id="rId12"/>
    <p:sldId id="394" r:id="rId13"/>
    <p:sldId id="395" r:id="rId14"/>
    <p:sldId id="396" r:id="rId15"/>
    <p:sldId id="398" r:id="rId16"/>
    <p:sldId id="399" r:id="rId17"/>
    <p:sldId id="400" r:id="rId18"/>
    <p:sldId id="433" r:id="rId19"/>
    <p:sldId id="401" r:id="rId20"/>
    <p:sldId id="402" r:id="rId21"/>
    <p:sldId id="403" r:id="rId22"/>
    <p:sldId id="404" r:id="rId23"/>
    <p:sldId id="405" r:id="rId24"/>
    <p:sldId id="406" r:id="rId25"/>
    <p:sldId id="407" r:id="rId26"/>
    <p:sldId id="408" r:id="rId27"/>
    <p:sldId id="409" r:id="rId28"/>
    <p:sldId id="410" r:id="rId29"/>
    <p:sldId id="411" r:id="rId30"/>
    <p:sldId id="412" r:id="rId31"/>
    <p:sldId id="413" r:id="rId32"/>
    <p:sldId id="414" r:id="rId33"/>
    <p:sldId id="415" r:id="rId34"/>
    <p:sldId id="416" r:id="rId35"/>
    <p:sldId id="417" r:id="rId36"/>
    <p:sldId id="418" r:id="rId37"/>
    <p:sldId id="419" r:id="rId38"/>
    <p:sldId id="420" r:id="rId39"/>
    <p:sldId id="421" r:id="rId40"/>
    <p:sldId id="422" r:id="rId41"/>
    <p:sldId id="423" r:id="rId42"/>
    <p:sldId id="424" r:id="rId43"/>
    <p:sldId id="425" r:id="rId44"/>
    <p:sldId id="426" r:id="rId45"/>
    <p:sldId id="427" r:id="rId46"/>
    <p:sldId id="428" r:id="rId47"/>
    <p:sldId id="429" r:id="rId48"/>
    <p:sldId id="430" r:id="rId49"/>
    <p:sldId id="431" r:id="rId50"/>
    <p:sldId id="432" r:id="rId51"/>
    <p:sldId id="434" r:id="rId52"/>
    <p:sldId id="435" r:id="rId53"/>
    <p:sldId id="436" r:id="rId54"/>
    <p:sldId id="437" r:id="rId55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CD7371"/>
    <a:srgbClr val="AEC87A"/>
    <a:srgbClr val="FFFF66"/>
    <a:srgbClr val="EEB500"/>
    <a:srgbClr val="FFFF99"/>
    <a:srgbClr val="FFC000"/>
    <a:srgbClr val="F2F2F2"/>
    <a:srgbClr val="A27B00"/>
    <a:srgbClr val="B8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ลักษณะชุดรูปแบบ 1 - เน้น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ลักษณะชุดรูปแบบ 1 - เน้น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ลักษณะ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50841" autoAdjust="0"/>
  </p:normalViewPr>
  <p:slideViewPr>
    <p:cSldViewPr>
      <p:cViewPr varScale="1">
        <p:scale>
          <a:sx n="118" d="100"/>
          <a:sy n="118" d="100"/>
        </p:scale>
        <p:origin x="148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117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38039-F159-45C3-A644-7F42F872B1BA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4" name="ตัวยึดท้ายกระดา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5" name="ตัวยึดหมายเลขภาพนิ่ง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DAE29B-0941-44F9-87BD-2E5ACC3A5462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754716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6B566-7E78-41FF-B18B-FAC0950C1B4C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4" name="ตัวยึดรูปบนภาพนิ่ง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ยึด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3A03-8F57-4F17-854D-AECA137870CB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31171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/>
              <a:t>คลิกเพื่อแก้ไขลักษณะชื่อเรื่องรองต้นแบบ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692A-85AD-4442-A0DC-7B65AC0FD546}" type="datetime1">
              <a:rPr lang="th-TH" smtClean="0"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E5D2-91F1-4489-9F8E-703C87B0A42D}" type="datetime1">
              <a:rPr lang="th-TH" smtClean="0"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B4454-7F8E-4B9D-A80A-77B4B83C4B5E}" type="datetime1">
              <a:rPr lang="th-TH" smtClean="0"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เนื้อหา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4219-F827-4C88-BE39-1112A14A8B76}" type="datetime1">
              <a:rPr lang="th-TH" smtClean="0"/>
              <a:t>20/01/69</a:t>
            </a:fld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ยึดเนื้อหา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ยึดข้อความ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6" name="ตัวยึดเนื้อหา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ยึด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EA4EC-8452-4DDE-AAAD-F3FAA7B61F81}" type="datetime1">
              <a:rPr lang="th-TH" smtClean="0"/>
              <a:t>20/01/69</a:t>
            </a:fld>
            <a:endParaRPr lang="th-TH"/>
          </a:p>
        </p:txBody>
      </p:sp>
      <p:sp>
        <p:nvSpPr>
          <p:cNvPr id="8" name="ตัวยึด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ยึด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BEBF-3A6D-4DBD-B699-C7193EE27F3B}" type="datetime1">
              <a:rPr lang="th-TH" smtClean="0"/>
              <a:t>20/01/69</a:t>
            </a:fld>
            <a:endParaRPr lang="th-TH"/>
          </a:p>
        </p:txBody>
      </p:sp>
      <p:sp>
        <p:nvSpPr>
          <p:cNvPr id="4" name="ตัวยึด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ยึดหมายเลขภาพนิ่ง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17C8D-9349-42C9-B0AB-3855A5CCE783}" type="datetime1">
              <a:rPr lang="th-TH" smtClean="0"/>
              <a:t>20/01/69</a:t>
            </a:fld>
            <a:endParaRPr lang="th-TH"/>
          </a:p>
        </p:txBody>
      </p:sp>
      <p:sp>
        <p:nvSpPr>
          <p:cNvPr id="3" name="ตัวยึด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ข้อความ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6ABA2-A0A1-41A3-A542-0E543EAF1010}" type="datetime1">
              <a:rPr lang="th-TH" smtClean="0"/>
              <a:t>20/01/69</a:t>
            </a:fld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รูปภาพ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ยึดข้อความ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330F9-2111-4F02-A674-B6AD2AD412A6}" type="datetime1">
              <a:rPr lang="th-TH" smtClean="0"/>
              <a:t>20/01/69</a:t>
            </a:fld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CDFB-D580-4F07-83A6-E8F43899076E}" type="datetime1">
              <a:rPr lang="th-TH" smtClean="0"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017E-3794-462C-9902-9E3BCA26A866}" type="datetime1">
              <a:rPr lang="th-TH" smtClean="0"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ชื่อเรื่อง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0C331-35A2-485D-A2DC-C27F1F4BCC03}" type="datetime1">
              <a:rPr lang="th-TH" smtClean="0"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 thruBlk="1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ตัวแทนข้อความ 3"/>
          <p:cNvSpPr txBox="1">
            <a:spLocks/>
          </p:cNvSpPr>
          <p:nvPr/>
        </p:nvSpPr>
        <p:spPr>
          <a:xfrm>
            <a:off x="4661756" y="3067274"/>
            <a:ext cx="4248472" cy="19269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accent6">
                  <a:lumMod val="75000"/>
                </a:schemeClr>
              </a:buClr>
            </a:pPr>
            <a:br>
              <a:rPr lang="th-TH" sz="2800" b="1" i="1" dirty="0">
                <a:solidFill>
                  <a:srgbClr val="FF0066"/>
                </a:solidFill>
              </a:rPr>
            </a:br>
            <a:endParaRPr lang="th-TH" sz="2800" b="1" dirty="0">
              <a:solidFill>
                <a:srgbClr val="FF0066"/>
              </a:solidFill>
              <a:latin typeface="TH Baijam" pitchFamily="2" charset="-34"/>
              <a:cs typeface="TH Baijam" pitchFamily="2" charset="-3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1517" y="777276"/>
            <a:ext cx="7956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4800" b="1" dirty="0">
                <a:solidFill>
                  <a:srgbClr val="FE0067"/>
                </a:solidFill>
                <a:latin typeface="AngsanaUPC" pitchFamily="18" charset="-34"/>
                <a:cs typeface="AngsanaUPC" pitchFamily="18" charset="-34"/>
              </a:rPr>
              <a:t>แผนภาพกระแสข้อมูล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7923" y="168025"/>
            <a:ext cx="9380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ngsanaUPC" pitchFamily="18" charset="-34"/>
                <a:cs typeface="AngsanaUPC" pitchFamily="18" charset="-34"/>
              </a:rPr>
              <a:t>บทที่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301" y="-99392"/>
            <a:ext cx="12698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Wide Latin" pitchFamily="18" charset="0"/>
                <a:cs typeface="#ZF Terminal" pitchFamily="2" charset="0"/>
              </a:rPr>
              <a:t>6</a:t>
            </a:r>
            <a:endParaRPr lang="th-TH" sz="7200" b="1" dirty="0">
              <a:solidFill>
                <a:schemeClr val="tx1">
                  <a:lumMod val="50000"/>
                  <a:lumOff val="50000"/>
                </a:schemeClr>
              </a:solidFill>
              <a:latin typeface="Wide Latin" pitchFamily="18" charset="0"/>
              <a:cs typeface="#ZF Terminal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3529" y="1292915"/>
            <a:ext cx="81369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0070C0"/>
                </a:solidFill>
              </a:rPr>
              <a:t>Data Flow Diagram</a:t>
            </a:r>
            <a:endParaRPr lang="th-TH" sz="4400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" name="ตัวแทนหมายเลขภาพนิ่ง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z="3200" smtClean="0"/>
              <a:pPr/>
              <a:t>1</a:t>
            </a:fld>
            <a:endParaRPr lang="th-TH" sz="3200"/>
          </a:p>
        </p:txBody>
      </p:sp>
      <p:sp>
        <p:nvSpPr>
          <p:cNvPr id="3" name="ตัวแทนข้อความ 3">
            <a:extLst>
              <a:ext uri="{FF2B5EF4-FFF2-40B4-BE49-F238E27FC236}">
                <a16:creationId xmlns:a16="http://schemas.microsoft.com/office/drawing/2014/main" id="{303E2952-7C3A-6B19-A681-E128D7C42C85}"/>
              </a:ext>
            </a:extLst>
          </p:cNvPr>
          <p:cNvSpPr txBox="1">
            <a:spLocks/>
          </p:cNvSpPr>
          <p:nvPr/>
        </p:nvSpPr>
        <p:spPr>
          <a:xfrm>
            <a:off x="4391981" y="4157509"/>
            <a:ext cx="4703107" cy="836712"/>
          </a:xfrm>
          <a:prstGeom prst="rect">
            <a:avLst/>
          </a:prstGeom>
          <a:solidFill>
            <a:srgbClr val="F2F2F2">
              <a:alpha val="38824"/>
            </a:srgbClr>
          </a:solidFill>
        </p:spPr>
        <p:txBody>
          <a:bodyPr/>
          <a:lstStyle>
            <a:defPPr>
              <a:defRPr lang="th-TH"/>
            </a:defPPr>
            <a:lvl1pPr marL="342900" indent="-3429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1pPr>
            <a:lvl2pPr marL="742950" indent="-28575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2pPr>
            <a:lvl3pPr marL="11430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3pPr>
            <a:lvl4pPr marL="16002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4pPr>
            <a:lvl5pPr marL="20574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ITC2006 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การวิเคราะห์และออกแบบระบบสารสนเทศ</a:t>
            </a:r>
          </a:p>
          <a:p>
            <a:pPr algn="r"/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โดย  อ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.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เขมวิทย์ จิตตะ</a:t>
            </a:r>
            <a:r>
              <a:rPr lang="th-TH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ยโศ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ธร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รายวิชา\วิชาระบบสารสนเทศสำหรับการบริหาร\เอกสารประกอบ\GoalPic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79638"/>
            <a:ext cx="3312368" cy="2484276"/>
          </a:xfrm>
          <a:prstGeom prst="rect">
            <a:avLst/>
          </a:prstGeom>
          <a:noFill/>
        </p:spPr>
      </p:pic>
      <p:sp>
        <p:nvSpPr>
          <p:cNvPr id="4" name="สี่เหลี่ยมผืนผ้า 3"/>
          <p:cNvSpPr/>
          <p:nvPr/>
        </p:nvSpPr>
        <p:spPr>
          <a:xfrm>
            <a:off x="3995936" y="764704"/>
            <a:ext cx="4752528" cy="4536504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3968" y="980728"/>
            <a:ext cx="417646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1. ทราบความสำคัญและวัตถุประสงค์ของแผนภาพกระแสข้อมูล (</a:t>
            </a:r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Data Flow Diagram)</a:t>
            </a:r>
          </a:p>
          <a:p>
            <a:r>
              <a:rPr lang="th-TH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2. เข้าใจสัญลักษณ์ต่างๆ </a:t>
            </a:r>
            <a:br>
              <a:rPr lang="th-TH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และขั้นตอนการเขียนแผนภาพกระแสข้อมูล</a:t>
            </a:r>
          </a:p>
          <a:p>
            <a:r>
              <a:rPr lang="th-TH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3. สามารถวิเคราะห์และเขียนแผนภาพกระแสข้อมูลได้</a:t>
            </a:r>
            <a:endParaRPr lang="th-TH" sz="3000" b="1" dirty="0">
              <a:solidFill>
                <a:schemeClr val="tx1">
                  <a:lumMod val="65000"/>
                  <a:lumOff val="3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50405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  <a:defRPr/>
            </a:pP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วัตถุประสงค์</a:t>
            </a:r>
            <a:endParaRPr lang="th-TH" sz="4400" dirty="0">
              <a:solidFill>
                <a:srgbClr val="FF0066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" name="ตัวแทนหมายเลขภาพนิ่ง 1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</a:t>
            </a:fld>
            <a:endParaRPr lang="th-TH" sz="3200"/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1571272" y="2348890"/>
            <a:ext cx="6198491" cy="4610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1001010" y="2348626"/>
            <a:ext cx="578378" cy="46122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3</a:t>
            </a:r>
            <a:endParaRPr lang="th-TH" sz="30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9" name="สี่เหลี่ยมผืนผ้า 8"/>
          <p:cNvSpPr/>
          <p:nvPr/>
        </p:nvSpPr>
        <p:spPr>
          <a:xfrm>
            <a:off x="1571271" y="2877657"/>
            <a:ext cx="6198491" cy="5040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กฎที่ใช้ในการเขียนแผนภาพกระแสข้อมูล</a:t>
            </a:r>
          </a:p>
        </p:txBody>
      </p:sp>
      <p:sp>
        <p:nvSpPr>
          <p:cNvPr id="10" name="สี่เหลี่ยมผืนผ้า 9"/>
          <p:cNvSpPr/>
          <p:nvPr/>
        </p:nvSpPr>
        <p:spPr>
          <a:xfrm>
            <a:off x="1001010" y="2877392"/>
            <a:ext cx="578378" cy="504055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4</a:t>
            </a:r>
            <a:endParaRPr lang="th-TH" sz="30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9" name="สี่เหลี่ยมผืนผ้า 28"/>
          <p:cNvSpPr/>
          <p:nvPr/>
        </p:nvSpPr>
        <p:spPr>
          <a:xfrm>
            <a:off x="1571271" y="1162190"/>
            <a:ext cx="6198491" cy="5356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ความหมายของแผนภาพกระแสข้อมูล</a:t>
            </a:r>
          </a:p>
        </p:txBody>
      </p:sp>
      <p:sp>
        <p:nvSpPr>
          <p:cNvPr id="30" name="สี่เหลี่ยมผืนผ้า 29"/>
          <p:cNvSpPr/>
          <p:nvPr/>
        </p:nvSpPr>
        <p:spPr>
          <a:xfrm>
            <a:off x="1001010" y="1161925"/>
            <a:ext cx="578378" cy="53567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1</a:t>
            </a:r>
            <a:endParaRPr lang="th-TH" sz="30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01272" y="355303"/>
            <a:ext cx="63230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รายละเอียดของเนื้อหา</a:t>
            </a:r>
            <a:endParaRPr lang="th-TH" sz="4400" dirty="0">
              <a:solidFill>
                <a:srgbClr val="FF0066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17" name="สี่เหลี่ยมผืนผ้า 16"/>
          <p:cNvSpPr/>
          <p:nvPr/>
        </p:nvSpPr>
        <p:spPr>
          <a:xfrm>
            <a:off x="1571271" y="1752740"/>
            <a:ext cx="6198491" cy="5356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ประโยชน์ของแผนภาพกระแสข้อมูล</a:t>
            </a:r>
          </a:p>
        </p:txBody>
      </p:sp>
      <p:sp>
        <p:nvSpPr>
          <p:cNvPr id="18" name="สี่เหลี่ยมผืนผ้า 17"/>
          <p:cNvSpPr/>
          <p:nvPr/>
        </p:nvSpPr>
        <p:spPr>
          <a:xfrm>
            <a:off x="1001010" y="1752475"/>
            <a:ext cx="578378" cy="53567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2</a:t>
            </a:r>
            <a:endParaRPr lang="th-TH" sz="30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5" name="สี่เหลี่ยมผืนผ้า 24"/>
          <p:cNvSpPr/>
          <p:nvPr/>
        </p:nvSpPr>
        <p:spPr>
          <a:xfrm>
            <a:off x="1594819" y="4059323"/>
            <a:ext cx="6198491" cy="4610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26" name="สี่เหลี่ยมผืนผ้า 25"/>
          <p:cNvSpPr/>
          <p:nvPr/>
        </p:nvSpPr>
        <p:spPr>
          <a:xfrm>
            <a:off x="1024557" y="4059059"/>
            <a:ext cx="578378" cy="46122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6</a:t>
            </a:r>
            <a:endParaRPr lang="th-TH" sz="30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31" name="สี่เหลี่ยมผืนผ้า 30"/>
          <p:cNvSpPr/>
          <p:nvPr/>
        </p:nvSpPr>
        <p:spPr>
          <a:xfrm>
            <a:off x="1594818" y="3463173"/>
            <a:ext cx="6198491" cy="5356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ประเภทของแผนภาพกระแสข้อมูล</a:t>
            </a:r>
          </a:p>
        </p:txBody>
      </p:sp>
      <p:sp>
        <p:nvSpPr>
          <p:cNvPr id="32" name="สี่เหลี่ยมผืนผ้า 31"/>
          <p:cNvSpPr/>
          <p:nvPr/>
        </p:nvSpPr>
        <p:spPr>
          <a:xfrm>
            <a:off x="1024557" y="3462908"/>
            <a:ext cx="578378" cy="53567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5</a:t>
            </a:r>
            <a:endParaRPr lang="th-TH" sz="30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" name="ตัวแทนหมายเลขภาพนิ่ง 1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</a:t>
            </a:fld>
            <a:endParaRPr lang="th-TH" sz="3200"/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11560" y="1124744"/>
            <a:ext cx="799288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00"/>
              </a:buClr>
              <a:buFont typeface="Wingdings" pitchFamily="2" charset="2"/>
              <a:buChar char="§"/>
            </a:pPr>
            <a:r>
              <a:rPr lang="th-TH" sz="3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แผนภาพกระแสข้อมูล (</a:t>
            </a:r>
            <a:r>
              <a:rPr lang="en-US" sz="3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Data Flow Diagram: DFD) </a:t>
            </a:r>
            <a:br>
              <a:rPr lang="th-TH" sz="3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หรือเรียกอีกอย่างหนึ่งว่า </a:t>
            </a:r>
            <a:r>
              <a:rPr lang="th-TH" sz="3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แผนภาพการไหลของข้อมูล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เป็นเครื่องมือที่ใช้เพื่อแสดงการไหลของข้อมูลและการประมวลผลต่างๆ ในระบบ สัมพันธ์กับแหล่งเก็บข้อมูลที่ใช้ โดยแผนภาพนี้จะเป็นสื่อ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ที่ช่วยให้การวิเคราะห์เป็นไปได้โดยง่าย และมีความเข้าใจตรงกันระหว่างผู้วิเคราะห์ระบบด้วยกันเอง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600" b="1" dirty="0">
                <a:latin typeface="TH SarabunPSK" pitchFamily="34" charset="-34"/>
                <a:cs typeface="TH SarabunPSK" pitchFamily="34" charset="-34"/>
              </a:rPr>
              <a:t>หรือระหว่างผู้วิเคราะห์ระบบกับโปรแกรมเมอร์ </a:t>
            </a:r>
            <a:br>
              <a:rPr lang="th-TH" sz="2600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หรือระหว่างผู้วิเคราะห์ระบบกับผู้ใช้ระบบ </a:t>
            </a:r>
            <a:br>
              <a:rPr lang="th-TH" sz="2400" b="1" dirty="0">
                <a:latin typeface="TH SarabunPSK" pitchFamily="34" charset="-34"/>
                <a:cs typeface="TH SarabunPSK" pitchFamily="34" charset="-34"/>
              </a:rPr>
            </a:br>
            <a:endParaRPr lang="th-TH" sz="24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 </a:t>
            </a: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1.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ความหมายของแผนภาพกระแสข้อมูล</a:t>
            </a:r>
          </a:p>
        </p:txBody>
      </p:sp>
      <p:pic>
        <p:nvPicPr>
          <p:cNvPr id="3074" name="Picture 2" descr="http://agilemodeling.com/images/models/dataFlowDiagra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555" y="3514064"/>
            <a:ext cx="3422037" cy="25922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ตัวแทนหมายเลขภาพนิ่ง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4</a:t>
            </a:fld>
            <a:endParaRPr lang="th-TH" dirty="0"/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5576" y="1124744"/>
            <a:ext cx="784887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1. มีความอิสระในการใช้งาน โดยไม่ต้องมีเทคนิคอื่นมาช่วย เนื่องจากสามารถใช้สัญลักษณ์ต่างๆ แทนสิ่งที่วิเคราะห์มา</a:t>
            </a:r>
          </a:p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2. เป็นสื่อที่ง่ายต่อการแสดงความสัมพันธ์ระหว่างระบบใหญ่และระบบย่อย ซึ่งจะทำให้เข้าใจความสัมพันธ์ต่าง ๆ ได้ดี</a:t>
            </a:r>
          </a:p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3. เป็นสื่อที่ช่วยในการวิเคราะห์ระบบให้เป็นไปได้ง่าย และมีความเข้าใจตรงกันระหว่างผู้วิเคราะห์ระบบเอง หรือระหว่างผู้วิเคราะห์ระบบกับโปรแกรมเมอร์ หรือระหว่างผู้วิเคราะห์ระบบกับผู้ใช้ระบบ</a:t>
            </a:r>
          </a:p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4. ช่วยในการวิเคราะห์ระบบให้สะดวก โดยสามารถเห็นข้อมูล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   และขั้นตอนต่างๆ เป็นแผนภาพ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endParaRPr lang="th-TH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2. </a:t>
            </a:r>
            <a:r>
              <a:rPr lang="th-TH" sz="44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ประโยชน์ของแผนภาพกระแสข้อมูล</a:t>
            </a: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5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2899517410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5576" y="1124744"/>
            <a:ext cx="78488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สัญลักษณ์ที่ใช้ในการเขียนแผนภาพกระแสข้อมูลนั้น ประกอบด้วย  4 สัญลักษณ์ที่แสดงถึง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การประมวลผล การไหลของข้อมูล </a:t>
            </a:r>
            <a:b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ส่วนที่ใช้เก็บข้อมูล และสิ่งที่อยู่นอกระบบ</a:t>
            </a:r>
          </a:p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โดยได้มีการศึกษาคิดค้นพัฒนาวิธีการอยู่หลายแบบ แต่ที่เป็นมาตรฐานมี 2 กลุ่ม คือกลุ่มที่คิดค้นโดย </a:t>
            </a:r>
            <a:r>
              <a:rPr lang="en-US" sz="3200" b="1" dirty="0" err="1">
                <a:latin typeface="TH SarabunPSK" pitchFamily="34" charset="-34"/>
                <a:cs typeface="TH SarabunPSK" pitchFamily="34" charset="-34"/>
              </a:rPr>
              <a:t>Gane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and </a:t>
            </a:r>
            <a:r>
              <a:rPr lang="en-US" sz="3200" b="1" dirty="0" err="1">
                <a:latin typeface="TH SarabunPSK" pitchFamily="34" charset="-34"/>
                <a:cs typeface="TH SarabunPSK" pitchFamily="34" charset="-34"/>
              </a:rPr>
              <a:t>Sarson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(1979)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และ กลุ่มของ </a:t>
            </a:r>
            <a:r>
              <a:rPr lang="en-US" sz="3200" b="1" dirty="0" err="1">
                <a:latin typeface="TH SarabunPSK" pitchFamily="34" charset="-34"/>
                <a:cs typeface="TH SarabunPSK" pitchFamily="34" charset="-34"/>
              </a:rPr>
              <a:t>DeMarco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and Yourdon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(</a:t>
            </a:r>
            <a:r>
              <a:rPr lang="en-US" sz="3200" b="1" dirty="0" err="1">
                <a:latin typeface="TH SarabunPSK" pitchFamily="34" charset="-34"/>
                <a:cs typeface="TH SarabunPSK" pitchFamily="34" charset="-34"/>
              </a:rPr>
              <a:t>SeMarco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, 1979)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ถึงแม้สัญลักษณ์บางอย่างของสององค์กรนี้จะต่างกัน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       แต่องค์ประกอบของแผนภาพและหลักการเขียนแผนภาพ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       ไม่ได้แตกต่างกัน</a:t>
            </a:r>
            <a:endParaRPr lang="th-TH" sz="3200" b="1" dirty="0">
              <a:solidFill>
                <a:schemeClr val="tx1">
                  <a:lumMod val="85000"/>
                  <a:lumOff val="1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6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2852061820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6" t="22917" r="14559" b="10677"/>
          <a:stretch/>
        </p:blipFill>
        <p:spPr bwMode="auto">
          <a:xfrm>
            <a:off x="0" y="1078790"/>
            <a:ext cx="9144000" cy="5703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ตัวแทนหมายเลขภาพนิ่ง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z="3200" smtClean="0"/>
              <a:pPr/>
              <a:t>7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1599999426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3568" y="1029494"/>
            <a:ext cx="705678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 ประกอบด้วย</a:t>
            </a:r>
          </a:p>
          <a:p>
            <a:pPr>
              <a:buClr>
                <a:srgbClr val="FF0066"/>
              </a:buClr>
            </a:pP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    1.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สัญลักษณ์การประมวลผล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    (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Process Symbol)</a:t>
            </a: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  <a:p>
            <a:pPr>
              <a:buClr>
                <a:srgbClr val="FF0066"/>
              </a:buClr>
            </a:pP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    2.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สัญลักษณ์กระแสข้อมูล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    (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Data Flow Symbol)</a:t>
            </a: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  <a:p>
            <a:pPr>
              <a:buClr>
                <a:srgbClr val="FF0066"/>
              </a:buClr>
            </a:pP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    3.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สัญลักษณ์แหล่งเก็บข้อมูล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    (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Data Store Symbol)</a:t>
            </a: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  <a:p>
            <a:pPr>
              <a:buClr>
                <a:srgbClr val="FF0066"/>
              </a:buClr>
            </a:pP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                    4.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สัญลักษณ์สิ่งที่อยู่ภายนอก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                    (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External Entity Symbol)</a:t>
            </a:r>
            <a:endParaRPr lang="th-TH" sz="32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5122" name="Picture 2" descr="http://spot.colorado.edu/%7Ekozar/dfdsymb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3" y="1696615"/>
            <a:ext cx="3600400" cy="3341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8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655864901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792088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1.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สัญลักษณ์การประมวลผล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Process Symbol)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การประมวลผล (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Process) </a:t>
            </a:r>
            <a: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เป็นการเปลี่ยนแปลงข้อมูลจากรูปแบบหนึ่ง (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Input) </a:t>
            </a:r>
            <a: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ไปเป็นอีกรูปแบบหนึ่ง (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Output) </a:t>
            </a:r>
            <a: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เช่น การคำนวณรายได้สุทธิของลูกจ้างรายวัน จะต้องประกอบด้วยข้อมูลนำเข้าที่เป็น ”อัตราค่าจ้างต่อชั่วโมง” และ “จำนวนชั่วโมงการทำงาน” เมื่อผ่านการประมวลผลแล้วจะได้ “รายได้สุทธิ”</a:t>
            </a:r>
          </a:p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200" b="1" i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ตัวอย่างการประมวลผล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ได้แก่</a:t>
            </a:r>
          </a:p>
          <a:p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             - คำนวณค่าคอมมิชชัน</a:t>
            </a:r>
          </a:p>
          <a:p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             - ตรวจสอบใบสั่งซื้อ</a:t>
            </a:r>
          </a:p>
          <a:p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             - ลงทะเบียน เป็นต้น</a:t>
            </a:r>
            <a:endParaRPr lang="th-TH" sz="3000" b="1" dirty="0">
              <a:solidFill>
                <a:schemeClr val="tx1">
                  <a:lumMod val="95000"/>
                  <a:lumOff val="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7" name="Picture 2" descr="http://spot.colorado.edu/%7Ekozar/dfdsymb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16" r="33064"/>
          <a:stretch/>
        </p:blipFill>
        <p:spPr bwMode="auto">
          <a:xfrm>
            <a:off x="5237957" y="4509120"/>
            <a:ext cx="3233141" cy="118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9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3342791481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792088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การใช้สัญลักษณ์การประมวลผล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Process Symbol)</a:t>
            </a:r>
            <a:b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1. ต้องใช้สัญลักษณ์การประมวลผล (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Process)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คู่กับสัญลักษณ์ กระแสข้อมูล (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Data Flow)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เสมอ โดยที่ถ้าลูกศรชี้เข้าหมายถึง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เป็นข้อมูลนำเข้า ถ้าลูกศรชี้ออกหมายถึงเป็นข้อมูลออกจากการประมวลผล ซึ่ง 1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Process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สามารถมีข้อมูลนำเข้ามากกว่า 1 เส้น หรือข้อมูลออกมากกว่า 1 เส้นได้</a:t>
            </a:r>
            <a:endParaRPr lang="th-TH" sz="32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z="3200" smtClean="0"/>
              <a:pPr/>
              <a:t>10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363465814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792088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การใช้สัญลักษณ์การประมวลผล (</a:t>
            </a:r>
            <a:r>
              <a:rPr lang="en-US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Process Symbol)</a:t>
            </a:r>
            <a:b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2. การตั้งชื่อของ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Process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ควรเป็นวลีเดียวที่อธิบายการทำงานทั้งหมดได้ และควรอธิบายการทำงานอย่างใดอย่างหนึ่งโดยเฉพาะมากกว่าที่จะอธิบายการทำงานอย่างกว้างๆ เช่น หากแสดงถึงการประมวลผล “ตรวจสอบรายการ” ควรจะระบุว่าเป็น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“การตรวจสอบรายการถอนเงิน” หรือ “ตรวจสอบรายการค่าใช้จ่ายรายสัปดาห์” เป็นต้น</a:t>
            </a:r>
          </a:p>
          <a:p>
            <a:pPr lvl="3">
              <a:buClr>
                <a:srgbClr val="FF0066"/>
              </a:buClr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  3. แต่ละ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Process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จะมีแต่ข้อมูลเข้าอย่างเดียว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  หรือออกอย่างเดียวไม่ได้</a:t>
            </a:r>
            <a:endParaRPr lang="th-TH" sz="32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endParaRPr lang="th-TH" sz="32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11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992537777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0218" y="1029494"/>
            <a:ext cx="79208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ตัวอย่างการใช้สัญลักษณ์ประมวลผล</a:t>
            </a:r>
            <a:b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endParaRPr lang="th-TH" sz="32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3" t="19270" r="21912" b="13802"/>
          <a:stretch/>
        </p:blipFill>
        <p:spPr bwMode="auto">
          <a:xfrm>
            <a:off x="198562" y="1568104"/>
            <a:ext cx="8784976" cy="5181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12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03326183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792088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en-US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2. </a:t>
            </a:r>
            <a:r>
              <a:rPr lang="th-TH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สัญลักษณ์กระแสข้อมูล (</a:t>
            </a:r>
            <a:r>
              <a:rPr lang="en-US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Data Flow Symbol)</a:t>
            </a:r>
            <a:br>
              <a:rPr lang="th-TH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กระแสข้อมูล (</a:t>
            </a: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Data Flow) </a:t>
            </a: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เป็นเส้นทางในการไหลของข้อมูล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จากส่วนหนึ่ง ไปยังอีกส่วนหนึ่งของระบบสารสนเทศ โดยจะมีลูกศรแสดงถึงการไหลจากปลายลูกศร ไปยังหัวลูกศร ซึ่งข้อมูลที่ปรากฏ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บนเส้นนี้จะเป็นได้ทั้งข้อความ ตัวเลข รายการเรคคอร์ดที่ระบบคอมพิวเตอร์สามารถนำไปประมวลผลได้</a:t>
            </a:r>
          </a:p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000" b="1" i="1" dirty="0">
                <a:latin typeface="TH SarabunPSK" pitchFamily="34" charset="-34"/>
                <a:cs typeface="TH SarabunPSK" pitchFamily="34" charset="-34"/>
              </a:rPr>
              <a:t>ตัวอย่างกระแสข้อมูล </a:t>
            </a: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ได้แก่</a:t>
            </a:r>
          </a:p>
          <a:p>
            <a:pPr>
              <a:buClr>
                <a:srgbClr val="FF0066"/>
              </a:buClr>
            </a:pP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		- ใบสั่งซื้อสินค้า  	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		- ใบเสร็จรับเงิน</a:t>
            </a:r>
          </a:p>
          <a:p>
            <a:pPr>
              <a:buClr>
                <a:srgbClr val="FF0066"/>
              </a:buClr>
            </a:pP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		- เกรดของนักศึกษา</a:t>
            </a:r>
          </a:p>
          <a:p>
            <a:pPr>
              <a:buClr>
                <a:srgbClr val="FF0066"/>
              </a:buClr>
            </a:pP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		- ใบส่งของที่ผ่านการตรวจสอบแล้ว เป็นต้น</a:t>
            </a:r>
            <a:br>
              <a:rPr lang="th-TH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endParaRPr lang="th-TH" sz="34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6" name="Picture 2" descr="http://spot.colorado.edu/%7Ekozar/dfdsymb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68" r="22542" b="46499"/>
          <a:stretch/>
        </p:blipFill>
        <p:spPr bwMode="auto">
          <a:xfrm>
            <a:off x="4933973" y="4221088"/>
            <a:ext cx="3679785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13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2625498115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792088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การใช้สัญลักษณ์กระแสข้อมูล (</a:t>
            </a:r>
            <a:r>
              <a:rPr lang="en-US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Data Flow Symbol)</a:t>
            </a:r>
            <a:br>
              <a:rPr lang="th-TH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1. กระแสข้อมูลสามารถใช้คู่กับการประมวลผล (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Process),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สิ่งที่อยู่นอกระบบ (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External Entities)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หรือแหล่งเก็บข้อมูล (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Data Store)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ก็ได้ ขึ้นอยู่กับระบบงานว่า ข้อมูลนั้นจะนำไปไว้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ที่ไหน หรือข้อมูลนั้นจะนำออกจากส่วนใด</a:t>
            </a:r>
          </a:p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200" b="1" i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ตัวอย่างการใช้สัญลักษณ์กระแสข้อมูล (</a:t>
            </a:r>
            <a:r>
              <a:rPr lang="en-US" sz="3200" b="1" i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Data Flow)</a:t>
            </a: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  <a:p>
            <a:pPr>
              <a:buClr>
                <a:srgbClr val="FF0066"/>
              </a:buClr>
            </a:pPr>
            <a:br>
              <a:rPr lang="th-TH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endParaRPr lang="th-TH" sz="34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5" t="51483" r="21764" b="33717"/>
          <a:stretch/>
        </p:blipFill>
        <p:spPr bwMode="auto">
          <a:xfrm>
            <a:off x="147980" y="4132360"/>
            <a:ext cx="8816507" cy="12454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47" t="55266" r="17941" b="28818"/>
          <a:stretch/>
        </p:blipFill>
        <p:spPr bwMode="auto">
          <a:xfrm>
            <a:off x="147981" y="5439103"/>
            <a:ext cx="8816507" cy="12927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z="3200" smtClean="0"/>
              <a:pPr/>
              <a:t>14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2485487412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792088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การใช้สัญลักษณ์กระแสข้อมูล (</a:t>
            </a:r>
            <a:r>
              <a:rPr lang="en-US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Data Flow Symbol)</a:t>
            </a:r>
            <a:br>
              <a:rPr lang="th-TH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2. การตั้งชื่อกระแสข้อมูล โดยทั่วไปจะตั้งชื่อด้วยคำเพียงคำเดียว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ที่มีความหมายชัดเจนและเข้าใจง่าย ควรกำกับชื่อบนเส้นด้วย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คำนาม เช่น “เวลาทำงาน”, ใบสั่งซื้อสินค้า” เป็นต้น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3. ควรตั้งชื่อกระแสข้อมูล ตามข้อมูลที่ได้เปลี่ยนแปลงไปแล้วหลังจากออกจากการประมวลผล เนื่องจากการประมวลผลหรือ </a:t>
            </a: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Process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ใช้แสดงถึงการเปลี่ยนข้อมูล หรือการส่งผ่านข้อมูล ดังนั้น </a:t>
            </a: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Data Flow </a:t>
            </a: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            ที่ออกจาก </a:t>
            </a: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Process </a:t>
            </a: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มักจะมีการเขียนชื่อกำกับให้แตกต่าง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            ออกไปจาก </a:t>
            </a: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Data Flow </a:t>
            </a: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ที่เข้ามาใน </a:t>
            </a: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Process </a:t>
            </a: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เสมอ</a:t>
            </a:r>
            <a:br>
              <a:rPr lang="th-TH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endParaRPr lang="th-TH" sz="34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15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2112049045"/>
      </p:ext>
    </p:extLst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792088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6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3. สัญลักษณ์แหล่งเก็บข้อมูล (</a:t>
            </a:r>
            <a:r>
              <a:rPr lang="en-US" sz="36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Data Store Symbol)</a:t>
            </a:r>
            <a:endParaRPr lang="th-TH" sz="36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แหล่งที่เก็บข้อมูล (</a:t>
            </a: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Data Store) </a:t>
            </a: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เป็นส่วนที่ใช้แทนชื่อแฟ้มข้อมูลที่เก็บข้อมูล เพราะมีการประมวลผลหลายแบบที่จะต้องมีการเก็บข้อมูลไว้เพื่อที่จะได้นำไปใช้ภายหลัง ซึ่งแหล่งเก็บข้อมูลจะต้องมีทั้งข้อมูลเข้าและข้อมูลออก โดยข้อมูลที่ออกจากแหล่งเก็บข้อมูลจะอยู่ในลักษณะที่ถูกอ่านขึ้นมา ส่วนข้อมูลที่ไหลเข้าสู่แหล่งเก็บข้อมูลจะอยู่ในรูปของการบันทึก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การเพิ่ม-ลบ แก้ไข</a:t>
            </a:r>
          </a:p>
          <a:p>
            <a:pPr marL="1828800" lvl="3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400" b="1" i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ตัวอย่างแหล่งเก็บข้อมูล </a:t>
            </a:r>
            <a:r>
              <a:rPr lang="th-TH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ได้แก่</a:t>
            </a:r>
          </a:p>
          <a:p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		- แฟ้มคนไข้</a:t>
            </a:r>
          </a:p>
          <a:p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		- แฟ้มพนักงาน เป็นต้น</a:t>
            </a:r>
            <a:br>
              <a:rPr lang="th-TH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endParaRPr lang="th-TH" sz="34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6" name="Picture 2" descr="http://spot.colorado.edu/%7Ekozar/dfdsymb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01" r="6000" b="23250"/>
          <a:stretch/>
        </p:blipFill>
        <p:spPr bwMode="auto">
          <a:xfrm>
            <a:off x="5255340" y="4988216"/>
            <a:ext cx="3493124" cy="801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16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537814652"/>
      </p:ext>
    </p:extLst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198246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6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การใช้สัญลักษณ์แหล่งเก็บข้อมูล (</a:t>
            </a:r>
            <a:r>
              <a:rPr lang="en-US" sz="36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Data Store Symbol)</a:t>
            </a:r>
            <a:endParaRPr lang="th-TH" sz="36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  1. ต้องใช้สัญลักษณ์แหล่งเก็บข้อมูล (</a:t>
            </a: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Data Store) </a:t>
            </a: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คู่กับสัญลักษณ์ กระแสข้อมูล (</a:t>
            </a: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Data Flow) </a:t>
            </a: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เสมอ โดยที่ถ้าลูกศรชี้เข้าหมายถึง เป็นข้อมูลนำเข้าไปเก็บยังแหล่งเก็บ ถ้าลูกศรชี้ออกหมายถึง อ่านข้อมูลจากแหล่งเก็บข้อมูลไปใช้ในการประมวลผล</a:t>
            </a:r>
          </a:p>
          <a:p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      2. Data Store </a:t>
            </a: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ต้องเชื่อมต่อการประมวลผล (</a:t>
            </a: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Process) </a:t>
            </a: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เสมอโดยเชื่อมผ่านกระแสข้อมูล (</a:t>
            </a: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Data Flow)</a:t>
            </a:r>
          </a:p>
          <a:p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   3. เนื่องจาก </a:t>
            </a: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Data Store </a:t>
            </a: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ใช้แทนสิ่งที่เก็บข้อมูลเกี่ยวกับคน, สถานที่,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                  หรือสิ่งของ ดังนั้นควรเขียนชื่อกำกับด้วยคำนาม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                  เช่น “แฟ้มข้อมูลสินค้า”, “แฟ้มเวลาทำงานของพนักงาน”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                   เป็นต้น</a:t>
            </a:r>
            <a:br>
              <a:rPr lang="th-TH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endParaRPr lang="th-TH" sz="34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17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1091565101"/>
      </p:ext>
    </p:extLst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198246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6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การใช้สัญลักษณ์แหล่งเก็บข้อมูล (</a:t>
            </a:r>
            <a:r>
              <a:rPr lang="en-US" sz="36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Data Store Symbol)</a:t>
            </a:r>
            <a:endParaRPr lang="th-TH" sz="36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 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4. ใช้อักษรย่อ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D1, D2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เป็นต้น เขียนด้านซ้ายมือของสัญลักษณ์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เพื่อแสดงว่าเป็นแหล่งเก็บข้อมูลอันที่เท่าใด สามารถเขียนซ้ำในระดับต่างๆ ของแผนภาพกระแสข้อมูลได้</a:t>
            </a:r>
          </a:p>
          <a:p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     5. Data Store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ใช้แทนสิ่งที่เป็นที่เก็บข้อมูล ซึ่งอาจเป็นการทำ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ด้วยมือ (แบบฟอร์มที่เป็นกระดาษ) หรือเก็บในรูปแบบคอมพิวเตอร์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คือแฟ้มข้อมูลหรือฐานข้อมูลก็ได้</a:t>
            </a:r>
            <a:br>
              <a:rPr lang="th-TH" sz="3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endParaRPr lang="th-TH" sz="34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18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3140204717"/>
      </p:ext>
    </p:extLst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400" b="1" i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ตัวอย่างการใช้สัญลักษณ์แหล่งเก็บข้อมูล (</a:t>
            </a:r>
            <a:r>
              <a:rPr lang="en-US" sz="3400" b="1" i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Data Store Symbol)</a:t>
            </a:r>
            <a:endParaRPr lang="th-TH" sz="3400" b="1" i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59" t="41406" r="16092" b="17708"/>
          <a:stretch/>
        </p:blipFill>
        <p:spPr bwMode="auto">
          <a:xfrm>
            <a:off x="368474" y="1916832"/>
            <a:ext cx="8568952" cy="2990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19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2223170137"/>
      </p:ext>
    </p:extLst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400" b="1" i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ตัวอย่างการใช้สัญลักษณ์แหล่งเก็บข้อมูล (</a:t>
            </a:r>
            <a:r>
              <a:rPr lang="en-US" sz="3400" b="1" i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Data Store Symbol)</a:t>
            </a:r>
            <a:endParaRPr lang="th-TH" sz="3400" b="1" i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70" t="43228" r="20442" b="14844"/>
          <a:stretch/>
        </p:blipFill>
        <p:spPr bwMode="auto">
          <a:xfrm>
            <a:off x="255712" y="1753766"/>
            <a:ext cx="8622175" cy="36724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20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495080230"/>
      </p:ext>
    </p:extLst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19824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4. </a:t>
            </a:r>
            <a:r>
              <a:rPr lang="th-TH" sz="36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สัญลักษณ์สิ่งที่อยู่ภายนอก (</a:t>
            </a:r>
            <a:r>
              <a:rPr lang="en-US" sz="36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External Entity Symbol)</a:t>
            </a:r>
            <a:r>
              <a:rPr lang="th-TH" sz="3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สิ่งที่อยู่ภายนอก (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External Entity)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เป็นส่วนที่ใช้แทนคน แผนกภายในองค์กร และแผนกภายนอกองค์กร หรือระบบสารสนเทศอื่น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ที่เป็นส่วนที่จะให้ข้อมูลหรือรับข้อมูล 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สิ่งที่อยู่นอกระบบนี้ใช้แสดงถึงขอบเขตของระบบสารสนเทศ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และแสดงถึงว่าระบบที่ศึกษาอยู่นี้จะติดต่อกับสิ่งที่อยู่ภายนอก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ด้วยวิธีใด (นำข้อมูลเข้ามา หรือได้ข้อมูลออกไป)</a:t>
            </a:r>
          </a:p>
          <a:p>
            <a:r>
              <a:rPr lang="th-TH" sz="3200" b="1" i="1" dirty="0">
                <a:latin typeface="TH SarabunPSK" pitchFamily="34" charset="-34"/>
                <a:cs typeface="TH SarabunPSK" pitchFamily="34" charset="-34"/>
              </a:rPr>
              <a:t>		</a:t>
            </a:r>
            <a:r>
              <a:rPr lang="th-TH" sz="3200" b="1" i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ตัวอย่างสิ่งที่อยู่ภายนอก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ได้แก่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		- นักศึกษา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		- สินค้าคงคลัง 		- สมาชิก เป็นต้น</a:t>
            </a:r>
            <a:endParaRPr lang="th-TH" sz="34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6" name="Picture 2" descr="http://spot.colorado.edu/%7Ekozar/dfdsymb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91" b="70386"/>
          <a:stretch/>
        </p:blipFill>
        <p:spPr bwMode="auto">
          <a:xfrm>
            <a:off x="5867351" y="4509120"/>
            <a:ext cx="3219077" cy="98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21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315746421"/>
      </p:ext>
    </p:extLst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4. </a:t>
            </a:r>
            <a:r>
              <a:rPr lang="th-TH" sz="36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การใช้สัญลักษณ์สิ่งที่อยู่ภายนอก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</a:t>
            </a: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1. ใช้สัญลักษณ์สิ่งที่อยู่ภายนอกคู่กับสัญลักษณ์กระแสข้อมูลเสมอ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โดยที่ถ้าลูกศรชี้เข้า หมายถึง เป็นการนำข้อมูลจากหน่วยงานภายนอก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เข้าสู่ระบบ ถ้าลูกศรชี้ออก หมายถึง ส่งข้อมูลจากระบบไปให้หน่วยงานภายนอก</a:t>
            </a:r>
            <a:endParaRPr lang="th-TH" sz="30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5" t="31954" r="20147" b="20052"/>
          <a:stretch/>
        </p:blipFill>
        <p:spPr bwMode="auto">
          <a:xfrm>
            <a:off x="198562" y="3053496"/>
            <a:ext cx="8765926" cy="3766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z="3200" smtClean="0"/>
              <a:pPr/>
              <a:t>22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1754279672"/>
      </p:ext>
    </p:extLst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4.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กฎที่ใช้ในการเขียนแผนภาพกระแสข้อมูล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ข้อแนะนำในการเขียนแผนภาพให้ถูกต้อง มีดังนี้</a:t>
            </a:r>
          </a:p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1.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การประมวลผล</a:t>
            </a:r>
          </a:p>
        </p:txBody>
      </p:sp>
      <p:graphicFrame>
        <p:nvGraphicFramePr>
          <p:cNvPr id="7" name="ตาราง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228587"/>
              </p:ext>
            </p:extLst>
          </p:nvPr>
        </p:nvGraphicFramePr>
        <p:xfrm>
          <a:off x="179512" y="2204864"/>
          <a:ext cx="8784975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4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ผิด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ถูก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คำอธิบาย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741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20" t="50521" r="9411" b="9114"/>
          <a:stretch/>
        </p:blipFill>
        <p:spPr bwMode="auto">
          <a:xfrm>
            <a:off x="195114" y="2708920"/>
            <a:ext cx="8769374" cy="2671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23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788898935"/>
      </p:ext>
    </p:extLst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4.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กฎที่ใช้ในการเขียนแผนภาพกระแสข้อมูล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ข้อแนะนำในการเขียนแผนภาพให้ถูกต้อง มีดังนี้</a:t>
            </a:r>
          </a:p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1.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การประมวลผล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Process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)</a:t>
            </a:r>
          </a:p>
        </p:txBody>
      </p:sp>
      <p:graphicFrame>
        <p:nvGraphicFramePr>
          <p:cNvPr id="6" name="ตาราง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810143"/>
              </p:ext>
            </p:extLst>
          </p:nvPr>
        </p:nvGraphicFramePr>
        <p:xfrm>
          <a:off x="179512" y="2204864"/>
          <a:ext cx="8784975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4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ผิด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ถูก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คำอธิบาย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20" t="50521" r="9411" b="9114"/>
          <a:stretch/>
        </p:blipFill>
        <p:spPr bwMode="auto">
          <a:xfrm>
            <a:off x="195114" y="2708920"/>
            <a:ext cx="8769374" cy="2671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553200" y="6525344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24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2446158221"/>
      </p:ext>
    </p:extLst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4.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กฎที่ใช้ในการเขียนแผนภาพกระแสข้อมูล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ข้อแนะนำในการเขียนแผนภาพให้ถูกต้อง มีดังนี้</a:t>
            </a:r>
          </a:p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2.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แหล่งเก็บข้อมูล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Data Store)</a:t>
            </a:r>
            <a:endParaRPr lang="th-TH" sz="32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graphicFrame>
        <p:nvGraphicFramePr>
          <p:cNvPr id="6" name="ตาราง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634296"/>
              </p:ext>
            </p:extLst>
          </p:nvPr>
        </p:nvGraphicFramePr>
        <p:xfrm>
          <a:off x="179512" y="2204864"/>
          <a:ext cx="8784975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1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8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ผิด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ถูก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คำอธิบาย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4" t="11979" r="11324" b="39383"/>
          <a:stretch/>
        </p:blipFill>
        <p:spPr bwMode="auto">
          <a:xfrm>
            <a:off x="194370" y="2708921"/>
            <a:ext cx="8770118" cy="3329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25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28512961"/>
      </p:ext>
    </p:extLst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4.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กฎที่ใช้ในการเขียนแผนภาพกระแสข้อมูล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ข้อแนะนำในการเขียนแผนภาพให้ถูกต้อง มีดังนี้</a:t>
            </a:r>
          </a:p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2.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แหล่งเก็บข้อมูล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Data Store)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(ต่อ)</a:t>
            </a:r>
          </a:p>
        </p:txBody>
      </p:sp>
      <p:graphicFrame>
        <p:nvGraphicFramePr>
          <p:cNvPr id="6" name="ตาราง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262838"/>
              </p:ext>
            </p:extLst>
          </p:nvPr>
        </p:nvGraphicFramePr>
        <p:xfrm>
          <a:off x="179512" y="2204864"/>
          <a:ext cx="8784975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8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ผิด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ถูก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คำอธิบาย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945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0" t="61719" r="11030" b="6250"/>
          <a:stretch/>
        </p:blipFill>
        <p:spPr bwMode="auto">
          <a:xfrm>
            <a:off x="217612" y="2747020"/>
            <a:ext cx="8746876" cy="218228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26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999277037"/>
      </p:ext>
    </p:extLst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4.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กฎที่ใช้ในการเขียนแผนภาพกระแสข้อมูล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ข้อแนะนำในการเขียนแผนภาพให้ถูกต้อง มีดังนี้</a:t>
            </a:r>
          </a:p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กระแสข้อมูล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Data Flow)</a:t>
            </a:r>
            <a:endParaRPr lang="th-TH" sz="32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graphicFrame>
        <p:nvGraphicFramePr>
          <p:cNvPr id="6" name="ตาราง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363758"/>
              </p:ext>
            </p:extLst>
          </p:nvPr>
        </p:nvGraphicFramePr>
        <p:xfrm>
          <a:off x="179512" y="2204864"/>
          <a:ext cx="878497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8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ผิด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ถูก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คำอธิบาย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48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0" t="30990" r="11323" b="46875"/>
          <a:stretch/>
        </p:blipFill>
        <p:spPr bwMode="auto">
          <a:xfrm>
            <a:off x="194370" y="2708920"/>
            <a:ext cx="8770118" cy="1619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54" t="77407" r="11304" b="13110"/>
          <a:stretch/>
        </p:blipFill>
        <p:spPr bwMode="auto">
          <a:xfrm>
            <a:off x="196639" y="4338511"/>
            <a:ext cx="8767849" cy="67979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27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1560499476"/>
      </p:ext>
    </p:extLst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4.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กฎที่ใช้ในการเขียนแผนภาพกระแสข้อมูล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ข้อแนะนำในการเขียนแผนภาพให้ถูกต้อง มีดังนี้</a:t>
            </a:r>
          </a:p>
        </p:txBody>
      </p:sp>
      <p:graphicFrame>
        <p:nvGraphicFramePr>
          <p:cNvPr id="6" name="ตาราง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894700"/>
              </p:ext>
            </p:extLst>
          </p:nvPr>
        </p:nvGraphicFramePr>
        <p:xfrm>
          <a:off x="179512" y="1628800"/>
          <a:ext cx="878497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ผิด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ถูก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คำอธิบาย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1" t="11381" r="11396" b="12127"/>
          <a:stretch/>
        </p:blipFill>
        <p:spPr bwMode="auto">
          <a:xfrm>
            <a:off x="179513" y="2132856"/>
            <a:ext cx="8784976" cy="4608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ตัวแทน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z="3200" smtClean="0"/>
              <a:pPr/>
              <a:t>28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573695753"/>
      </p:ext>
    </p:extLst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4.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กฎที่ใช้ในการเขียนแผนภาพกระแสข้อมูล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ข้อแนะนำในการเขียนแผนภาพให้ถูกต้อง มีดังนี้</a:t>
            </a:r>
          </a:p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4.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สิ่งที่อยู่ภายนอก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External Entity)</a:t>
            </a:r>
            <a:endParaRPr lang="th-TH" sz="32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graphicFrame>
        <p:nvGraphicFramePr>
          <p:cNvPr id="6" name="ตาราง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449829"/>
              </p:ext>
            </p:extLst>
          </p:nvPr>
        </p:nvGraphicFramePr>
        <p:xfrm>
          <a:off x="179512" y="2204864"/>
          <a:ext cx="878497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ผิด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ถูก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คำอธิบาย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46" t="31530" r="10975" b="30037"/>
          <a:stretch/>
        </p:blipFill>
        <p:spPr bwMode="auto">
          <a:xfrm>
            <a:off x="209252" y="2708920"/>
            <a:ext cx="8755236" cy="26252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29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3717099701"/>
      </p:ext>
    </p:extLst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5.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ประเภทของแผนภาพกระแสข้อมูล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การเขียน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DFD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นั้นสามารถเขียนได้ 2 แบบ  คือ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1. 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แบบตรรกะ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Logical Data Flow Diagram)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แผนภาพนี้จะเป็นการเน้นในส่วนของธุรกิจ ว่าธุรกิจมีการทำงานอย่างไร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มีเหตุการณ์อะไรบ้างที่เกิดขึ้น, ข้อมูลที่ต้องการมีอะไรบ้าง และได้ข้อมูลอะไรจากเหตุการณ์นั้นๆ แต่ไม่ได้บอกว่าระบบจะถูกสร้างอย่างไร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2. 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แบบกายภาพ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Physical Data Flow Diagram)</a:t>
            </a:r>
            <a:br>
              <a:rPr lang="en-US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แผนภาพนี้จะบอกได้ว่าจะสร้างระบบอย่างไร ประกอบด้วยฮาร์ดแวร์,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            ซอฟต์แวร์, แฟ้มข้อมูล และบุคคลใดที่เกี่ยวข้องบ้างในระบบ</a:t>
            </a:r>
            <a:endParaRPr lang="th-TH" sz="30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30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449214984"/>
      </p:ext>
    </p:extLst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5.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ประเภทของแผนภาพกระแสข้อมูล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FF0066"/>
              </a:buClr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ข้อแตกต่างระหว่างแผนภาพกระแสข้อมูลแบบตรรกะ กับแบบกายภาพ</a:t>
            </a:r>
            <a:b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endParaRPr lang="th-TH" sz="30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3" t="22575" r="13924" b="7650"/>
          <a:stretch/>
        </p:blipFill>
        <p:spPr bwMode="auto">
          <a:xfrm>
            <a:off x="192177" y="1615152"/>
            <a:ext cx="8772312" cy="512346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z="3200" smtClean="0"/>
              <a:pPr/>
              <a:t>31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2450876323"/>
      </p:ext>
    </p:extLst>
  </p:cSld>
  <p:clrMapOvr>
    <a:masterClrMapping/>
  </p:clrMapOvr>
  <p:transition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5.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ประเภทของแผนภาพกระแสข้อมูล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0070C0"/>
              </a:buClr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ประโยชน์ของการสร้างแผนภาพกระแสข้อมูลแบบตรรกะ </a:t>
            </a:r>
            <a:b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Logical DFD)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1. ช่วยให้การสื่อสารระหว่างผู้ใช้งานให้ดีขึ้น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2. ช่วยให้ระบบมีความมั่นคงมากขึ้น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3. ช่วยให้นักวิเคราะห์ระบบมีความเข้าใจกับการดำเนินงานของระบบได้ชัดเจน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4. ช่วยในการบำรุงรักษาและมีความยืดหยุ่นมากขึ้น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5. ช่วยลดความซับซ้อน และง่ายต่อการสร้างแผนภาพกระแสข้อมูล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       แบบกายภาพต่อไป</a:t>
            </a:r>
            <a:endParaRPr lang="th-TH" sz="30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32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072929458"/>
      </p:ext>
    </p:extLst>
  </p:cSld>
  <p:clrMapOvr>
    <a:masterClrMapping/>
  </p:clrMapOvr>
  <p:transition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5.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ประเภทของแผนภาพกระแสข้อมูล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ประโยชน์ของการสร้างแผนภาพกระแสข้อมูลแบบกายภาพ </a:t>
            </a:r>
            <a:b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Physical DFD)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1. ขั้นตอนการประมวลผลนั้นเป็นการทำงานด้วยระบบมือ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หรือระบบอัตโนมัติ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2. แผนภาพแบบกายภาพจะอธิบายรายละเอียดขั้นตอนการประมวลผลได้ละเอียด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3. มีการแสดงถึงลำดับขั้นตอนการทำงาน</a:t>
            </a:r>
            <a:endParaRPr lang="th-TH" sz="30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33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242933139"/>
      </p:ext>
    </p:extLst>
  </p:cSld>
  <p:clrMapOvr>
    <a:masterClrMapping/>
  </p:clrMapOvr>
  <p:transition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th-TH" sz="3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ในการเขียนแผนภาพกระแสข้อมูลนั้น ควรเขียนให้เป็นระบบงาน </a:t>
            </a:r>
            <a:br>
              <a:rPr lang="th-TH" sz="3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ซึ่งสามารถสรุปขั้นตอนของการเขียนให้สมบูรณ์ได้ดังนี้</a:t>
            </a: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 	1. กำหนดรายการกิจกรรมต่างๆ ของธุรกิจ และแยกออกมาว่า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อยู่ในรูปแบบใด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External Entities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หรือ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Data Flows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หรือ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Processes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หรือ 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Data Stores)</a:t>
            </a: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 	2. สร้างแผนภาพระดับสูงสุด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Context Diagram)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ซึ่งแสดงถึง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External Entities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และข้อมูลที่ไหลเข้าและออกจากระบบหลัก โดยไม่สนใจแหล่งเก็บข้อมูล</a:t>
            </a: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 	3. เขียน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Diagram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ระดับถัดไป คือแผนภาพระดับล่าง (เรียกว่า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Diagram </a:t>
            </a:r>
            <a:br>
              <a:rPr lang="en-US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 	          0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หรือ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Parent Diagram)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ซึ่งแสดงถึง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Process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ต่างๆ ที่มี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            แต่เขียนให้อยู่ในรูปแบบทั่วไป พร้อมกันนั้นให้แสดง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Data Store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            ในระดับนี้ด้วย</a:t>
            </a:r>
            <a:endParaRPr lang="th-TH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34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1464073708"/>
      </p:ext>
    </p:extLst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th-TH" sz="3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ในการเขียนแผนภาพกระแสข้อมูลนั้น ควรเขียนให้เป็นระบบงาน </a:t>
            </a:r>
            <a:br>
              <a:rPr lang="th-TH" sz="3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ซึ่งสามารถสรุปขั้นตอนของการเขียนให้สมบูรณ์ได้ดังนี้</a:t>
            </a: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 	4.  สร้างแผนภาพระดับลูกของแต่ละ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Process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ใน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Diagram 0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เรียกแผนภาพในระดับนี้ว่า แผนภาพกระแสข้อมูลระดับ 1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Level-1 diagram)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ถ้าหากมีรายละเอียดของการทำงานย่อยจากระดับนี้อีก ก็ให้แตกรายละเอียด ลงไปจนกระทั่งสิ้นสุด ส่วนชื่อของระดับก็จะเป็น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Level-2 diagram , Level-3 diagram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ไปเรื่อยๆ จนกระทั่งหมด</a:t>
            </a: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 	5.  ตรวจสอบหาข้อผิดพลาด และดูว่าคำกำกับบนเส้น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Data Flow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       แต่ละเส้น รวมถึง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Process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แต่ละอันนั้น สื่อความหมายหรือไม่</a:t>
            </a: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35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629785944"/>
      </p:ext>
    </p:extLst>
  </p:cSld>
  <p:clrMapOvr>
    <a:masterClrMapping/>
  </p:clrMapOvr>
  <p:transition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th-TH" sz="3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ในการเขียนแผนภาพกระแสข้อมูลนั้น ควรเขียนให้เป็นระบบงาน </a:t>
            </a:r>
            <a:br>
              <a:rPr lang="th-TH" sz="3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ซึ่งสามารถสรุปขั้นตอนของการเขียนให้สมบูรณ์ได้ดังนี้</a:t>
            </a: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 	6.  หลังจากเขียนแผนภาพจนครบทุกการทำงานแล้ว ให้ทำการตรวจสอบสมดุลระหว่างข้อมูลเข้าและข้อมูลออกของแผนภาพ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DFD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กับ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Context diagram</a:t>
            </a: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 	7.  พัฒนารูปแบบใหม่ จาก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Logical Data Flow Diagram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ให้ไปอยู่ในรูป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Physical Data Flow Diagram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เพื่อแยกระหว่างระบบที่ทำด้วยมือ กับระบบที่ทำงานอัตโนมัติ</a:t>
            </a: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 	8.  แบ่งส่วนของ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Physical Data Flow Diagram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โดยการแยกหรือ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       แบ่งกลุ่มของ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Diagram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ออก เพื่อให้สามารถนำไปเขียนโปรแกรม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                    หรือเพื่อการดำเนินการระบบได้</a:t>
            </a:r>
            <a:endParaRPr lang="th-TH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36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131659649"/>
      </p:ext>
    </p:extLst>
  </p:cSld>
  <p:clrMapOvr>
    <a:masterClrMapping/>
  </p:clrMapOvr>
  <p:transition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1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.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 แผนภาพกระแสข้อมูลระดับสูงสุด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Context Diagram)</a:t>
            </a: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แผนภาพกระแสข้อมูลระดับสูงสุด เป็นแผนภาพที่แสดงถึงขอบเขตของสารสนเทศนั้น โดยจะเป็นมุมมองระดับสูงว่ามีหน่วยงานใดเกี่ยวข้องบ้าง ติดต่อกับระบบโดยมีการรับและส่งข้อมูลใดกับระบบ ซึ่งแผนภาพระดับนี้จะยังไม่กล่าวถึง สัญลักษณ์การเก็บข้อมูล (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Data Store Symbol)</a:t>
            </a:r>
            <a:endParaRPr lang="th-TH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51" t="61194" r="22985" b="18097"/>
          <a:stretch/>
        </p:blipFill>
        <p:spPr bwMode="auto">
          <a:xfrm>
            <a:off x="683568" y="3419706"/>
            <a:ext cx="8122893" cy="1747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968896" y="5301208"/>
            <a:ext cx="3815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รูปแบบการเขียน </a:t>
            </a:r>
            <a:r>
              <a:rPr lang="en-US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Context Diagram</a:t>
            </a:r>
            <a:endParaRPr lang="th-TH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37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513260409"/>
      </p:ext>
    </p:extLst>
  </p:cSld>
  <p:clrMapOvr>
    <a:masterClrMapping/>
  </p:clrMapOvr>
  <p:transition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576" y="1029494"/>
            <a:ext cx="820891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หลักการสร้าง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Context Diagram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ที่ดี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1. ควรจะเขียนให้ครอบคลุมระบบ ให้อยู่ใน 1 หน้ากระดาษ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2. ชื่อของ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Process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ควรเป็นชื่อของระบบสารสนเทศ นั้น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3. ชื่อที่เขียนกำกับสัญลักษณ์ต่างๆ จะต้องเขียนโดยไม่ให้ชื่อซ้ำกัน ถ้าสัญลักษณ์นั้นแทนสิ่งที่แตกต่างกัน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4. ควรหลีกเลี่ยงเส้นที่จะต้องเขียนคร่อมเส้นกัน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5. ในการเขียนชื่อย่อ จะต้องเขียนโดยบันทึกความหมายของตัวย่อนั้น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      ในพจนานุกรมข้อมูล (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Data Dictionary)</a:t>
            </a:r>
            <a:endParaRPr lang="th-TH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38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545731723"/>
      </p:ext>
    </p:extLst>
  </p:cSld>
  <p:clrMapOvr>
    <a:masterClrMapping/>
  </p:clrMapOvr>
  <p:transition>
    <p:fade thruBlk="1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576" y="1029494"/>
            <a:ext cx="82089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ตัวอย่างการเขียน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Context Diagram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ของระบบการสั่งซื้อสินค้า</a:t>
            </a:r>
            <a:endParaRPr lang="th-TH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8" t="33023" r="17506" b="27425"/>
          <a:stretch/>
        </p:blipFill>
        <p:spPr bwMode="auto">
          <a:xfrm>
            <a:off x="395536" y="1686277"/>
            <a:ext cx="8471560" cy="3038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39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844062097"/>
      </p:ext>
    </p:extLst>
  </p:cSld>
  <p:clrMapOvr>
    <a:masterClrMapping/>
  </p:clrMapOvr>
  <p:transition>
    <p:fade thruBlk="1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2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.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 แผนภาพกระแสข้อมูลระดับล่าง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Diagram 0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หรือ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Parent Diagram)</a:t>
            </a: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แผนภาพกระแสข้อมูลระดับล่าง เป็นแผนภาพที่ให้รายละเอียดเพิ่มเติมจากแผนภาพระดับสูงสุด ทำให้เห็นภาพรวมของแผนภาพกระแสข้อมูล ซึ่งจะมีรายละเอียดมากกว่าแผนภาพกระแสข้อมูลระดับสูงสุด</a:t>
            </a:r>
            <a:endParaRPr lang="th-TH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57" t="17910" r="13925" b="14739"/>
          <a:stretch/>
        </p:blipFill>
        <p:spPr bwMode="auto">
          <a:xfrm>
            <a:off x="179512" y="2906930"/>
            <a:ext cx="8784976" cy="3892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z="3200" smtClean="0"/>
              <a:pPr/>
              <a:t>40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478586039"/>
      </p:ext>
    </p:extLst>
  </p:cSld>
  <p:clrMapOvr>
    <a:masterClrMapping/>
  </p:clrMapOvr>
  <p:transition>
    <p:fade thruBlk="1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หลักการสร้างแผนภาพกระแสข้อมูลระดับล่าง</a:t>
            </a:r>
            <a:endParaRPr lang="en-US" sz="32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1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.  </a:t>
            </a: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การเขียนแผนภาพกระแสข้อมูลควรเขียนให้ดูง่ายและให้แสดงอยู่ในกระดาษแผ่นเดียว</a:t>
            </a:r>
          </a:p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2. </a:t>
            </a: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ลูกศรไม่ควรทับหรือข้ามกัน</a:t>
            </a:r>
          </a:p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3.  </a:t>
            </a: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แต่ละ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Process  </a:t>
            </a: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จะต้องมี</a:t>
            </a:r>
            <a:r>
              <a:rPr lang="th-TH" sz="3200" b="1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หมายเลขกำกับเป็น</a:t>
            </a: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จำนวนเต็ม โดยการลำดับหมายเลข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Process </a:t>
            </a: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ไม่ได้หมายถึงการทำงานต้องทำตามลำดับของ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Process</a:t>
            </a:r>
            <a:endParaRPr lang="th-TH" sz="3200" b="1" dirty="0">
              <a:solidFill>
                <a:schemeClr val="tx1">
                  <a:lumMod val="95000"/>
                  <a:lumOff val="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41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612749034"/>
      </p:ext>
    </p:extLst>
  </p:cSld>
  <p:clrMapOvr>
    <a:masterClrMapping/>
  </p:clrMapOvr>
  <p:transition>
    <p:fade thruBlk="1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ตัวอย่างการเขียน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Diagram 0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ของระบบการสั่งซื้อสินค้า</a:t>
            </a:r>
            <a:endParaRPr lang="en-US" sz="32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 t="21195" r="16091" b="7031"/>
          <a:stretch/>
        </p:blipFill>
        <p:spPr bwMode="auto">
          <a:xfrm>
            <a:off x="179512" y="1543956"/>
            <a:ext cx="8784976" cy="525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z="3200" smtClean="0"/>
              <a:pPr/>
              <a:t>42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961513382"/>
      </p:ext>
    </p:extLst>
  </p:cSld>
  <p:clrMapOvr>
    <a:masterClrMapping/>
  </p:clrMapOvr>
  <p:transition>
    <p:fade thruBlk="1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218" y="1029494"/>
            <a:ext cx="841427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หลักการสร้างแผนภาพกระแสข้อมูลระดับล่าง (ต่อ)</a:t>
            </a:r>
            <a:endParaRPr lang="en-US" sz="32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4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.  External Entity </a:t>
            </a:r>
            <a: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ทั้งหมดของระบบที่เขียนใน 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Context diagram </a:t>
            </a:r>
            <a: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จะต้องแสดงอยู่ใน 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Diagram 0 </a:t>
            </a:r>
            <a: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ด้วย โดยที่สามารถทำซ้ำกันได้ ด้วยเครื่องหมาย 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\ </a:t>
            </a:r>
            <a:b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ตรงมุมล่างซ้ายของลัญลักษณ์ 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External Entity</a:t>
            </a:r>
            <a:endParaRPr lang="th-TH" sz="3000" b="1" dirty="0">
              <a:solidFill>
                <a:schemeClr val="tx1">
                  <a:lumMod val="95000"/>
                  <a:lumOff val="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2" t="48173" r="58824" b="41667"/>
          <a:stretch/>
        </p:blipFill>
        <p:spPr bwMode="auto">
          <a:xfrm>
            <a:off x="1892878" y="3307501"/>
            <a:ext cx="5919482" cy="1399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267744" y="4788441"/>
            <a:ext cx="5580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สิ่งที่อยู่นอกระบบและการทำซ้ำสิ่งที่อยู่นอกระบบ</a:t>
            </a:r>
          </a:p>
        </p:txBody>
      </p:sp>
      <p:sp>
        <p:nvSpPr>
          <p:cNvPr id="9" name="ตัวแทนหมายเลขภาพนิ่ง 8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43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2870830929"/>
      </p:ext>
    </p:extLst>
  </p:cSld>
  <p:clrMapOvr>
    <a:masterClrMapping/>
  </p:clrMapOvr>
  <p:transition>
    <p:fade thruBlk="1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หลักการสร้างแผนภาพกระแสข้อมูลระดับล่าง (ต่อ)</a:t>
            </a:r>
            <a:endParaRPr lang="en-US" sz="32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5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.  </a:t>
            </a:r>
            <a: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จำนวน 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Process </a:t>
            </a:r>
            <a: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ไม่ควรมีมากเกินไป หรือน้อยเกินไป จำนวน 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Process</a:t>
            </a:r>
            <a:b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ที่มากเกินไป จะทำให้แผนภาพกระแสข้อมูลอ่านยาก และมีความซับซ้อนขึ้น</a:t>
            </a:r>
          </a:p>
        </p:txBody>
      </p:sp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44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2584621611"/>
      </p:ext>
    </p:extLst>
  </p:cSld>
  <p:clrMapOvr>
    <a:masterClrMapping/>
  </p:clrMapOvr>
  <p:transition>
    <p:fade thruBlk="1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2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.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 แผนภาพกระแสข้อมูลระดับต่ำ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Lower Level Data Flow Diagram)</a:t>
            </a: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แผนภาพกระแสข้อมูลระดับต่ำ เป็นแผนภาพที่มีรายละเอียดเพิ่มเติมจากแผนภาพระดับล่าง โดยในแผนภาพระดับนี้จะมีการแตกการประมวลผลออกเป็นการประมวลผลย่อยๆ อีกได้</a:t>
            </a:r>
            <a:endParaRPr lang="th-TH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53" t="43229" r="25735" b="33073"/>
          <a:stretch/>
        </p:blipFill>
        <p:spPr bwMode="auto">
          <a:xfrm>
            <a:off x="395536" y="3011706"/>
            <a:ext cx="8530684" cy="2433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45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562231294"/>
      </p:ext>
    </p:extLst>
  </p:cSld>
  <p:clrMapOvr>
    <a:masterClrMapping/>
  </p:clrMapOvr>
  <p:transition>
    <p:fade thruBlk="1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41427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2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.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 แผนภาพกระแสข้อมูลระดับต่ำ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Lower Level Data Flow Diagram)</a:t>
            </a: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แผนภาพกระแสข้อมูลระดับต่ำ เป็นแผนภาพที่มีรายละเอียดเพิ่มเติมจากแผนภาพระดับล่าง โดยในแผนภาพระดับนี้จะมีการแตกการประมวลผลออกเป็นการประมวลผลย่อยๆ อีกได้</a:t>
            </a:r>
            <a:endParaRPr lang="th-TH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47" t="37761" r="26029" b="14584"/>
          <a:stretch/>
        </p:blipFill>
        <p:spPr bwMode="auto">
          <a:xfrm>
            <a:off x="179512" y="2897405"/>
            <a:ext cx="8784976" cy="3838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27014" y="5643245"/>
            <a:ext cx="46810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b="1" dirty="0">
                <a:solidFill>
                  <a:schemeClr val="accent5">
                    <a:lumMod val="50000"/>
                  </a:schemeClr>
                </a:solidFill>
                <a:latin typeface="TH SarabunPSK" pitchFamily="34" charset="-34"/>
                <a:cs typeface="TH SarabunPSK" pitchFamily="34" charset="-34"/>
              </a:rPr>
              <a:t>รูปแบบการเขียน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TH SarabunPSK" pitchFamily="34" charset="-34"/>
                <a:cs typeface="TH SarabunPSK" pitchFamily="34" charset="-34"/>
              </a:rPr>
              <a:t>Child Diagram (Level-1) </a:t>
            </a:r>
            <a:br>
              <a:rPr lang="th-TH" b="1" dirty="0">
                <a:solidFill>
                  <a:schemeClr val="accent5">
                    <a:lumMod val="50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accent5">
                    <a:lumMod val="50000"/>
                  </a:schemeClr>
                </a:solidFill>
                <a:latin typeface="TH SarabunPSK" pitchFamily="34" charset="-34"/>
                <a:cs typeface="TH SarabunPSK" pitchFamily="34" charset="-34"/>
              </a:rPr>
              <a:t>ของ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TH SarabunPSK" pitchFamily="34" charset="-34"/>
                <a:cs typeface="TH SarabunPSK" pitchFamily="34" charset="-34"/>
              </a:rPr>
              <a:t>Process 3.0</a:t>
            </a:r>
            <a:endParaRPr lang="th-TH" b="1" dirty="0">
              <a:solidFill>
                <a:schemeClr val="accent5">
                  <a:lumMod val="50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9" name="ตัวแทน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z="3200" smtClean="0"/>
              <a:pPr/>
              <a:t>46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1226939690"/>
      </p:ext>
    </p:extLst>
  </p:cSld>
  <p:clrMapOvr>
    <a:masterClrMapping/>
  </p:clrMapOvr>
  <p:transition>
    <p:fade thruBlk="1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1029494"/>
            <a:ext cx="805423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หลักการสร้างแผนภาพกระแสข้อมูลระดับต่ำ </a:t>
            </a:r>
            <a:b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Lower Level Data Flow Diagram)</a:t>
            </a:r>
            <a:b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1. 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แต่ละ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Process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บน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Diagram 0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(หรือ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Parent Process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) สามารถนำมาสร้าง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Diagram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ย่อย (เรียกว่า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Child Diagram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)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2. 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ในการสร้าง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Child Diagram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นั้น ข้อมูลที่เข้ามาและออกจาก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Child Diagram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จะต้องเป็นข้อมูลที่เข้ามาและออกจาก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Parent Process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3. 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เมื่อมีการแยก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Process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ออกเป็น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Child Diagram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จะต้องมีการกำหนดหมายเลขลำดับให้กับ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Child Diagram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นั้น โดยจะตั้งตาม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Parent Process</a:t>
            </a: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              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( เช่น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Process 3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แยกเป็น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Diagram Level -1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ของ </a:t>
            </a: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                 Process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ที่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3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)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47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3594451019"/>
      </p:ext>
    </p:extLst>
  </p:cSld>
  <p:clrMapOvr>
    <a:masterClrMapping/>
  </p:clrMapOvr>
  <p:transition>
    <p:fade thruBlk="1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972344"/>
            <a:ext cx="8342262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หลักการสร้างแผนภาพกระแสข้อมูลระดับต่ำ </a:t>
            </a:r>
            <a:b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Lower Level Data Flow Diagram)</a:t>
            </a:r>
            <a:b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4. 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หมายเลขกำกับ แต่ละ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Process 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ใน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Child Diagram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ก็จะใช้หมายเลขขึ้นต้นเหมือน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Parent Process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แล้วตามด้วยจุดทศนิยม และหมายเลขย่อยลงไป (เช่น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Pararent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Process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เป็น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Process 3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ดังนั้นใน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Diagram 3 </a:t>
            </a:r>
            <a:b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ก็จะมี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Process 3.1, 3.2, 3.3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ไปเรื่อยๆ จนกว่าจะหมด)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5. 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โดยปกติแล้ว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external Entity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มักจะไม่แสดงบน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Child Diagram </a:t>
            </a:r>
            <a:b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ที่ต่ำกว่า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0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               6.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บน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Child Diagram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อาจมี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Data Store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ปรากฏขึ้นมา โดยที่</a:t>
            </a:r>
            <a:b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               ไม่มีใครเป็น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Parent Process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ได้</a:t>
            </a:r>
            <a:b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             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7.  Process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ต่างๆ อาจมีการแตกหรือไม่แตกเป็น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Child Diagram</a:t>
            </a: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                         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ก็ได้ ขึ้นอยูกับระดับความซับซ้อนของ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Process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นั้นๆ</a:t>
            </a: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48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2568318000"/>
      </p:ext>
    </p:extLst>
  </p:cSld>
  <p:clrMapOvr>
    <a:masterClrMapping/>
  </p:clrMapOvr>
  <p:transition>
    <p:fade thruBlk="1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972344"/>
            <a:ext cx="83422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th-TH" b="1" i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ตัวอย่างการเขียน </a:t>
            </a:r>
            <a:r>
              <a:rPr lang="en-US" b="1" i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Child Diagram (Level-1) </a:t>
            </a:r>
            <a:r>
              <a:rPr lang="th-TH" b="1" i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ของ </a:t>
            </a:r>
            <a:r>
              <a:rPr lang="en-US" b="1" i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Process 1.0-</a:t>
            </a:r>
            <a:r>
              <a:rPr lang="th-TH" b="1" i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การป้อนข้อมูลการสั่งซื้อ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82" t="24218" r="17500" b="16667"/>
          <a:stretch/>
        </p:blipFill>
        <p:spPr bwMode="auto">
          <a:xfrm>
            <a:off x="255711" y="1926451"/>
            <a:ext cx="8712969" cy="4795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z="3200" smtClean="0"/>
              <a:pPr/>
              <a:t>49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725245536"/>
      </p:ext>
    </p:extLst>
  </p:cSld>
  <p:clrMapOvr>
    <a:masterClrMapping/>
  </p:clrMapOvr>
  <p:transition>
    <p:fade thruBlk="1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18" y="972344"/>
            <a:ext cx="83422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i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ตัวอย่างระบบงาน : ระบบการสั่งอาหาร (</a:t>
            </a:r>
            <a:r>
              <a:rPr lang="en-US" sz="3200" b="1" i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Food Ordering System)</a:t>
            </a:r>
            <a:endParaRPr lang="th-TH" b="1" i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76" t="25261" r="15441" b="33853"/>
          <a:stretch/>
        </p:blipFill>
        <p:spPr bwMode="auto">
          <a:xfrm>
            <a:off x="285750" y="1837556"/>
            <a:ext cx="8606730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555776" y="5013176"/>
            <a:ext cx="63367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Context Diagram </a:t>
            </a:r>
            <a:r>
              <a:rPr lang="th-TH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ของระบบการสั่งอาหาร </a:t>
            </a:r>
            <a:br>
              <a:rPr lang="th-TH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ของร้านอาหาร</a:t>
            </a:r>
            <a:endParaRPr lang="th-TH" b="1" dirty="0">
              <a:solidFill>
                <a:schemeClr val="tx1">
                  <a:lumMod val="75000"/>
                  <a:lumOff val="2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50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481640163"/>
      </p:ext>
    </p:extLst>
  </p:cSld>
  <p:clrMapOvr>
    <a:masterClrMapping/>
  </p:clrMapOvr>
  <p:transition>
    <p:fade thruBlk="1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46" y="6156593"/>
            <a:ext cx="8964488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th-TH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แผนภาพระดับ</a:t>
            </a: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 Diagram 0 </a:t>
            </a:r>
            <a:r>
              <a:rPr lang="th-TH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 SarabunPSK" pitchFamily="34" charset="-34"/>
                <a:cs typeface="TH SarabunPSK" pitchFamily="34" charset="-34"/>
              </a:rPr>
              <a:t>ของระบบการสั่งอาหาร</a:t>
            </a:r>
            <a:endParaRPr lang="th-TH" b="1" dirty="0">
              <a:solidFill>
                <a:schemeClr val="tx1">
                  <a:lumMod val="75000"/>
                  <a:lumOff val="2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46" t="13292" r="13677" b="6250"/>
          <a:stretch/>
        </p:blipFill>
        <p:spPr bwMode="auto">
          <a:xfrm>
            <a:off x="92646" y="1052736"/>
            <a:ext cx="8964488" cy="5103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z="3200" smtClean="0"/>
              <a:pPr/>
              <a:t>51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1795201173"/>
      </p:ext>
    </p:extLst>
  </p:cSld>
  <p:clrMapOvr>
    <a:masterClrMapping/>
  </p:clrMapOvr>
  <p:transition>
    <p:fade thruBlk="1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46" y="5681881"/>
            <a:ext cx="8964488" cy="10772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แผนภาพกระแสข้อมูล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Child Diagram (Level-1)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ของ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Process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รับและส่งรายการอาหารที่ลูกค้าสั่ง</a:t>
            </a:r>
            <a:endParaRPr lang="th-TH" b="1" dirty="0">
              <a:solidFill>
                <a:schemeClr val="tx1">
                  <a:lumMod val="75000"/>
                  <a:lumOff val="2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1" t="14534" r="13088" b="11930"/>
          <a:stretch/>
        </p:blipFill>
        <p:spPr bwMode="auto">
          <a:xfrm>
            <a:off x="92646" y="1010444"/>
            <a:ext cx="8964488" cy="467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z="3200" smtClean="0"/>
              <a:pPr/>
              <a:t>52</a:t>
            </a:fld>
            <a:endParaRPr lang="th-TH" sz="3200" dirty="0"/>
          </a:p>
        </p:txBody>
      </p:sp>
    </p:spTree>
    <p:extLst>
      <p:ext uri="{BB962C8B-B14F-4D97-AF65-F5344CB8AC3E}">
        <p14:creationId xmlns:p14="http://schemas.microsoft.com/office/powerpoint/2010/main" val="1179793119"/>
      </p:ext>
    </p:extLst>
  </p:cSld>
  <p:clrMapOvr>
    <a:masterClrMapping/>
  </p:clrMapOvr>
  <p:transition>
    <p:fade thruBlk="1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6. </a:t>
            </a:r>
            <a:r>
              <a:rPr lang="th-TH" sz="40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การพัฒนาแผนภาพกระแสข้อมูล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0785" y="3304574"/>
            <a:ext cx="8554519" cy="10772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แผนภาพกระแสข้อมูล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Child Diagram (Level-2)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ของ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Process 4.3-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เตรียมรายงานการดำเนินการ</a:t>
            </a:r>
            <a:endParaRPr lang="th-TH" b="1" dirty="0">
              <a:solidFill>
                <a:schemeClr val="tx1">
                  <a:lumMod val="75000"/>
                  <a:lumOff val="2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36" t="43489" r="17500" b="30730"/>
          <a:stretch/>
        </p:blipFill>
        <p:spPr bwMode="auto">
          <a:xfrm>
            <a:off x="265633" y="1266824"/>
            <a:ext cx="8579671" cy="2022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03F499C0-951C-4684-8E64-66AE9798A65C}" type="slidenum">
              <a:rPr lang="th-TH" sz="3200" smtClean="0"/>
              <a:pPr/>
              <a:t>53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1033231566"/>
      </p:ext>
    </p:extLst>
  </p:cSld>
  <p:clrMapOvr>
    <a:masterClrMapping/>
  </p:clrMapOvr>
  <p:transition>
    <p:fade thruBlk="1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172008" y="139146"/>
            <a:ext cx="8784000" cy="66022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5" name="Picture 2" descr="D:\รายวิชา\วิชาระบบสารสนเทศสำหรับการบริหาร\เอกสารประกอบ\imagesCA5WY95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8875" y="139146"/>
            <a:ext cx="7707134" cy="6683780"/>
          </a:xfrm>
          <a:prstGeom prst="rect">
            <a:avLst/>
          </a:prstGeom>
          <a:noFill/>
        </p:spPr>
      </p:pic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54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37688235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17271</TotalTime>
  <Words>3685</Words>
  <Application>Microsoft Macintosh PowerPoint</Application>
  <PresentationFormat>On-screen Show (4:3)</PresentationFormat>
  <Paragraphs>276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AngsanaUPC</vt:lpstr>
      <vt:lpstr>Arial</vt:lpstr>
      <vt:lpstr>Calibri</vt:lpstr>
      <vt:lpstr>TH Baijam</vt:lpstr>
      <vt:lpstr>TH SarabunPSK</vt:lpstr>
      <vt:lpstr>Wide Latin</vt:lpstr>
      <vt:lpstr>Wingdings</vt:lpstr>
      <vt:lpstr>ชุดรูปแบบของ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ภาพนิ่ง 1</dc:title>
  <dc:creator>KIT</dc:creator>
  <cp:lastModifiedBy>เขมวิทย์ จิตตะยโศธร</cp:lastModifiedBy>
  <cp:revision>6049</cp:revision>
  <dcterms:created xsi:type="dcterms:W3CDTF">2011-07-24T06:58:47Z</dcterms:created>
  <dcterms:modified xsi:type="dcterms:W3CDTF">2026-01-20T01:03:55Z</dcterms:modified>
</cp:coreProperties>
</file>