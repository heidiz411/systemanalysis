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76" r:id="rId3"/>
    <p:sldId id="374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15" r:id="rId19"/>
    <p:sldId id="400" r:id="rId20"/>
    <p:sldId id="401" r:id="rId21"/>
    <p:sldId id="416" r:id="rId22"/>
    <p:sldId id="402" r:id="rId23"/>
    <p:sldId id="403" r:id="rId24"/>
    <p:sldId id="404" r:id="rId25"/>
    <p:sldId id="417" r:id="rId26"/>
    <p:sldId id="405" r:id="rId27"/>
    <p:sldId id="418" r:id="rId28"/>
    <p:sldId id="419" r:id="rId29"/>
    <p:sldId id="406" r:id="rId30"/>
    <p:sldId id="420" r:id="rId31"/>
    <p:sldId id="421" r:id="rId32"/>
    <p:sldId id="407" r:id="rId33"/>
    <p:sldId id="422" r:id="rId34"/>
    <p:sldId id="423" r:id="rId35"/>
    <p:sldId id="408" r:id="rId36"/>
    <p:sldId id="409" r:id="rId3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D7371"/>
    <a:srgbClr val="AEC87A"/>
    <a:srgbClr val="FFFF66"/>
    <a:srgbClr val="EEB500"/>
    <a:srgbClr val="FFFF99"/>
    <a:srgbClr val="FFC000"/>
    <a:srgbClr val="F2F2F2"/>
    <a:srgbClr val="A27B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ลักษณะชุดรูปแบบ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ลักษณะชุดรูปแบบ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50841" autoAdjust="0"/>
  </p:normalViewPr>
  <p:slideViewPr>
    <p:cSldViewPr>
      <p:cViewPr varScale="1">
        <p:scale>
          <a:sx n="118" d="100"/>
          <a:sy n="118" d="100"/>
        </p:scale>
        <p:origin x="14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1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8039-F159-45C3-A644-7F42F872B1BA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AE29B-0941-44F9-87BD-2E5ACC3A546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5471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B566-7E78-41FF-B18B-FAC0950C1B4C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3A03-8F57-4F17-854D-AECA137870C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117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ตัวแทนข้อความ 3"/>
          <p:cNvSpPr txBox="1">
            <a:spLocks/>
          </p:cNvSpPr>
          <p:nvPr/>
        </p:nvSpPr>
        <p:spPr>
          <a:xfrm>
            <a:off x="4661756" y="3067274"/>
            <a:ext cx="4248472" cy="19269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1517" y="865050"/>
            <a:ext cx="795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800" b="1" dirty="0">
                <a:solidFill>
                  <a:srgbClr val="FE0067"/>
                </a:solidFill>
                <a:latin typeface="AngsanaUPC" pitchFamily="18" charset="-34"/>
                <a:cs typeface="AngsanaUPC" pitchFamily="18" charset="-34"/>
              </a:rPr>
              <a:t>วงจรการพัฒนาระบบ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923" y="304316"/>
            <a:ext cx="938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301" y="36899"/>
            <a:ext cx="12490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3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9" y="1301859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System Development Life Cycle: SDLC</a:t>
            </a:r>
            <a:endParaRPr lang="th-TH" sz="48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ข้อความ 3">
            <a:extLst>
              <a:ext uri="{FF2B5EF4-FFF2-40B4-BE49-F238E27FC236}">
                <a16:creationId xmlns:a16="http://schemas.microsoft.com/office/drawing/2014/main" id="{06F22FE9-A8BE-5955-4D09-A161E75AE84C}"/>
              </a:ext>
            </a:extLst>
          </p:cNvPr>
          <p:cNvSpPr txBox="1">
            <a:spLocks/>
          </p:cNvSpPr>
          <p:nvPr/>
        </p:nvSpPr>
        <p:spPr>
          <a:xfrm>
            <a:off x="4426328" y="4220326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defPPr>
              <a:defRPr lang="th-TH"/>
            </a:defPPr>
            <a:lvl1pPr marL="34290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รายวิชา\วิชาระบบสารสนเทศสำหรับการบริหาร\เอกสารประกอบ\GoalPic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9638"/>
            <a:ext cx="3312368" cy="2484276"/>
          </a:xfrm>
          <a:prstGeom prst="rect">
            <a:avLst/>
          </a:prstGeom>
          <a:noFill/>
        </p:spPr>
      </p:pic>
      <p:sp>
        <p:nvSpPr>
          <p:cNvPr id="4" name="สี่เหลี่ยมผืนผ้า 3"/>
          <p:cNvSpPr/>
          <p:nvPr/>
        </p:nvSpPr>
        <p:spPr>
          <a:xfrm>
            <a:off x="3995936" y="1772816"/>
            <a:ext cx="4752528" cy="244827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3968" y="2060848"/>
            <a:ext cx="4176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 มีความรู้และเข้าใจเกี่ยวกับ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วงจรการพัฒนาระบบสารนเทศ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5040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วัตถุประสงค์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pic>
        <p:nvPicPr>
          <p:cNvPr id="7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2348880"/>
            <a:ext cx="288032" cy="384042"/>
          </a:xfrm>
          <a:prstGeom prst="rect">
            <a:avLst/>
          </a:prstGeom>
          <a:noFill/>
        </p:spPr>
      </p:pic>
      <p:pic>
        <p:nvPicPr>
          <p:cNvPr id="11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340768"/>
            <a:ext cx="486623" cy="64883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571272" y="2348890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หลักในการพัฒนาระบบ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01010" y="2348626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3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571271" y="2877657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วงจรการพัฒนาระบบสารสนเทศ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1001010" y="2877392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4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9" name="สี่เหลี่ยมผืนผ้า 28"/>
          <p:cNvSpPr/>
          <p:nvPr/>
        </p:nvSpPr>
        <p:spPr>
          <a:xfrm>
            <a:off x="1571271" y="116219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การพัฒนาระบบสารสนเทศ</a:t>
            </a:r>
          </a:p>
        </p:txBody>
      </p:sp>
      <p:sp>
        <p:nvSpPr>
          <p:cNvPr id="30" name="สี่เหลี่ยมผืนผ้า 29"/>
          <p:cNvSpPr/>
          <p:nvPr/>
        </p:nvSpPr>
        <p:spPr>
          <a:xfrm>
            <a:off x="1001010" y="116192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1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1272" y="355303"/>
            <a:ext cx="6323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รายละเอียดของเนื้อหา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1571271" y="175274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ทีมงานพัฒนาระบบสารสนเทศ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001010" y="175247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2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39552" y="1700808"/>
            <a:ext cx="8064896" cy="259228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765538"/>
            <a:ext cx="7560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การพัฒนาระบบสารสนเทศ </a:t>
            </a:r>
            <a: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คือ การสร้างระบบงานใหม่หรือการปรับเปลี่ยนระบบงานเดิมที่มีอยู่แล้วให้สามารถทำงานเพื่อแก้ปัญหาการดำเนินงาน</a:t>
            </a:r>
            <a:b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ทางธุรกิจได้ตามความต้องการของผู้ใช้งาน โดยอาจนำคอมพิวเตอร์มาช่วย</a:t>
            </a:r>
            <a:b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ในการนำข้อมูลเข้าสู่ระบบเพื่อประมวลผล เรียบเรียง เปลี่ยนแปลงและจัดเก็บ ให้ได้ผลลัพธ์ตามต้องการได้อย่างมีประสิทธิภาพ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355303"/>
            <a:ext cx="8208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การพัฒนาระบบสารสนเทศ </a:t>
            </a:r>
            <a:b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Information System Development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539552" y="1700808"/>
            <a:ext cx="8064896" cy="468137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765538"/>
            <a:ext cx="770485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สาเหตุที่ก่อให้เกิดความคิดในการพัฒนาระบบสารสนเทศใหม่ขึ้นมาทดแทนระบบเดิม ได้ดังนี้</a:t>
            </a:r>
          </a:p>
          <a:p>
            <a:pPr>
              <a:spcBef>
                <a:spcPct val="50000"/>
              </a:spcBef>
              <a:buClr>
                <a:srgbClr val="FF00FF"/>
              </a:buClr>
              <a:buFont typeface="Wingdings" pitchFamily="2" charset="2"/>
              <a:buChar char="P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ระบบสารสนเทศที่ใช้อยู่ในปัจจุบันอาจไม่สามารถตอบสนองความต้องการของผู้ใช้ระบบได้</a:t>
            </a:r>
          </a:p>
          <a:p>
            <a:pPr>
              <a:spcBef>
                <a:spcPct val="50000"/>
              </a:spcBef>
              <a:buClr>
                <a:srgbClr val="FF00FF"/>
              </a:buClr>
              <a:buFont typeface="Wingdings" pitchFamily="2" charset="2"/>
              <a:buChar char="P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ระบบสารสนเทศที่ใช้อยู่ในปัจจุบันไม่สามารถสนับสนุนการดำเนินงาน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ในอนาคตได้</a:t>
            </a:r>
          </a:p>
          <a:p>
            <a:pPr lvl="4">
              <a:spcBef>
                <a:spcPct val="50000"/>
              </a:spcBef>
              <a:buClr>
                <a:srgbClr val="FF00FF"/>
              </a:buClr>
              <a:buFont typeface="Wingdings" pitchFamily="2" charset="2"/>
              <a:buChar char="P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เทคโนโลยีที่ใช้อยู่ในระบบสารสนเทศในปัจจุบัน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อาจล้าสมัย มีต้นทุนสูง ต้องเสียค่าใช้จ่ายในการบำรุงรักษามากและมีประสิทธิภาพต่ำ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การพัฒนาระบบสารสนเทศ </a:t>
            </a:r>
            <a:b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Information System Development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0246263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700808"/>
            <a:ext cx="8064896" cy="338437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765538"/>
            <a:ext cx="75608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00FF"/>
              </a:buClr>
              <a:buFont typeface="Wingdings" pitchFamily="2" charset="2"/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ระบบสารสนเทศปัจจุบัน </a:t>
            </a:r>
            <a:r>
              <a:rPr lang="th-TH" b="1" i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มีขั้นตอนที่ใช้งานที่ยุ่งยากและซับซ้อน</a:t>
            </a:r>
            <a:r>
              <a:rPr lang="th-TH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ทำให้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การใช้งาน ควบคุมกลไกในการดำเนินงาน การตรวจสอบข้อผิดพลาด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และการบำรุงรักษาข้อมูลทำได้ยาก</a:t>
            </a:r>
          </a:p>
          <a:p>
            <a:pPr>
              <a:spcBef>
                <a:spcPct val="50000"/>
              </a:spcBef>
              <a:buClr>
                <a:srgbClr val="FF00FF"/>
              </a:buClr>
              <a:buFont typeface="Wingdings" pitchFamily="2" charset="2"/>
              <a:buChar char="P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ระบบเอกสารในระบบสารสนเทศปัจจุบันไม่มีมาตรฐานหรือ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.......</a:t>
            </a:r>
          </a:p>
          <a:p>
            <a:pPr>
              <a:spcBef>
                <a:spcPct val="50000"/>
              </a:spcBef>
              <a:buClr>
                <a:srgbClr val="FF00FF"/>
              </a:buClr>
              <a:buFont typeface="Wingdings" pitchFamily="2" charset="2"/>
              <a:buNone/>
            </a:pPr>
            <a:r>
              <a:rPr lang="th-TH" b="1" i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ขาดเอกสารที่ใช้อ้างอิงระบบ</a:t>
            </a:r>
            <a:r>
              <a:rPr lang="th-TH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เป็นผลให้การปรับปรุงหรือแก้ไขระบบสารสนเทศเดิมทำได้ยาก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การพัฒนาระบบสารสนเทศ </a:t>
            </a:r>
            <a:b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Information System Development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06313531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196752"/>
            <a:ext cx="8064896" cy="424847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261482"/>
            <a:ext cx="75608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th-TH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คณะกรรมการดำเนินงาน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Steering Committee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มีหน้าที่ในการตัดสินใจ กำหนดรูปแบบ และวัตถุประสงค์ของสารสนเทศ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th-TH" b="1" dirty="0">
                <a:solidFill>
                  <a:srgbClr val="FFFF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ผู้จัดการระบบสารสนเทศ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MIS Manager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มีหน้าที่ดูแลและประสานงานในการวางแผน โครงการต่างๆ ที่เกี่ยวข้องกับการออกแบบและพัฒนาระบบสารสนเทศขององค์กร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ผู้จัดการโครงการ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Project Manager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มีหน้าที่รับผิดชอบในการวางแผน การจัดการ และควบคุมให้งานในโครงการดำเนินไปอย่างราบรื่น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สำเร็จลุล่วงและมีประสิทธิภาพ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ทีมงานพัฒนาระบบสารสนเทศ 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67518089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196752"/>
            <a:ext cx="8064896" cy="144972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261482"/>
            <a:ext cx="7560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th-TH" b="1" dirty="0">
                <a:solidFill>
                  <a:srgbClr val="FFCCFF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นักวิเคราะห์ระบบ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Analyst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คือผู้ที่เป็นตัวกลางในการติดต่อระหว่างระบบสารสนเทศกับกลุ่มผู้เกี่ยวข้อง รวมทั้งทำหน้าที่ในการวิเคราะห์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และออกแบบระบบที่ต้องการพัฒนาขึ้นมาอีกด้วย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ทีมงานพัฒนาระบบสารสนเทศ 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95234" name="Picture 2" descr="http://www.softbankacademy.com/FileSystem/Image/admin/20120507/system_analyst_ini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3" r="24231"/>
          <a:stretch/>
        </p:blipFill>
        <p:spPr bwMode="auto">
          <a:xfrm>
            <a:off x="539552" y="2660125"/>
            <a:ext cx="8064896" cy="408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829567" y="3460938"/>
            <a:ext cx="160652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ผู้จัดการ</a:t>
            </a:r>
            <a:r>
              <a:rPr lang="en-US" sz="2000" b="1" dirty="0">
                <a:latin typeface="TH SarabunPSK" pitchFamily="34" charset="-34"/>
                <a:cs typeface="TH SarabunPSK" pitchFamily="34" charset="-34"/>
              </a:rPr>
              <a:t>/Managers</a:t>
            </a:r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9211" y="4469050"/>
            <a:ext cx="2334293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โปรแกรมเมอร์</a:t>
            </a:r>
            <a:r>
              <a:rPr lang="en-US" sz="2000" b="1" dirty="0">
                <a:latin typeface="TH SarabunPSK" pitchFamily="34" charset="-34"/>
                <a:cs typeface="TH SarabunPSK" pitchFamily="34" charset="-34"/>
              </a:rPr>
              <a:t>/Programmers</a:t>
            </a:r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0192" y="5877272"/>
            <a:ext cx="1874551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ผู้เชี่ยวชาญด้านเทคนิค</a:t>
            </a:r>
            <a:r>
              <a:rPr lang="en-US" sz="2000" b="1" dirty="0">
                <a:latin typeface="TH SarabunPSK" pitchFamily="34" charset="-34"/>
                <a:cs typeface="TH SarabunPSK" pitchFamily="34" charset="-34"/>
              </a:rPr>
              <a:t>/</a:t>
            </a:r>
            <a:br>
              <a:rPr lang="en-US" sz="20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2000" b="1" dirty="0">
                <a:latin typeface="TH SarabunPSK" pitchFamily="34" charset="-34"/>
                <a:cs typeface="TH SarabunPSK" pitchFamily="34" charset="-34"/>
              </a:rPr>
              <a:t>Technical Specialists</a:t>
            </a:r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5032" y="5476288"/>
            <a:ext cx="282807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TH SarabunPSK" pitchFamily="34" charset="-34"/>
                <a:cs typeface="TH SarabunPSK" pitchFamily="34" charset="-34"/>
              </a:rPr>
              <a:t>ผู้ขาย ผู้จัดจำหน่าย</a:t>
            </a:r>
            <a:r>
              <a:rPr lang="en-US" sz="1600" b="1" dirty="0">
                <a:latin typeface="TH SarabunPSK" pitchFamily="34" charset="-34"/>
                <a:cs typeface="TH SarabunPSK" pitchFamily="34" charset="-34"/>
              </a:rPr>
              <a:t>/ Vendor &amp; Suppliers</a:t>
            </a:r>
            <a:endParaRPr lang="th-TH" sz="1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2637" y="6029672"/>
            <a:ext cx="178715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ผู้ใช้งานระบบ</a:t>
            </a:r>
            <a:r>
              <a:rPr lang="en-US" sz="2000" b="1" dirty="0">
                <a:latin typeface="TH SarabunPSK" pitchFamily="34" charset="-34"/>
                <a:cs typeface="TH SarabunPSK" pitchFamily="34" charset="-34"/>
              </a:rPr>
              <a:t>/User</a:t>
            </a:r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9188" y="4898539"/>
            <a:ext cx="2850684" cy="2797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TH SarabunPSK" pitchFamily="34" charset="-34"/>
                <a:cs typeface="TH SarabunPSK" pitchFamily="34" charset="-34"/>
              </a:rPr>
              <a:t>ผู้เกี่ยวข้องกับระบบ</a:t>
            </a:r>
            <a:r>
              <a:rPr lang="en-US" sz="1600" b="1" dirty="0">
                <a:latin typeface="TH SarabunPSK" pitchFamily="34" charset="-34"/>
                <a:cs typeface="TH SarabunPSK" pitchFamily="34" charset="-34"/>
              </a:rPr>
              <a:t>/ System stakeholder</a:t>
            </a:r>
            <a:endParaRPr lang="th-TH" sz="1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9188" y="4005064"/>
            <a:ext cx="267703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TH SarabunPSK" pitchFamily="34" charset="-34"/>
                <a:cs typeface="TH SarabunPSK" pitchFamily="34" charset="-34"/>
              </a:rPr>
              <a:t>บริษัทภายนอก</a:t>
            </a:r>
            <a:r>
              <a:rPr lang="en-US" sz="1600" b="1" dirty="0">
                <a:latin typeface="TH SarabunPSK" pitchFamily="34" charset="-34"/>
                <a:cs typeface="TH SarabunPSK" pitchFamily="34" charset="-34"/>
              </a:rPr>
              <a:t>/ External companies</a:t>
            </a:r>
            <a:endParaRPr lang="th-TH" sz="1600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91124159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196752"/>
            <a:ext cx="8064896" cy="482453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261482"/>
            <a:ext cx="7560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û"/>
            </a:pPr>
            <a:r>
              <a:rPr lang="th-TH" sz="2400" b="1" dirty="0">
                <a:solidFill>
                  <a:srgbClr val="FFCCFF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โปรแกรมเมอร์หรือนักเขียนโปรแกรม (</a:t>
            </a:r>
            <a:r>
              <a:rPr lang="en-US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Programmer</a:t>
            </a: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มีหน้าที่เกี่ยวกับการพัฒนาชุดคำสั่งหรือเขียนโปรแกรม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û"/>
            </a:pPr>
            <a:r>
              <a:rPr lang="th-TH" sz="2400" b="1" dirty="0">
                <a:solidFill>
                  <a:srgbClr val="FFCCFF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เจ้าหน้าที่รวบรวมข้อมูล (</a:t>
            </a:r>
            <a:r>
              <a:rPr lang="en-US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Information Center Personnel</a:t>
            </a: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มีหน้าที่คอยช่วยเหลือนักวิเคราะห์ระบบและโปรแกรมเมอร์ในการพัฒนาระบบในส่วนที่เกี่ยวข้องกับข้อมูลต่างๆ ที่เกี่ยวข้องกับการพัฒนาระบบ เพื่อนำมาใช้งานได้ตามต้องการ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û"/>
            </a:pPr>
            <a:r>
              <a:rPr lang="th-TH" sz="2400" b="1" i="1" dirty="0">
                <a:solidFill>
                  <a:srgbClr val="FFCCFF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2400" b="1" i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ผู้จัดการทั่วไป (</a:t>
            </a:r>
            <a:r>
              <a:rPr lang="en-US" sz="2400" b="1" i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User and General Manager</a:t>
            </a:r>
            <a:r>
              <a:rPr lang="th-TH" sz="2400" b="1" i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 เป็นบุคคลที่มีหน้าที่ให้ข้อมูลเกี่ยวกับปัญหาที่เกิดขึ้นในระบบงานเดิม และกำหนดความต้องการในระบบใหม่แก่ทีมงานพัฒนาระบบ เพื่อพัฒนาให้ระบบใหม่มีประสิทธิภาพและเป็นที่พึ่งพอใจกับผู้ใช้</a:t>
            </a:r>
            <a:endParaRPr lang="en-US" sz="2400" b="1" i="1" dirty="0">
              <a:solidFill>
                <a:srgbClr val="FFCCFF"/>
              </a:solidFill>
              <a:latin typeface="TH SarabunPSK" pitchFamily="34" charset="-34"/>
              <a:cs typeface="TH SarabunPSK" pitchFamily="34" charset="-34"/>
            </a:endParaRPr>
          </a:p>
          <a:p>
            <a:pPr lvl="3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û"/>
            </a:pP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ผู้ใช้ระบบ (</a:t>
            </a:r>
            <a:r>
              <a:rPr lang="en-US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User</a:t>
            </a:r>
            <a:r>
              <a:rPr lang="th-TH" sz="2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 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หมายถึง บุคคลที่ควบคุมและดูแลระบบสารสนเทศขององค์กรหรือเจ้าหน้าที่ปฏิบัติงานที่เกี่ยวข้องกับระบบสารสนเทศโดยตร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ทีมงานพัฒนาระบบสารสนเทศ 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1576615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196752"/>
            <a:ext cx="8064896" cy="482453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261482"/>
            <a:ext cx="75608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{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คำนึงถึงเจ้าของระบบและผู้ใช้ระบบ</a:t>
            </a:r>
          </a:p>
          <a:p>
            <a:pPr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{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พยายามเข้าถึงปัญหาให้ตรงจุด ต้องพยายามจับประเด็นถึงสาเหตุของปัญหาให้ได้</a:t>
            </a:r>
            <a:b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โดยมีแนวทางดังนี้</a:t>
            </a:r>
          </a:p>
          <a:p>
            <a:pPr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ศึกษาและทำความเข้าใจถึงสาเหตุของปัญหาของระบบนั้น</a:t>
            </a:r>
          </a:p>
          <a:p>
            <a:pPr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กำหนดความต้องการของวิธีแก้ไขปัญหาที่เหมาะสม</a:t>
            </a:r>
          </a:p>
          <a:p>
            <a:pPr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ระบุถึงวิธีแก้ไขปัญหาแต่ละวิธีและเลือกวิธีที่ดีที่สุด</a:t>
            </a:r>
          </a:p>
          <a:p>
            <a:pPr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ออกแบบหรือลงมือแก้ปัญหานั้น</a:t>
            </a:r>
          </a:p>
          <a:p>
            <a:pPr lvl="3"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สังเกตและประเมินผลกระทบจากวิธีแก้ปัญหาที่ได้ลงมือกระทำการ</a:t>
            </a:r>
            <a:b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ลงไป และทำ การปรับปรุงจนสมบูรณ์ในที่สุด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หลักในพัฒนาระบบ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9397065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196752"/>
            <a:ext cx="8064896" cy="482453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261482"/>
            <a:ext cx="75608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{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การกำหนดขั้นตอนหรือกิจกรรมในการทำงาน</a:t>
            </a:r>
          </a:p>
          <a:p>
            <a:pPr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{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จัดทำมาตรฐานในระหว่างการพัฒนาระบบและการควบคุมเอกสาร</a:t>
            </a:r>
          </a:p>
          <a:p>
            <a:pPr lvl="1"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ด้านการปฏิบัติงาน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Activity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pPr lvl="1"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ด้านหน้าที่ความรับผิดชอบ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Responsibility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pPr lvl="1"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ด้านการตรวจสอบคุณภาพ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Quality Check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pPr lvl="1">
              <a:spcBef>
                <a:spcPct val="50000"/>
              </a:spcBef>
              <a:buClr>
                <a:srgbClr val="FF9933"/>
              </a:buClr>
              <a:buFont typeface="Wingdings" pitchFamily="2" charset="2"/>
              <a:buChar char="Ø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ด้านเอกสารคู่มือหรือรายละเอียดความต้องการ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Documentation  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       Guideline or Requirement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pPr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{"/>
            </a:pPr>
            <a:endParaRPr lang="th-TH" b="1" dirty="0">
              <a:solidFill>
                <a:schemeClr val="tx1">
                  <a:lumMod val="75000"/>
                  <a:lumOff val="2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หลักในพัฒนาระบบ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42852782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700530"/>
            <a:ext cx="8064896" cy="4248750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765260"/>
            <a:ext cx="756084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	วงจรการพัฒนาระบบ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(System Development Lift Cycle: SDLC)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คือ กระบวนการทางความคิด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(Logical Process)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ในการพัฒนาระบบสารสนเทศเพื่อแก้ปัญหาทางธุรกิจและตอบสนองความต้องการของผู้ใช้  </a:t>
            </a: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ภายในวงจรนี้จะแบ่งกระบวนการพัฒนาออกเป็นระยะ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(Phase)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ได้แก่         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ระยะการวางแผน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(Planning Phase)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b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              ระยะการวิเคราะห์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(Analysis Phase)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b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              ระยะการออกแบบ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(Design Phase)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และ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b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              ระยะการสร้างและพัฒนา 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(Implementation Phase)</a:t>
            </a:r>
            <a:endParaRPr lang="th-TH" b="1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วงจรการพัฒนาระบบสารสนเทศ 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               (System Development Lift Cycle: SDLC)</a:t>
            </a:r>
            <a:endParaRPr lang="en-US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9229745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39552" y="1243330"/>
            <a:ext cx="8064896" cy="3604160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5608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วงจรการพัฒนาระบบแบ่งเป็น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6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ขั้นตอน ได้แก่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 1. การวางแผนระบบ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Planning)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  2.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การวิเคราะห์ระบบ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Analysis)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  3.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การออกแบบระบบ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Design)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  4.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Development)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  5.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การติดตั้งระบบ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Implementation)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  6.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การดูแลรักษาระบบ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Maintenance) 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วงจรการพัฒนาระบบสารสนเทศ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SDLC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endParaRPr lang="en-US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1497262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วงจรการพัฒนาระบบสารสนเทศ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SDLC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endParaRPr lang="en-US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96260" name="Picture 4" descr="http://2.bp.blogspot.com/-8qpW1mn2SzE/TsdxPMuEQCI/AAAAAAAAACk/CxV_0os5VlY/s1600/sdlc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65"/>
          <a:stretch/>
        </p:blipFill>
        <p:spPr bwMode="auto">
          <a:xfrm>
            <a:off x="2195736" y="991394"/>
            <a:ext cx="5976664" cy="558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95936" y="3190820"/>
            <a:ext cx="21916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Software/System 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Development 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Lift Cycle</a:t>
            </a:r>
          </a:p>
        </p:txBody>
      </p:sp>
    </p:spTree>
    <p:extLst>
      <p:ext uri="{BB962C8B-B14F-4D97-AF65-F5344CB8AC3E}">
        <p14:creationId xmlns:p14="http://schemas.microsoft.com/office/powerpoint/2010/main" val="2313271889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rc_mi" descr="http://2.bp.blogspot.com/-ku4Tj2Z14ik/UYDfRzeEErI/AAAAAAAAAZo/8VSEIVJBq38/s1600/%E0%B8%A3%E0%B8%B9%E0%B8%9B%E0%B8%A0%E0%B8%B2%E0%B8%9E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416824" cy="52565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วงจรการพัฒนาระบบสารสนเทศ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SDLC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endParaRPr lang="en-US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28386714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400577"/>
            <a:ext cx="78488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เป็นขั้นตอนแรกสุดของการพัฒนาระบบสารสนเทศ ในการวางแผนระบบสารสนเทศนั้นมีจุดมุ่งหมายเพื่อการตรวจสอบระบบงาน</a:t>
            </a:r>
            <a:r>
              <a:rPr lang="th-TH" b="1">
                <a:latin typeface="TH SarabunPSK" pitchFamily="34" charset="-34"/>
                <a:cs typeface="TH SarabunPSK" pitchFamily="34" charset="-34"/>
              </a:rPr>
              <a:t>เบื้องต้น </a:t>
            </a:r>
            <a:br>
              <a:rPr lang="th-TH" b="1">
                <a:latin typeface="TH SarabunPSK" pitchFamily="34" charset="-34"/>
                <a:cs typeface="TH SarabunPSK" pitchFamily="34" charset="-34"/>
              </a:rPr>
            </a:br>
            <a:r>
              <a:rPr lang="th-TH" b="1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Initial Investigation)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เช่น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 การรับรู้สภาพปัญหาที่เกิดขึ้นของระบบงานเดิม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 การหาสาเหตุของปัญหาที่เกิดจากระบบงานเดิม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 การทำการศึกษาความเป็นไปได้ในแง่มุมต่างๆ เช่น ต้นทุนและทรัพยากร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 การรวบรวมความต้องการจากผู้ที่เกี่ยวข้อง เช่น การรวบรวมเอกสาร การสัมภาษณ์ การสังเกต และการออกแบบสอบถาม</a:t>
            </a:r>
          </a:p>
        </p:txBody>
      </p:sp>
    </p:spTree>
    <p:extLst>
      <p:ext uri="{BB962C8B-B14F-4D97-AF65-F5344CB8AC3E}">
        <p14:creationId xmlns:p14="http://schemas.microsoft.com/office/powerpoint/2010/main" val="1134138080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ดังนั้นจึงต้องมีการสำรวจเบื้องต้น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Preliminary Investigation)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เพื่อศึกษาสิ่งต่อไปนี้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 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   1. การกำหนดปัญหาและความต้องการ (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Determination of Problems and Requirements)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ตัวอย่างปัญหาที่เกิดจากระบบงานเดิม เช่น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ระบบเดิมไม่ตอบสนองความต้องการที่แท้จริงของผู้ใช้ หรือขาดการประสานงานที่ดี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      ระบบเดิมอาจไม่สนับสนุนงานในอนาคต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      ระบบเดิมมีองค์ประกอบของเทคโนโลยีไม่เหมาะสมหรือล้าสมัย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      ระบบเดิมมีการดำเนินงานที่ผิดพลาดบ่อย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</a:t>
            </a:r>
          </a:p>
        </p:txBody>
      </p:sp>
    </p:spTree>
    <p:extLst>
      <p:ext uri="{BB962C8B-B14F-4D97-AF65-F5344CB8AC3E}">
        <p14:creationId xmlns:p14="http://schemas.microsoft.com/office/powerpoint/2010/main" val="1408372672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 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เข้าใจปัญหา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หน้าที่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ตระหนักว่ามีปัญหาในระบบ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ผลลัพธ์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อนุมัติการศึกษาความเป็นไปได้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เครื่องมือ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ไม่มี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บุคลากรและหน้าที่ความรับผิดชอบ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ผู้ใช้หรือผู้บริหารชี้แจงปัญหา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ต่อนักวิเคราะห์ระบบ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69131191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 2. การกำหนดวัตถุประสงค์ (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Specification of Objectives) </a:t>
            </a:r>
            <a:b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เป็นการกำหนดให้แน่ชัดว่าจะแก้ไขปัญหาอะไรบ้างจากปัญหาทั้งหมด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</a:t>
            </a:r>
          </a:p>
        </p:txBody>
      </p:sp>
    </p:spTree>
    <p:extLst>
      <p:ext uri="{BB962C8B-B14F-4D97-AF65-F5344CB8AC3E}">
        <p14:creationId xmlns:p14="http://schemas.microsoft.com/office/powerpoint/2010/main" val="3738773082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3. การศึกษาความเป็นไปได้ (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Feasibility Study)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หรือความเหมาะสม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ซึ่งพิจารณาจาก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</a:t>
            </a:r>
            <a:r>
              <a:rPr lang="th-TH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ความเป็นไปได้ทางเทคนิค (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Technical Feasibility)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คือความเป็นไปได้ในการสร้างระบบงานใหม่ เช่น การจัดหาเครื่องคอมพิวเตอร์ที่ทันสมัยหรือการใช้เทคโนโลยีใหม่ๆ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</a:t>
            </a:r>
            <a:r>
              <a:rPr lang="th-TH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ความเป็นไปได้ในการปฏิบัติงาน (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Operational Feasibility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คือความเป็นไปได้ที่ระบบงานใหม่จะตรงกับความต้องการของผู้ใช้ ซึ่งต้องคำนึงถึงทักษะของผู้ใช้ด้วย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         </a:t>
            </a:r>
            <a:r>
              <a:rPr lang="th-TH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ความเป็นไปได้ในเชิงเศรษฐศาสตร์ (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Economical Feasibility) </a:t>
            </a:r>
            <a:r>
              <a:rPr lang="th-TH" b="1" dirty="0">
                <a:solidFill>
                  <a:schemeClr val="accent3">
                    <a:lumMod val="7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 คือความเป็นไปได้ในเรื่องงบประมาณ เงินลงทุน ค่าใช้จ่าย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 และความคุ้มค่า </a:t>
            </a:r>
          </a:p>
        </p:txBody>
      </p:sp>
    </p:spTree>
    <p:extLst>
      <p:ext uri="{BB962C8B-B14F-4D97-AF65-F5344CB8AC3E}">
        <p14:creationId xmlns:p14="http://schemas.microsoft.com/office/powerpoint/2010/main" val="2320765855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Planning)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980728"/>
            <a:ext cx="784887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การศึกษาความเป็นไปได้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Feasibility Study)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หน้าที่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กำหนดปัญหา และศึกษาว่าเป็นไปได้หรือไม่ที่จะเปลี่ยนแปลงระบบ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ผลลัพธ์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รายงานความเป็นไปได้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เครื่องมือ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เก็บรวบรวมข้อมูลของระบบและคาดคะเนความต้องการของระบบ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บุคลากรและหน้าที่ความรับผิดชอบ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ผู้ใช้จะมีบทบาทสำคัญในการศึกษา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1.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นักวิเคราะห์ระบบจะเก็บรวบรวมข้อมูลทั้งหมดที่จำเป็นทั้งหมดเกี่ยวกับปัญหา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2.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นักวิเคราะห์ระบบคาดคะเนความต้องการของระบบและแนวทาง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           การแก้ปัญหา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        3.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 กำหนดความต้องการที่แน่ชัดซึ่งจะใช้สำหรับ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                  ขั้นตอนการวิเคราะห์ต่อไป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        4.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ผู้บริหารตัดสินใจว่าจะดำเนินโครงการต่อไปหรือไม่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68592419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การวิเคราะห์ระบบ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Analysis)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เป็นขั้นตอนการวิเคราะห์ระบบงานปัจจุบันหรือระบบงานเดิม ซึ่งอาจเป็นระบบ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ที่ใช้คอมพิวเตอร์อยู่หรือไม่ก็ได้ เพื่อให้ทราบถึงรายละเอียดของระบบงานที่ใช้อยู่ ข้อดี ข้อเสีย ทรัพยากร และความเหมาะสมของระบบงานในแต่ละส่วน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เพื่อเตรียมการปรับเปลี่ยนให้เป็นระบบสารสนเทศใหม่</a:t>
            </a:r>
          </a:p>
        </p:txBody>
      </p:sp>
    </p:spTree>
    <p:extLst>
      <p:ext uri="{BB962C8B-B14F-4D97-AF65-F5344CB8AC3E}">
        <p14:creationId xmlns:p14="http://schemas.microsoft.com/office/powerpoint/2010/main" val="4070855775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การวิเคราะห์ระบบ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Analysis)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สิ่งที่จะต้องวิเคราะห์ระบบมีดังนี้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      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-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วิเคราะห์ถึงปัญหาหลักและปัญหารองที่เกิดขึ้นในระบบ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Redefine the Problem)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 -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ทำความเข้าใจถึงระบบงานเดิม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Understand Existing System)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 -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กำหนดความต้องการของผู้ใช้ระบบ และข้อจำกัดในการใช้ระบบงานใหม่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User Requirements and Constrains)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   -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เสนอทางเลือกในการออกแบบระบบ โดยการสร้างแบบจำลองเชิงตรรกะ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Logical Model)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เช่น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Database Model Diagram, ER Source Model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		และ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ORM Diagram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38257371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การวิเคราะห์ระบบ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Analysis)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ในการวิเคราะห์ข้อมูลโดยส่วน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ใหญ่มักวิเคราะห์ออกมาในรูปของ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แผนภาพการไหลของข้อมูล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DFD : Data Flow Diagram)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ซึ่งเป็นแผนภาพที่แสดงการไหล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ของข้อมูลทั้งระบบ และช่วย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ในการสื่อสารระหว่างนักวิเคราะห์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ระบบกับผู้ใช้ระบบ</a:t>
            </a:r>
          </a:p>
        </p:txBody>
      </p:sp>
      <p:pic>
        <p:nvPicPr>
          <p:cNvPr id="102402" name="Picture 2" descr="http://www.excelsoftware.com/image/ganesarsondf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989" y="1400577"/>
            <a:ext cx="456247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3769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99592" y="980728"/>
            <a:ext cx="784887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 ขั้นตอนที่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2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การวิเคราะห์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Analysis)</a:t>
            </a:r>
            <a:endParaRPr lang="th-TH" sz="2400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หน้าที่ :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 กำหนดความต้องการของระบบใหม่ (ระบบใหม่ทั้งหมดหรือแก้ไขระบบเดิม)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ผลลัพธ์ :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 รายงานข้อมูลเฉพาะของปัญหา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เครื่องมือ :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 เทคนิคการเก็บรวบรวมข้อมูล</a:t>
            </a: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, Data Dictionary, Data Flow Diagram, Process Specification, Data Model, System Model, Prototype, system Flowcharts</a:t>
            </a:r>
            <a:endParaRPr lang="th-TH" sz="2400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บุคลากรและหน้าที่รับผิดชอบ :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 ผู้ใช้จะต้องให้ความร่วมมือเป็นอย่างดี</a:t>
            </a:r>
            <a:br>
              <a:rPr lang="en-US" sz="2400" dirty="0">
                <a:latin typeface="TH SarabunPSK" pitchFamily="34" charset="-34"/>
                <a:cs typeface="TH SarabunPSK" pitchFamily="34" charset="-34"/>
              </a:rPr>
            </a:b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 	1.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วิเคราะห์ระบบ ศึกษาเอกสารที่มีอยู่ และศึกษาระบบเดิมเพื่อให้เข้าใจถึงขั้นตอนการทำงานและทราบว่า จุดสำคัญของระบบอยู่ที่ไหน</a:t>
            </a:r>
            <a:br>
              <a:rPr lang="en-US" sz="2400" dirty="0">
                <a:latin typeface="TH SarabunPSK" pitchFamily="34" charset="-34"/>
                <a:cs typeface="TH SarabunPSK" pitchFamily="34" charset="-34"/>
              </a:rPr>
            </a:b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 	2.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นักวิเคราะห์ระบบ เตรียมรายงานความต้องการของระบบใหม่</a:t>
            </a:r>
            <a:br>
              <a:rPr lang="en-US" sz="2400" dirty="0">
                <a:latin typeface="TH SarabunPSK" pitchFamily="34" charset="-34"/>
                <a:cs typeface="TH SarabunPSK" pitchFamily="34" charset="-34"/>
              </a:rPr>
            </a:b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         	3.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นักวิเคราะห์ระบบ เขียนแผนภาพการทำงาน (</a:t>
            </a: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Diagram)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ของระบบใหม่</a:t>
            </a:r>
            <a:br>
              <a:rPr lang="th-TH" sz="2400" dirty="0">
                <a:latin typeface="TH SarabunPSK" pitchFamily="34" charset="-34"/>
                <a:cs typeface="TH SarabunPSK" pitchFamily="34" charset="-34"/>
              </a:rPr>
            </a:b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                       โดยไม่ต้องบอกว่า</a:t>
            </a:r>
            <a:r>
              <a:rPr lang="th-TH" sz="2400" dirty="0" err="1">
                <a:latin typeface="TH SarabunPSK" pitchFamily="34" charset="-34"/>
                <a:cs typeface="TH SarabunPSK" pitchFamily="34" charset="-34"/>
              </a:rPr>
              <a:t>หน้ามที่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ใหม่ ในระบบจะพัฒนาขึ้นมาได้อย่างไร</a:t>
            </a:r>
            <a:br>
              <a:rPr lang="en-US" sz="2400" dirty="0">
                <a:latin typeface="TH SarabunPSK" pitchFamily="34" charset="-34"/>
                <a:cs typeface="TH SarabunPSK" pitchFamily="34" charset="-34"/>
              </a:rPr>
            </a:b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  		4.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นักวิเคราะห์ระบบ เขียนสรุปรายงานข้อมูลเฉพาะของปัญหา</a:t>
            </a:r>
            <a:br>
              <a:rPr lang="en-US" sz="2400" dirty="0">
                <a:latin typeface="TH SarabunPSK" pitchFamily="34" charset="-34"/>
                <a:cs typeface="TH SarabunPSK" pitchFamily="34" charset="-34"/>
              </a:rPr>
            </a:br>
            <a:r>
              <a:rPr lang="en-US" sz="2400" dirty="0">
                <a:latin typeface="TH SarabunPSK" pitchFamily="34" charset="-34"/>
                <a:cs typeface="TH SarabunPSK" pitchFamily="34" charset="-34"/>
              </a:rPr>
              <a:t>  		5. </a:t>
            </a:r>
            <a:r>
              <a:rPr lang="th-TH" sz="2400" dirty="0">
                <a:latin typeface="TH SarabunPSK" pitchFamily="34" charset="-34"/>
                <a:cs typeface="TH SarabunPSK" pitchFamily="34" charset="-34"/>
              </a:rPr>
              <a:t>ถ้าเป็นไปได้นักวิเคราะห์ระบบอาจจะเตรียมแบบทดลองด้วย</a:t>
            </a:r>
            <a:endParaRPr lang="en-US" sz="2400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endParaRPr lang="en-US" sz="2400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การวิเคราะห์ระบบ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Analysis)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32049777"/>
      </p:ext>
    </p:extLst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3.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การออกแบบระบบ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Design)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592" y="1400577"/>
            <a:ext cx="784887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	เป็นการนำผลลัพธ์ที่ได้จากการวิเคราะห์ระบบมาพัฒนาเป็นรูปแบบทางกายภาพ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Physical Model)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โดยเริ่มจาก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	การออกแบบงานทางด้านฮาร์ดแวร์และซอฟต์แวร์ ทั้งในส่วนนำข้อมูลเข้า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Input)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ส่วนประมวลผล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Process)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ส่วนแสดงผลลัพธ์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Output)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ส่วนจัดเก็บข้อมูล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Storage)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	การออกแบบจำลองข้อมูล การออกแบบรายงานและการออกแบบหน้าจอในการติดต่อกับผู้ใช้ระบบ ซึ่งจะต้องมุ่งเน้นการวิเคราะห์ว่าช่วยแก้ปัญหาอะไร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What)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และการออกแบบช่วยแก้ปัญหาอย่างไร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How)</a:t>
            </a:r>
          </a:p>
          <a:p>
            <a:pPr>
              <a:spcBef>
                <a:spcPct val="50000"/>
              </a:spcBef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8023737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980728"/>
            <a:ext cx="784887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การออกแบบ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Design)</a:t>
            </a:r>
            <a:endParaRPr lang="th-TH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หน้าที่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ออกแบบระบบใหม่เพื่อให้สอดคล้องกับความต้องการของผู้ใช้และฝ่ายบริหาร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ผลลัพธ์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ข้อมูลเฉพาะของการออกแบบ(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System Design Specification</a:t>
            </a:r>
            <a:endParaRPr lang="th-TH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เครื่องมือ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พจนานุกรมข้อมูล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Data Dictionary,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แผนภาพการไหลของข้อมูล 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Data Flow Diagram),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ข้อมูลเฉพาะการประมวลผล 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Process Specification 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รูปแบบข้อมูล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 (Data Model),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รูปแบบระบบ 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System Model),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ผังงานระบบ 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System Flow Charts),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ผังงานโครงสร้าง (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Structure Charts),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ผังงาน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HIPO (HIPO Chart),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แบบฟอร์มข้อมูลขาเข้าและรายงาน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3.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การออกแบบระบบ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Design)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97665687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980728"/>
            <a:ext cx="813690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การออกแบบ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Design)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(ต่อ)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บุคลากรและหน้าที่ :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1.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นักวิเคราะห์ระบบ ตัดสินใจเลือกคอมพิวเตอร์ฮาร์ดแวร์และซอฟต์แวร์ (ถ้าใช้)</a:t>
            </a:r>
            <a:br>
              <a:rPr lang="en-US" sz="2600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2.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นักวิเคราะห์ระบบ เปลี่ยนแผนภาพทั้งหลายที่ได้จากขั้นตอนการวิเคราะห์มาเป็นแผนภาพลำดับขั้น</a:t>
            </a:r>
            <a:br>
              <a:rPr lang="en-US" sz="2600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3.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นักวิเคราะห์ระบบ ออกแบบความปลอดภัยของระบบ</a:t>
            </a:r>
            <a:br>
              <a:rPr lang="en-US" sz="2600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4.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นักวิเคราะห์ระบบ ออกแบบฟอร์มข้อมูลขาเข้า รายงาน และการแสดงภาพบนจอ</a:t>
            </a:r>
            <a:br>
              <a:rPr lang="en-US" sz="2600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5.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นักวิเคราะห์ระบบ กำหนดจำนวนบุคลากรในหน้าที่ต่างๆและการทำงานของระบบ</a:t>
            </a:r>
            <a:br>
              <a:rPr lang="en-US" sz="2600" dirty="0">
                <a:latin typeface="TH SarabunPSK" pitchFamily="34" charset="-34"/>
                <a:cs typeface="TH SarabunPSK" pitchFamily="34" charset="-34"/>
              </a:rPr>
            </a:br>
            <a:r>
              <a:rPr lang="en-US" sz="2600" dirty="0">
                <a:latin typeface="TH SarabunPSK" pitchFamily="34" charset="-34"/>
                <a:cs typeface="TH SarabunPSK" pitchFamily="34" charset="-34"/>
              </a:rPr>
              <a:t> 6. </a:t>
            </a: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ผู้ใช้ ฝ่ายบริหาร และนักวิเคราะห์ระบบ ทบทวน เอกสารข้อมูลเฉพาะของการ</a:t>
            </a:r>
            <a:br>
              <a:rPr lang="th-TH" sz="2600" dirty="0">
                <a:latin typeface="TH SarabunPSK" pitchFamily="34" charset="-34"/>
                <a:cs typeface="TH SarabunPSK" pitchFamily="34" charset="-34"/>
              </a:rPr>
            </a:br>
            <a:r>
              <a:rPr lang="th-TH" sz="2600" dirty="0">
                <a:latin typeface="TH SarabunPSK" pitchFamily="34" charset="-34"/>
                <a:cs typeface="TH SarabunPSK" pitchFamily="34" charset="-34"/>
              </a:rPr>
              <a:t>                 ออกแบบเพื่อความถูกต้อง  และสมบูรณ์แบบของระบบ </a:t>
            </a:r>
            <a:endParaRPr lang="en-US" sz="2600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3.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การออกแบบระบบ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Design)</a:t>
            </a:r>
            <a:r>
              <a:rPr lang="en-US" sz="4400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59373713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4.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Development)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ประกอบไปด้วยการเขียนโปรแกรมเพื่อสร้างระบบงาน การทดสอบโปรแกรมหน่วยย่อย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Unit Test)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การทดสอบระบบรวม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Integration Test)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การแก้ไขข้อผิดพลาดที่พบ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Bug)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ตลอดจนการจัดทำเอกสาร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Document)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ต่างๆ ทั้งในส่วนของเอกสารโปรแกรม เอกสารระบบ และคู่มือการฝึกอบรมสำหรับผู้ปฏิบัติงานข้อควรคำนึงในการพัฒนาระบบ คือ การเลือกภาษาคอมพิวเตอร์ที่เหมาะสมและพัฒนาต่อได้ง่าย</a:t>
            </a:r>
          </a:p>
        </p:txBody>
      </p:sp>
    </p:spTree>
    <p:extLst>
      <p:ext uri="{BB962C8B-B14F-4D97-AF65-F5344CB8AC3E}">
        <p14:creationId xmlns:p14="http://schemas.microsoft.com/office/powerpoint/2010/main" val="2883595172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1106979"/>
            <a:ext cx="813690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4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Construction)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หน้าที่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เขียนและทดสอบโปรแกรม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ผลลัพธ์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โปรแกรมที่ทดสอบเรียบร้อยแล้ว เอกสารคู่มือการใช้ และการฝึกอบรม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เครื่องมือ :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เครื่องมือของโปรแกรมเมอร์ทั้งหลาย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Editor, </a:t>
            </a:r>
            <a:r>
              <a:rPr lang="en-US" dirty="0" err="1">
                <a:latin typeface="TH SarabunPSK" pitchFamily="34" charset="-34"/>
                <a:cs typeface="TH SarabunPSK" pitchFamily="34" charset="-34"/>
              </a:rPr>
              <a:t>compiler,Structure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 Walkthrough,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วิธีการทดสอบโปรแกรม การเขียนเอกสารประกอบการใช้งาน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4.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Development)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363607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980728"/>
            <a:ext cx="813690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สรุปขั้นตอนที่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4 :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Construction)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บุคลากรและหน้าที่ :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1.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 ดูแลการเตรียมสถานที่และติดตั้งเครื่องคอมพิวเตอร์ (ถ้าซื้อใหม่)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2.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 วางแผนและดูแลการเขียนโปรแกรม ทดสอบโปรแกรม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3.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โปรแกรมเมอร์พัฒนาและทดสอบโปรแกรม หรือแก้ไขโปรแกรม ถ้าซื้อโปรแกรมสำเร็จรูป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4.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 วางแผนทดสอบโปรแกรม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5.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ทีมที่ทำงานร่วมกันทดสอบโปรแกรม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 	  	6.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ผู้ใช้ตรวจสอบให้แน่ใจว่า โปรแกรมทำงานตามต้องการ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en-US" dirty="0">
                <a:latin typeface="TH SarabunPSK" pitchFamily="34" charset="-34"/>
                <a:cs typeface="TH SarabunPSK" pitchFamily="34" charset="-34"/>
              </a:rPr>
              <a:t>	 	7.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นักวิเคราะห์ระบบ ดูแลการเขียนคู่มือการใช้งานและการ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		ฝึกอบรม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4.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Development)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86988245"/>
      </p:ext>
    </p:extLst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3529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5.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การติดตั้งระบบ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Implementation)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เป็นขั้นตอนการส่งมอบระบบงานเพื่อนำไปใช้จริง โดยจะรวมถึงการจัดเตรียมแฟ้มข้อมูลหรือฐานข้อมูลของระบบ การอบรมผู้ที่เกี่ยวข้อง การปรับเปลี่ยนระบบงานเดิมมาใช้ระบบงานใหม่ ซึ่งจะต้องคำนึงถึงสภาพแวดล้อมของพื้นที่ที่จะติดตั้ง อุปกรณ์ที่ใช้ และผู้เชี่ยวชาญหรือทีมงานด้านเทคนิค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Technical Support)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ที่เกี่ยวข้อง จากนั้นจึงติดตั้งโปรแกรมให้ครบถ้วน </a:t>
            </a:r>
          </a:p>
        </p:txBody>
      </p:sp>
    </p:spTree>
    <p:extLst>
      <p:ext uri="{BB962C8B-B14F-4D97-AF65-F5344CB8AC3E}">
        <p14:creationId xmlns:p14="http://schemas.microsoft.com/office/powerpoint/2010/main" val="1467602009"/>
      </p:ext>
    </p:extLst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3529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5.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การติดตั้งระบบ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Implementation)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1400577"/>
            <a:ext cx="80648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การติดตั้งระบบ จะเป็นการนำส่วนประกอบต่าง ๆ ที่ได้สร้างไว้ในขั้นตอนของการสร้างหรือการพัฒนาระบบมาติดตั้งเพื่อใช้ทำงานจริง ในการติดตั้งระบบสามารถ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ทำได้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2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วิธี คือ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วิธีที่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ติดตั้งและใช้ระบบใหม่ควบคู่ไปกับระบบเก่า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วิธีนี้เป็นวิธีที่ปลอดภัยที่สุดสามารถป้องกันความเสียหายจากการทำงานที่ผิด พลาดของระบบใหม่ได้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แต่ก็เป็นวิธีที่เสียค่าใช้จ่ายมาก และผู้ใช้ก็ไม่ชอบทำงานซ้ำ ๆ 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วิธีที่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ปรับเปลี่ยน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(Conversion)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ไปใช้ระบบใหม่โดยหยุดทำงานระบบเก่า </a:t>
            </a:r>
            <a:b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ซึ่งวิธีนี้ มีความเสี่ยงสูงมากต่อการเกิดความเสียหาย ถ้าระบบ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ใหม่เกิดทำงานผิดพลาดขึ้น</a:t>
            </a:r>
            <a:endParaRPr lang="en-US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84376255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3529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5.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การติดตั้งระบบ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Implementation)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7624" y="1400577"/>
            <a:ext cx="80648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สรุปขั้นตอนของระยะการนำระบบไปใช้ </a:t>
            </a:r>
            <a:endParaRPr lang="en-US" sz="3200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1.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ศึกษาสภาพแวดล้อมของพื้นที่ก่อนที่จะนำระบบไปติดตั้ง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2.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ติดตั้งระบบให้เป็นไปตามสถาปัตยกรรมที่ออกแบบไว้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3.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จัดทำคู่มือระบบ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4.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ฝึกอบรมผู้ใช้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5.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ดำเนินการใช้ระบบงานใหม่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6.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ประเมินผลการใช้งานของระบบใหม่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49487044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4969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6.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การดูแลรักษาระบบ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Maintenance)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400577"/>
            <a:ext cx="78488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เป็นขั้นตอนสุดท้ายในวงจรพัฒนาระบบ ซึ่งเป็นขั้นตอนการดูแลแก้ไขปัญหาระบบงานใหม่ ในขั้นตอนนี้ถ้าเกิดปัญหาจากโปรแกรม โปรแกรมเมอร์จะต้องเข้ามาแก้ไข หรือผู้ใช้อาจมีความต้องการวิธีการทำงานใหม่ๆ เพิ่มเติม ทั้งนี้การดูแลรักษาระบบจะเป็นขั้นตอนในส่วนที่เกิดตามมาภายหลังที่ได้มีการ ติดตั้งและใช้งานระบบแล้ว</a:t>
            </a:r>
            <a:endParaRPr lang="th-TH" b="1" dirty="0"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35998160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87624" y="1400577"/>
            <a:ext cx="727280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สรุปขั้นตอนระยะการบำรุงรักษา </a:t>
            </a:r>
            <a:endParaRPr lang="en-US" sz="3200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1.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กรณีเกิดข้อผิดพลาดขึ้นจากระบบ ให้ดำเนินการแก้ไข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ให้ถูกต้อง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2.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อาจจำเป็นต้องเขียนโปรแกรมเพิ่มเติม กรณีที่ผู้ใช้มีความต้องการเพิ่มเติม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3.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วางแผนรองรับเหตุการณ์ที่อาจเกิดขึ้นในอนาคต 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 	4.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บำรุงรักษาระบบงาน และอุปกรณ์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355303"/>
            <a:ext cx="84969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6.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การดูแลรักษาระบบ (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System Maintenance)</a:t>
            </a:r>
            <a:endParaRPr lang="en-US" sz="4400" dirty="0">
              <a:solidFill>
                <a:srgbClr val="FF0066"/>
              </a:solidFill>
              <a:effectLst/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29853298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16529</TotalTime>
  <Words>3027</Words>
  <Application>Microsoft Macintosh PowerPoint</Application>
  <PresentationFormat>On-screen Show (4:3)</PresentationFormat>
  <Paragraphs>143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Aharoni</vt:lpstr>
      <vt:lpstr>AngsanaUPC</vt:lpstr>
      <vt:lpstr>Arial</vt:lpstr>
      <vt:lpstr>Browallia New</vt:lpstr>
      <vt:lpstr>Calibri</vt:lpstr>
      <vt:lpstr>TH Baijam</vt:lpstr>
      <vt:lpstr>TH SarabunPSK</vt:lpstr>
      <vt:lpstr>Wide Latin</vt:lpstr>
      <vt:lpstr>Wingdings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KIT</dc:creator>
  <cp:lastModifiedBy>เขมวิทย์ จิตตะยโศธร</cp:lastModifiedBy>
  <cp:revision>5604</cp:revision>
  <dcterms:created xsi:type="dcterms:W3CDTF">2011-07-24T06:58:47Z</dcterms:created>
  <dcterms:modified xsi:type="dcterms:W3CDTF">2026-01-20T01:02:17Z</dcterms:modified>
</cp:coreProperties>
</file>