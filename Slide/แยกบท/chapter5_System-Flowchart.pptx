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376" r:id="rId3"/>
    <p:sldId id="374" r:id="rId4"/>
    <p:sldId id="386" r:id="rId5"/>
    <p:sldId id="448" r:id="rId6"/>
    <p:sldId id="387" r:id="rId7"/>
    <p:sldId id="388" r:id="rId8"/>
    <p:sldId id="389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00" r:id="rId29"/>
    <p:sldId id="401" r:id="rId30"/>
    <p:sldId id="412" r:id="rId31"/>
    <p:sldId id="413" r:id="rId32"/>
    <p:sldId id="414" r:id="rId33"/>
    <p:sldId id="415" r:id="rId34"/>
    <p:sldId id="449" r:id="rId35"/>
    <p:sldId id="450" r:id="rId36"/>
    <p:sldId id="416" r:id="rId37"/>
    <p:sldId id="417" r:id="rId38"/>
    <p:sldId id="418" r:id="rId39"/>
    <p:sldId id="419" r:id="rId40"/>
    <p:sldId id="420" r:id="rId41"/>
    <p:sldId id="421" r:id="rId42"/>
    <p:sldId id="460" r:id="rId43"/>
    <p:sldId id="459" r:id="rId44"/>
    <p:sldId id="422" r:id="rId45"/>
    <p:sldId id="451" r:id="rId46"/>
    <p:sldId id="452" r:id="rId47"/>
    <p:sldId id="453" r:id="rId48"/>
    <p:sldId id="455" r:id="rId49"/>
    <p:sldId id="456" r:id="rId50"/>
    <p:sldId id="457" r:id="rId51"/>
    <p:sldId id="454" r:id="rId52"/>
    <p:sldId id="458" r:id="rId53"/>
    <p:sldId id="423" r:id="rId54"/>
    <p:sldId id="424" r:id="rId55"/>
    <p:sldId id="425" r:id="rId56"/>
    <p:sldId id="426" r:id="rId57"/>
    <p:sldId id="427" r:id="rId58"/>
    <p:sldId id="428" r:id="rId59"/>
    <p:sldId id="429" r:id="rId60"/>
    <p:sldId id="430" r:id="rId61"/>
    <p:sldId id="432" r:id="rId62"/>
    <p:sldId id="431" r:id="rId63"/>
    <p:sldId id="433" r:id="rId64"/>
    <p:sldId id="434" r:id="rId65"/>
    <p:sldId id="435" r:id="rId66"/>
    <p:sldId id="436" r:id="rId67"/>
    <p:sldId id="437" r:id="rId68"/>
    <p:sldId id="438" r:id="rId69"/>
    <p:sldId id="439" r:id="rId70"/>
    <p:sldId id="440" r:id="rId71"/>
    <p:sldId id="441" r:id="rId72"/>
    <p:sldId id="442" r:id="rId73"/>
    <p:sldId id="443" r:id="rId74"/>
    <p:sldId id="444" r:id="rId75"/>
    <p:sldId id="445" r:id="rId76"/>
    <p:sldId id="446" r:id="rId77"/>
    <p:sldId id="447" r:id="rId78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D7371"/>
    <a:srgbClr val="AEC87A"/>
    <a:srgbClr val="FFFF66"/>
    <a:srgbClr val="EEB500"/>
    <a:srgbClr val="FFFF99"/>
    <a:srgbClr val="FFC000"/>
    <a:srgbClr val="F2F2F2"/>
    <a:srgbClr val="A27B00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ลักษณะชุดรูปแบบ 1 - เน้น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ลักษณะชุดรูปแบบ 1 - เน้น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50841" autoAdjust="0"/>
  </p:normalViewPr>
  <p:slideViewPr>
    <p:cSldViewPr>
      <p:cViewPr varScale="1">
        <p:scale>
          <a:sx n="118" d="100"/>
          <a:sy n="118" d="100"/>
        </p:scale>
        <p:origin x="14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1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38039-F159-45C3-A644-7F42F872B1BA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AE29B-0941-44F9-87BD-2E5ACC3A546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5471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6B566-7E78-41FF-B18B-FAC0950C1B4C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ยึด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3A03-8F57-4F17-854D-AECA137870C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117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3" name="ตัวยึด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ตัวแทนข้อความ 3"/>
          <p:cNvSpPr txBox="1">
            <a:spLocks/>
          </p:cNvSpPr>
          <p:nvPr/>
        </p:nvSpPr>
        <p:spPr>
          <a:xfrm>
            <a:off x="4661756" y="3067274"/>
            <a:ext cx="4248472" cy="19269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6">
                  <a:lumMod val="75000"/>
                </a:schemeClr>
              </a:buClr>
            </a:pPr>
            <a:br>
              <a:rPr lang="th-TH" sz="2800" b="1" i="1" dirty="0">
                <a:solidFill>
                  <a:srgbClr val="FF0066"/>
                </a:solidFill>
              </a:rPr>
            </a:br>
            <a:endParaRPr lang="th-TH" sz="2800" b="1" dirty="0">
              <a:solidFill>
                <a:srgbClr val="FF0066"/>
              </a:solidFill>
              <a:latin typeface="TH Baijam" pitchFamily="2" charset="-34"/>
              <a:cs typeface="TH Baijam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1517" y="865050"/>
            <a:ext cx="795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800" b="1" dirty="0">
                <a:solidFill>
                  <a:srgbClr val="FE0067"/>
                </a:solidFill>
                <a:latin typeface="AngsanaUPC" pitchFamily="18" charset="-34"/>
                <a:cs typeface="AngsanaUPC" pitchFamily="18" charset="-34"/>
              </a:rPr>
              <a:t>การเขียนผังงาน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841" y="304316"/>
            <a:ext cx="938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gsanaUPC" pitchFamily="18" charset="-34"/>
                <a:cs typeface="AngsanaUPC" pitchFamily="18" charset="-34"/>
              </a:rPr>
              <a:t>บทที่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4219" y="36899"/>
            <a:ext cx="12282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Wide Latin" pitchFamily="18" charset="0"/>
                <a:cs typeface="#ZF Terminal" pitchFamily="2" charset="0"/>
              </a:rPr>
              <a:t>5</a:t>
            </a:r>
            <a:endParaRPr lang="th-TH" sz="7200" b="1" dirty="0">
              <a:solidFill>
                <a:schemeClr val="tx1">
                  <a:lumMod val="50000"/>
                  <a:lumOff val="50000"/>
                </a:schemeClr>
              </a:solidFill>
              <a:latin typeface="Wide Latin" pitchFamily="18" charset="0"/>
              <a:cs typeface="#ZF Terminal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9" y="1414517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</a:rPr>
              <a:t>Flowchart</a:t>
            </a:r>
            <a:endParaRPr lang="th-TH" sz="36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" name="ตัวแทนข้อความ 3">
            <a:extLst>
              <a:ext uri="{FF2B5EF4-FFF2-40B4-BE49-F238E27FC236}">
                <a16:creationId xmlns:a16="http://schemas.microsoft.com/office/drawing/2014/main" id="{F7C3C3E7-EAB2-1ED2-635F-956F0B253FA5}"/>
              </a:ext>
            </a:extLst>
          </p:cNvPr>
          <p:cNvSpPr txBox="1">
            <a:spLocks/>
          </p:cNvSpPr>
          <p:nvPr/>
        </p:nvSpPr>
        <p:spPr>
          <a:xfrm>
            <a:off x="4391981" y="4186786"/>
            <a:ext cx="4703107" cy="836712"/>
          </a:xfrm>
          <a:prstGeom prst="rect">
            <a:avLst/>
          </a:prstGeom>
          <a:solidFill>
            <a:srgbClr val="F2F2F2">
              <a:alpha val="38824"/>
            </a:srgbClr>
          </a:solidFill>
        </p:spPr>
        <p:txBody>
          <a:bodyPr/>
          <a:lstStyle>
            <a:defPPr>
              <a:defRPr lang="th-TH"/>
            </a:defPPr>
            <a:lvl1pPr marL="342900" indent="-3429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ITC2006 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การวิเคราะห์และออกแบบระบบสารสนเทศ</a:t>
            </a:r>
          </a:p>
          <a:p>
            <a:pPr algn="r"/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  อ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เขมวิทย์ จิตตะ</a:t>
            </a:r>
            <a:r>
              <a:rPr lang="th-TH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ยโศ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ธร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รายวิชา\วิชาระบบสารสนเทศสำหรับการบริหาร\เอกสารประกอบ\GoalPic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9638"/>
            <a:ext cx="3312368" cy="2484276"/>
          </a:xfrm>
          <a:prstGeom prst="rect">
            <a:avLst/>
          </a:prstGeom>
          <a:noFill/>
        </p:spPr>
      </p:pic>
      <p:sp>
        <p:nvSpPr>
          <p:cNvPr id="4" name="สี่เหลี่ยมผืนผ้า 3"/>
          <p:cNvSpPr/>
          <p:nvPr/>
        </p:nvSpPr>
        <p:spPr>
          <a:xfrm>
            <a:off x="3995936" y="764704"/>
            <a:ext cx="4752528" cy="523278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3968" y="980728"/>
            <a:ext cx="41764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บอกความหมายของผังงานได้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บอกประโยชน์ของผังงานได้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บอกความหมายของสัญลักษณ์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ที่ใช้ในการเขียนผังงานได้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เขียนสัญลักษณ์ที่ใช้ในการเขียนผังงานได้ถูกต้อง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อธิบายลักษณะการเขียนผังงานที่ดีได้</a:t>
            </a:r>
          </a:p>
          <a:p>
            <a:pPr marL="457200" indent="-45720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เขียนผังงานสำหรับวิธีการประมวลผลที่กำหนดไว้ได้</a:t>
            </a:r>
            <a:endParaRPr lang="th-TH" sz="30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5040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วัตถุประสงค์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pic>
        <p:nvPicPr>
          <p:cNvPr id="7" name="Picture 2" descr="C:\Users\KIT\Pictures\powerpoint design\question_mark_Animation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2348880"/>
            <a:ext cx="288032" cy="384042"/>
          </a:xfrm>
          <a:prstGeom prst="rect">
            <a:avLst/>
          </a:prstGeom>
          <a:noFill/>
        </p:spPr>
      </p:pic>
      <p:pic>
        <p:nvPicPr>
          <p:cNvPr id="11" name="Picture 2" descr="C:\Users\KIT\Pictures\powerpoint design\question_mark_Animation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340768"/>
            <a:ext cx="486623" cy="64883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1571272" y="2348890"/>
            <a:ext cx="6198491" cy="461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ประเภทของผังงาน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001010" y="2348626"/>
            <a:ext cx="578378" cy="46122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3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1571271" y="2877657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สัญลักษณ์ที่ใช้ในการเขียนผังงาน</a:t>
            </a:r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1001010" y="2877392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4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9" name="สี่เหลี่ยมผืนผ้า 28"/>
          <p:cNvSpPr/>
          <p:nvPr/>
        </p:nvSpPr>
        <p:spPr>
          <a:xfrm>
            <a:off x="1571271" y="116219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ความหมายของผังงาน</a:t>
            </a:r>
          </a:p>
        </p:txBody>
      </p:sp>
      <p:sp>
        <p:nvSpPr>
          <p:cNvPr id="30" name="สี่เหลี่ยมผืนผ้า 29"/>
          <p:cNvSpPr/>
          <p:nvPr/>
        </p:nvSpPr>
        <p:spPr>
          <a:xfrm>
            <a:off x="1001010" y="116192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1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01272" y="355303"/>
            <a:ext cx="6323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รายละเอียดของเนื้อหา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1571271" y="175274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ประโยชน์ของผังงาน</a:t>
            </a:r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1001010" y="175247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2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5" name="สี่เหลี่ยมผืนผ้า 24"/>
          <p:cNvSpPr/>
          <p:nvPr/>
        </p:nvSpPr>
        <p:spPr>
          <a:xfrm>
            <a:off x="1594819" y="4059323"/>
            <a:ext cx="6198491" cy="461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ลักษณะโครงสร้างในการเขียนผังงาน</a:t>
            </a:r>
          </a:p>
        </p:txBody>
      </p:sp>
      <p:sp>
        <p:nvSpPr>
          <p:cNvPr id="26" name="สี่เหลี่ยมผืนผ้า 25"/>
          <p:cNvSpPr/>
          <p:nvPr/>
        </p:nvSpPr>
        <p:spPr>
          <a:xfrm>
            <a:off x="1024557" y="4059059"/>
            <a:ext cx="578378" cy="46122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6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7" name="สี่เหลี่ยมผืนผ้า 26"/>
          <p:cNvSpPr/>
          <p:nvPr/>
        </p:nvSpPr>
        <p:spPr>
          <a:xfrm>
            <a:off x="1594818" y="4588090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ตัวอย่างการเขียนผังงาน</a:t>
            </a:r>
          </a:p>
        </p:txBody>
      </p:sp>
      <p:sp>
        <p:nvSpPr>
          <p:cNvPr id="28" name="สี่เหลี่ยมผืนผ้า 27"/>
          <p:cNvSpPr/>
          <p:nvPr/>
        </p:nvSpPr>
        <p:spPr>
          <a:xfrm>
            <a:off x="1024557" y="4587825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7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31" name="สี่เหลี่ยมผืนผ้า 30"/>
          <p:cNvSpPr/>
          <p:nvPr/>
        </p:nvSpPr>
        <p:spPr>
          <a:xfrm>
            <a:off x="1594818" y="3463173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หลักเกณฑ์การเขียนผังงาน</a:t>
            </a:r>
          </a:p>
        </p:txBody>
      </p:sp>
      <p:sp>
        <p:nvSpPr>
          <p:cNvPr id="32" name="สี่เหลี่ยมผืนผ้า 31"/>
          <p:cNvSpPr/>
          <p:nvPr/>
        </p:nvSpPr>
        <p:spPr>
          <a:xfrm>
            <a:off x="1024557" y="3462908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5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539552" y="1700808"/>
            <a:ext cx="8064896" cy="194421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765538"/>
            <a:ext cx="7560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ผังงาน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คือ รูปภาพหรือสัญลักษณ์ที่ใช้แทนลำดับ หรือขั้นตอน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ในโปรแกรม รูปภาพ หรือสัญลักษณ์ที่จะใช้เป็นเอกลักษณ์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และแทนความหมายอย่างใดอย่างหนึ่ง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ความหมายของผังงาน  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Flowchart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training.ami-solution.com/userfiles/images/1/71/Flowchart%20%E0%B8%95%E0%B8%B1%E0%B8%A7%E0%B8%AD%E0%B8%A2%E0%B9%88%E0%B8%B2%E0%B8%87%E0%B8%97%E0%B8%B5%E0%B9%88%2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665" y="970848"/>
            <a:ext cx="5845671" cy="5085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ตัวอย่างการเขียนผังงาน  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Flowchart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02458645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43608" y="1556792"/>
            <a:ext cx="7560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ผังงาน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ในทางคอมพิวเตอร์</a:t>
            </a:r>
            <a:r>
              <a:rPr lang="th-TH" sz="32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หมายถึง แผนภาพ (</a:t>
            </a:r>
            <a:r>
              <a:rPr lang="en-US" sz="32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  <a:t>Diagram) </a:t>
            </a:r>
            <a:br>
              <a:rPr lang="th-TH" sz="3200" b="1" dirty="0">
                <a:solidFill>
                  <a:srgbClr val="FF0066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หรือสัญลักษณ์แสดงการอธิบายลำดับขั้นตอนการทำงาน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การแก้ปัญหา หรือการพัฒนาโปรแกรมของคอมพิวเตอร์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โดยใช้สัญลักษณ์ต่างๆ ประกอบเข้าด้วยกัน และมีทิศทางแสดงลำดับขั้นตอนการทำงานตั้งแต่ขั้นตอนแรกจนถึงขั้นตอนสุดท้าย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ว่ามีลำดับขั้นตอนการทำงานอย่างไรบ้าง ซึ่งเป็นสัญลักษณ์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 ที่เป็นมาตรฐานเดียวกันทั่วโลก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ความหมายของผังงาน  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Flowchart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76711109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539552" y="1700808"/>
            <a:ext cx="8064896" cy="424847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1765538"/>
            <a:ext cx="75608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1. ช่วยอธิบายขั้นตอนการทำงานแต่ละขั้นให้เข้าใจการทำงาน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ของโปรแกรมได้ง่ายและรวดเร็ว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2. สามารถวิเคราะห์ความถูกต้องของโปรแกรมก่อนเขียนโปรแกรมจริง และตรวจสอบขั้นตอนการทำงานเพื่อหาข้อผิดพลาดที่เกิดขึ้นได้สะดวก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3. ทำให้ทราบถึงโครงสร้างของโปรแกรมทั้งหมดที่จะเขียน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ประโยชน์ของการเขียนผังงาน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8563277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539552" y="1700808"/>
            <a:ext cx="8064896" cy="266429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1765538"/>
            <a:ext cx="75608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4. ใช้เป็นสื่อในการติดต่อประสานงานกันระหว่างนักวิเคราะห์ระบบ นักออกแบบโปรแกรม กับนักเขียนโปรแกรมและผู้ใช้ ให้สามารถเข้าใจขั้นตอนทั้งหมดได้ เพราะไม่ใช่ภาษาคอมพิวเตอร์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5. ช่วยให้เขียนโปรแกรมได้ง่าย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ประโยชน์ของการเขียนผังงาน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21290012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43608" y="1196752"/>
            <a:ext cx="7560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ในการเขียนผังงานนั้นสามารถจำแนกแบบของผังงานออกเป็น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2 แบบใหญ่ ๆ คือ</a:t>
            </a:r>
          </a:p>
          <a:p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ผังงานระบบ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System Flowchart)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2. ผังงานโปรแกรม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Program Flowchart)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ประเภทของผังงาน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15568573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608" y="1196752"/>
            <a:ext cx="75608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ผังงานระบบ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System Flowchart)</a:t>
            </a:r>
            <a:b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หรือผังงานในระดับกว้าง ซึ่งจะเป็นการแสดงขั้นตอนการทำงาน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ของระบบทั้งหมด ผังงานระบบมักจะมีลักษณะย่นย่อ รวบรัด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และแสดงเฉพาะตัวงานที่จะต้องทำในระบบเท่านั้น ไม่มุ่งเน้นรายละเอียดในการปฏิบัติ ไม่ได้แสดงว่างานนั้นจะทำอย่างไร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ความสำคัญของผังงานระบบอยู่ที่การแสดงความสัมพันธ์ระหว่างงานต่างๆ ในระบบว่ามีความสัมพันธ์กันอย่างไร ตั้งแต่เรื่องของวัสดุ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 อุปกรณ์ บุคลากร และหน่วยงานที่เกี่ยวข้อง </a:t>
            </a:r>
            <a:endParaRPr lang="th-TH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ประเภทของผังงาน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40642481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196752"/>
            <a:ext cx="7560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ตัวอย่างผังงานระบบ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System Flowchart)</a:t>
            </a:r>
            <a:b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ประเภทของผังงาน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1" t="38281" r="19559" b="11719"/>
          <a:stretch/>
        </p:blipFill>
        <p:spPr bwMode="auto">
          <a:xfrm>
            <a:off x="240644" y="1772816"/>
            <a:ext cx="8651836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1745752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608" y="1196752"/>
            <a:ext cx="7704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2. ผังงานโปรแกรม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Program Flowchart)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หรือผังงานระดับละเอียด เป็นภาพแผนผังที่แสดงลำดับขั้นตอน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ในการทำงานของโปรแกรม ซึ่งจะแยกย่อยมาจากผังงานระบบ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คือในแต่ละขั้นตอนจะแสดงการทำงานแต่ละคำสั่งโดยละเอียด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ใส่วิธีการ และจัดลำดับขั้นตอนของโปรแกรม สำหรับโปรแกรมนั้นๆ ตั้งแต่เริ่มต้นจากการรับข้อมูล การประมวลผล และไปจนถึงการแสดงผลลัพธ์ที่ได้จากการประมวลผลที่ผู้เขียนโปรแกรมกำลังทางานอยู่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ไม่ได้แสดงความสัมพันธ์ระหว่างโปรแกรมนั้นกับโปรแกรม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 อื่น ๆ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ประเภทของผังงาน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68025126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148064" y="1196752"/>
            <a:ext cx="3600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ตัวอย่างผังงานโปรแกรม (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Program Flowchart) </a:t>
            </a:r>
            <a:b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ประเภทของผังงาน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2" t="16359" r="36252" b="20573"/>
          <a:stretch/>
        </p:blipFill>
        <p:spPr bwMode="auto">
          <a:xfrm>
            <a:off x="704850" y="1196752"/>
            <a:ext cx="3795142" cy="5387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35" t="85156" r="31657" b="6862"/>
          <a:stretch/>
        </p:blipFill>
        <p:spPr bwMode="auto">
          <a:xfrm>
            <a:off x="4704184" y="2474472"/>
            <a:ext cx="3900264" cy="583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1638063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196752"/>
            <a:ext cx="7704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สัญลักษณ์ที่ใช้ในการเขียนผังงานโปรแกรม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Program Flowchart)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มีหลายสัญลักษณ์ด้วยกัน และสัญลักษณ์ในแต่ละแบบก็จะมีความหมายและการใช้งานที่แตกต่างกันออกไป ดังนี้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30215686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401751"/>
              </p:ext>
            </p:extLst>
          </p:nvPr>
        </p:nvGraphicFramePr>
        <p:xfrm>
          <a:off x="179388" y="1341438"/>
          <a:ext cx="8785225" cy="4972051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การเริ่มต้นหรือสิ้นสุดการเขียนผังงาน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(Terminal)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เริ่มต้นผังงาน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จบผังงาน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รับข้อมูลหรือแสดงข้อมูลโดยไม่ระบุสื่อ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(Input/output)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รับค่าใส่ในตัวแปรชื่อ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name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แสดงค่าจากตัวแปร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area</a:t>
                      </a: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utoShape 31"/>
          <p:cNvSpPr>
            <a:spLocks noChangeArrowheads="1"/>
          </p:cNvSpPr>
          <p:nvPr/>
        </p:nvSpPr>
        <p:spPr bwMode="auto">
          <a:xfrm>
            <a:off x="395288" y="2565400"/>
            <a:ext cx="1512887" cy="576263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6" name="AutoShape 36"/>
          <p:cNvSpPr>
            <a:spLocks noChangeArrowheads="1"/>
          </p:cNvSpPr>
          <p:nvPr/>
        </p:nvSpPr>
        <p:spPr bwMode="auto">
          <a:xfrm>
            <a:off x="4787900" y="2060575"/>
            <a:ext cx="1512888" cy="576263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Verdana" pitchFamily="34" charset="0"/>
              </a:rPr>
              <a:t>START</a:t>
            </a:r>
          </a:p>
        </p:txBody>
      </p:sp>
      <p:sp>
        <p:nvSpPr>
          <p:cNvPr id="7" name="AutoShape 38"/>
          <p:cNvSpPr>
            <a:spLocks noChangeArrowheads="1"/>
          </p:cNvSpPr>
          <p:nvPr/>
        </p:nvSpPr>
        <p:spPr bwMode="auto">
          <a:xfrm>
            <a:off x="4787900" y="2997200"/>
            <a:ext cx="1512888" cy="576263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Verdana" pitchFamily="34" charset="0"/>
              </a:rPr>
              <a:t>STOP</a:t>
            </a:r>
          </a:p>
        </p:txBody>
      </p:sp>
      <p:sp>
        <p:nvSpPr>
          <p:cNvPr id="8" name="AutoShape 40"/>
          <p:cNvSpPr>
            <a:spLocks noChangeArrowheads="1"/>
          </p:cNvSpPr>
          <p:nvPr/>
        </p:nvSpPr>
        <p:spPr bwMode="auto">
          <a:xfrm>
            <a:off x="323850" y="4508500"/>
            <a:ext cx="1584325" cy="792163"/>
          </a:xfrm>
          <a:prstGeom prst="flowChartInputOutput">
            <a:avLst/>
          </a:prstGeom>
          <a:solidFill>
            <a:srgbClr val="EFB91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9" name="AutoShape 41"/>
          <p:cNvSpPr>
            <a:spLocks noChangeArrowheads="1"/>
          </p:cNvSpPr>
          <p:nvPr/>
        </p:nvSpPr>
        <p:spPr bwMode="auto">
          <a:xfrm>
            <a:off x="4716463" y="4222750"/>
            <a:ext cx="1800225" cy="574675"/>
          </a:xfrm>
          <a:prstGeom prst="flowChartInputOutput">
            <a:avLst/>
          </a:prstGeom>
          <a:solidFill>
            <a:srgbClr val="EFB91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read name</a:t>
            </a:r>
          </a:p>
        </p:txBody>
      </p:sp>
      <p:sp>
        <p:nvSpPr>
          <p:cNvPr id="10" name="AutoShape 43"/>
          <p:cNvSpPr>
            <a:spLocks noChangeArrowheads="1"/>
          </p:cNvSpPr>
          <p:nvPr/>
        </p:nvSpPr>
        <p:spPr bwMode="auto">
          <a:xfrm>
            <a:off x="4643438" y="5086350"/>
            <a:ext cx="1800225" cy="574675"/>
          </a:xfrm>
          <a:prstGeom prst="flowChartInputOutput">
            <a:avLst/>
          </a:prstGeom>
          <a:solidFill>
            <a:srgbClr val="EFB91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Verdana" pitchFamily="34" charset="0"/>
              </a:rPr>
              <a:t>display 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31535906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7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37763"/>
              </p:ext>
            </p:extLst>
          </p:nvPr>
        </p:nvGraphicFramePr>
        <p:xfrm>
          <a:off x="179388" y="1341438"/>
          <a:ext cx="8785225" cy="5328222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การประมวลผล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(Process)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คำนวณ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 + B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และเก็บไว้ใน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C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กำหนดค่า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sum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เท่ากับ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0</a:t>
                      </a: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การเปรียบเทียบหรือตัวสินใจ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(Compare / Decision)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เปรียบเทียบถ้า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i </a:t>
                      </a: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มีค่า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น้อยกว่าหรือเท่ากับ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10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- </a:t>
                      </a: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เป็นจริง พิมพ์ค่า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i </a:t>
                      </a: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เสร็จแล้วไปทำคำสั่งอื่น ๆ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  - </a:t>
                      </a: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เป็นเท็จ ไปทำคำสั่งอื่น 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323850" y="2420938"/>
            <a:ext cx="1584325" cy="719137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4716463" y="2060575"/>
            <a:ext cx="1584325" cy="71913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C = A + B</a:t>
            </a:r>
          </a:p>
        </p:txBody>
      </p:sp>
      <p:sp>
        <p:nvSpPr>
          <p:cNvPr id="8" name="Rectangle 31"/>
          <p:cNvSpPr>
            <a:spLocks noChangeArrowheads="1"/>
          </p:cNvSpPr>
          <p:nvPr/>
        </p:nvSpPr>
        <p:spPr bwMode="auto">
          <a:xfrm>
            <a:off x="4716463" y="2924175"/>
            <a:ext cx="1584325" cy="71913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Sum = 0</a:t>
            </a:r>
          </a:p>
        </p:txBody>
      </p:sp>
      <p:sp>
        <p:nvSpPr>
          <p:cNvPr id="9" name="AutoShape 38"/>
          <p:cNvSpPr>
            <a:spLocks noChangeArrowheads="1"/>
          </p:cNvSpPr>
          <p:nvPr/>
        </p:nvSpPr>
        <p:spPr bwMode="auto">
          <a:xfrm>
            <a:off x="395288" y="4508500"/>
            <a:ext cx="1511300" cy="935038"/>
          </a:xfrm>
          <a:prstGeom prst="flowChartDecision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grpSp>
        <p:nvGrpSpPr>
          <p:cNvPr id="10" name="Group 74"/>
          <p:cNvGrpSpPr>
            <a:grpSpLocks/>
          </p:cNvGrpSpPr>
          <p:nvPr/>
        </p:nvGrpSpPr>
        <p:grpSpPr bwMode="auto">
          <a:xfrm>
            <a:off x="4427538" y="4005263"/>
            <a:ext cx="1955800" cy="2376487"/>
            <a:chOff x="2835" y="2432"/>
            <a:chExt cx="1232" cy="1497"/>
          </a:xfrm>
        </p:grpSpPr>
        <p:sp>
          <p:nvSpPr>
            <p:cNvPr id="11" name="AutoShape 40"/>
            <p:cNvSpPr>
              <a:spLocks noChangeArrowheads="1"/>
            </p:cNvSpPr>
            <p:nvPr/>
          </p:nvSpPr>
          <p:spPr bwMode="auto">
            <a:xfrm>
              <a:off x="2925" y="2614"/>
              <a:ext cx="817" cy="362"/>
            </a:xfrm>
            <a:prstGeom prst="flowChartDecision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latin typeface="Verdana" pitchFamily="34" charset="0"/>
                </a:rPr>
                <a:t>i &lt;= 10</a:t>
              </a:r>
            </a:p>
          </p:txBody>
        </p:sp>
        <p:sp>
          <p:nvSpPr>
            <p:cNvPr id="12" name="Line 43"/>
            <p:cNvSpPr>
              <a:spLocks noChangeShapeType="1"/>
            </p:cNvSpPr>
            <p:nvPr/>
          </p:nvSpPr>
          <p:spPr bwMode="auto">
            <a:xfrm>
              <a:off x="3334" y="2432"/>
              <a:ext cx="0" cy="18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Line 44"/>
            <p:cNvSpPr>
              <a:spLocks noChangeShapeType="1"/>
            </p:cNvSpPr>
            <p:nvPr/>
          </p:nvSpPr>
          <p:spPr bwMode="auto">
            <a:xfrm>
              <a:off x="3334" y="2976"/>
              <a:ext cx="0" cy="18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45"/>
            <p:cNvSpPr>
              <a:spLocks noChangeShapeType="1"/>
            </p:cNvSpPr>
            <p:nvPr/>
          </p:nvSpPr>
          <p:spPr bwMode="auto">
            <a:xfrm>
              <a:off x="3334" y="3521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47"/>
            <p:cNvSpPr>
              <a:spLocks noChangeShapeType="1"/>
            </p:cNvSpPr>
            <p:nvPr/>
          </p:nvSpPr>
          <p:spPr bwMode="auto">
            <a:xfrm flipV="1">
              <a:off x="3969" y="2795"/>
              <a:ext cx="0" cy="90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49"/>
            <p:cNvSpPr>
              <a:spLocks noChangeShapeType="1"/>
            </p:cNvSpPr>
            <p:nvPr/>
          </p:nvSpPr>
          <p:spPr bwMode="auto">
            <a:xfrm>
              <a:off x="3742" y="2795"/>
              <a:ext cx="22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 Box 51"/>
            <p:cNvSpPr txBox="1">
              <a:spLocks noChangeArrowheads="1"/>
            </p:cNvSpPr>
            <p:nvPr/>
          </p:nvSpPr>
          <p:spPr bwMode="auto">
            <a:xfrm>
              <a:off x="3334" y="2947"/>
              <a:ext cx="3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1400" b="1">
                  <a:solidFill>
                    <a:srgbClr val="0000CC"/>
                  </a:solidFill>
                  <a:latin typeface="Verdana" pitchFamily="34" charset="0"/>
                </a:rPr>
                <a:t>true</a:t>
              </a:r>
            </a:p>
          </p:txBody>
        </p:sp>
        <p:sp>
          <p:nvSpPr>
            <p:cNvPr id="18" name="Text Box 52"/>
            <p:cNvSpPr txBox="1">
              <a:spLocks noChangeArrowheads="1"/>
            </p:cNvSpPr>
            <p:nvPr/>
          </p:nvSpPr>
          <p:spPr bwMode="auto">
            <a:xfrm>
              <a:off x="3651" y="2603"/>
              <a:ext cx="4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1400" b="1">
                  <a:solidFill>
                    <a:srgbClr val="0000CC"/>
                  </a:solidFill>
                  <a:latin typeface="Verdana" pitchFamily="34" charset="0"/>
                </a:rPr>
                <a:t>false</a:t>
              </a:r>
            </a:p>
          </p:txBody>
        </p:sp>
        <p:sp>
          <p:nvSpPr>
            <p:cNvPr id="19" name="AutoShape 69"/>
            <p:cNvSpPr>
              <a:spLocks noChangeArrowheads="1"/>
            </p:cNvSpPr>
            <p:nvPr/>
          </p:nvSpPr>
          <p:spPr bwMode="auto">
            <a:xfrm>
              <a:off x="2835" y="3158"/>
              <a:ext cx="1043" cy="363"/>
            </a:xfrm>
            <a:prstGeom prst="flowChartDisplay">
              <a:avLst/>
            </a:prstGeom>
            <a:solidFill>
              <a:srgbClr val="FF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400">
                  <a:latin typeface="Tahoma" pitchFamily="34" charset="0"/>
                  <a:cs typeface="Tahoma" pitchFamily="34" charset="0"/>
                </a:rPr>
                <a:t>แสดง </a:t>
              </a:r>
              <a:r>
                <a:rPr lang="en-US" sz="2400">
                  <a:latin typeface="Tahoma" pitchFamily="34" charset="0"/>
                  <a:cs typeface="Tahoma" pitchFamily="34" charset="0"/>
                </a:rPr>
                <a:t>i</a:t>
              </a:r>
              <a:endParaRPr lang="th-TH" sz="2400"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0" name="Line 71"/>
            <p:cNvSpPr>
              <a:spLocks noChangeShapeType="1"/>
            </p:cNvSpPr>
            <p:nvPr/>
          </p:nvSpPr>
          <p:spPr bwMode="auto">
            <a:xfrm flipH="1">
              <a:off x="3334" y="3702"/>
              <a:ext cx="63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364548362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182637"/>
              </p:ext>
            </p:extLst>
          </p:nvPr>
        </p:nvGraphicFramePr>
        <p:xfrm>
          <a:off x="179388" y="1341438"/>
          <a:ext cx="8785225" cy="4751858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9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27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การแสดงผลลัพธ์ทางเครื่องพิมพ์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(Document)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พิมพ์ค่า </a:t>
                      </a: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 </a:t>
                      </a: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ทาง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เครื่องพิมพ์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0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การแสดงผลลัพธ์ทางจอภาพ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(Display)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แสดงค่า </a:t>
                      </a: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A, B 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บนจอภาพ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AutoShape 27"/>
          <p:cNvSpPr>
            <a:spLocks noChangeArrowheads="1"/>
          </p:cNvSpPr>
          <p:nvPr/>
        </p:nvSpPr>
        <p:spPr bwMode="auto">
          <a:xfrm>
            <a:off x="395288" y="2420938"/>
            <a:ext cx="1512887" cy="863600"/>
          </a:xfrm>
          <a:prstGeom prst="flowChartDocumen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9" name="AutoShape 29"/>
          <p:cNvSpPr>
            <a:spLocks noChangeArrowheads="1"/>
          </p:cNvSpPr>
          <p:nvPr/>
        </p:nvSpPr>
        <p:spPr bwMode="auto">
          <a:xfrm>
            <a:off x="4716463" y="2420938"/>
            <a:ext cx="1512887" cy="863600"/>
          </a:xfrm>
          <a:prstGeom prst="flowChartDocumen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Verdana" pitchFamily="34" charset="0"/>
              </a:rPr>
              <a:t>print A</a:t>
            </a:r>
          </a:p>
        </p:txBody>
      </p:sp>
      <p:sp>
        <p:nvSpPr>
          <p:cNvPr id="10" name="AutoShape 31"/>
          <p:cNvSpPr>
            <a:spLocks noChangeArrowheads="1"/>
          </p:cNvSpPr>
          <p:nvPr/>
        </p:nvSpPr>
        <p:spPr bwMode="auto">
          <a:xfrm>
            <a:off x="395288" y="4365625"/>
            <a:ext cx="1584325" cy="792163"/>
          </a:xfrm>
          <a:prstGeom prst="flowChartDisplay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1" name="AutoShape 33"/>
          <p:cNvSpPr>
            <a:spLocks noChangeArrowheads="1"/>
          </p:cNvSpPr>
          <p:nvPr/>
        </p:nvSpPr>
        <p:spPr bwMode="auto">
          <a:xfrm>
            <a:off x="4643438" y="4365625"/>
            <a:ext cx="1727200" cy="792163"/>
          </a:xfrm>
          <a:prstGeom prst="flowChartDisplay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display A , B</a:t>
            </a:r>
          </a:p>
        </p:txBody>
      </p:sp>
    </p:spTree>
    <p:extLst>
      <p:ext uri="{BB962C8B-B14F-4D97-AF65-F5344CB8AC3E}">
        <p14:creationId xmlns:p14="http://schemas.microsoft.com/office/powerpoint/2010/main" val="3041614329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3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466297"/>
              </p:ext>
            </p:extLst>
          </p:nvPr>
        </p:nvGraphicFramePr>
        <p:xfrm>
          <a:off x="179388" y="1341438"/>
          <a:ext cx="8785225" cy="4610100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1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หมายเหตุ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(Comment)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8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รับค่าทางการกดแป้นพิมพ์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(Manual Input)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รับค่า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ทาง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แป้นพิมพ์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50825" y="2565400"/>
            <a:ext cx="1655763" cy="719138"/>
            <a:chOff x="204" y="1616"/>
            <a:chExt cx="1043" cy="453"/>
          </a:xfrm>
        </p:grpSpPr>
        <p:sp>
          <p:nvSpPr>
            <p:cNvPr id="7" name="Rectangle 27"/>
            <p:cNvSpPr>
              <a:spLocks noChangeArrowheads="1"/>
            </p:cNvSpPr>
            <p:nvPr/>
          </p:nvSpPr>
          <p:spPr bwMode="auto">
            <a:xfrm>
              <a:off x="612" y="1616"/>
              <a:ext cx="635" cy="453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8" name="Line 28"/>
            <p:cNvSpPr>
              <a:spLocks noChangeShapeType="1"/>
            </p:cNvSpPr>
            <p:nvPr/>
          </p:nvSpPr>
          <p:spPr bwMode="auto">
            <a:xfrm>
              <a:off x="612" y="1616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Line 29"/>
            <p:cNvSpPr>
              <a:spLocks noChangeShapeType="1"/>
            </p:cNvSpPr>
            <p:nvPr/>
          </p:nvSpPr>
          <p:spPr bwMode="auto">
            <a:xfrm>
              <a:off x="612" y="2069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>
              <a:off x="612" y="1616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>
              <a:off x="204" y="1842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2" name="AutoShape 34"/>
          <p:cNvSpPr>
            <a:spLocks noChangeArrowheads="1"/>
          </p:cNvSpPr>
          <p:nvPr/>
        </p:nvSpPr>
        <p:spPr bwMode="auto">
          <a:xfrm>
            <a:off x="4500563" y="2420938"/>
            <a:ext cx="1223962" cy="503237"/>
          </a:xfrm>
          <a:prstGeom prst="flowChartInputOutput">
            <a:avLst/>
          </a:prstGeom>
          <a:solidFill>
            <a:srgbClr val="EFB91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read A</a:t>
            </a:r>
          </a:p>
        </p:txBody>
      </p:sp>
      <p:grpSp>
        <p:nvGrpSpPr>
          <p:cNvPr id="13" name="Group 44"/>
          <p:cNvGrpSpPr>
            <a:grpSpLocks/>
          </p:cNvGrpSpPr>
          <p:nvPr/>
        </p:nvGrpSpPr>
        <p:grpSpPr bwMode="auto">
          <a:xfrm>
            <a:off x="5580063" y="2492375"/>
            <a:ext cx="1079500" cy="431800"/>
            <a:chOff x="3606" y="1570"/>
            <a:chExt cx="589" cy="272"/>
          </a:xfrm>
        </p:grpSpPr>
        <p:sp>
          <p:nvSpPr>
            <p:cNvPr id="14" name="Rectangle 38"/>
            <p:cNvSpPr>
              <a:spLocks noChangeArrowheads="1"/>
            </p:cNvSpPr>
            <p:nvPr/>
          </p:nvSpPr>
          <p:spPr bwMode="auto">
            <a:xfrm>
              <a:off x="3781" y="1570"/>
              <a:ext cx="414" cy="272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>
                  <a:latin typeface="Verdana" pitchFamily="34" charset="0"/>
                </a:rPr>
                <a:t>A = Age</a:t>
              </a:r>
            </a:p>
          </p:txBody>
        </p:sp>
        <p:sp>
          <p:nvSpPr>
            <p:cNvPr id="15" name="Line 39"/>
            <p:cNvSpPr>
              <a:spLocks noChangeShapeType="1"/>
            </p:cNvSpPr>
            <p:nvPr/>
          </p:nvSpPr>
          <p:spPr bwMode="auto">
            <a:xfrm>
              <a:off x="3781" y="1570"/>
              <a:ext cx="4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40"/>
            <p:cNvSpPr>
              <a:spLocks noChangeShapeType="1"/>
            </p:cNvSpPr>
            <p:nvPr/>
          </p:nvSpPr>
          <p:spPr bwMode="auto">
            <a:xfrm>
              <a:off x="3781" y="1842"/>
              <a:ext cx="4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Line 41"/>
            <p:cNvSpPr>
              <a:spLocks noChangeShapeType="1"/>
            </p:cNvSpPr>
            <p:nvPr/>
          </p:nvSpPr>
          <p:spPr bwMode="auto">
            <a:xfrm>
              <a:off x="3781" y="1570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Line 42"/>
            <p:cNvSpPr>
              <a:spLocks noChangeShapeType="1"/>
            </p:cNvSpPr>
            <p:nvPr/>
          </p:nvSpPr>
          <p:spPr bwMode="auto">
            <a:xfrm>
              <a:off x="3606" y="1706"/>
              <a:ext cx="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9" name="AutoShape 45"/>
          <p:cNvSpPr>
            <a:spLocks noChangeArrowheads="1"/>
          </p:cNvSpPr>
          <p:nvPr/>
        </p:nvSpPr>
        <p:spPr bwMode="auto">
          <a:xfrm>
            <a:off x="395288" y="4221163"/>
            <a:ext cx="1439862" cy="792162"/>
          </a:xfrm>
          <a:prstGeom prst="flowChartManualInput">
            <a:avLst/>
          </a:prstGeom>
          <a:solidFill>
            <a:srgbClr val="B7BCE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20" name="AutoShape 46"/>
          <p:cNvSpPr>
            <a:spLocks noChangeArrowheads="1"/>
          </p:cNvSpPr>
          <p:nvPr/>
        </p:nvSpPr>
        <p:spPr bwMode="auto">
          <a:xfrm>
            <a:off x="4787900" y="4221163"/>
            <a:ext cx="1439863" cy="792162"/>
          </a:xfrm>
          <a:prstGeom prst="flowChartManualInput">
            <a:avLst/>
          </a:prstGeom>
          <a:solidFill>
            <a:srgbClr val="B7BCE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read A</a:t>
            </a:r>
          </a:p>
        </p:txBody>
      </p:sp>
    </p:spTree>
    <p:extLst>
      <p:ext uri="{BB962C8B-B14F-4D97-AF65-F5344CB8AC3E}">
        <p14:creationId xmlns:p14="http://schemas.microsoft.com/office/powerpoint/2010/main" val="2066173021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5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750119"/>
              </p:ext>
            </p:extLst>
          </p:nvPr>
        </p:nvGraphicFramePr>
        <p:xfrm>
          <a:off x="179388" y="1125538"/>
          <a:ext cx="8785225" cy="5483324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0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6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การกำหนดค่าต่างๆ ไว้ล่วงหน้า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(Preparation)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กำหนดให้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i </a:t>
                      </a: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มีค่าเท่ากับ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 </a:t>
                      </a: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และเพิ่มค่าทีละ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 </a:t>
                      </a:r>
                      <a:endParaRPr kumimoji="0" lang="th-TH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จนมีค่าเป็น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100 </a:t>
                      </a: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จึงออก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จากการทำงานซ้ำ 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โดยแต่ละรอบ บวกค่า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sum </a:t>
                      </a:r>
                      <a:r>
                        <a:rPr kumimoji="0" lang="th-TH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ด้วยค่า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i</a:t>
                      </a:r>
                      <a:endParaRPr kumimoji="0" lang="th-TH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4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แสดงทิศทางและลำดับของการทำงาน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(Flow line)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AutoShape 27"/>
          <p:cNvSpPr>
            <a:spLocks noChangeArrowheads="1"/>
          </p:cNvSpPr>
          <p:nvPr/>
        </p:nvSpPr>
        <p:spPr bwMode="auto">
          <a:xfrm>
            <a:off x="468313" y="2420938"/>
            <a:ext cx="1295400" cy="720725"/>
          </a:xfrm>
          <a:prstGeom prst="flowChartPreparation">
            <a:avLst/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4643438" y="1989138"/>
            <a:ext cx="1728787" cy="2232025"/>
            <a:chOff x="2925" y="1253"/>
            <a:chExt cx="1089" cy="1406"/>
          </a:xfrm>
        </p:grpSpPr>
        <p:sp>
          <p:nvSpPr>
            <p:cNvPr id="8" name="AutoShape 29"/>
            <p:cNvSpPr>
              <a:spLocks noChangeArrowheads="1"/>
            </p:cNvSpPr>
            <p:nvPr/>
          </p:nvSpPr>
          <p:spPr bwMode="auto">
            <a:xfrm>
              <a:off x="3016" y="1480"/>
              <a:ext cx="998" cy="227"/>
            </a:xfrm>
            <a:prstGeom prst="flowChartPreparation">
              <a:avLst/>
            </a:prstGeom>
            <a:solidFill>
              <a:srgbClr val="CC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for i =1 to 100</a:t>
              </a:r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>
              <a:off x="3515" y="1253"/>
              <a:ext cx="0" cy="22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3016" y="1888"/>
              <a:ext cx="998" cy="27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sum = sum + i</a:t>
              </a:r>
            </a:p>
          </p:txBody>
        </p:sp>
        <p:sp>
          <p:nvSpPr>
            <p:cNvPr id="11" name="Line 34"/>
            <p:cNvSpPr>
              <a:spLocks noChangeShapeType="1"/>
            </p:cNvSpPr>
            <p:nvPr/>
          </p:nvSpPr>
          <p:spPr bwMode="auto">
            <a:xfrm>
              <a:off x="3515" y="1707"/>
              <a:ext cx="0" cy="181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Oval 36"/>
            <p:cNvSpPr>
              <a:spLocks noChangeArrowheads="1"/>
            </p:cNvSpPr>
            <p:nvPr/>
          </p:nvSpPr>
          <p:spPr bwMode="auto">
            <a:xfrm>
              <a:off x="3423" y="2296"/>
              <a:ext cx="182" cy="1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i</a:t>
              </a:r>
            </a:p>
          </p:txBody>
        </p:sp>
        <p:sp>
          <p:nvSpPr>
            <p:cNvPr id="13" name="Line 39"/>
            <p:cNvSpPr>
              <a:spLocks noChangeShapeType="1"/>
            </p:cNvSpPr>
            <p:nvPr/>
          </p:nvSpPr>
          <p:spPr bwMode="auto">
            <a:xfrm>
              <a:off x="3515" y="2115"/>
              <a:ext cx="0" cy="181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40"/>
            <p:cNvSpPr>
              <a:spLocks noChangeShapeType="1"/>
            </p:cNvSpPr>
            <p:nvPr/>
          </p:nvSpPr>
          <p:spPr bwMode="auto">
            <a:xfrm>
              <a:off x="3515" y="2478"/>
              <a:ext cx="0" cy="181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41"/>
            <p:cNvSpPr>
              <a:spLocks noChangeShapeType="1"/>
            </p:cNvSpPr>
            <p:nvPr/>
          </p:nvSpPr>
          <p:spPr bwMode="auto">
            <a:xfrm flipH="1">
              <a:off x="2925" y="2387"/>
              <a:ext cx="49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42"/>
            <p:cNvSpPr>
              <a:spLocks noChangeShapeType="1"/>
            </p:cNvSpPr>
            <p:nvPr/>
          </p:nvSpPr>
          <p:spPr bwMode="auto">
            <a:xfrm flipV="1">
              <a:off x="2925" y="1344"/>
              <a:ext cx="0" cy="104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Line 43"/>
            <p:cNvSpPr>
              <a:spLocks noChangeShapeType="1"/>
            </p:cNvSpPr>
            <p:nvPr/>
          </p:nvSpPr>
          <p:spPr bwMode="auto">
            <a:xfrm>
              <a:off x="2925" y="1344"/>
              <a:ext cx="59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18" name="Line 53"/>
          <p:cNvSpPr>
            <a:spLocks noChangeShapeType="1"/>
          </p:cNvSpPr>
          <p:nvPr/>
        </p:nvSpPr>
        <p:spPr bwMode="auto">
          <a:xfrm>
            <a:off x="684213" y="4941888"/>
            <a:ext cx="10080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" name="Line 54"/>
          <p:cNvSpPr>
            <a:spLocks noChangeShapeType="1"/>
          </p:cNvSpPr>
          <p:nvPr/>
        </p:nvSpPr>
        <p:spPr bwMode="auto">
          <a:xfrm flipH="1">
            <a:off x="684213" y="5229225"/>
            <a:ext cx="10080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0" name="Line 55"/>
          <p:cNvSpPr>
            <a:spLocks noChangeShapeType="1"/>
          </p:cNvSpPr>
          <p:nvPr/>
        </p:nvSpPr>
        <p:spPr bwMode="auto">
          <a:xfrm>
            <a:off x="971550" y="5445125"/>
            <a:ext cx="0" cy="7921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1" name="Line 56"/>
          <p:cNvSpPr>
            <a:spLocks noChangeShapeType="1"/>
          </p:cNvSpPr>
          <p:nvPr/>
        </p:nvSpPr>
        <p:spPr bwMode="auto">
          <a:xfrm flipV="1">
            <a:off x="1187450" y="5445125"/>
            <a:ext cx="0" cy="7921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99175239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4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179687"/>
              </p:ext>
            </p:extLst>
          </p:nvPr>
        </p:nvGraphicFramePr>
        <p:xfrm>
          <a:off x="179388" y="1341438"/>
          <a:ext cx="8785225" cy="5285184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0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จุดต่อเนื่องในหน้าเดียวกัน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(In-Page connector)</a:t>
                      </a: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หลังจากพิมพ์ค่า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 </a:t>
                      </a:r>
                      <a:endParaRPr kumimoji="0" lang="th-TH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แล้วให้ทำตามที่จุด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ต่อเนื่อง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 </a:t>
                      </a: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ซึ่งอยู่ใน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หน้าเดียวกัน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2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จุดต่อเนื่องที่อยู่คนละหน้า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(Off-Page Connector)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หลังจากกำหนดค่า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เท่ากับ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3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ให้ทำตาม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จุดต่อเนื่องชื่อ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ซึ่ง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ไม่ได้อยู่ในหน้า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เดียวกัน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val 27"/>
          <p:cNvSpPr>
            <a:spLocks noChangeArrowheads="1"/>
          </p:cNvSpPr>
          <p:nvPr/>
        </p:nvSpPr>
        <p:spPr bwMode="auto">
          <a:xfrm>
            <a:off x="755650" y="2420938"/>
            <a:ext cx="503238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Oval 30"/>
          <p:cNvSpPr>
            <a:spLocks noChangeArrowheads="1"/>
          </p:cNvSpPr>
          <p:nvPr/>
        </p:nvSpPr>
        <p:spPr bwMode="auto">
          <a:xfrm>
            <a:off x="5219700" y="3284538"/>
            <a:ext cx="431800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A</a:t>
            </a:r>
          </a:p>
        </p:txBody>
      </p:sp>
      <p:sp>
        <p:nvSpPr>
          <p:cNvPr id="8" name="AutoShape 32"/>
          <p:cNvSpPr>
            <a:spLocks noChangeArrowheads="1"/>
          </p:cNvSpPr>
          <p:nvPr/>
        </p:nvSpPr>
        <p:spPr bwMode="auto">
          <a:xfrm>
            <a:off x="4716463" y="2205038"/>
            <a:ext cx="1512887" cy="719137"/>
          </a:xfrm>
          <a:prstGeom prst="flowChartDocument">
            <a:avLst/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Verdana" pitchFamily="34" charset="0"/>
              </a:rPr>
              <a:t>write A</a:t>
            </a:r>
          </a:p>
        </p:txBody>
      </p:sp>
      <p:sp>
        <p:nvSpPr>
          <p:cNvPr id="9" name="Line 33"/>
          <p:cNvSpPr>
            <a:spLocks noChangeShapeType="1"/>
          </p:cNvSpPr>
          <p:nvPr/>
        </p:nvSpPr>
        <p:spPr bwMode="auto">
          <a:xfrm>
            <a:off x="5435600" y="29241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AutoShape 39"/>
          <p:cNvSpPr>
            <a:spLocks noChangeArrowheads="1"/>
          </p:cNvSpPr>
          <p:nvPr/>
        </p:nvSpPr>
        <p:spPr bwMode="auto">
          <a:xfrm>
            <a:off x="827088" y="4724400"/>
            <a:ext cx="576262" cy="576263"/>
          </a:xfrm>
          <a:prstGeom prst="flowChartOffpageConnector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1" name="Rectangle 40"/>
          <p:cNvSpPr>
            <a:spLocks noChangeArrowheads="1"/>
          </p:cNvSpPr>
          <p:nvPr/>
        </p:nvSpPr>
        <p:spPr bwMode="auto">
          <a:xfrm>
            <a:off x="4716463" y="4294188"/>
            <a:ext cx="1584325" cy="719137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A = 3</a:t>
            </a:r>
          </a:p>
        </p:txBody>
      </p:sp>
      <p:sp>
        <p:nvSpPr>
          <p:cNvPr id="12" name="Line 41"/>
          <p:cNvSpPr>
            <a:spLocks noChangeShapeType="1"/>
          </p:cNvSpPr>
          <p:nvPr/>
        </p:nvSpPr>
        <p:spPr bwMode="auto">
          <a:xfrm>
            <a:off x="5508625" y="501332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AutoShape 42"/>
          <p:cNvSpPr>
            <a:spLocks noChangeArrowheads="1"/>
          </p:cNvSpPr>
          <p:nvPr/>
        </p:nvSpPr>
        <p:spPr bwMode="auto">
          <a:xfrm>
            <a:off x="5219700" y="5373688"/>
            <a:ext cx="504825" cy="431800"/>
          </a:xfrm>
          <a:prstGeom prst="flowChartOffpageConnector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9211290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4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111500"/>
              </p:ext>
            </p:extLst>
          </p:nvPr>
        </p:nvGraphicFramePr>
        <p:xfrm>
          <a:off x="179388" y="1268413"/>
          <a:ext cx="8785225" cy="5141925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การรับหรือแสดงข้อมูลโดยใช้บัตรเจาะรู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(Punch card)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อ่านค่า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A </a:t>
                      </a: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ที่บัตรเจาะรู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 </a:t>
                      </a: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ใบ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เจาะค่า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B,C </a:t>
                      </a: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บนบัตร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1 </a:t>
                      </a: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ใบ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ชุดของบัตรเจาะรู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(Card Desk)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เจาะค่า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B1 , B2 ,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Bn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</a:t>
                      </a: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บนบัตร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n </a:t>
                      </a: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ใบ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AutoShape 31"/>
          <p:cNvSpPr>
            <a:spLocks noChangeArrowheads="1"/>
          </p:cNvSpPr>
          <p:nvPr/>
        </p:nvSpPr>
        <p:spPr bwMode="auto">
          <a:xfrm>
            <a:off x="323850" y="2492375"/>
            <a:ext cx="1584325" cy="649288"/>
          </a:xfrm>
          <a:prstGeom prst="flowChartPunchedCard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AutoShape 34"/>
          <p:cNvSpPr>
            <a:spLocks noChangeArrowheads="1"/>
          </p:cNvSpPr>
          <p:nvPr/>
        </p:nvSpPr>
        <p:spPr bwMode="auto">
          <a:xfrm>
            <a:off x="4716463" y="2133600"/>
            <a:ext cx="1584325" cy="649288"/>
          </a:xfrm>
          <a:prstGeom prst="flowChartPunchedCard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read  A</a:t>
            </a:r>
          </a:p>
        </p:txBody>
      </p:sp>
      <p:sp>
        <p:nvSpPr>
          <p:cNvPr id="8" name="AutoShape 36"/>
          <p:cNvSpPr>
            <a:spLocks noChangeArrowheads="1"/>
          </p:cNvSpPr>
          <p:nvPr/>
        </p:nvSpPr>
        <p:spPr bwMode="auto">
          <a:xfrm>
            <a:off x="4716463" y="2997200"/>
            <a:ext cx="1584325" cy="649288"/>
          </a:xfrm>
          <a:prstGeom prst="flowChartPunchedCard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punch B , C</a:t>
            </a:r>
          </a:p>
        </p:txBody>
      </p:sp>
      <p:grpSp>
        <p:nvGrpSpPr>
          <p:cNvPr id="9" name="Group 55"/>
          <p:cNvGrpSpPr>
            <a:grpSpLocks/>
          </p:cNvGrpSpPr>
          <p:nvPr/>
        </p:nvGrpSpPr>
        <p:grpSpPr bwMode="auto">
          <a:xfrm>
            <a:off x="323850" y="4724400"/>
            <a:ext cx="1727200" cy="792163"/>
            <a:chOff x="204" y="2976"/>
            <a:chExt cx="1088" cy="499"/>
          </a:xfrm>
        </p:grpSpPr>
        <p:sp>
          <p:nvSpPr>
            <p:cNvPr id="10" name="AutoShape 41"/>
            <p:cNvSpPr>
              <a:spLocks noChangeArrowheads="1"/>
            </p:cNvSpPr>
            <p:nvPr/>
          </p:nvSpPr>
          <p:spPr bwMode="auto">
            <a:xfrm>
              <a:off x="204" y="3067"/>
              <a:ext cx="998" cy="408"/>
            </a:xfrm>
            <a:prstGeom prst="flowChartPunchedCard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</a:sp3d>
          </p:spPr>
          <p:txBody>
            <a:bodyPr wrap="none" anchor="ctr">
              <a:flatTx/>
            </a:bodyPr>
            <a:lstStyle/>
            <a:p>
              <a:endParaRPr lang="th-TH"/>
            </a:p>
          </p:txBody>
        </p:sp>
        <p:sp>
          <p:nvSpPr>
            <p:cNvPr id="11" name="Line 42"/>
            <p:cNvSpPr>
              <a:spLocks noChangeShapeType="1"/>
            </p:cNvSpPr>
            <p:nvPr/>
          </p:nvSpPr>
          <p:spPr bwMode="auto">
            <a:xfrm flipV="1">
              <a:off x="204" y="3067"/>
              <a:ext cx="18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Line 43"/>
            <p:cNvSpPr>
              <a:spLocks noChangeShapeType="1"/>
            </p:cNvSpPr>
            <p:nvPr/>
          </p:nvSpPr>
          <p:spPr bwMode="auto">
            <a:xfrm>
              <a:off x="204" y="3158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Line 44"/>
            <p:cNvSpPr>
              <a:spLocks noChangeShapeType="1"/>
            </p:cNvSpPr>
            <p:nvPr/>
          </p:nvSpPr>
          <p:spPr bwMode="auto">
            <a:xfrm>
              <a:off x="204" y="3475"/>
              <a:ext cx="9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45"/>
            <p:cNvSpPr>
              <a:spLocks noChangeShapeType="1"/>
            </p:cNvSpPr>
            <p:nvPr/>
          </p:nvSpPr>
          <p:spPr bwMode="auto">
            <a:xfrm>
              <a:off x="385" y="3067"/>
              <a:ext cx="8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46"/>
            <p:cNvSpPr>
              <a:spLocks noChangeShapeType="1"/>
            </p:cNvSpPr>
            <p:nvPr/>
          </p:nvSpPr>
          <p:spPr bwMode="auto">
            <a:xfrm>
              <a:off x="1202" y="3067"/>
              <a:ext cx="0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47"/>
            <p:cNvSpPr>
              <a:spLocks noChangeShapeType="1"/>
            </p:cNvSpPr>
            <p:nvPr/>
          </p:nvSpPr>
          <p:spPr bwMode="auto">
            <a:xfrm flipV="1">
              <a:off x="1202" y="2976"/>
              <a:ext cx="9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Line 48"/>
            <p:cNvSpPr>
              <a:spLocks noChangeShapeType="1"/>
            </p:cNvSpPr>
            <p:nvPr/>
          </p:nvSpPr>
          <p:spPr bwMode="auto">
            <a:xfrm>
              <a:off x="1292" y="2976"/>
              <a:ext cx="0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Line 49"/>
            <p:cNvSpPr>
              <a:spLocks noChangeShapeType="1"/>
            </p:cNvSpPr>
            <p:nvPr/>
          </p:nvSpPr>
          <p:spPr bwMode="auto">
            <a:xfrm flipV="1">
              <a:off x="1202" y="3385"/>
              <a:ext cx="9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9" name="Line 50"/>
            <p:cNvSpPr>
              <a:spLocks noChangeShapeType="1"/>
            </p:cNvSpPr>
            <p:nvPr/>
          </p:nvSpPr>
          <p:spPr bwMode="auto">
            <a:xfrm>
              <a:off x="476" y="297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0" name="Line 51"/>
            <p:cNvSpPr>
              <a:spLocks noChangeShapeType="1"/>
            </p:cNvSpPr>
            <p:nvPr/>
          </p:nvSpPr>
          <p:spPr bwMode="auto">
            <a:xfrm flipV="1">
              <a:off x="295" y="2976"/>
              <a:ext cx="18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Line 52"/>
            <p:cNvSpPr>
              <a:spLocks noChangeShapeType="1"/>
            </p:cNvSpPr>
            <p:nvPr/>
          </p:nvSpPr>
          <p:spPr bwMode="auto">
            <a:xfrm flipH="1">
              <a:off x="204" y="3067"/>
              <a:ext cx="9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Line 53"/>
            <p:cNvSpPr>
              <a:spLocks noChangeShapeType="1"/>
            </p:cNvSpPr>
            <p:nvPr/>
          </p:nvSpPr>
          <p:spPr bwMode="auto">
            <a:xfrm flipH="1">
              <a:off x="385" y="2976"/>
              <a:ext cx="9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23" name="Group 73"/>
          <p:cNvGrpSpPr>
            <a:grpSpLocks/>
          </p:cNvGrpSpPr>
          <p:nvPr/>
        </p:nvGrpSpPr>
        <p:grpSpPr bwMode="auto">
          <a:xfrm>
            <a:off x="4572000" y="4437063"/>
            <a:ext cx="1800225" cy="1301750"/>
            <a:chOff x="2880" y="2795"/>
            <a:chExt cx="1134" cy="820"/>
          </a:xfrm>
        </p:grpSpPr>
        <p:sp>
          <p:nvSpPr>
            <p:cNvPr id="24" name="AutoShape 57"/>
            <p:cNvSpPr>
              <a:spLocks noChangeArrowheads="1"/>
            </p:cNvSpPr>
            <p:nvPr/>
          </p:nvSpPr>
          <p:spPr bwMode="auto">
            <a:xfrm>
              <a:off x="2880" y="2886"/>
              <a:ext cx="1040" cy="726"/>
            </a:xfrm>
            <a:prstGeom prst="flowChartPunchedCard">
              <a:avLst/>
            </a:prstGeom>
            <a:solidFill>
              <a:srgbClr val="FFFF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00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r>
                <a:rPr lang="en-US" sz="2000">
                  <a:latin typeface="Verdana" pitchFamily="34" charset="0"/>
                </a:rPr>
                <a:t>punch </a:t>
              </a:r>
            </a:p>
            <a:p>
              <a:pPr algn="ctr"/>
              <a:r>
                <a:rPr lang="en-US" sz="2000">
                  <a:latin typeface="Verdana" pitchFamily="34" charset="0"/>
                </a:rPr>
                <a:t>bi b=1 ,</a:t>
              </a:r>
            </a:p>
            <a:p>
              <a:pPr algn="ctr"/>
              <a:r>
                <a:rPr lang="en-US" sz="2000">
                  <a:latin typeface="Times New Roman" pitchFamily="18" charset="0"/>
                </a:rPr>
                <a:t>…</a:t>
              </a:r>
              <a:r>
                <a:rPr lang="en-US" sz="2000">
                  <a:latin typeface="Verdana" pitchFamily="34" charset="0"/>
                </a:rPr>
                <a:t>n</a:t>
              </a:r>
              <a:endParaRPr lang="th-TH" sz="2000">
                <a:latin typeface="Verdana" pitchFamily="34" charset="0"/>
              </a:endParaRPr>
            </a:p>
          </p:txBody>
        </p:sp>
        <p:sp>
          <p:nvSpPr>
            <p:cNvPr id="25" name="Line 59"/>
            <p:cNvSpPr>
              <a:spLocks noChangeShapeType="1"/>
            </p:cNvSpPr>
            <p:nvPr/>
          </p:nvSpPr>
          <p:spPr bwMode="auto">
            <a:xfrm>
              <a:off x="2880" y="3022"/>
              <a:ext cx="0" cy="5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Line 60"/>
            <p:cNvSpPr>
              <a:spLocks noChangeShapeType="1"/>
            </p:cNvSpPr>
            <p:nvPr/>
          </p:nvSpPr>
          <p:spPr bwMode="auto">
            <a:xfrm>
              <a:off x="2880" y="3612"/>
              <a:ext cx="10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7" name="Line 61"/>
            <p:cNvSpPr>
              <a:spLocks noChangeShapeType="1"/>
            </p:cNvSpPr>
            <p:nvPr/>
          </p:nvSpPr>
          <p:spPr bwMode="auto">
            <a:xfrm>
              <a:off x="3061" y="2886"/>
              <a:ext cx="85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8" name="Line 62"/>
            <p:cNvSpPr>
              <a:spLocks noChangeShapeType="1"/>
            </p:cNvSpPr>
            <p:nvPr/>
          </p:nvSpPr>
          <p:spPr bwMode="auto">
            <a:xfrm>
              <a:off x="3920" y="2907"/>
              <a:ext cx="0" cy="7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Line 63"/>
            <p:cNvSpPr>
              <a:spLocks noChangeShapeType="1"/>
            </p:cNvSpPr>
            <p:nvPr/>
          </p:nvSpPr>
          <p:spPr bwMode="auto">
            <a:xfrm flipV="1">
              <a:off x="3923" y="2795"/>
              <a:ext cx="91" cy="1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0" name="Line 64"/>
            <p:cNvSpPr>
              <a:spLocks noChangeShapeType="1"/>
            </p:cNvSpPr>
            <p:nvPr/>
          </p:nvSpPr>
          <p:spPr bwMode="auto">
            <a:xfrm>
              <a:off x="4014" y="2795"/>
              <a:ext cx="0" cy="7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1" name="Line 65"/>
            <p:cNvSpPr>
              <a:spLocks noChangeShapeType="1"/>
            </p:cNvSpPr>
            <p:nvPr/>
          </p:nvSpPr>
          <p:spPr bwMode="auto">
            <a:xfrm flipV="1">
              <a:off x="3923" y="3521"/>
              <a:ext cx="9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Line 66"/>
            <p:cNvSpPr>
              <a:spLocks noChangeShapeType="1"/>
            </p:cNvSpPr>
            <p:nvPr/>
          </p:nvSpPr>
          <p:spPr bwMode="auto">
            <a:xfrm>
              <a:off x="3152" y="2795"/>
              <a:ext cx="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3" name="Line 71"/>
            <p:cNvSpPr>
              <a:spLocks noChangeShapeType="1"/>
            </p:cNvSpPr>
            <p:nvPr/>
          </p:nvSpPr>
          <p:spPr bwMode="auto">
            <a:xfrm flipV="1">
              <a:off x="2880" y="2886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" name="Line 72"/>
            <p:cNvSpPr>
              <a:spLocks noChangeShapeType="1"/>
            </p:cNvSpPr>
            <p:nvPr/>
          </p:nvSpPr>
          <p:spPr bwMode="auto">
            <a:xfrm flipV="1">
              <a:off x="3061" y="2795"/>
              <a:ext cx="91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910476207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8708204"/>
              </p:ext>
            </p:extLst>
          </p:nvPr>
        </p:nvGraphicFramePr>
        <p:xfrm>
          <a:off x="179388" y="1341438"/>
          <a:ext cx="8785225" cy="4972051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การรับหรือแสดงข้อมูลโดยใช้เทปกระดาษ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(Punched tape)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อ่านค่า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ID , name 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บนเทปกระดาษ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การรับหรือแสดงข้อมูลโดยใช้เทปแม่เหล็กเป็นสื่อ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</a:t>
                      </a:r>
                      <a:r>
                        <a:rPr kumimoji="0" lang="en-US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Magnatic</a:t>
                      </a: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tape)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AutoShape 31"/>
          <p:cNvSpPr>
            <a:spLocks noChangeArrowheads="1"/>
          </p:cNvSpPr>
          <p:nvPr/>
        </p:nvSpPr>
        <p:spPr bwMode="auto">
          <a:xfrm>
            <a:off x="323850" y="2565400"/>
            <a:ext cx="1584325" cy="647700"/>
          </a:xfrm>
          <a:prstGeom prst="flowChartPunchedTape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AutoShape 34"/>
          <p:cNvSpPr>
            <a:spLocks noChangeArrowheads="1"/>
          </p:cNvSpPr>
          <p:nvPr/>
        </p:nvSpPr>
        <p:spPr bwMode="auto">
          <a:xfrm>
            <a:off x="4716463" y="2492375"/>
            <a:ext cx="1584325" cy="792163"/>
          </a:xfrm>
          <a:prstGeom prst="flowChartPunchedTape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read ID , </a:t>
            </a:r>
          </a:p>
          <a:p>
            <a:pPr algn="ctr"/>
            <a:r>
              <a:rPr lang="en-US" sz="2000">
                <a:latin typeface="Verdana" pitchFamily="34" charset="0"/>
              </a:rPr>
              <a:t>name</a:t>
            </a:r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39750" y="4581525"/>
            <a:ext cx="1152525" cy="863600"/>
            <a:chOff x="340" y="2886"/>
            <a:chExt cx="726" cy="544"/>
          </a:xfrm>
        </p:grpSpPr>
        <p:sp>
          <p:nvSpPr>
            <p:cNvPr id="9" name="Oval 36"/>
            <p:cNvSpPr>
              <a:spLocks noChangeArrowheads="1"/>
            </p:cNvSpPr>
            <p:nvPr/>
          </p:nvSpPr>
          <p:spPr bwMode="auto">
            <a:xfrm>
              <a:off x="340" y="2886"/>
              <a:ext cx="544" cy="544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" name="Line 37"/>
            <p:cNvSpPr>
              <a:spLocks noChangeShapeType="1"/>
            </p:cNvSpPr>
            <p:nvPr/>
          </p:nvSpPr>
          <p:spPr bwMode="auto">
            <a:xfrm>
              <a:off x="612" y="3430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776186663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3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36238"/>
              </p:ext>
            </p:extLst>
          </p:nvPr>
        </p:nvGraphicFramePr>
        <p:xfrm>
          <a:off x="179388" y="1341438"/>
          <a:ext cx="8785225" cy="5346515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9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การรับหรือแสดงข้อมูลโดยใช้จานแม่เหล็กเป็นสื่อ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(Magnatic disk)</a:t>
                      </a: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การรับหรือแสดงข้อมูลโดย</a:t>
                      </a:r>
                      <a:r>
                        <a:rPr kumimoji="0" lang="th-TH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ใช้ดรัม</a:t>
                      </a: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แม่เหล็กเป็นสื่อ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</a:t>
                      </a:r>
                      <a:r>
                        <a:rPr kumimoji="0" lang="en-US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Magnatic</a:t>
                      </a: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 drum)</a:t>
                      </a: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AutoShape 30"/>
          <p:cNvSpPr>
            <a:spLocks noChangeArrowheads="1"/>
          </p:cNvSpPr>
          <p:nvPr/>
        </p:nvSpPr>
        <p:spPr bwMode="auto">
          <a:xfrm>
            <a:off x="684213" y="2349500"/>
            <a:ext cx="865187" cy="1079500"/>
          </a:xfrm>
          <a:prstGeom prst="flowChartMagneticDisk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AutoShape 33"/>
          <p:cNvSpPr>
            <a:spLocks noChangeArrowheads="1"/>
          </p:cNvSpPr>
          <p:nvPr/>
        </p:nvSpPr>
        <p:spPr bwMode="auto">
          <a:xfrm>
            <a:off x="539750" y="4652963"/>
            <a:ext cx="1223963" cy="792162"/>
          </a:xfrm>
          <a:prstGeom prst="flowChartMagneticDrum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00899049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5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902997"/>
              </p:ext>
            </p:extLst>
          </p:nvPr>
        </p:nvGraphicFramePr>
        <p:xfrm>
          <a:off x="179388" y="1120714"/>
          <a:ext cx="8785225" cy="5627108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9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การทำงานที่กำหนดไว้แล้ว เช่น โปรแกรมย่อย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(Predefine Process)</a:t>
                      </a:r>
                      <a:endParaRPr kumimoji="0" lang="th-TH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เรียกโปรแกรม</a:t>
                      </a: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ย่อยชื่อ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findGrade </a:t>
                      </a:r>
                      <a:endParaRPr kumimoji="0" lang="th-TH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ให้ทำงาน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7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การควบคุมการทำงานด้วยมนุษย์ บางครั้งเรียกการทำงานแบบออฟไลน์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(Offline Processing)</a:t>
                      </a: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AutoShape 40"/>
          <p:cNvSpPr>
            <a:spLocks noChangeArrowheads="1"/>
          </p:cNvSpPr>
          <p:nvPr/>
        </p:nvSpPr>
        <p:spPr bwMode="auto">
          <a:xfrm>
            <a:off x="468313" y="2055751"/>
            <a:ext cx="1366837" cy="792163"/>
          </a:xfrm>
          <a:prstGeom prst="flowChartPredefinedProcess">
            <a:avLst/>
          </a:prstGeom>
          <a:solidFill>
            <a:srgbClr val="9B4B6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AutoShape 45"/>
          <p:cNvSpPr>
            <a:spLocks noChangeArrowheads="1"/>
          </p:cNvSpPr>
          <p:nvPr/>
        </p:nvSpPr>
        <p:spPr bwMode="auto">
          <a:xfrm>
            <a:off x="4859338" y="2055751"/>
            <a:ext cx="1584325" cy="792163"/>
          </a:xfrm>
          <a:prstGeom prst="flowChartPredefinedProcess">
            <a:avLst/>
          </a:prstGeom>
          <a:solidFill>
            <a:srgbClr val="9B4B6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findGrade</a:t>
            </a:r>
          </a:p>
        </p:txBody>
      </p:sp>
      <p:sp>
        <p:nvSpPr>
          <p:cNvPr id="8" name="AutoShape 55"/>
          <p:cNvSpPr>
            <a:spLocks noChangeArrowheads="1"/>
          </p:cNvSpPr>
          <p:nvPr/>
        </p:nvSpPr>
        <p:spPr bwMode="auto">
          <a:xfrm>
            <a:off x="468313" y="4144901"/>
            <a:ext cx="1368425" cy="792163"/>
          </a:xfrm>
          <a:prstGeom prst="flowChartManualOperation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278239"/>
      </p:ext>
    </p:extLst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353703"/>
              </p:ext>
            </p:extLst>
          </p:nvPr>
        </p:nvGraphicFramePr>
        <p:xfrm>
          <a:off x="179388" y="1341438"/>
          <a:ext cx="8785225" cy="5191124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การทำงานแบบออฟไลน์ของอุปกรณ์ที่ไม่ได้ถูกควบคุมจากหน่วยประมวลผลกลางโดยตรง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(Auxiliary Operation)</a:t>
                      </a:r>
                      <a:endParaRPr kumimoji="0" lang="th-TH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2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การจัดเรียงลำดับข้อมูล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(Sorting)</a:t>
                      </a:r>
                      <a:endParaRPr kumimoji="0" lang="th-TH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28"/>
          <p:cNvSpPr>
            <a:spLocks noChangeArrowheads="1"/>
          </p:cNvSpPr>
          <p:nvPr/>
        </p:nvSpPr>
        <p:spPr bwMode="auto">
          <a:xfrm>
            <a:off x="684213" y="2420938"/>
            <a:ext cx="865187" cy="8651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" name="AutoShape 38"/>
          <p:cNvSpPr>
            <a:spLocks noChangeArrowheads="1"/>
          </p:cNvSpPr>
          <p:nvPr/>
        </p:nvSpPr>
        <p:spPr bwMode="auto">
          <a:xfrm>
            <a:off x="755650" y="4797425"/>
            <a:ext cx="720725" cy="935038"/>
          </a:xfrm>
          <a:prstGeom prst="flowChartSort">
            <a:avLst/>
          </a:prstGeom>
          <a:solidFill>
            <a:srgbClr val="D6009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90308601"/>
      </p:ext>
    </p:extLst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สัญลักษณ์การเขียนผังงาน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79697"/>
              </p:ext>
            </p:extLst>
          </p:nvPr>
        </p:nvGraphicFramePr>
        <p:xfrm>
          <a:off x="179388" y="1341438"/>
          <a:ext cx="8785225" cy="2462700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สัญลักษณ์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ความหมาย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ตัวอย่างการใช้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คำอธิบาย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การส่งข้อมูลทางสายสื่อสาร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H SarabunPSK" pitchFamily="34" charset="-34"/>
                          <a:cs typeface="TH SarabunPSK" pitchFamily="34" charset="-34"/>
                        </a:rPr>
                        <a:t>(Communication Link)</a:t>
                      </a: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09600" marR="0" lvl="0" indent="-609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H SarabunPSK" pitchFamily="34" charset="-34"/>
                        <a:cs typeface="TH SarabunPSK" pitchFamily="34" charset="-34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395288" y="2708275"/>
            <a:ext cx="1512887" cy="358775"/>
            <a:chOff x="385" y="3748"/>
            <a:chExt cx="953" cy="226"/>
          </a:xfrm>
        </p:grpSpPr>
        <p:sp>
          <p:nvSpPr>
            <p:cNvPr id="7" name="Line 28"/>
            <p:cNvSpPr>
              <a:spLocks noChangeShapeType="1"/>
            </p:cNvSpPr>
            <p:nvPr/>
          </p:nvSpPr>
          <p:spPr bwMode="auto">
            <a:xfrm>
              <a:off x="385" y="3884"/>
              <a:ext cx="590" cy="9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Line 29"/>
            <p:cNvSpPr>
              <a:spLocks noChangeShapeType="1"/>
            </p:cNvSpPr>
            <p:nvPr/>
          </p:nvSpPr>
          <p:spPr bwMode="auto">
            <a:xfrm flipH="1" flipV="1">
              <a:off x="793" y="3748"/>
              <a:ext cx="182" cy="22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Line 30"/>
            <p:cNvSpPr>
              <a:spLocks noChangeShapeType="1"/>
            </p:cNvSpPr>
            <p:nvPr/>
          </p:nvSpPr>
          <p:spPr bwMode="auto">
            <a:xfrm>
              <a:off x="793" y="3748"/>
              <a:ext cx="545" cy="9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370868841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หลักเกณฑ์ทั่วไปในการเขียนผังงาน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96752"/>
            <a:ext cx="77048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1. จะต้องเขียนโดยใช้สัญลักษณ์ต่าง ๆ ที่ถูกต้องตามมาตรฐานที่กำหนดไว้</a:t>
            </a: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2. สัญลักษณ์หรือภาพหนึ่งจะต้องแทนหนึ่งคำสั่งเท่านั้น</a:t>
            </a: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3. ควรเขียนผังงานให้จบภายในหน้าเดียว ถ้าเขียนมากกว่าหนึ่งหน้าต้องใช้สัญลักษณ์ในการเชื่อมต่อจุดระหว่างหน้า</a:t>
            </a:r>
          </a:p>
          <a:p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4. การใช้สัญลักษณ์จุดเริ่มต้นและจุดสิ้นสุด จะต้องมีเพียงอย่างละหนึ่งแห่งเท่านั้น ยกเว้นการเขียนในลักษณะเพิ่มเติมที่เป็นโมดูล 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Module)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หรือโปรแกรมย่อย (</a:t>
            </a:r>
            <a:r>
              <a:rPr lang="en-US" sz="3000" b="1" dirty="0">
                <a:latin typeface="TH SarabunPSK" pitchFamily="34" charset="-34"/>
                <a:cs typeface="TH SarabunPSK" pitchFamily="34" charset="-34"/>
              </a:rPr>
              <a:t>Subprogram) </a:t>
            </a: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ซึ่งเป็นส่วนหนึ่งของผังงาน 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จึงจะสามารถสร้างขึ้นมาใหม่เพื่อเป็นจุดบอกการเริ่มต้นและสิ้นสุด</a:t>
            </a:r>
            <a:br>
              <a:rPr lang="th-TH" sz="30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000" b="1" dirty="0">
                <a:latin typeface="TH SarabunPSK" pitchFamily="34" charset="-34"/>
                <a:cs typeface="TH SarabunPSK" pitchFamily="34" charset="-34"/>
              </a:rPr>
              <a:t>              ของโมดูลหรือโปรแกรมย่อยนั้น ๆ</a:t>
            </a:r>
          </a:p>
        </p:txBody>
      </p:sp>
    </p:spTree>
    <p:extLst>
      <p:ext uri="{BB962C8B-B14F-4D97-AF65-F5344CB8AC3E}">
        <p14:creationId xmlns:p14="http://schemas.microsoft.com/office/powerpoint/2010/main" val="4173995917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หลักเกณฑ์ทั่วไปในการเขียนผังงาน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196752"/>
            <a:ext cx="7704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5. ทุกสัญลักษณ์ที่เขียนจะต้องมีทิศทางเข้าและออกเพียงหนึ่งแห่งเท่านั้น ยกเว้นสัญลักษณ์ จุดเริ่มต้น จุดต่อ จุดสิ้นสุด และทางเลือก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ในการตัดสินใจ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6. การเขียนอธิบายขั้นตอนการทำงานโดยเรียงลำดับก่อนหลัง ดังนี้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(1) กำหนดค่าเริ่มต้นให้กับตัวแปร</a:t>
            </a: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(2) Input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คือ การรับข้อมูลเข้า</a:t>
            </a: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(3) Process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คือ ขั้นตอนการประมวลผลหรือคำนวณ</a:t>
            </a: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         (4) Output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คือ การแสดงผลลัพธ์หรือค่าตัวแปรที่ได้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จากการประมวลผล</a:t>
            </a:r>
          </a:p>
        </p:txBody>
      </p:sp>
    </p:spTree>
    <p:extLst>
      <p:ext uri="{BB962C8B-B14F-4D97-AF65-F5344CB8AC3E}">
        <p14:creationId xmlns:p14="http://schemas.microsoft.com/office/powerpoint/2010/main" val="1691007924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หลักเกณฑ์ทั่วไปในการเขียนผังงาน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196752"/>
            <a:ext cx="7704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7. ทิศทางการเขียนผังงาน ควรเรียงลำดับจากบนลงล่างหรือจากซ้ายไปขวาเท่านั้น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8. ไม่ควรเขียนขั้นตอนการทางานแบบข้ามลำดับ สลับไปมาแบบยุ่งยาก และไม่มีเส้นทิศทางโยงไปมาตัดกัน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9. ควรมีการทดสอบผังงานก่อนที่จะนำไปเขียนโปรแกรม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10. ควรเขียนหัวลูกศรกำกับทิศทางการไหลของข้อมูลเสมอ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11. ไม่ควรปล่อยทิ้งเส้นการไหลของข้อมูล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Flo Line)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เอาไว้เฉย ๆ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โดยไม่ได้มีการเชื่อมต่อระหว่างขั้นตอนหนึ่ง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            ไปสู่อีกขั้นตอนหนึ่ง</a:t>
            </a:r>
          </a:p>
        </p:txBody>
      </p:sp>
    </p:spTree>
    <p:extLst>
      <p:ext uri="{BB962C8B-B14F-4D97-AF65-F5344CB8AC3E}">
        <p14:creationId xmlns:p14="http://schemas.microsoft.com/office/powerpoint/2010/main" val="1196259013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หลักเกณฑ์ทั่วไปในการเขียนผังงาน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96752"/>
            <a:ext cx="77048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12. คำอธิบายภายในผังงานควรเขียนด้วยข้อความที่สั้นๆ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และเข้าใจง่าย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13. ในบางกรณีอาจใช้สัญลักษณ์หมายเหตุ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Remark)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เพื่ออธิบายส่วนของผังงานเพิ่มเติมเพื่อความเข้าใจ และอธิบายกระบวนการ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ต่าง ๆ ของอัลกอริทึมที่ได้ออกแบบเอาไว้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14. ควรเขียนชื่อผังงาน ชื่อผู้เขียน วันที่เขียน และหมายเลขหน้า รวมทั้งเขียนผังงานให้สะอาด เรียบร้อย</a:t>
            </a:r>
          </a:p>
        </p:txBody>
      </p:sp>
    </p:spTree>
    <p:extLst>
      <p:ext uri="{BB962C8B-B14F-4D97-AF65-F5344CB8AC3E}">
        <p14:creationId xmlns:p14="http://schemas.microsoft.com/office/powerpoint/2010/main" val="2083570319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 หลักเกณฑ์ทั่วไปในการเขียนผังงาน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196752"/>
            <a:ext cx="77048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12. คำอธิบายภายในผังงานควรเขียนด้วยข้อความที่สั้นๆ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และเข้าใจง่าย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13. ในบางกรณีอาจใช้สัญลักษณ์หมายเหตุ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Remark)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เพื่ออธิบายส่วนของผังงานเพิ่มเติมเพื่อความเข้าใจ และอธิบายกระบวนการ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ต่าง ๆ ของอัลกอริทึมที่ได้ออกแบบเอาไว้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14. ควรเขียนชื่อผังงาน ชื่อผู้เขียน วันที่เขียน และหมายเลขหน้า รวมทั้งเขียนผังงานให้สะอาด เรียบร้อย</a:t>
            </a:r>
          </a:p>
        </p:txBody>
      </p:sp>
    </p:spTree>
    <p:extLst>
      <p:ext uri="{BB962C8B-B14F-4D97-AF65-F5344CB8AC3E}">
        <p14:creationId xmlns:p14="http://schemas.microsoft.com/office/powerpoint/2010/main" val="3336303200"/>
      </p:ext>
    </p:extLst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ลักษณะโครงสร้างในการเขียนผังงาน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43609" y="1341438"/>
            <a:ext cx="6840760" cy="302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แบบตามลำดับ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(Sequence)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แบบการเลือก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/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ตัดสินใจ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/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เงื่อนไข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(Selection/Decision/Condition)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แบบวนซ้ำ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(Iteration / Loop)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08054086"/>
      </p:ext>
    </p:extLst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ลักษณะโครงสร้างในการเขียนผังงาน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388" y="1196752"/>
            <a:ext cx="878522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เป็นรูปแบบการเขียนโปรแกรมที่ง่ายที่สุด ทำงานทีละอย่างจากบนลงล่าง แสดงลำดับการทำงานจากบนลงล่างตามลูกศร</a:t>
            </a:r>
          </a:p>
        </p:txBody>
      </p: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900113" y="2277318"/>
            <a:ext cx="1655762" cy="3816350"/>
            <a:chOff x="567" y="1434"/>
            <a:chExt cx="1043" cy="2404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67" y="1797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งานที่ 1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567" y="2477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งานที่ 2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67" y="3158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งานที่ 3</a:t>
              </a: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1066" y="1434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1066" y="2114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1066" y="2795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1066" y="3475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15" name="Group 26"/>
          <p:cNvGrpSpPr>
            <a:grpSpLocks/>
          </p:cNvGrpSpPr>
          <p:nvPr/>
        </p:nvGrpSpPr>
        <p:grpSpPr bwMode="auto">
          <a:xfrm>
            <a:off x="3708400" y="2205881"/>
            <a:ext cx="1800225" cy="4032250"/>
            <a:chOff x="2336" y="1389"/>
            <a:chExt cx="1134" cy="2540"/>
          </a:xfrm>
        </p:grpSpPr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2336" y="1751"/>
              <a:ext cx="1089" cy="363"/>
            </a:xfrm>
            <a:prstGeom prst="flowChartInputOutput">
              <a:avLst/>
            </a:prstGeom>
            <a:solidFill>
              <a:srgbClr val="E872B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อ่านข้อมูล</a:t>
              </a: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2427" y="2477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คำนวณข้อมูล</a:t>
              </a:r>
            </a:p>
          </p:txBody>
        </p:sp>
        <p:sp>
          <p:nvSpPr>
            <p:cNvPr id="18" name="AutoShape 13"/>
            <p:cNvSpPr>
              <a:spLocks noChangeArrowheads="1"/>
            </p:cNvSpPr>
            <p:nvPr/>
          </p:nvSpPr>
          <p:spPr bwMode="auto">
            <a:xfrm>
              <a:off x="2426" y="3158"/>
              <a:ext cx="998" cy="453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 dirty="0">
                  <a:latin typeface="Tahoma" pitchFamily="34" charset="0"/>
                  <a:cs typeface="Tahoma" pitchFamily="34" charset="0"/>
                </a:rPr>
                <a:t>พิมพ์ผลลัพธ์</a:t>
              </a: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2925" y="1389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2925" y="2114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2925" y="2795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2925" y="3566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23" name="Group 27"/>
          <p:cNvGrpSpPr>
            <a:grpSpLocks/>
          </p:cNvGrpSpPr>
          <p:nvPr/>
        </p:nvGrpSpPr>
        <p:grpSpPr bwMode="auto">
          <a:xfrm>
            <a:off x="6732588" y="2132856"/>
            <a:ext cx="1655762" cy="3816350"/>
            <a:chOff x="4241" y="1343"/>
            <a:chExt cx="1043" cy="2404"/>
          </a:xfrm>
        </p:grpSpPr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4241" y="1706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คำนวณ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4241" y="2386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คำนวณ</a:t>
              </a:r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4241" y="3067"/>
              <a:ext cx="1043" cy="318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คำนวณ</a:t>
              </a: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4740" y="1343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4740" y="2023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4740" y="2704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4740" y="3384"/>
              <a:ext cx="0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684645265"/>
      </p:ext>
    </p:extLst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49012" y="868244"/>
            <a:ext cx="7655436" cy="685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แบบตามลำดับ </a:t>
            </a:r>
            <a:r>
              <a:rPr lang="en-US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(Sequence)</a:t>
            </a:r>
            <a:b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เป็นโครงสร้างควบคุมโดยจะ ทำงานทีละคำสั่งจากบนลงล่าง 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ตามทิศทางการทำงาน (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Direction of Flow)</a:t>
            </a:r>
            <a:endPara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2050" name="Picture 2" descr="http://www.training.ami-solution.com/userfiles/images/1/76/Flowchart%20Sequence%20Prototyp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85815"/>
            <a:ext cx="4101980" cy="42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499992" y="2492896"/>
            <a:ext cx="4320480" cy="685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ของการ</a:t>
            </a:r>
            <a:b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วางคำสั่ง</a:t>
            </a:r>
          </a:p>
          <a:p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คำสั่งที่ 1</a:t>
            </a:r>
          </a:p>
          <a:p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คำสั่งที่ 2</a:t>
            </a:r>
          </a:p>
          <a:p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คำสั่งที่ 3</a:t>
            </a:r>
          </a:p>
        </p:txBody>
      </p:sp>
    </p:spTree>
    <p:extLst>
      <p:ext uri="{BB962C8B-B14F-4D97-AF65-F5344CB8AC3E}">
        <p14:creationId xmlns:p14="http://schemas.microsoft.com/office/powerpoint/2010/main" val="159012113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49012" y="868244"/>
            <a:ext cx="7655436" cy="685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แบบตามลำดับ </a:t>
            </a:r>
            <a:r>
              <a:rPr lang="en-US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(Sequence)</a:t>
            </a:r>
            <a:b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เป็นโครงสร้างควบคุมโดยจะ ทำงานทีละคำสั่งจากบนลงล่าง </a:t>
            </a:r>
            <a:br>
              <a:rPr lang="th-TH" sz="28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ตามทิศทางการทำงาน (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Direction of Flow)</a:t>
            </a:r>
            <a:endPara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499992" y="2492896"/>
            <a:ext cx="4320480" cy="685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28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</a:p>
          <a:p>
            <a:pPr marL="0" indent="0">
              <a:buNone/>
            </a:pPr>
            <a:r>
              <a:rPr lang="th-TH" sz="2800" b="1" i="1" u="sng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  <a:p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    รับเงินไปจ่ายตลาดมา 100 บาท</a:t>
            </a:r>
          </a:p>
          <a:p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     ซื้อไข่ไก่ 25 บาท</a:t>
            </a:r>
          </a:p>
          <a:p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     ซื้อผลไม้ 25 บาท</a:t>
            </a:r>
          </a:p>
          <a:p>
            <a:pPr marL="0" indent="0">
              <a:buNone/>
            </a:pPr>
            <a:r>
              <a:rPr lang="th-TH" sz="2800" b="1" i="1" u="sng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  <p:pic>
        <p:nvPicPr>
          <p:cNvPr id="3074" name="Picture 2" descr="Flowchart ตัวอย่าง รูปแบบโครงสร้างแบบตามลำดับ (Sequenc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92" y="2276872"/>
            <a:ext cx="3762576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870012"/>
      </p:ext>
    </p:extLst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076056" y="1412776"/>
            <a:ext cx="3816424" cy="685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C000"/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แบบตามลำดับ 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(Sequence)</a:t>
            </a:r>
            <a:endParaRPr lang="th-TH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1547813" y="1414463"/>
            <a:ext cx="1511300" cy="4751387"/>
            <a:chOff x="975" y="891"/>
            <a:chExt cx="952" cy="2993"/>
          </a:xfrm>
        </p:grpSpPr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1065" y="891"/>
              <a:ext cx="772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START</a:t>
              </a: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1065" y="3612"/>
              <a:ext cx="772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STOP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975" y="1390"/>
              <a:ext cx="952" cy="31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A = 5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474" y="1163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975" y="1934"/>
              <a:ext cx="952" cy="31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B = 3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975" y="2479"/>
              <a:ext cx="952" cy="31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C = A + B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474" y="1707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474" y="2252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975" y="3023"/>
              <a:ext cx="952" cy="408"/>
            </a:xfrm>
            <a:prstGeom prst="flowChartDocument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print C</a:t>
              </a: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474" y="2796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474" y="3386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</p:grp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3635375" y="1412875"/>
            <a:ext cx="9204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3635375" y="2133600"/>
            <a:ext cx="365035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กำหนดค่าตัวแปร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A </a:t>
            </a:r>
            <a:r>
              <a:rPr lang="th-TH" sz="3200" b="1">
                <a:latin typeface="TH SarabunPSK" pitchFamily="34" charset="-34"/>
                <a:cs typeface="TH SarabunPSK" pitchFamily="34" charset="-34"/>
              </a:rPr>
              <a:t>มีค่าเป็น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5</a:t>
            </a:r>
            <a:endParaRPr lang="th-TH" sz="3200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3635375" y="3068638"/>
            <a:ext cx="36279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กำหนดค่าตัวแปร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B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มีค่าเป็น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3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3635375" y="3933825"/>
            <a:ext cx="41601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เอาค่า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A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บวกกับ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B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แล้วเก็บไว้ใน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C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3641725" y="4797425"/>
            <a:ext cx="13244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พิมพ์ค่า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C</a:t>
            </a:r>
            <a:endParaRPr lang="th-TH" sz="3200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3635375" y="5661025"/>
            <a:ext cx="17235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20777675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635375" y="1628800"/>
            <a:ext cx="9204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3635375" y="2349525"/>
            <a:ext cx="51133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รับข้อมูลมาเก็บไว้ในตัวแปร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A, B </a:t>
            </a:r>
            <a:r>
              <a:rPr lang="th-TH" sz="3200" b="1">
                <a:latin typeface="TH SarabunPSK" pitchFamily="34" charset="-34"/>
                <a:cs typeface="TH SarabunPSK" pitchFamily="34" charset="-34"/>
              </a:rPr>
              <a:t>ทางแป้นพิมพ์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3595688" y="3429025"/>
            <a:ext cx="41601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เอาค่า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A </a:t>
            </a:r>
            <a:r>
              <a:rPr lang="th-TH" sz="3200" b="1">
                <a:latin typeface="TH SarabunPSK" pitchFamily="34" charset="-34"/>
                <a:cs typeface="TH SarabunPSK" pitchFamily="34" charset="-34"/>
              </a:rPr>
              <a:t>บวกกับ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B </a:t>
            </a:r>
            <a:r>
              <a:rPr lang="th-TH" sz="3200" b="1">
                <a:latin typeface="TH SarabunPSK" pitchFamily="34" charset="-34"/>
                <a:cs typeface="TH SarabunPSK" pitchFamily="34" charset="-34"/>
              </a:rPr>
              <a:t>แล้วเก็บไว้ใน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C</a:t>
            </a:r>
            <a:endParaRPr lang="th-TH" sz="3200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Text Box 19"/>
          <p:cNvSpPr txBox="1">
            <a:spLocks noChangeArrowheads="1"/>
          </p:cNvSpPr>
          <p:nvPr/>
        </p:nvSpPr>
        <p:spPr bwMode="auto">
          <a:xfrm>
            <a:off x="3602038" y="4292625"/>
            <a:ext cx="13244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พิมพ์ค่า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C</a:t>
            </a:r>
            <a:endParaRPr lang="th-TH" sz="3200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3595688" y="5156225"/>
            <a:ext cx="17235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  <p:grpSp>
        <p:nvGrpSpPr>
          <p:cNvPr id="10" name="Group 23"/>
          <p:cNvGrpSpPr>
            <a:grpSpLocks/>
          </p:cNvGrpSpPr>
          <p:nvPr/>
        </p:nvGrpSpPr>
        <p:grpSpPr bwMode="auto">
          <a:xfrm>
            <a:off x="1547813" y="1628800"/>
            <a:ext cx="1512887" cy="3960812"/>
            <a:chOff x="975" y="1161"/>
            <a:chExt cx="953" cy="2495"/>
          </a:xfrm>
        </p:grpSpPr>
        <p:sp>
          <p:nvSpPr>
            <p:cNvPr id="11" name="AutoShape 4"/>
            <p:cNvSpPr>
              <a:spLocks noChangeArrowheads="1"/>
            </p:cNvSpPr>
            <p:nvPr/>
          </p:nvSpPr>
          <p:spPr bwMode="auto">
            <a:xfrm>
              <a:off x="1065" y="1161"/>
              <a:ext cx="772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START</a:t>
              </a:r>
            </a:p>
          </p:txBody>
        </p:sp>
        <p:sp>
          <p:nvSpPr>
            <p:cNvPr id="12" name="AutoShape 5"/>
            <p:cNvSpPr>
              <a:spLocks noChangeArrowheads="1"/>
            </p:cNvSpPr>
            <p:nvPr/>
          </p:nvSpPr>
          <p:spPr bwMode="auto">
            <a:xfrm>
              <a:off x="1066" y="3384"/>
              <a:ext cx="772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STOP</a:t>
              </a:r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1474" y="1433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976" y="2251"/>
              <a:ext cx="952" cy="31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C = A + B</a:t>
              </a:r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1475" y="2024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976" y="2795"/>
              <a:ext cx="952" cy="408"/>
            </a:xfrm>
            <a:prstGeom prst="flowChartDocument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print C</a:t>
              </a: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475" y="2568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475" y="3158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3200" b="1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9" name="AutoShape 21"/>
            <p:cNvSpPr>
              <a:spLocks noChangeArrowheads="1"/>
            </p:cNvSpPr>
            <p:nvPr/>
          </p:nvSpPr>
          <p:spPr bwMode="auto">
            <a:xfrm>
              <a:off x="975" y="1615"/>
              <a:ext cx="952" cy="408"/>
            </a:xfrm>
            <a:prstGeom prst="flowChartManualInpu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200" b="1">
                  <a:latin typeface="TH SarabunPSK" pitchFamily="34" charset="-34"/>
                  <a:cs typeface="TH SarabunPSK" pitchFamily="34" charset="-34"/>
                </a:rPr>
                <a:t>A , B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17232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ตัวยึดเนื้อหา 2"/>
          <p:cNvSpPr>
            <a:spLocks noGrp="1"/>
          </p:cNvSpPr>
          <p:nvPr>
            <p:ph idx="1"/>
          </p:nvPr>
        </p:nvSpPr>
        <p:spPr>
          <a:xfrm>
            <a:off x="395536" y="980728"/>
            <a:ext cx="8785225" cy="5327650"/>
          </a:xfrm>
        </p:spPr>
        <p:txBody>
          <a:bodyPr/>
          <a:lstStyle/>
          <a:p>
            <a:pPr eaLnBrk="1" hangingPunct="1">
              <a:defRPr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จงเขียนโปรแกรมคำนวณค่าไฟฟ้า โดยรับค่ามิเตอร์จำนวนการใช้ไฟฟ้าของเดือนที่แล้ว และค่ามิเตอร์การใช้ไฟฟ้าของเดือนปัจจุบัน  คำนวณค่าไฟฟ้า โดยคิดอัตรา  2.5 บาท /1 หน่วยมิเตอร์</a:t>
            </a:r>
            <a:endParaRPr lang="en-US" sz="3200" b="1" dirty="0">
              <a:latin typeface="TH SarabunPSK" pitchFamily="34" charset="-34"/>
              <a:cs typeface="TH SarabunPSK" pitchFamily="34" charset="-34"/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th-TH" sz="3200" b="1" u="sng" dirty="0">
                <a:solidFill>
                  <a:srgbClr val="0000FF"/>
                </a:solidFill>
                <a:latin typeface="TH SarabunPSK" pitchFamily="34" charset="-34"/>
                <a:cs typeface="TH SarabunPSK" pitchFamily="34" charset="-34"/>
              </a:rPr>
              <a:t>สิ่งที่โจทย์ต้องการ</a:t>
            </a:r>
          </a:p>
          <a:p>
            <a:pPr marL="514350" indent="-514350" eaLnBrk="1" hangingPunct="1">
              <a:buFontTx/>
              <a:buNone/>
              <a:defRPr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	ค่าไฟฟ้า</a:t>
            </a:r>
          </a:p>
          <a:p>
            <a:pPr marL="514350" indent="-514350" eaLnBrk="1" hangingPunct="1">
              <a:buFont typeface="+mj-lt"/>
              <a:buAutoNum type="arabicPeriod" startAt="2"/>
              <a:defRPr/>
            </a:pPr>
            <a:r>
              <a:rPr lang="th-TH" sz="3200" b="1" u="sng" dirty="0">
                <a:solidFill>
                  <a:srgbClr val="0000FF"/>
                </a:solidFill>
                <a:latin typeface="TH SarabunPSK" pitchFamily="34" charset="-34"/>
                <a:cs typeface="TH SarabunPSK" pitchFamily="34" charset="-34"/>
              </a:rPr>
              <a:t>รูปแบบผลลัพธ์</a:t>
            </a:r>
          </a:p>
          <a:p>
            <a:pPr marL="514350" indent="-514350" eaLnBrk="1" hangingPunct="1">
              <a:buFontTx/>
              <a:buNone/>
              <a:defRPr/>
            </a:pP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7" name="สี่เหลี่ยมผืนผ้า 26"/>
          <p:cNvSpPr/>
          <p:nvPr/>
        </p:nvSpPr>
        <p:spPr>
          <a:xfrm>
            <a:off x="539552" y="4354165"/>
            <a:ext cx="8280920" cy="19288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8" name="TextBox 27"/>
          <p:cNvSpPr txBox="1"/>
          <p:nvPr/>
        </p:nvSpPr>
        <p:spPr>
          <a:xfrm rot="10800000" flipH="1" flipV="1">
            <a:off x="1216273" y="4384001"/>
            <a:ext cx="6929438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ป้อนเลขมิเตอร์เดือนที่แล้ว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--&gt; </a:t>
            </a:r>
            <a:r>
              <a:rPr lang="en-US" sz="2400" b="1" dirty="0">
                <a:solidFill>
                  <a:srgbClr val="C00000"/>
                </a:solidFill>
                <a:latin typeface="TH SarabunPSK" pitchFamily="34" charset="-34"/>
                <a:cs typeface="TH SarabunPSK" pitchFamily="34" charset="-34"/>
              </a:rPr>
              <a:t>&lt;</a:t>
            </a:r>
            <a:r>
              <a:rPr lang="th-TH" sz="2400" b="1" dirty="0">
                <a:solidFill>
                  <a:srgbClr val="C00000"/>
                </a:solidFill>
                <a:latin typeface="TH SarabunPSK" pitchFamily="34" charset="-34"/>
                <a:cs typeface="TH SarabunPSK" pitchFamily="34" charset="-34"/>
              </a:rPr>
              <a:t>รอรับเลขมิเตอร์เดือนที่แล้ว</a:t>
            </a:r>
            <a:r>
              <a:rPr lang="en-US" sz="2400" b="1" dirty="0">
                <a:solidFill>
                  <a:srgbClr val="C00000"/>
                </a:solidFill>
                <a:latin typeface="TH SarabunPSK" pitchFamily="34" charset="-34"/>
                <a:cs typeface="TH SarabunPSK" pitchFamily="34" charset="-34"/>
              </a:rPr>
              <a:t>&gt;</a:t>
            </a:r>
          </a:p>
          <a:p>
            <a:pPr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ป้อนเลขมิเตอร์เดือนปัจจุบัน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--&gt; </a:t>
            </a:r>
            <a:r>
              <a:rPr lang="en-US" sz="2400" b="1" dirty="0">
                <a:solidFill>
                  <a:srgbClr val="C00000"/>
                </a:solidFill>
                <a:latin typeface="TH SarabunPSK" pitchFamily="34" charset="-34"/>
                <a:cs typeface="TH SarabunPSK" pitchFamily="34" charset="-34"/>
              </a:rPr>
              <a:t>&lt;</a:t>
            </a:r>
            <a:r>
              <a:rPr lang="th-TH" sz="2400" b="1" dirty="0">
                <a:solidFill>
                  <a:srgbClr val="C00000"/>
                </a:solidFill>
                <a:latin typeface="TH SarabunPSK" pitchFamily="34" charset="-34"/>
                <a:cs typeface="TH SarabunPSK" pitchFamily="34" charset="-34"/>
              </a:rPr>
              <a:t>รอรับเลขมิเตอร์เดือนปัจจุบัน</a:t>
            </a:r>
            <a:r>
              <a:rPr lang="en-US" sz="2400" b="1" dirty="0">
                <a:solidFill>
                  <a:srgbClr val="C00000"/>
                </a:solidFill>
                <a:latin typeface="TH SarabunPSK" pitchFamily="34" charset="-34"/>
                <a:cs typeface="TH SarabunPSK" pitchFamily="34" charset="-34"/>
              </a:rPr>
              <a:t>&gt;</a:t>
            </a:r>
          </a:p>
          <a:p>
            <a:pPr>
              <a:defRPr/>
            </a:pP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-----------------------------------------------------</a:t>
            </a:r>
          </a:p>
          <a:p>
            <a:pPr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จำนวนหน่วยไฟฟ้าที่ใช้ 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: </a:t>
            </a:r>
            <a:r>
              <a:rPr lang="en-US" sz="2400" b="1" dirty="0">
                <a:solidFill>
                  <a:srgbClr val="008000"/>
                </a:solidFill>
                <a:latin typeface="TH SarabunPSK" pitchFamily="34" charset="-34"/>
                <a:cs typeface="TH SarabunPSK" pitchFamily="34" charset="-34"/>
              </a:rPr>
              <a:t>&lt;</a:t>
            </a:r>
            <a:r>
              <a:rPr lang="th-TH" sz="2400" b="1" dirty="0">
                <a:solidFill>
                  <a:srgbClr val="008000"/>
                </a:solidFill>
                <a:latin typeface="TH SarabunPSK" pitchFamily="34" charset="-34"/>
                <a:cs typeface="TH SarabunPSK" pitchFamily="34" charset="-34"/>
              </a:rPr>
              <a:t>แสดงจำนวนหน่วยไฟฟ้าที่ใช้</a:t>
            </a:r>
            <a:r>
              <a:rPr lang="en-US" sz="2400" b="1" dirty="0">
                <a:solidFill>
                  <a:srgbClr val="008000"/>
                </a:solidFill>
                <a:latin typeface="TH SarabunPSK" pitchFamily="34" charset="-34"/>
                <a:cs typeface="TH SarabunPSK" pitchFamily="34" charset="-34"/>
              </a:rPr>
              <a:t>&gt;</a:t>
            </a:r>
            <a:endParaRPr lang="th-TH" sz="2400" b="1" dirty="0">
              <a:solidFill>
                <a:srgbClr val="008000"/>
              </a:solidFill>
              <a:latin typeface="TH SarabunPSK" pitchFamily="34" charset="-34"/>
              <a:cs typeface="TH SarabunPSK" pitchFamily="34" charset="-34"/>
            </a:endParaRPr>
          </a:p>
          <a:p>
            <a:pPr>
              <a:defRPr/>
            </a:pP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ค่าไฟฟ้า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: </a:t>
            </a:r>
            <a:r>
              <a:rPr lang="en-US" sz="2400" b="1" dirty="0">
                <a:solidFill>
                  <a:srgbClr val="008000"/>
                </a:solidFill>
                <a:latin typeface="TH SarabunPSK" pitchFamily="34" charset="-34"/>
                <a:cs typeface="TH SarabunPSK" pitchFamily="34" charset="-34"/>
              </a:rPr>
              <a:t>&lt;</a:t>
            </a:r>
            <a:r>
              <a:rPr lang="th-TH" sz="2400" b="1" dirty="0">
                <a:solidFill>
                  <a:srgbClr val="008000"/>
                </a:solidFill>
                <a:latin typeface="TH SarabunPSK" pitchFamily="34" charset="-34"/>
                <a:cs typeface="TH SarabunPSK" pitchFamily="34" charset="-34"/>
              </a:rPr>
              <a:t>แสดงค่าไฟฟ้า</a:t>
            </a:r>
            <a:r>
              <a:rPr lang="en-US" sz="2400" b="1" dirty="0">
                <a:solidFill>
                  <a:srgbClr val="008000"/>
                </a:solidFill>
                <a:latin typeface="TH SarabunPSK" pitchFamily="34" charset="-34"/>
                <a:cs typeface="TH SarabunPSK" pitchFamily="34" charset="-34"/>
              </a:rPr>
              <a:t>&gt;</a:t>
            </a:r>
            <a:endParaRPr lang="th-TH" sz="2400" b="1" dirty="0">
              <a:solidFill>
                <a:srgbClr val="00800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39989831"/>
      </p:ext>
    </p:extLst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ยึดเนื้อหา 2"/>
          <p:cNvSpPr>
            <a:spLocks noGrp="1"/>
          </p:cNvSpPr>
          <p:nvPr>
            <p:ph idx="1"/>
          </p:nvPr>
        </p:nvSpPr>
        <p:spPr>
          <a:xfrm>
            <a:off x="2123728" y="1341438"/>
            <a:ext cx="6840885" cy="5327650"/>
          </a:xfrm>
        </p:spPr>
        <p:txBody>
          <a:bodyPr/>
          <a:lstStyle/>
          <a:p>
            <a:pPr marL="514350" indent="-514350" eaLnBrk="1" hangingPunct="1">
              <a:buFont typeface="Cordia New" pitchFamily="34" charset="-34"/>
              <a:buAutoNum type="arabicPeriod" startAt="3"/>
            </a:pPr>
            <a:r>
              <a:rPr lang="th-TH" sz="3200" b="1" u="sng">
                <a:solidFill>
                  <a:srgbClr val="0000FF"/>
                </a:solidFill>
                <a:latin typeface="TH SarabunPSK" pitchFamily="34" charset="-34"/>
                <a:cs typeface="TH SarabunPSK" pitchFamily="34" charset="-34"/>
              </a:rPr>
              <a:t>ข้อมูลนำเข้า</a:t>
            </a:r>
          </a:p>
          <a:p>
            <a:pPr marL="914400" lvl="1" indent="-514350" eaLnBrk="1" hangingPunct="1"/>
            <a:r>
              <a:rPr lang="th-TH" sz="2800" b="1">
                <a:latin typeface="TH SarabunPSK" pitchFamily="34" charset="-34"/>
                <a:cs typeface="TH SarabunPSK" pitchFamily="34" charset="-34"/>
              </a:rPr>
              <a:t>เลขมิเตอร์เดือนที่แล้ว</a:t>
            </a:r>
          </a:p>
          <a:p>
            <a:pPr marL="914400" lvl="1" indent="-514350" eaLnBrk="1" hangingPunct="1"/>
            <a:r>
              <a:rPr lang="th-TH" sz="2800" b="1">
                <a:latin typeface="TH SarabunPSK" pitchFamily="34" charset="-34"/>
                <a:cs typeface="TH SarabunPSK" pitchFamily="34" charset="-34"/>
              </a:rPr>
              <a:t>เลขมิเตอร์เดือนปัจจุบัน</a:t>
            </a:r>
          </a:p>
          <a:p>
            <a:pPr marL="514350" indent="-514350" eaLnBrk="1" hangingPunct="1">
              <a:buFont typeface="Cordia New" pitchFamily="34" charset="-34"/>
              <a:buAutoNum type="arabicPeriod" startAt="4"/>
            </a:pPr>
            <a:r>
              <a:rPr lang="th-TH" sz="3200" b="1" u="sng">
                <a:solidFill>
                  <a:srgbClr val="0000FF"/>
                </a:solidFill>
                <a:latin typeface="TH SarabunPSK" pitchFamily="34" charset="-34"/>
                <a:cs typeface="TH SarabunPSK" pitchFamily="34" charset="-34"/>
              </a:rPr>
              <a:t>ตัวแปรที่ใช้ในการประมวลผล</a:t>
            </a:r>
          </a:p>
          <a:p>
            <a:pPr marL="914400" lvl="1" indent="-514350" eaLnBrk="1" hangingPunct="1"/>
            <a:r>
              <a:rPr lang="en-US" sz="2800" b="1">
                <a:latin typeface="TH SarabunPSK" pitchFamily="34" charset="-34"/>
                <a:cs typeface="TH SarabunPSK" pitchFamily="34" charset="-34"/>
              </a:rPr>
              <a:t>Last_meter 	</a:t>
            </a:r>
            <a:r>
              <a:rPr lang="th-TH" sz="2800" b="1">
                <a:latin typeface="TH SarabunPSK" pitchFamily="34" charset="-34"/>
                <a:cs typeface="TH SarabunPSK" pitchFamily="34" charset="-34"/>
              </a:rPr>
              <a:t>แทน 	เลขมิเตอร์เดือนที่แล้ว</a:t>
            </a:r>
          </a:p>
          <a:p>
            <a:pPr marL="914400" lvl="1" indent="-514350" eaLnBrk="1" hangingPunct="1"/>
            <a:r>
              <a:rPr lang="en-US" sz="2800" b="1">
                <a:latin typeface="TH SarabunPSK" pitchFamily="34" charset="-34"/>
                <a:cs typeface="TH SarabunPSK" pitchFamily="34" charset="-34"/>
              </a:rPr>
              <a:t>Curr_meter	</a:t>
            </a:r>
            <a:r>
              <a:rPr lang="th-TH" sz="2800" b="1">
                <a:latin typeface="TH SarabunPSK" pitchFamily="34" charset="-34"/>
                <a:cs typeface="TH SarabunPSK" pitchFamily="34" charset="-34"/>
              </a:rPr>
              <a:t>แทน	เลขมิเตอร์เดือนปัจจุบัน</a:t>
            </a:r>
          </a:p>
          <a:p>
            <a:pPr marL="914400" lvl="1" indent="-514350" eaLnBrk="1" hangingPunct="1"/>
            <a:r>
              <a:rPr lang="en-US" sz="2800" b="1">
                <a:latin typeface="TH SarabunPSK" pitchFamily="34" charset="-34"/>
                <a:cs typeface="TH SarabunPSK" pitchFamily="34" charset="-34"/>
              </a:rPr>
              <a:t>Num_meter	</a:t>
            </a:r>
            <a:r>
              <a:rPr lang="th-TH" sz="2800" b="1">
                <a:latin typeface="TH SarabunPSK" pitchFamily="34" charset="-34"/>
                <a:cs typeface="TH SarabunPSK" pitchFamily="34" charset="-34"/>
              </a:rPr>
              <a:t>แทน	จำนวนหน่วยมิเตอร์ที่ใช้</a:t>
            </a:r>
          </a:p>
          <a:p>
            <a:pPr marL="914400" lvl="1" indent="-514350" eaLnBrk="1" hangingPunct="1"/>
            <a:r>
              <a:rPr lang="en-US" sz="2800" b="1">
                <a:latin typeface="TH SarabunPSK" pitchFamily="34" charset="-34"/>
                <a:cs typeface="TH SarabunPSK" pitchFamily="34" charset="-34"/>
              </a:rPr>
              <a:t>Electric_fee	</a:t>
            </a:r>
            <a:r>
              <a:rPr lang="th-TH" sz="2800" b="1">
                <a:latin typeface="TH SarabunPSK" pitchFamily="34" charset="-34"/>
                <a:cs typeface="TH SarabunPSK" pitchFamily="34" charset="-34"/>
              </a:rPr>
              <a:t>แทน	ค่าไฟฟ้า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89260195"/>
      </p:ext>
    </p:extLst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ตัวยึดเนื้อหา 2"/>
          <p:cNvSpPr>
            <a:spLocks noGrp="1"/>
          </p:cNvSpPr>
          <p:nvPr>
            <p:ph idx="1"/>
          </p:nvPr>
        </p:nvSpPr>
        <p:spPr>
          <a:xfrm>
            <a:off x="2123728" y="1341438"/>
            <a:ext cx="6840885" cy="5327650"/>
          </a:xfrm>
        </p:spPr>
        <p:txBody>
          <a:bodyPr/>
          <a:lstStyle/>
          <a:p>
            <a:pPr marL="514350" indent="-514350" eaLnBrk="1" hangingPunct="1">
              <a:buFont typeface="Cordia New" pitchFamily="34" charset="-34"/>
              <a:buAutoNum type="arabicPeriod" startAt="5"/>
            </a:pPr>
            <a:r>
              <a:rPr lang="th-TH" sz="3200" b="1" u="sng" dirty="0">
                <a:solidFill>
                  <a:srgbClr val="0000FF"/>
                </a:solidFill>
                <a:latin typeface="TH SarabunPSK" pitchFamily="34" charset="-34"/>
                <a:cs typeface="TH SarabunPSK" pitchFamily="34" charset="-34"/>
              </a:rPr>
              <a:t>ขั้นตอนวิธีการประมวลผล</a:t>
            </a:r>
          </a:p>
          <a:p>
            <a:pPr marL="914400" lvl="1" indent="-514350" eaLnBrk="1" hangingPunct="1">
              <a:buFont typeface="Cordia New" pitchFamily="34" charset="-34"/>
              <a:buAutoNum type="arabicPeriod"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  <a:p>
            <a:pPr marL="914400" lvl="1" indent="-514350" eaLnBrk="1" hangingPunct="1">
              <a:buFont typeface="Cordia New" pitchFamily="34" charset="-34"/>
              <a:buAutoNum type="arabicPeriod"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รับค่าใส่ตัวแปร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last_meter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และ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curr_meter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จากผู้ใช้ทางแป้นพิมพ์</a:t>
            </a:r>
          </a:p>
          <a:p>
            <a:pPr marL="914400" lvl="1" indent="-514350" eaLnBrk="1" hangingPunct="1">
              <a:buFont typeface="Cordia New" pitchFamily="34" charset="-34"/>
              <a:buAutoNum type="arabicPeriod"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คำนวณ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num_meter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=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curr_meter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–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last_meter</a:t>
            </a: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       </a:t>
            </a:r>
          </a:p>
          <a:p>
            <a:pPr marL="914400" lvl="1" indent="-514350" eaLnBrk="1" hangingPunct="1">
              <a:buFont typeface="Cordia New" pitchFamily="34" charset="-34"/>
              <a:buAutoNum type="arabicPeriod"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คำนวณ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electric_fee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=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num_meter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* 2.5</a:t>
            </a:r>
          </a:p>
          <a:p>
            <a:pPr marL="914400" lvl="1" indent="-514350" eaLnBrk="1" hangingPunct="1">
              <a:buFont typeface="Cordia New" pitchFamily="34" charset="-34"/>
              <a:buAutoNum type="arabicPeriod"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แสดงค่า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num_meter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, </a:t>
            </a:r>
            <a:r>
              <a:rPr lang="en-US" sz="2800" b="1" dirty="0" err="1">
                <a:latin typeface="TH SarabunPSK" pitchFamily="34" charset="-34"/>
                <a:cs typeface="TH SarabunPSK" pitchFamily="34" charset="-34"/>
              </a:rPr>
              <a:t>electric_fee</a:t>
            </a:r>
            <a:endParaRPr lang="en-US" sz="2800" b="1" dirty="0">
              <a:latin typeface="TH SarabunPSK" pitchFamily="34" charset="-34"/>
              <a:cs typeface="TH SarabunPSK" pitchFamily="34" charset="-34"/>
            </a:endParaRPr>
          </a:p>
          <a:p>
            <a:pPr marL="914400" lvl="1" indent="-514350" eaLnBrk="1" hangingPunct="1">
              <a:buFont typeface="Cordia New" pitchFamily="34" charset="-34"/>
              <a:buAutoNum type="arabicPeriod"/>
            </a:pPr>
            <a:r>
              <a:rPr lang="th-TH" sz="2800" b="1" dirty="0">
                <a:latin typeface="TH SarabunPSK" pitchFamily="34" charset="-34"/>
                <a:cs typeface="TH SarabunPSK" pitchFamily="34" charset="-34"/>
              </a:rPr>
              <a:t>จบการทำงาน </a:t>
            </a:r>
            <a:r>
              <a:rPr lang="en-US" sz="2800" b="1" dirty="0">
                <a:latin typeface="TH SarabunPSK" pitchFamily="34" charset="-34"/>
                <a:cs typeface="TH SarabunPSK" pitchFamily="34" charset="-34"/>
              </a:rPr>
              <a:t> </a:t>
            </a:r>
            <a:endParaRPr lang="th-TH" sz="28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76013439"/>
      </p:ext>
    </p:extLst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643313" y="1214438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START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643313" y="6000750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STOP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292600" y="16462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143125" y="3286125"/>
            <a:ext cx="4286250" cy="503238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 err="1">
                <a:latin typeface="Verdana" pitchFamily="34" charset="0"/>
              </a:rPr>
              <a:t>Num_meter</a:t>
            </a:r>
            <a:r>
              <a:rPr lang="en-US" sz="1600" dirty="0">
                <a:latin typeface="Verdana" pitchFamily="34" charset="0"/>
              </a:rPr>
              <a:t> = </a:t>
            </a:r>
            <a:r>
              <a:rPr lang="en-US" sz="1600" dirty="0" err="1">
                <a:latin typeface="Verdana" pitchFamily="34" charset="0"/>
              </a:rPr>
              <a:t>Curr_meter</a:t>
            </a:r>
            <a:r>
              <a:rPr lang="en-US" sz="1600" dirty="0">
                <a:latin typeface="Verdana" pitchFamily="34" charset="0"/>
              </a:rPr>
              <a:t> – </a:t>
            </a:r>
            <a:r>
              <a:rPr lang="en-US" sz="1600" dirty="0" err="1">
                <a:latin typeface="Verdana" pitchFamily="34" charset="0"/>
              </a:rPr>
              <a:t>Last_meter</a:t>
            </a:r>
            <a:r>
              <a:rPr lang="en-US" sz="1600" dirty="0">
                <a:latin typeface="Verdana" pitchFamily="34" charset="0"/>
              </a:rPr>
              <a:t> </a:t>
            </a: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4286250" y="29162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286250" y="378618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4292600" y="56419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AutoShape 21"/>
          <p:cNvSpPr>
            <a:spLocks noChangeArrowheads="1"/>
          </p:cNvSpPr>
          <p:nvPr/>
        </p:nvSpPr>
        <p:spPr bwMode="auto">
          <a:xfrm>
            <a:off x="3325813" y="1897063"/>
            <a:ext cx="1928812" cy="993775"/>
          </a:xfrm>
          <a:prstGeom prst="flowChartManualInpu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Verdana" pitchFamily="34" charset="0"/>
              </a:rPr>
              <a:t>Last_meter , </a:t>
            </a:r>
          </a:p>
          <a:p>
            <a:pPr algn="ctr"/>
            <a:r>
              <a:rPr lang="en-US" sz="1600">
                <a:latin typeface="Verdana" pitchFamily="34" charset="0"/>
              </a:rPr>
              <a:t>Curr_meter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143125" y="4143375"/>
            <a:ext cx="4286250" cy="503238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Verdana" pitchFamily="34" charset="0"/>
              </a:rPr>
              <a:t>Electric_fee = Num_meter * 2.5 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4286250" y="46434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แผนผังลำดับงาน: จอภาพ 16"/>
          <p:cNvSpPr>
            <a:spLocks noChangeArrowheads="1"/>
          </p:cNvSpPr>
          <p:nvPr/>
        </p:nvSpPr>
        <p:spPr bwMode="auto">
          <a:xfrm>
            <a:off x="2714625" y="5000625"/>
            <a:ext cx="3143250" cy="642938"/>
          </a:xfrm>
          <a:prstGeom prst="flowChartDisplay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latin typeface="Verdana" pitchFamily="34" charset="0"/>
              </a:rPr>
              <a:t>Num_meter , Electric_fee</a:t>
            </a:r>
            <a:endParaRPr lang="th-TH" sz="1600">
              <a:latin typeface="Verdana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การเขียนผังงานแบบตามลำดับ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18756593"/>
      </p:ext>
    </p:extLst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3643313" y="476672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START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643313" y="5262984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STOP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4292600" y="908472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78495" y="2548359"/>
            <a:ext cx="7893407" cy="503238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dirty="0">
                <a:latin typeface="TH SarabunPSK" pitchFamily="34" charset="-34"/>
                <a:cs typeface="TH SarabunPSK" pitchFamily="34" charset="-34"/>
              </a:rPr>
              <a:t>เงินเดือนที่หักค่าประกับสังคม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อัตราเงินเดือน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–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(อัตราเงินเดือน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*0.07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)</a:t>
            </a:r>
            <a:endParaRPr lang="en-US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4286250" y="2178472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>
            <a:off x="4286250" y="3048422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4292600" y="4904209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AutoShape 21"/>
          <p:cNvSpPr>
            <a:spLocks noChangeArrowheads="1"/>
          </p:cNvSpPr>
          <p:nvPr/>
        </p:nvSpPr>
        <p:spPr bwMode="auto">
          <a:xfrm>
            <a:off x="2555776" y="1159297"/>
            <a:ext cx="3600400" cy="993775"/>
          </a:xfrm>
          <a:prstGeom prst="flowChartManualInpu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 b="1" dirty="0">
                <a:latin typeface="Verdana" pitchFamily="34" charset="0"/>
              </a:rPr>
              <a:t>อัตราเงินเดือน</a:t>
            </a:r>
            <a:r>
              <a:rPr lang="en-US" sz="2000" b="1" dirty="0">
                <a:latin typeface="Verdana" pitchFamily="34" charset="0"/>
              </a:rPr>
              <a:t> , </a:t>
            </a:r>
            <a:r>
              <a:rPr lang="th-TH" sz="2000" b="1" dirty="0">
                <a:latin typeface="Verdana" pitchFamily="34" charset="0"/>
              </a:rPr>
              <a:t>ค่าตอบแทนพิเศษ</a:t>
            </a:r>
            <a:endParaRPr lang="en-US" sz="2000" b="1" dirty="0">
              <a:latin typeface="Verdana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59632" y="3405609"/>
            <a:ext cx="6264695" cy="503238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dirty="0">
                <a:latin typeface="TH SarabunPSK" pitchFamily="34" charset="-34"/>
                <a:cs typeface="TH SarabunPSK" pitchFamily="34" charset="-34"/>
              </a:rPr>
              <a:t>เงินได้สุทธิ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เงินเดือนหักที่หักค่าประกันสังคม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 +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ค่าตอบแทนพิเศษ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 </a:t>
            </a: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4286250" y="3905672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" name="แผนผังลำดับงาน: จอภาพ 16"/>
          <p:cNvSpPr>
            <a:spLocks noChangeArrowheads="1"/>
          </p:cNvSpPr>
          <p:nvPr/>
        </p:nvSpPr>
        <p:spPr bwMode="auto">
          <a:xfrm>
            <a:off x="2714625" y="4262859"/>
            <a:ext cx="3143250" cy="642938"/>
          </a:xfrm>
          <a:prstGeom prst="flowChartDisplay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dirty="0">
                <a:latin typeface="Verdana" pitchFamily="34" charset="0"/>
              </a:rPr>
              <a:t>เงินได้สุทธิ</a:t>
            </a:r>
          </a:p>
        </p:txBody>
      </p:sp>
    </p:spTree>
    <p:extLst>
      <p:ext uri="{BB962C8B-B14F-4D97-AF65-F5344CB8AC3E}">
        <p14:creationId xmlns:p14="http://schemas.microsoft.com/office/powerpoint/2010/main" val="1294036175"/>
      </p:ext>
    </p:extLst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2123728" y="260648"/>
            <a:ext cx="6563072" cy="5865515"/>
          </a:xfrm>
        </p:spPr>
        <p:txBody>
          <a:bodyPr/>
          <a:lstStyle/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จงเขียนโปรแกรมคำนวณเงินได้สุทธิ โดยมี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อัตราเงินเดือนเท่ากับ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20,000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บาท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ค่าตอบแทนพิเศษ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5,000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จ่ายประกันสังคม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7%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ของอัตราเงินเดือน</a:t>
            </a: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1.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สิ่งที่โจทย์ต้องการ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จำนวนเงินได้สุทธิ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2.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รูปแบบผลรับ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แสดงจำนวนเงินได้สุทธิ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3.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ข้อมูลนำเข้า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เงินเดือน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,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ค่าตอบแทนพิเศษ</a:t>
            </a:r>
          </a:p>
          <a:p>
            <a:pPr marL="0" indent="0">
              <a:buNone/>
            </a:pP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 4.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ตัวแปรที่ใช้ในการประมวลผล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en-US" b="1" dirty="0">
                <a:latin typeface="TH SarabunPSK" pitchFamily="34" charset="-34"/>
                <a:cs typeface="TH SarabunPSK" pitchFamily="34" charset="-34"/>
              </a:rPr>
              <a:t>    5.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ขั้นตอนและวิธีการประมวลผล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053962310"/>
      </p:ext>
    </p:extLst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 (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selection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55577" y="1341438"/>
            <a:ext cx="7632848" cy="460784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เป็นการเขียนโปรแกรมแบบมีการเปรียบเทียบเงื่อนไข และทำงานตามคำสั่งอย่างใดอย่างหนึ่งตามเงื่อนไขที่กำหนด ผลจากการเปรียบเทียบเงื่อนไข จะให้ผลลัพธ์เป็นจริงหรือเท็จ ถ้าผลเป็นจริง ให้ทำงานตามคำสั่งด้านที่เงื่อนไขเป็นจริง ถ้าเป็นเท็จให้ทำตามคำสั่งด้านที่เงื่อนไขเป็นเท็จ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แบบทางเลือกเดียว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(IF - THEN)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แบบสองทางเลือก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(IF – THEN - ELSE)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แบบหลายทางเลือก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(IF – THEN – ELSE IF | CASE)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36376090"/>
      </p:ext>
    </p:extLst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972046" y="980728"/>
            <a:ext cx="734437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เป็นโครงสร้างการทำงานที่มีการตัดสินใจแบบมี เงื่อนไข 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ถ้าเงื่อนไขนั้นเป็น จริงจะทำอะไร แล้วถ้าเงื่อนไขนั้นเป็นเท็จ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จะทำอะไร การทำงานแบบเลือกทำ (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Selection)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นั้นถูกแบ่งได้อีก 3 รูปแบบ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	1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IF-Then 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		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เป็นจริงจะทำอะไร)</a:t>
            </a: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	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2)  IF - Then - Else 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		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 เป็นเท็จจะทำอะไร) </a:t>
            </a: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		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3) Case </a:t>
            </a:r>
            <a:br>
              <a:rPr lang="en-US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		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กรณีที่ ...)</a:t>
            </a:r>
          </a:p>
        </p:txBody>
      </p:sp>
    </p:spTree>
    <p:extLst>
      <p:ext uri="{BB962C8B-B14F-4D97-AF65-F5344CB8AC3E}">
        <p14:creationId xmlns:p14="http://schemas.microsoft.com/office/powerpoint/2010/main" val="4066678157"/>
      </p:ext>
    </p:extLst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972046" y="980728"/>
            <a:ext cx="734437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IF-Then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เป็นจริงจะทำอะไร)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รูปแบบนี้มีลักษณะการทำงานคือ ถ้าเงื่อนไขนั้นเป็นจริง จะให้ทำอะไร แต่ถ้าเงื่อนไขนั้นเป็นเท็จก็จะไม่เกิดการทำงานใดๆ ขึ้นเลย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6" name="AutoShape 2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7" name="AutoShape 4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342900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4923656" y="2785553"/>
            <a:ext cx="3968824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  <a:endParaRPr lang="en-US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 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เงื่อนไข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Then</a:t>
            </a:r>
          </a:p>
          <a:p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คำสั่งที่ 1 จะทำงานเมื่อผลลัพธ์ของเงือนไขเป็นจริง</a:t>
            </a:r>
          </a:p>
        </p:txBody>
      </p:sp>
      <p:sp>
        <p:nvSpPr>
          <p:cNvPr id="9" name="AutoShape 6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495300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9" t="27127" r="55320" b="33103"/>
          <a:stretch/>
        </p:blipFill>
        <p:spPr bwMode="auto">
          <a:xfrm>
            <a:off x="468462" y="2789798"/>
            <a:ext cx="4272456" cy="2727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AutoShape 9" descr="Flowchart ตัวอย่างโครงสร้างแบบเลือกทำ"/>
          <p:cNvSpPr>
            <a:spLocks noChangeAspect="1" noChangeArrowheads="1"/>
          </p:cNvSpPr>
          <p:nvPr/>
        </p:nvSpPr>
        <p:spPr bwMode="auto">
          <a:xfrm>
            <a:off x="712788" y="16557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0334949"/>
      </p:ext>
    </p:extLst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AutoShape 2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0" name="AutoShape 4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342900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4923656" y="1700808"/>
            <a:ext cx="3968824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  <a:endParaRPr lang="en-US" sz="32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    เอาเงินมาทำงาน 100 บาท  </a:t>
            </a:r>
          </a:p>
          <a:p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   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If 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ซื้อหมูปิ้งหรือไม่ </a:t>
            </a:r>
            <a:endParaRPr lang="en-US" sz="3200" b="1" dirty="0">
              <a:latin typeface="TH SarabunPSK" pitchFamily="34" charset="-34"/>
              <a:cs typeface="TH SarabunPSK" pitchFamily="34" charset="-34"/>
            </a:endParaRPr>
          </a:p>
          <a:p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    Then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 จ่ายค่าหมูปิ้ง 25 บาท</a:t>
            </a:r>
          </a:p>
          <a:p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  <p:sp>
        <p:nvSpPr>
          <p:cNvPr id="12" name="AutoShape 6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495300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4" name="AutoShape 9" descr="Flowchart ตัวอย่างโครงสร้างแบบเลือกทำ"/>
          <p:cNvSpPr>
            <a:spLocks noChangeAspect="1" noChangeArrowheads="1"/>
          </p:cNvSpPr>
          <p:nvPr/>
        </p:nvSpPr>
        <p:spPr bwMode="auto">
          <a:xfrm>
            <a:off x="712788" y="16557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1124446" y="1133128"/>
            <a:ext cx="73443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1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 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IF-Then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เป็นจริงจะทำอะไร)</a:t>
            </a:r>
            <a:br>
              <a:rPr lang="th-TH" sz="3200" b="1" dirty="0">
                <a:latin typeface="TH SarabunPSK" pitchFamily="34" charset="-34"/>
                <a:cs typeface="TH SarabunPSK" pitchFamily="34" charset="-34"/>
              </a:rPr>
            </a:b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6" name="AutoShape 9" descr="Flowchart ตัวอย่างโครงสร้างแบบเลือกทำ"/>
          <p:cNvSpPr>
            <a:spLocks noChangeAspect="1" noChangeArrowheads="1"/>
          </p:cNvSpPr>
          <p:nvPr/>
        </p:nvSpPr>
        <p:spPr bwMode="auto">
          <a:xfrm>
            <a:off x="865188" y="18081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7" t="17026" r="57769" b="18219"/>
          <a:stretch/>
        </p:blipFill>
        <p:spPr bwMode="auto">
          <a:xfrm>
            <a:off x="495300" y="1679593"/>
            <a:ext cx="4265955" cy="4910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469247"/>
      </p:ext>
    </p:extLst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4" name="AutoShape 2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5" name="AutoShape 4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342900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17" name="AutoShape 6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495300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972046" y="980728"/>
            <a:ext cx="763240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 - Then - Else </a:t>
            </a:r>
            <a:r>
              <a:rPr lang="en-US" sz="3200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 เป็นเท็จจะทำอะไร) รูปแบบนี้มีลักษณะการทำงานคือ ถ้าเงื่อนไขนั้นเป็นจริง จะให้ทำอะไร แล้วถ้าเงื่อนไขนั้นเป็นเท็จจะให้ทำอะไร เช่นกัน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4923656" y="2625874"/>
            <a:ext cx="3968824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  <a:endParaRPr lang="en-US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 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เงื่อนไข 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Then</a:t>
            </a:r>
          </a:p>
          <a:p>
            <a:r>
              <a:rPr lang="en-US" dirty="0">
                <a:latin typeface="TH SarabunPSK" pitchFamily="34" charset="-34"/>
                <a:cs typeface="TH SarabunPSK" pitchFamily="34" charset="-34"/>
              </a:rPr>
              <a:t>     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คำสั่งที่ 1 จะทำงานเมื่อผลลัพธ์ของเงือนไขเป็นจริง</a:t>
            </a:r>
          </a:p>
          <a:p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else</a:t>
            </a:r>
          </a:p>
          <a:p>
            <a:r>
              <a:rPr lang="en-US" dirty="0">
                <a:latin typeface="TH SarabunPSK" pitchFamily="34" charset="-34"/>
                <a:cs typeface="TH SarabunPSK" pitchFamily="34" charset="-34"/>
              </a:rPr>
              <a:t>      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คำสั่งที่ 2 จะทำงานเมื่อผลลัพธ์ของเงือนไขเป็นเท็จ</a:t>
            </a:r>
          </a:p>
        </p:txBody>
      </p:sp>
      <p:sp>
        <p:nvSpPr>
          <p:cNvPr id="23" name="AutoShape 9" descr="Flowchart ตัวอย่างโครงสร้างแบบเลือกทำ"/>
          <p:cNvSpPr>
            <a:spLocks noChangeAspect="1" noChangeArrowheads="1"/>
          </p:cNvSpPr>
          <p:nvPr/>
        </p:nvSpPr>
        <p:spPr bwMode="auto">
          <a:xfrm>
            <a:off x="712788" y="16557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6" t="38904" r="56721" b="27193"/>
          <a:stretch/>
        </p:blipFill>
        <p:spPr bwMode="auto">
          <a:xfrm>
            <a:off x="190501" y="2805415"/>
            <a:ext cx="4597524" cy="2659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528531"/>
      </p:ext>
    </p:extLst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AutoShape 2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" name="AutoShape 4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342900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7" name="AutoShape 6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495300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972046" y="980728"/>
            <a:ext cx="763240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 - Then - Else </a:t>
            </a:r>
            <a:r>
              <a:rPr lang="en-US" sz="3200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 เป็นเท็จจะทำอะไร) รูปแบบนี้มีลักษณะการทำงานคือ ถ้าเงื่อนไขนั้นเป็นจริง จะให้ทำอะไร แล้วถ้าเงื่อนไขนั้นเป็นเท็จจะให้ทำอะไร เช่นกัน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4923656" y="2625874"/>
            <a:ext cx="3968824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  <a:endParaRPr lang="en-US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 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เงื่อนไข </a:t>
            </a:r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Then</a:t>
            </a:r>
          </a:p>
          <a:p>
            <a:r>
              <a:rPr lang="en-US" dirty="0">
                <a:latin typeface="TH SarabunPSK" pitchFamily="34" charset="-34"/>
                <a:cs typeface="TH SarabunPSK" pitchFamily="34" charset="-34"/>
              </a:rPr>
              <a:t>     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คำสั่งที่ 1 จะทำงานเมื่อผลลัพธ์ของเงือนไขเป็นจริง</a:t>
            </a:r>
          </a:p>
          <a:p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else</a:t>
            </a:r>
          </a:p>
          <a:p>
            <a:r>
              <a:rPr lang="en-US" dirty="0">
                <a:latin typeface="TH SarabunPSK" pitchFamily="34" charset="-34"/>
                <a:cs typeface="TH SarabunPSK" pitchFamily="34" charset="-34"/>
              </a:rPr>
              <a:t>      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คำสั่งที่ 2 จะทำงานเมื่อผลลัพธ์ของเงือนไขเป็นเท็จ</a:t>
            </a:r>
          </a:p>
        </p:txBody>
      </p:sp>
      <p:sp>
        <p:nvSpPr>
          <p:cNvPr id="10" name="AutoShape 9" descr="Flowchart ตัวอย่างโครงสร้างแบบเลือกทำ"/>
          <p:cNvSpPr>
            <a:spLocks noChangeAspect="1" noChangeArrowheads="1"/>
          </p:cNvSpPr>
          <p:nvPr/>
        </p:nvSpPr>
        <p:spPr bwMode="auto">
          <a:xfrm>
            <a:off x="712788" y="16557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6" t="38904" r="56721" b="27193"/>
          <a:stretch/>
        </p:blipFill>
        <p:spPr bwMode="auto">
          <a:xfrm>
            <a:off x="190501" y="2805415"/>
            <a:ext cx="4597524" cy="2659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5787067"/>
      </p:ext>
    </p:extLst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AutoShape 2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6" name="AutoShape 4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342900" y="-60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7" name="AutoShape 6" descr="Flowchart โครงสร้างแบบเลือกทำ (Selection)"/>
          <p:cNvSpPr>
            <a:spLocks noChangeAspect="1" noChangeArrowheads="1"/>
          </p:cNvSpPr>
          <p:nvPr/>
        </p:nvSpPr>
        <p:spPr bwMode="auto">
          <a:xfrm>
            <a:off x="495300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972046" y="980728"/>
            <a:ext cx="76324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2</a:t>
            </a:r>
            <a:r>
              <a:rPr lang="th-TH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) </a:t>
            </a:r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IF - Then - Else </a:t>
            </a:r>
            <a:r>
              <a:rPr lang="en-US" sz="3200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ถ้า ... เป็นจริงจะทำอะไร เป็นเท็จจะทำอะไร)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4923656" y="1978962"/>
            <a:ext cx="3968824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  <a:endParaRPr lang="en-US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b="1" i="1" u="sng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เริ่มต้น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 เอาเงินมาทำงาน 100 บาท  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If 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ซื้อหมูปิ้งหรือไม่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Then</a:t>
            </a: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จ่ายค่าหมูปิ้ง 25 บาท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   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else</a:t>
            </a:r>
          </a:p>
          <a:p>
            <a:r>
              <a:rPr lang="en-US" b="1" dirty="0">
                <a:latin typeface="TH SarabunPSK" pitchFamily="34" charset="-34"/>
                <a:cs typeface="TH SarabunPSK" pitchFamily="34" charset="-34"/>
              </a:rPr>
              <a:t>       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จ่ายค่าข้าวกระเพรา 45 บาท</a:t>
            </a:r>
          </a:p>
          <a:p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</a:t>
            </a:r>
            <a:r>
              <a:rPr lang="th-TH" b="1" i="1" u="sng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จบการทำงาน</a:t>
            </a:r>
          </a:p>
        </p:txBody>
      </p:sp>
      <p:sp>
        <p:nvSpPr>
          <p:cNvPr id="10" name="AutoShape 9" descr="Flowchart ตัวอย่างโครงสร้างแบบเลือกทำ"/>
          <p:cNvSpPr>
            <a:spLocks noChangeAspect="1" noChangeArrowheads="1"/>
          </p:cNvSpPr>
          <p:nvPr/>
        </p:nvSpPr>
        <p:spPr bwMode="auto">
          <a:xfrm>
            <a:off x="712788" y="16557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t="24718" r="56430" b="12715"/>
          <a:stretch/>
        </p:blipFill>
        <p:spPr bwMode="auto">
          <a:xfrm>
            <a:off x="395536" y="1621978"/>
            <a:ext cx="4430110" cy="4576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9945871"/>
      </p:ext>
    </p:extLst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972046" y="980728"/>
            <a:ext cx="73443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3) Case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กรณีที่ ...) 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รูปแบบการทำงานคือ ตรวจสอบว่า ค่าข้อมูลที่นำมาเปรียบเทียบนั้นตรงกับเงื่อนไขใด ถ้าเป็นจริงก็เข้ากรณีนั้น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5283696" y="2060848"/>
            <a:ext cx="3968824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ตัวอย่าง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source code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TH SarabunPSK" pitchFamily="34" charset="-34"/>
                <a:cs typeface="TH SarabunPSK" pitchFamily="34" charset="-34"/>
              </a:rPr>
              <a:t>ของการวางคำสั่ง</a:t>
            </a:r>
            <a:endParaRPr lang="en-US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en-US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 Case </a:t>
            </a:r>
            <a:r>
              <a:rPr lang="th-TH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ข้อมูล</a:t>
            </a:r>
          </a:p>
          <a:p>
            <a:r>
              <a:rPr lang="th-TH" dirty="0">
                <a:latin typeface="TH SarabunPSK" pitchFamily="34" charset="-34"/>
                <a:cs typeface="TH SarabunPSK" pitchFamily="34" charset="-34"/>
              </a:rPr>
              <a:t>    </a:t>
            </a:r>
            <a:r>
              <a:rPr lang="th-TH" dirty="0" err="1">
                <a:latin typeface="TH SarabunPSK" pitchFamily="34" charset="-34"/>
                <a:cs typeface="TH SarabunPSK" pitchFamily="34" charset="-34"/>
              </a:rPr>
              <a:t>กรณี่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ที่ 1 : คำสั่งที่ 1</a:t>
            </a:r>
          </a:p>
          <a:p>
            <a:r>
              <a:rPr lang="th-TH" dirty="0">
                <a:latin typeface="TH SarabunPSK" pitchFamily="34" charset="-34"/>
                <a:cs typeface="TH SarabunPSK" pitchFamily="34" charset="-34"/>
              </a:rPr>
              <a:t>    กรณีที่ 2 : คำสั่งที่ 2</a:t>
            </a:r>
          </a:p>
          <a:p>
            <a:r>
              <a:rPr lang="th-TH" dirty="0">
                <a:latin typeface="TH SarabunPSK" pitchFamily="34" charset="-34"/>
                <a:cs typeface="TH SarabunPSK" pitchFamily="34" charset="-34"/>
              </a:rPr>
              <a:t>    กรณีที่ 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n : </a:t>
            </a:r>
            <a:r>
              <a:rPr lang="th-TH" dirty="0">
                <a:latin typeface="TH SarabunPSK" pitchFamily="34" charset="-34"/>
                <a:cs typeface="TH SarabunPSK" pitchFamily="34" charset="-34"/>
              </a:rPr>
              <a:t>คำสั่งที่ </a:t>
            </a:r>
            <a:r>
              <a:rPr lang="en-US" dirty="0">
                <a:latin typeface="TH SarabunPSK" pitchFamily="34" charset="-34"/>
                <a:cs typeface="TH SarabunPSK" pitchFamily="34" charset="-34"/>
              </a:rPr>
              <a:t>n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27937" r="53753" b="45997"/>
          <a:stretch/>
        </p:blipFill>
        <p:spPr bwMode="auto">
          <a:xfrm>
            <a:off x="251520" y="2130399"/>
            <a:ext cx="5018851" cy="1906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1584451"/>
      </p:ext>
    </p:extLst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972046" y="980728"/>
            <a:ext cx="73443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3) Case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กรณีที่ ...) </a:t>
            </a:r>
            <a:r>
              <a:rPr lang="th-TH" sz="3200" dirty="0">
                <a:latin typeface="TH SarabunPSK" pitchFamily="34" charset="-34"/>
                <a:cs typeface="TH SarabunPSK" pitchFamily="34" charset="-34"/>
              </a:rPr>
              <a:t>รูปแบบการทำงานคือ ตรวจสอบว่า ค่าข้อมูลที่นำมาเปรียบเทียบนั้นตรงกับเงื่อนไขใด ถ้าเป็นจริงก็เข้ากรณีนั้น</a:t>
            </a: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283696" y="2060848"/>
            <a:ext cx="396882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th-TH" sz="2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  <a:p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    เอาเงินมาทำงาน 100 บาท  </a:t>
            </a:r>
          </a:p>
          <a:p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    </a:t>
            </a:r>
            <a:r>
              <a:rPr lang="en-US" sz="2400" b="1" dirty="0">
                <a:latin typeface="TH SarabunPSK" pitchFamily="34" charset="-34"/>
                <a:cs typeface="TH SarabunPSK" pitchFamily="34" charset="-34"/>
              </a:rPr>
              <a:t>Case 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เลือกกินอะไร ?</a:t>
            </a:r>
          </a:p>
          <a:p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      </a:t>
            </a:r>
            <a:r>
              <a:rPr lang="th-TH" sz="2400" b="1" dirty="0" err="1">
                <a:latin typeface="TH SarabunPSK" pitchFamily="34" charset="-34"/>
                <a:cs typeface="TH SarabunPSK" pitchFamily="34" charset="-34"/>
              </a:rPr>
              <a:t>กรณี่</a:t>
            </a:r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ที่ 1 "ข้าวกระเพรา" : จ่ายค่าข้าวกระเพรา 45 บาท</a:t>
            </a:r>
          </a:p>
          <a:p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      กรณีที่ 2 "หมูปิ้ง" : จ่ายค่าหมูปิ้ง 25 บาท</a:t>
            </a:r>
          </a:p>
          <a:p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      กรณีที่ 3 "ไม่กินอะไรเลย" : ไม่จ่าย</a:t>
            </a:r>
          </a:p>
          <a:p>
            <a:r>
              <a:rPr lang="th-TH" sz="24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  จบการทำงาน</a:t>
            </a:r>
          </a:p>
          <a:p>
            <a:r>
              <a:rPr lang="th-TH" sz="2400" b="1" dirty="0">
                <a:latin typeface="TH SarabunPSK" pitchFamily="34" charset="-34"/>
                <a:cs typeface="TH SarabunPSK" pitchFamily="34" charset="-34"/>
              </a:rPr>
              <a:t>    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" t="25862" r="53996" b="28664"/>
          <a:stretch/>
        </p:blipFill>
        <p:spPr bwMode="auto">
          <a:xfrm>
            <a:off x="131818" y="2079362"/>
            <a:ext cx="5108028" cy="332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6656646"/>
      </p:ext>
    </p:extLst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539750" y="1557338"/>
            <a:ext cx="3887788" cy="4105275"/>
            <a:chOff x="386" y="709"/>
            <a:chExt cx="2449" cy="2586"/>
          </a:xfrm>
        </p:grpSpPr>
        <p:sp>
          <p:nvSpPr>
            <p:cNvPr id="6" name="AutoShape 38"/>
            <p:cNvSpPr>
              <a:spLocks noChangeArrowheads="1"/>
            </p:cNvSpPr>
            <p:nvPr/>
          </p:nvSpPr>
          <p:spPr bwMode="auto">
            <a:xfrm>
              <a:off x="431" y="1117"/>
              <a:ext cx="999" cy="54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เงื่อนไข</a:t>
              </a:r>
            </a:p>
          </p:txBody>
        </p:sp>
        <p:sp>
          <p:nvSpPr>
            <p:cNvPr id="7" name="Rectangle 39"/>
            <p:cNvSpPr>
              <a:spLocks noChangeArrowheads="1"/>
            </p:cNvSpPr>
            <p:nvPr/>
          </p:nvSpPr>
          <p:spPr bwMode="auto">
            <a:xfrm>
              <a:off x="1837" y="1752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ประโยคงาน</a:t>
              </a: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429" y="1389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2291" y="1389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Rectangle 42"/>
            <p:cNvSpPr>
              <a:spLocks noChangeArrowheads="1"/>
            </p:cNvSpPr>
            <p:nvPr/>
          </p:nvSpPr>
          <p:spPr bwMode="auto">
            <a:xfrm>
              <a:off x="386" y="2886"/>
              <a:ext cx="1270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งานลำดับถัดไป</a:t>
              </a:r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>
              <a:off x="930" y="1661"/>
              <a:ext cx="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839" y="2251"/>
              <a:ext cx="182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3" name="Line 45"/>
            <p:cNvSpPr>
              <a:spLocks noChangeShapeType="1"/>
            </p:cNvSpPr>
            <p:nvPr/>
          </p:nvSpPr>
          <p:spPr bwMode="auto">
            <a:xfrm>
              <a:off x="930" y="2432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46"/>
            <p:cNvSpPr>
              <a:spLocks noChangeShapeType="1"/>
            </p:cNvSpPr>
            <p:nvPr/>
          </p:nvSpPr>
          <p:spPr bwMode="auto">
            <a:xfrm>
              <a:off x="930" y="709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47"/>
            <p:cNvSpPr>
              <a:spLocks noChangeShapeType="1"/>
            </p:cNvSpPr>
            <p:nvPr/>
          </p:nvSpPr>
          <p:spPr bwMode="auto">
            <a:xfrm>
              <a:off x="2291" y="2160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48"/>
            <p:cNvSpPr>
              <a:spLocks noChangeShapeType="1"/>
            </p:cNvSpPr>
            <p:nvPr/>
          </p:nvSpPr>
          <p:spPr bwMode="auto">
            <a:xfrm flipH="1">
              <a:off x="1021" y="2341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 Box 49"/>
            <p:cNvSpPr txBox="1">
              <a:spLocks noChangeArrowheads="1"/>
            </p:cNvSpPr>
            <p:nvPr/>
          </p:nvSpPr>
          <p:spPr bwMode="auto">
            <a:xfrm>
              <a:off x="1689" y="1107"/>
              <a:ext cx="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b="1">
                  <a:solidFill>
                    <a:srgbClr val="0000CC"/>
                  </a:solidFill>
                </a:rPr>
                <a:t>จริง</a:t>
              </a:r>
            </a:p>
          </p:txBody>
        </p:sp>
        <p:sp>
          <p:nvSpPr>
            <p:cNvPr id="18" name="Text Box 50"/>
            <p:cNvSpPr txBox="1">
              <a:spLocks noChangeArrowheads="1"/>
            </p:cNvSpPr>
            <p:nvPr/>
          </p:nvSpPr>
          <p:spPr bwMode="auto">
            <a:xfrm>
              <a:off x="930" y="170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b="1">
                  <a:solidFill>
                    <a:srgbClr val="0000CC"/>
                  </a:solidFill>
                </a:rPr>
                <a:t>เท็จ</a:t>
              </a:r>
            </a:p>
          </p:txBody>
        </p:sp>
      </p:grpSp>
      <p:grpSp>
        <p:nvGrpSpPr>
          <p:cNvPr id="19" name="Group 68"/>
          <p:cNvGrpSpPr>
            <a:grpSpLocks/>
          </p:cNvGrpSpPr>
          <p:nvPr/>
        </p:nvGrpSpPr>
        <p:grpSpPr bwMode="auto">
          <a:xfrm>
            <a:off x="4645025" y="1125538"/>
            <a:ext cx="4103688" cy="5183187"/>
            <a:chOff x="2926" y="709"/>
            <a:chExt cx="2585" cy="3265"/>
          </a:xfrm>
        </p:grpSpPr>
        <p:sp>
          <p:nvSpPr>
            <p:cNvPr id="20" name="AutoShape 52"/>
            <p:cNvSpPr>
              <a:spLocks noChangeArrowheads="1"/>
            </p:cNvSpPr>
            <p:nvPr/>
          </p:nvSpPr>
          <p:spPr bwMode="auto">
            <a:xfrm>
              <a:off x="2971" y="1117"/>
              <a:ext cx="999" cy="54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เงื่อนไข</a:t>
              </a:r>
            </a:p>
          </p:txBody>
        </p:sp>
        <p:sp>
          <p:nvSpPr>
            <p:cNvPr id="21" name="Rectangle 53"/>
            <p:cNvSpPr>
              <a:spLocks noChangeArrowheads="1"/>
            </p:cNvSpPr>
            <p:nvPr/>
          </p:nvSpPr>
          <p:spPr bwMode="auto">
            <a:xfrm>
              <a:off x="4377" y="1752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ประโยคงาน 1</a:t>
              </a:r>
            </a:p>
          </p:txBody>
        </p:sp>
        <p:sp>
          <p:nvSpPr>
            <p:cNvPr id="22" name="Line 54"/>
            <p:cNvSpPr>
              <a:spLocks noChangeShapeType="1"/>
            </p:cNvSpPr>
            <p:nvPr/>
          </p:nvSpPr>
          <p:spPr bwMode="auto">
            <a:xfrm>
              <a:off x="3969" y="1389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3" name="Line 55"/>
            <p:cNvSpPr>
              <a:spLocks noChangeShapeType="1"/>
            </p:cNvSpPr>
            <p:nvPr/>
          </p:nvSpPr>
          <p:spPr bwMode="auto">
            <a:xfrm>
              <a:off x="4831" y="1389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4" name="Rectangle 56"/>
            <p:cNvSpPr>
              <a:spLocks noChangeArrowheads="1"/>
            </p:cNvSpPr>
            <p:nvPr/>
          </p:nvSpPr>
          <p:spPr bwMode="auto">
            <a:xfrm>
              <a:off x="2926" y="3565"/>
              <a:ext cx="1270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งานลำดับถัดไป</a:t>
              </a:r>
            </a:p>
          </p:txBody>
        </p:sp>
        <p:sp>
          <p:nvSpPr>
            <p:cNvPr id="25" name="Line 57"/>
            <p:cNvSpPr>
              <a:spLocks noChangeShapeType="1"/>
            </p:cNvSpPr>
            <p:nvPr/>
          </p:nvSpPr>
          <p:spPr bwMode="auto">
            <a:xfrm>
              <a:off x="3470" y="1661"/>
              <a:ext cx="0" cy="12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Oval 58"/>
            <p:cNvSpPr>
              <a:spLocks noChangeArrowheads="1"/>
            </p:cNvSpPr>
            <p:nvPr/>
          </p:nvSpPr>
          <p:spPr bwMode="auto">
            <a:xfrm>
              <a:off x="3379" y="2930"/>
              <a:ext cx="182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7" name="Line 59"/>
            <p:cNvSpPr>
              <a:spLocks noChangeShapeType="1"/>
            </p:cNvSpPr>
            <p:nvPr/>
          </p:nvSpPr>
          <p:spPr bwMode="auto">
            <a:xfrm>
              <a:off x="3470" y="3111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>
              <a:off x="3470" y="709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Line 61"/>
            <p:cNvSpPr>
              <a:spLocks noChangeShapeType="1"/>
            </p:cNvSpPr>
            <p:nvPr/>
          </p:nvSpPr>
          <p:spPr bwMode="auto">
            <a:xfrm>
              <a:off x="4831" y="216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0" name="Line 62"/>
            <p:cNvSpPr>
              <a:spLocks noChangeShapeType="1"/>
            </p:cNvSpPr>
            <p:nvPr/>
          </p:nvSpPr>
          <p:spPr bwMode="auto">
            <a:xfrm flipH="1">
              <a:off x="3561" y="3021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1" name="Text Box 63"/>
            <p:cNvSpPr txBox="1">
              <a:spLocks noChangeArrowheads="1"/>
            </p:cNvSpPr>
            <p:nvPr/>
          </p:nvSpPr>
          <p:spPr bwMode="auto">
            <a:xfrm>
              <a:off x="4229" y="1107"/>
              <a:ext cx="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b="1">
                  <a:solidFill>
                    <a:srgbClr val="0000CC"/>
                  </a:solidFill>
                </a:rPr>
                <a:t>จริง</a:t>
              </a:r>
            </a:p>
          </p:txBody>
        </p:sp>
        <p:sp>
          <p:nvSpPr>
            <p:cNvPr id="32" name="Text Box 64"/>
            <p:cNvSpPr txBox="1">
              <a:spLocks noChangeArrowheads="1"/>
            </p:cNvSpPr>
            <p:nvPr/>
          </p:nvSpPr>
          <p:spPr bwMode="auto">
            <a:xfrm>
              <a:off x="3470" y="170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b="1">
                  <a:solidFill>
                    <a:srgbClr val="0000CC"/>
                  </a:solidFill>
                </a:rPr>
                <a:t>เท็จ</a:t>
              </a:r>
            </a:p>
          </p:txBody>
        </p:sp>
        <p:sp>
          <p:nvSpPr>
            <p:cNvPr id="33" name="Rectangle 65"/>
            <p:cNvSpPr>
              <a:spLocks noChangeArrowheads="1"/>
            </p:cNvSpPr>
            <p:nvPr/>
          </p:nvSpPr>
          <p:spPr bwMode="auto">
            <a:xfrm>
              <a:off x="4332" y="2387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ประโยคงาน 2</a:t>
              </a:r>
            </a:p>
          </p:txBody>
        </p:sp>
        <p:sp>
          <p:nvSpPr>
            <p:cNvPr id="34" name="Line 66"/>
            <p:cNvSpPr>
              <a:spLocks noChangeShapeType="1"/>
            </p:cNvSpPr>
            <p:nvPr/>
          </p:nvSpPr>
          <p:spPr bwMode="auto">
            <a:xfrm>
              <a:off x="4831" y="2795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Rectangle 67"/>
            <p:cNvSpPr>
              <a:spLocks noChangeArrowheads="1"/>
            </p:cNvSpPr>
            <p:nvPr/>
          </p:nvSpPr>
          <p:spPr bwMode="auto">
            <a:xfrm>
              <a:off x="4151" y="1570"/>
              <a:ext cx="1360" cy="1361"/>
            </a:xfrm>
            <a:prstGeom prst="rect">
              <a:avLst/>
            </a:prstGeom>
            <a:noFill/>
            <a:ln w="28575">
              <a:solidFill>
                <a:srgbClr val="6699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503774687"/>
      </p:ext>
    </p:extLst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835150" y="1484313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START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1835150" y="5516563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STOP</a:t>
            </a: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2482850" y="28527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2482850" y="393382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2482850" y="5084763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1617663" y="2276475"/>
            <a:ext cx="1727200" cy="576263"/>
          </a:xfrm>
          <a:prstGeom prst="flowChartInputOutpu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/>
              <a:t>read age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2482850" y="1916113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AutoShape 16"/>
          <p:cNvSpPr>
            <a:spLocks noChangeArrowheads="1"/>
          </p:cNvSpPr>
          <p:nvPr/>
        </p:nvSpPr>
        <p:spPr bwMode="auto">
          <a:xfrm>
            <a:off x="1690688" y="3213100"/>
            <a:ext cx="1584325" cy="720725"/>
          </a:xfrm>
          <a:prstGeom prst="flowChartDecision">
            <a:avLst/>
          </a:prstGeom>
          <a:solidFill>
            <a:srgbClr val="00B8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age &gt; 60</a:t>
            </a:r>
          </a:p>
        </p:txBody>
      </p:sp>
      <p:sp>
        <p:nvSpPr>
          <p:cNvPr id="13" name="AutoShape 18"/>
          <p:cNvSpPr>
            <a:spLocks noChangeArrowheads="1"/>
          </p:cNvSpPr>
          <p:nvPr/>
        </p:nvSpPr>
        <p:spPr bwMode="auto">
          <a:xfrm>
            <a:off x="1474788" y="4292600"/>
            <a:ext cx="1944687" cy="792163"/>
          </a:xfrm>
          <a:prstGeom prst="flowChartDisplay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imes New Roman" pitchFamily="18" charset="0"/>
              </a:rPr>
              <a:t>“</a:t>
            </a:r>
            <a:r>
              <a:rPr lang="en-US" sz="2000"/>
              <a:t>You are old</a:t>
            </a:r>
            <a:r>
              <a:rPr lang="en-US" sz="2000">
                <a:latin typeface="Times New Roman" pitchFamily="18" charset="0"/>
              </a:rPr>
              <a:t>”</a:t>
            </a:r>
            <a:r>
              <a:rPr lang="en-US" sz="2000"/>
              <a:t> </a:t>
            </a:r>
            <a:endParaRPr lang="th-TH" sz="2000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>
            <a:off x="3275013" y="3573463"/>
            <a:ext cx="5762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3851275" y="3573463"/>
            <a:ext cx="0" cy="1727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 flipH="1">
            <a:off x="2482850" y="5300663"/>
            <a:ext cx="13684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2535238" y="3856038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</a:rPr>
              <a:t>true</a:t>
            </a: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3201988" y="32131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</a:rPr>
              <a:t>false</a:t>
            </a: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4324350" y="1484313"/>
            <a:ext cx="1006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Cordia New" pitchFamily="34" charset="-34"/>
                <a:cs typeface="Cordia New" pitchFamily="34" charset="-34"/>
              </a:rPr>
              <a:t>เริ่มต้น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4356100" y="2276475"/>
            <a:ext cx="2560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Cordia New" pitchFamily="34" charset="-34"/>
                <a:cs typeface="Cordia New" pitchFamily="34" charset="-34"/>
              </a:rPr>
              <a:t>รับค่าใส่ตัวแปร </a:t>
            </a:r>
            <a:r>
              <a:rPr lang="en-US" sz="3200" b="1">
                <a:latin typeface="Cordia New" pitchFamily="34" charset="-34"/>
                <a:cs typeface="Cordia New" pitchFamily="34" charset="-34"/>
              </a:rPr>
              <a:t>age</a:t>
            </a:r>
            <a:endParaRPr lang="th-TH" sz="3200" b="1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4291013" y="4148138"/>
            <a:ext cx="46688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Cordia New" pitchFamily="34" charset="-34"/>
                <a:cs typeface="Cordia New" pitchFamily="34" charset="-34"/>
              </a:rPr>
              <a:t>ถ้าเป็นจริง พิมพ์ข้อความ </a:t>
            </a:r>
            <a:r>
              <a:rPr lang="en-US" sz="3200" b="1">
                <a:latin typeface="Cordia New" pitchFamily="34" charset="-34"/>
                <a:cs typeface="Cordia New" pitchFamily="34" charset="-34"/>
              </a:rPr>
              <a:t>You are old</a:t>
            </a:r>
          </a:p>
          <a:p>
            <a:pPr eaLnBrk="1" hangingPunct="1"/>
            <a:r>
              <a:rPr lang="th-TH" sz="3200" b="1">
                <a:latin typeface="Cordia New" pitchFamily="34" charset="-34"/>
                <a:cs typeface="Cordia New" pitchFamily="34" charset="-34"/>
              </a:rPr>
              <a:t>ถ้าเป็นเท็จ ไม่ต้องทำอะไร</a:t>
            </a: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4284663" y="5445125"/>
            <a:ext cx="1836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Cordia New" pitchFamily="34" charset="-34"/>
                <a:cs typeface="Cordia New" pitchFamily="34" charset="-34"/>
              </a:rPr>
              <a:t>จบการทำงาน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4356100" y="3141663"/>
            <a:ext cx="3997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Cordia New" pitchFamily="34" charset="-34"/>
                <a:cs typeface="Cordia New" pitchFamily="34" charset="-34"/>
              </a:rPr>
              <a:t>เปรียบเทียบค่า </a:t>
            </a:r>
            <a:r>
              <a:rPr lang="en-US" sz="3200" b="1">
                <a:latin typeface="Cordia New" pitchFamily="34" charset="-34"/>
                <a:cs typeface="Cordia New" pitchFamily="34" charset="-34"/>
              </a:rPr>
              <a:t>age </a:t>
            </a:r>
            <a:r>
              <a:rPr lang="th-TH" sz="3200" b="1">
                <a:latin typeface="Cordia New" pitchFamily="34" charset="-34"/>
                <a:cs typeface="Cordia New" pitchFamily="34" charset="-34"/>
              </a:rPr>
              <a:t>มากกว่า </a:t>
            </a:r>
            <a:r>
              <a:rPr lang="en-US" sz="3200" b="1">
                <a:latin typeface="Cordia New" pitchFamily="34" charset="-34"/>
                <a:cs typeface="Cordia New" pitchFamily="34" charset="-34"/>
              </a:rPr>
              <a:t>60</a:t>
            </a:r>
            <a:endParaRPr lang="th-TH" sz="3200" b="1">
              <a:latin typeface="Cordia New" pitchFamily="34" charset="-34"/>
              <a:cs typeface="Cordia New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21448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395288" y="1557338"/>
            <a:ext cx="446405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รับค่า รหัสผ่านจากผู้ใช้ </a:t>
            </a:r>
            <a:br>
              <a:rPr lang="th-TH" sz="3600" b="1" dirty="0">
                <a:latin typeface="TH SarabunPSK" pitchFamily="34" charset="-34"/>
                <a:cs typeface="TH SarabunPSK" pitchFamily="34" charset="-34"/>
              </a:rPr>
            </a:b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ถ้ารหัสผ่านที่ป้อนมีค่า </a:t>
            </a:r>
            <a:r>
              <a:rPr lang="en-US" sz="3600" b="1" dirty="0" err="1">
                <a:latin typeface="TH SarabunPSK" pitchFamily="34" charset="-34"/>
                <a:cs typeface="TH SarabunPSK" pitchFamily="34" charset="-34"/>
              </a:rPr>
              <a:t>GoodLuck</a:t>
            </a:r>
            <a:r>
              <a:rPr lang="en-US" sz="3600" b="1" dirty="0">
                <a:latin typeface="TH SarabunPSK" pitchFamily="34" charset="-34"/>
                <a:cs typeface="TH SarabunPSK" pitchFamily="34" charset="-34"/>
              </a:rPr>
              <a:t> </a:t>
            </a: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ให้แสดงข้อว่า </a:t>
            </a:r>
            <a:r>
              <a:rPr lang="en-US" sz="3600" b="1" dirty="0">
                <a:latin typeface="TH SarabunPSK" pitchFamily="34" charset="-34"/>
                <a:cs typeface="TH SarabunPSK" pitchFamily="34" charset="-34"/>
              </a:rPr>
              <a:t>Welcome Manager </a:t>
            </a:r>
            <a:r>
              <a:rPr lang="th-TH" sz="3600" b="1" dirty="0">
                <a:latin typeface="TH SarabunPSK" pitchFamily="34" charset="-34"/>
                <a:cs typeface="TH SarabunPSK" pitchFamily="34" charset="-34"/>
              </a:rPr>
              <a:t>และข้อความ </a:t>
            </a:r>
            <a:r>
              <a:rPr lang="en-US" sz="3600" b="1" dirty="0">
                <a:latin typeface="TH SarabunPSK" pitchFamily="34" charset="-34"/>
                <a:cs typeface="TH SarabunPSK" pitchFamily="34" charset="-34"/>
              </a:rPr>
              <a:t>Exit Password System</a:t>
            </a:r>
            <a:endParaRPr lang="th-TH" sz="3600" b="1" dirty="0"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27" name="Group 24"/>
          <p:cNvGrpSpPr>
            <a:grpSpLocks/>
          </p:cNvGrpSpPr>
          <p:nvPr/>
        </p:nvGrpSpPr>
        <p:grpSpPr bwMode="auto">
          <a:xfrm>
            <a:off x="5219700" y="1125538"/>
            <a:ext cx="3024188" cy="5589587"/>
            <a:chOff x="3288" y="709"/>
            <a:chExt cx="1905" cy="3521"/>
          </a:xfrm>
        </p:grpSpPr>
        <p:sp>
          <p:nvSpPr>
            <p:cNvPr id="28" name="AutoShape 4"/>
            <p:cNvSpPr>
              <a:spLocks noChangeArrowheads="1"/>
            </p:cNvSpPr>
            <p:nvPr/>
          </p:nvSpPr>
          <p:spPr bwMode="auto">
            <a:xfrm>
              <a:off x="3650" y="709"/>
              <a:ext cx="907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/>
                <a:t>เริ่ม</a:t>
              </a:r>
            </a:p>
          </p:txBody>
        </p:sp>
        <p:sp>
          <p:nvSpPr>
            <p:cNvPr id="29" name="AutoShape 5"/>
            <p:cNvSpPr>
              <a:spLocks noChangeArrowheads="1"/>
            </p:cNvSpPr>
            <p:nvPr/>
          </p:nvSpPr>
          <p:spPr bwMode="auto">
            <a:xfrm>
              <a:off x="3333" y="1208"/>
              <a:ext cx="1542" cy="362"/>
            </a:xfrm>
            <a:prstGeom prst="flowChartInputOutpu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Angsana New" pitchFamily="18" charset="-34"/>
                </a:rPr>
                <a:t>รับค่า </a:t>
              </a:r>
              <a:r>
                <a:rPr lang="en-US" sz="1800" b="1">
                  <a:latin typeface="Angsana New" pitchFamily="18" charset="-34"/>
                </a:rPr>
                <a:t>ans</a:t>
              </a:r>
              <a:endParaRPr lang="th-TH" sz="1800" b="1">
                <a:latin typeface="Angsana New" pitchFamily="18" charset="-34"/>
              </a:endParaRPr>
            </a:p>
          </p:txBody>
        </p:sp>
        <p:sp>
          <p:nvSpPr>
            <p:cNvPr id="30" name="AutoShape 6"/>
            <p:cNvSpPr>
              <a:spLocks noChangeArrowheads="1"/>
            </p:cNvSpPr>
            <p:nvPr/>
          </p:nvSpPr>
          <p:spPr bwMode="auto">
            <a:xfrm>
              <a:off x="3424" y="1798"/>
              <a:ext cx="1269" cy="45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/>
                <a:t>ans = “GoodLuck”</a:t>
              </a:r>
              <a:endParaRPr lang="th-TH" sz="1800" b="1"/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>
              <a:off x="4104" y="981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4059" y="1571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>
              <a:off x="4694" y="2025"/>
              <a:ext cx="49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4059" y="2251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>
              <a:off x="4059" y="2841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6" name="Oval 13"/>
            <p:cNvSpPr>
              <a:spLocks noChangeArrowheads="1"/>
            </p:cNvSpPr>
            <p:nvPr/>
          </p:nvSpPr>
          <p:spPr bwMode="auto">
            <a:xfrm>
              <a:off x="3968" y="3612"/>
              <a:ext cx="183" cy="182"/>
            </a:xfrm>
            <a:prstGeom prst="ellipse">
              <a:avLst/>
            </a:prstGeom>
            <a:solidFill>
              <a:srgbClr val="D0BBE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 sz="1800"/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>
              <a:off x="4059" y="3431"/>
              <a:ext cx="0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 flipH="1">
              <a:off x="4150" y="3703"/>
              <a:ext cx="104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39" name="Line 16"/>
            <p:cNvSpPr>
              <a:spLocks noChangeShapeType="1"/>
            </p:cNvSpPr>
            <p:nvPr/>
          </p:nvSpPr>
          <p:spPr bwMode="auto">
            <a:xfrm>
              <a:off x="5193" y="2025"/>
              <a:ext cx="0" cy="167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  <p:sp>
          <p:nvSpPr>
            <p:cNvPr id="40" name="AutoShape 17"/>
            <p:cNvSpPr>
              <a:spLocks noChangeArrowheads="1"/>
            </p:cNvSpPr>
            <p:nvPr/>
          </p:nvSpPr>
          <p:spPr bwMode="auto">
            <a:xfrm>
              <a:off x="3288" y="2478"/>
              <a:ext cx="1542" cy="363"/>
            </a:xfrm>
            <a:prstGeom prst="flowChartInputOutpu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/>
                <a:t>พิมพ์ </a:t>
              </a:r>
              <a:r>
                <a:rPr lang="en-US" sz="1800" b="1"/>
                <a:t>Welcome </a:t>
              </a:r>
            </a:p>
            <a:p>
              <a:pPr algn="ctr"/>
              <a:r>
                <a:rPr lang="en-US" sz="1800" b="1"/>
                <a:t>Manager</a:t>
              </a:r>
              <a:endParaRPr lang="th-TH" sz="1800" b="1"/>
            </a:p>
          </p:txBody>
        </p:sp>
        <p:sp>
          <p:nvSpPr>
            <p:cNvPr id="41" name="AutoShape 18"/>
            <p:cNvSpPr>
              <a:spLocks noChangeArrowheads="1"/>
            </p:cNvSpPr>
            <p:nvPr/>
          </p:nvSpPr>
          <p:spPr bwMode="auto">
            <a:xfrm>
              <a:off x="3288" y="3068"/>
              <a:ext cx="1542" cy="363"/>
            </a:xfrm>
            <a:prstGeom prst="flowChartInputOutpu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/>
                <a:t>พิมพ์ </a:t>
              </a:r>
              <a:r>
                <a:rPr lang="en-US" sz="1800" b="1"/>
                <a:t>Exit Password</a:t>
              </a:r>
            </a:p>
            <a:p>
              <a:pPr algn="ctr"/>
              <a:r>
                <a:rPr lang="en-US" sz="1800" b="1"/>
                <a:t>System</a:t>
              </a:r>
              <a:endParaRPr lang="th-TH" sz="1800" b="1"/>
            </a:p>
          </p:txBody>
        </p:sp>
        <p:sp>
          <p:nvSpPr>
            <p:cNvPr id="42" name="AutoShape 19"/>
            <p:cNvSpPr>
              <a:spLocks noChangeArrowheads="1"/>
            </p:cNvSpPr>
            <p:nvPr/>
          </p:nvSpPr>
          <p:spPr bwMode="auto">
            <a:xfrm>
              <a:off x="3605" y="3958"/>
              <a:ext cx="907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/>
                <a:t>จบ</a:t>
              </a:r>
            </a:p>
          </p:txBody>
        </p:sp>
        <p:sp>
          <p:nvSpPr>
            <p:cNvPr id="43" name="Text Box 20"/>
            <p:cNvSpPr txBox="1">
              <a:spLocks noChangeArrowheads="1"/>
            </p:cNvSpPr>
            <p:nvPr/>
          </p:nvSpPr>
          <p:spPr bwMode="auto">
            <a:xfrm>
              <a:off x="4014" y="2168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1800" b="1">
                  <a:solidFill>
                    <a:srgbClr val="0000CC"/>
                  </a:solidFill>
                  <a:latin typeface="Cordia New" pitchFamily="34" charset="-34"/>
                  <a:cs typeface="Cordia New" pitchFamily="34" charset="-34"/>
                </a:rPr>
                <a:t>จริง</a:t>
              </a:r>
            </a:p>
          </p:txBody>
        </p:sp>
        <p:sp>
          <p:nvSpPr>
            <p:cNvPr id="44" name="Text Box 21"/>
            <p:cNvSpPr txBox="1">
              <a:spLocks noChangeArrowheads="1"/>
            </p:cNvSpPr>
            <p:nvPr/>
          </p:nvSpPr>
          <p:spPr bwMode="auto">
            <a:xfrm>
              <a:off x="4649" y="1707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1800" b="1">
                  <a:solidFill>
                    <a:srgbClr val="0000CC"/>
                  </a:solidFill>
                </a:rPr>
                <a:t>เท็จ</a:t>
              </a:r>
            </a:p>
          </p:txBody>
        </p:sp>
        <p:sp>
          <p:nvSpPr>
            <p:cNvPr id="45" name="Line 23"/>
            <p:cNvSpPr>
              <a:spLocks noChangeShapeType="1"/>
            </p:cNvSpPr>
            <p:nvPr/>
          </p:nvSpPr>
          <p:spPr bwMode="auto">
            <a:xfrm>
              <a:off x="4059" y="3794"/>
              <a:ext cx="0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 sz="1800"/>
            </a:p>
          </p:txBody>
        </p:sp>
      </p:grpSp>
    </p:spTree>
    <p:extLst>
      <p:ext uri="{BB962C8B-B14F-4D97-AF65-F5344CB8AC3E}">
        <p14:creationId xmlns:p14="http://schemas.microsoft.com/office/powerpoint/2010/main" val="3950978596"/>
      </p:ext>
    </p:extLst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07704" y="1124744"/>
            <a:ext cx="6984901" cy="53276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บริษัทแห่งหนึ่งต้องการเพิ่มเงินเดือนให้พนักงานที่มีเงินเดือนต่ำกว่า 5000 อีกคนละ 10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%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และให้พนักงาน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ทุกคนได้รับโบนัสคนละ 3 เท่าของเงินเดือน</a:t>
            </a:r>
          </a:p>
          <a:p>
            <a:pPr>
              <a:lnSpc>
                <a:spcPct val="90000"/>
              </a:lnSpc>
            </a:pPr>
            <a:r>
              <a:rPr lang="th-TH" b="1" dirty="0">
                <a:solidFill>
                  <a:srgbClr val="0000CC"/>
                </a:solidFill>
                <a:latin typeface="TH SarabunPSK" pitchFamily="34" charset="-34"/>
                <a:cs typeface="TH SarabunPSK" pitchFamily="34" charset="-34"/>
              </a:rPr>
              <a:t>ขั้นตอนการประมวลผล</a:t>
            </a:r>
          </a:p>
          <a:p>
            <a:pPr lvl="1">
              <a:lnSpc>
                <a:spcPct val="90000"/>
              </a:lnSpc>
              <a:buFontTx/>
              <a:buAutoNum type="arabicPeriod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รับค่าชื่อพนักงาน . เงินเดือน</a:t>
            </a:r>
          </a:p>
          <a:p>
            <a:pPr lvl="1">
              <a:lnSpc>
                <a:spcPct val="90000"/>
              </a:lnSpc>
              <a:buFontTx/>
              <a:buAutoNum type="arabicPeriod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เปรียบเทียบค่า เงินเดือน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- ถ้าน้อยกว่า 5000 ให้เงินเดือน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เงินเดือน +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(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เงินเดือน *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10/100)</a:t>
            </a:r>
            <a:endParaRPr lang="th-TH" sz="3200" b="1" dirty="0">
              <a:latin typeface="TH SarabunPSK" pitchFamily="34" charset="-34"/>
              <a:cs typeface="TH SarabunPSK" pitchFamily="34" charset="-34"/>
            </a:endParaRPr>
          </a:p>
          <a:p>
            <a:pPr lvl="1">
              <a:lnSpc>
                <a:spcPct val="90000"/>
              </a:lnSpc>
              <a:buFontTx/>
              <a:buAutoNum type="arabicPeriod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คำนวณโบนัส </a:t>
            </a:r>
            <a:r>
              <a:rPr lang="en-US" sz="3200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เงินเดือน * 3</a:t>
            </a:r>
          </a:p>
          <a:p>
            <a:pPr lvl="1">
              <a:lnSpc>
                <a:spcPct val="90000"/>
              </a:lnSpc>
              <a:buFontTx/>
              <a:buAutoNum type="arabicPeriod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แสดงผลลัพธ์</a:t>
            </a:r>
          </a:p>
          <a:p>
            <a:pPr lvl="1">
              <a:lnSpc>
                <a:spcPct val="90000"/>
              </a:lnSpc>
              <a:buFontTx/>
              <a:buAutoNum type="arabicPeriod"/>
            </a:pPr>
            <a:r>
              <a:rPr lang="th-TH" sz="3200" b="1" dirty="0"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3958984681"/>
      </p:ext>
    </p:extLst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979613" y="1412875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START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372225" y="4508500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STOP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2555875" y="29241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555875" y="40036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555875" y="5013325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1187450" y="2205038"/>
            <a:ext cx="2665413" cy="719137"/>
          </a:xfrm>
          <a:prstGeom prst="flowChartInputOutpu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read </a:t>
            </a:r>
          </a:p>
          <a:p>
            <a:pPr algn="ctr"/>
            <a:r>
              <a:rPr lang="en-US" sz="2000"/>
              <a:t>name ,salary</a:t>
            </a: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555875" y="18446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1763713" y="3284538"/>
            <a:ext cx="1584325" cy="720725"/>
          </a:xfrm>
          <a:prstGeom prst="flowChartDecision">
            <a:avLst/>
          </a:prstGeom>
          <a:solidFill>
            <a:srgbClr val="00B8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salary &lt; 5000</a:t>
            </a:r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5651500" y="3284538"/>
            <a:ext cx="2592388" cy="792162"/>
          </a:xfrm>
          <a:prstGeom prst="flowChartDisplay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Name , salary , </a:t>
            </a:r>
          </a:p>
          <a:p>
            <a:pPr algn="ctr"/>
            <a:r>
              <a:rPr lang="en-US" sz="2000"/>
              <a:t>bonus 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3348038" y="3644900"/>
            <a:ext cx="12239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572000" y="3644900"/>
            <a:ext cx="0" cy="15843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2555875" y="5229225"/>
            <a:ext cx="20161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540000" y="3932238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</a:rPr>
              <a:t>true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3419475" y="3284538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</a:rPr>
              <a:t>false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971550" y="4365625"/>
            <a:ext cx="3240088" cy="6477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salary = salary + (salary*10/100)</a:t>
            </a:r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2339975" y="5445125"/>
            <a:ext cx="431800" cy="431800"/>
          </a:xfrm>
          <a:prstGeom prst="ellipse">
            <a:avLst/>
          </a:prstGeom>
          <a:solidFill>
            <a:srgbClr val="B7BCE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</a:t>
            </a:r>
          </a:p>
        </p:txBody>
      </p:sp>
      <p:sp>
        <p:nvSpPr>
          <p:cNvPr id="21" name="Oval 22"/>
          <p:cNvSpPr>
            <a:spLocks noChangeArrowheads="1"/>
          </p:cNvSpPr>
          <p:nvPr/>
        </p:nvSpPr>
        <p:spPr bwMode="auto">
          <a:xfrm>
            <a:off x="6732588" y="1341438"/>
            <a:ext cx="431800" cy="431800"/>
          </a:xfrm>
          <a:prstGeom prst="ellipse">
            <a:avLst/>
          </a:prstGeom>
          <a:solidFill>
            <a:srgbClr val="B7BCE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5722938" y="2205038"/>
            <a:ext cx="2449512" cy="6477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bonus = salary * 3</a:t>
            </a:r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6948488" y="1773238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6948488" y="2852738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6948488" y="4076700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6" name="Freeform 27"/>
          <p:cNvSpPr>
            <a:spLocks/>
          </p:cNvSpPr>
          <p:nvPr/>
        </p:nvSpPr>
        <p:spPr bwMode="auto">
          <a:xfrm>
            <a:off x="2555875" y="1041400"/>
            <a:ext cx="4392613" cy="5256213"/>
          </a:xfrm>
          <a:custGeom>
            <a:avLst/>
            <a:gdLst>
              <a:gd name="T0" fmla="*/ 0 w 2767"/>
              <a:gd name="T1" fmla="*/ 4835525 h 3311"/>
              <a:gd name="T2" fmla="*/ 215900 w 2767"/>
              <a:gd name="T3" fmla="*/ 5051425 h 3311"/>
              <a:gd name="T4" fmla="*/ 1079500 w 2767"/>
              <a:gd name="T5" fmla="*/ 5195888 h 3311"/>
              <a:gd name="T6" fmla="*/ 2520950 w 2767"/>
              <a:gd name="T7" fmla="*/ 4692650 h 3311"/>
              <a:gd name="T8" fmla="*/ 2447925 w 2767"/>
              <a:gd name="T9" fmla="*/ 1882775 h 3311"/>
              <a:gd name="T10" fmla="*/ 2808288 w 2767"/>
              <a:gd name="T11" fmla="*/ 371475 h 3311"/>
              <a:gd name="T12" fmla="*/ 4032250 w 2767"/>
              <a:gd name="T13" fmla="*/ 11113 h 3311"/>
              <a:gd name="T14" fmla="*/ 4392613 w 2767"/>
              <a:gd name="T15" fmla="*/ 300038 h 331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767"/>
              <a:gd name="T25" fmla="*/ 0 h 3311"/>
              <a:gd name="T26" fmla="*/ 2767 w 2767"/>
              <a:gd name="T27" fmla="*/ 3311 h 331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767" h="3311">
                <a:moveTo>
                  <a:pt x="0" y="3046"/>
                </a:moveTo>
                <a:cubicBezTo>
                  <a:pt x="11" y="3095"/>
                  <a:pt x="23" y="3144"/>
                  <a:pt x="136" y="3182"/>
                </a:cubicBezTo>
                <a:cubicBezTo>
                  <a:pt x="249" y="3220"/>
                  <a:pt x="438" y="3311"/>
                  <a:pt x="680" y="3273"/>
                </a:cubicBezTo>
                <a:cubicBezTo>
                  <a:pt x="922" y="3235"/>
                  <a:pt x="1444" y="3304"/>
                  <a:pt x="1588" y="2956"/>
                </a:cubicBezTo>
                <a:cubicBezTo>
                  <a:pt x="1732" y="2608"/>
                  <a:pt x="1512" y="1640"/>
                  <a:pt x="1542" y="1186"/>
                </a:cubicBezTo>
                <a:cubicBezTo>
                  <a:pt x="1572" y="732"/>
                  <a:pt x="1603" y="430"/>
                  <a:pt x="1769" y="234"/>
                </a:cubicBezTo>
                <a:cubicBezTo>
                  <a:pt x="1935" y="38"/>
                  <a:pt x="2374" y="14"/>
                  <a:pt x="2540" y="7"/>
                </a:cubicBezTo>
                <a:cubicBezTo>
                  <a:pt x="2706" y="0"/>
                  <a:pt x="2736" y="94"/>
                  <a:pt x="2767" y="189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5508625" y="5589588"/>
            <a:ext cx="2943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solidFill>
                  <a:srgbClr val="FF0000"/>
                </a:solidFill>
                <a:latin typeface="Cordia New" pitchFamily="34" charset="-34"/>
                <a:cs typeface="Cordia New" pitchFamily="34" charset="-34"/>
              </a:rPr>
              <a:t>แต่ไม่ต้องเขียนเส้นเชื่อมนี้</a:t>
            </a: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 flipH="1" flipV="1">
            <a:off x="5148263" y="5649913"/>
            <a:ext cx="431800" cy="2159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6964461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388" y="1341438"/>
            <a:ext cx="878522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ในการเปรียบเทียบเงื่อนไขแบบ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IF – THEN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นิยมให้ทำงานตามคำสั่ง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เมื่อเงื่อนไขมีค่าเป็นจริง ไม่นิยมให้ทำงามตามคำสั่งเป็นเท็จ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971550" y="2852738"/>
            <a:ext cx="2906713" cy="3671887"/>
            <a:chOff x="2926" y="709"/>
            <a:chExt cx="2585" cy="3265"/>
          </a:xfrm>
        </p:grpSpPr>
        <p:sp>
          <p:nvSpPr>
            <p:cNvPr id="7" name="AutoShape 52"/>
            <p:cNvSpPr>
              <a:spLocks noChangeArrowheads="1"/>
            </p:cNvSpPr>
            <p:nvPr/>
          </p:nvSpPr>
          <p:spPr bwMode="auto">
            <a:xfrm>
              <a:off x="2971" y="1117"/>
              <a:ext cx="999" cy="544"/>
            </a:xfrm>
            <a:prstGeom prst="flowChartDecision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เงื่อนไข</a:t>
              </a:r>
            </a:p>
          </p:txBody>
        </p:sp>
        <p:sp>
          <p:nvSpPr>
            <p:cNvPr id="8" name="Rectangle 53"/>
            <p:cNvSpPr>
              <a:spLocks noChangeArrowheads="1"/>
            </p:cNvSpPr>
            <p:nvPr/>
          </p:nvSpPr>
          <p:spPr bwMode="auto">
            <a:xfrm>
              <a:off x="4377" y="1752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ประโยคงาน 1</a:t>
              </a:r>
            </a:p>
          </p:txBody>
        </p:sp>
        <p:sp>
          <p:nvSpPr>
            <p:cNvPr id="9" name="Line 54"/>
            <p:cNvSpPr>
              <a:spLocks noChangeShapeType="1"/>
            </p:cNvSpPr>
            <p:nvPr/>
          </p:nvSpPr>
          <p:spPr bwMode="auto">
            <a:xfrm>
              <a:off x="3969" y="1389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Line 55"/>
            <p:cNvSpPr>
              <a:spLocks noChangeShapeType="1"/>
            </p:cNvSpPr>
            <p:nvPr/>
          </p:nvSpPr>
          <p:spPr bwMode="auto">
            <a:xfrm>
              <a:off x="4831" y="1389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Rectangle 56"/>
            <p:cNvSpPr>
              <a:spLocks noChangeArrowheads="1"/>
            </p:cNvSpPr>
            <p:nvPr/>
          </p:nvSpPr>
          <p:spPr bwMode="auto">
            <a:xfrm>
              <a:off x="2926" y="3565"/>
              <a:ext cx="1270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งานลำดับถัดไป</a:t>
              </a:r>
            </a:p>
          </p:txBody>
        </p:sp>
        <p:sp>
          <p:nvSpPr>
            <p:cNvPr id="12" name="Line 57"/>
            <p:cNvSpPr>
              <a:spLocks noChangeShapeType="1"/>
            </p:cNvSpPr>
            <p:nvPr/>
          </p:nvSpPr>
          <p:spPr bwMode="auto">
            <a:xfrm>
              <a:off x="3470" y="1661"/>
              <a:ext cx="0" cy="12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Oval 58"/>
            <p:cNvSpPr>
              <a:spLocks noChangeArrowheads="1"/>
            </p:cNvSpPr>
            <p:nvPr/>
          </p:nvSpPr>
          <p:spPr bwMode="auto">
            <a:xfrm>
              <a:off x="3379" y="2930"/>
              <a:ext cx="182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4" name="Line 59"/>
            <p:cNvSpPr>
              <a:spLocks noChangeShapeType="1"/>
            </p:cNvSpPr>
            <p:nvPr/>
          </p:nvSpPr>
          <p:spPr bwMode="auto">
            <a:xfrm>
              <a:off x="3470" y="3111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60"/>
            <p:cNvSpPr>
              <a:spLocks noChangeShapeType="1"/>
            </p:cNvSpPr>
            <p:nvPr/>
          </p:nvSpPr>
          <p:spPr bwMode="auto">
            <a:xfrm>
              <a:off x="3470" y="709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61"/>
            <p:cNvSpPr>
              <a:spLocks noChangeShapeType="1"/>
            </p:cNvSpPr>
            <p:nvPr/>
          </p:nvSpPr>
          <p:spPr bwMode="auto">
            <a:xfrm>
              <a:off x="4831" y="216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Line 62"/>
            <p:cNvSpPr>
              <a:spLocks noChangeShapeType="1"/>
            </p:cNvSpPr>
            <p:nvPr/>
          </p:nvSpPr>
          <p:spPr bwMode="auto">
            <a:xfrm flipH="1">
              <a:off x="3561" y="3021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Text Box 63"/>
            <p:cNvSpPr txBox="1">
              <a:spLocks noChangeArrowheads="1"/>
            </p:cNvSpPr>
            <p:nvPr/>
          </p:nvSpPr>
          <p:spPr bwMode="auto">
            <a:xfrm>
              <a:off x="4229" y="1107"/>
              <a:ext cx="402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2000" b="1">
                  <a:solidFill>
                    <a:srgbClr val="0000CC"/>
                  </a:solidFill>
                </a:rPr>
                <a:t>จริง</a:t>
              </a:r>
            </a:p>
          </p:txBody>
        </p:sp>
        <p:sp>
          <p:nvSpPr>
            <p:cNvPr id="19" name="Text Box 64"/>
            <p:cNvSpPr txBox="1">
              <a:spLocks noChangeArrowheads="1"/>
            </p:cNvSpPr>
            <p:nvPr/>
          </p:nvSpPr>
          <p:spPr bwMode="auto">
            <a:xfrm>
              <a:off x="3470" y="1706"/>
              <a:ext cx="43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2400" b="1">
                  <a:solidFill>
                    <a:srgbClr val="0000CC"/>
                  </a:solidFill>
                </a:rPr>
                <a:t>เท็จ</a:t>
              </a:r>
            </a:p>
          </p:txBody>
        </p:sp>
        <p:sp>
          <p:nvSpPr>
            <p:cNvPr id="20" name="Rectangle 65"/>
            <p:cNvSpPr>
              <a:spLocks noChangeArrowheads="1"/>
            </p:cNvSpPr>
            <p:nvPr/>
          </p:nvSpPr>
          <p:spPr bwMode="auto">
            <a:xfrm>
              <a:off x="4332" y="2387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ประโยคงาน 2</a:t>
              </a:r>
            </a:p>
          </p:txBody>
        </p:sp>
        <p:sp>
          <p:nvSpPr>
            <p:cNvPr id="21" name="Line 66"/>
            <p:cNvSpPr>
              <a:spLocks noChangeShapeType="1"/>
            </p:cNvSpPr>
            <p:nvPr/>
          </p:nvSpPr>
          <p:spPr bwMode="auto">
            <a:xfrm>
              <a:off x="4831" y="2795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Rectangle 67"/>
            <p:cNvSpPr>
              <a:spLocks noChangeArrowheads="1"/>
            </p:cNvSpPr>
            <p:nvPr/>
          </p:nvSpPr>
          <p:spPr bwMode="auto">
            <a:xfrm>
              <a:off x="4151" y="1570"/>
              <a:ext cx="1360" cy="1361"/>
            </a:xfrm>
            <a:prstGeom prst="rect">
              <a:avLst/>
            </a:prstGeom>
            <a:noFill/>
            <a:ln w="28575">
              <a:solidFill>
                <a:srgbClr val="6699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3" name="AutoShape 52"/>
          <p:cNvSpPr>
            <a:spLocks noChangeArrowheads="1"/>
          </p:cNvSpPr>
          <p:nvPr/>
        </p:nvSpPr>
        <p:spPr bwMode="auto">
          <a:xfrm>
            <a:off x="5414963" y="3311525"/>
            <a:ext cx="1122362" cy="611188"/>
          </a:xfrm>
          <a:prstGeom prst="flowChartDecision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เงื่อนไข</a:t>
            </a:r>
          </a:p>
        </p:txBody>
      </p:sp>
      <p:sp>
        <p:nvSpPr>
          <p:cNvPr id="24" name="Rectangle 53"/>
          <p:cNvSpPr>
            <a:spLocks noChangeArrowheads="1"/>
          </p:cNvSpPr>
          <p:nvPr/>
        </p:nvSpPr>
        <p:spPr bwMode="auto">
          <a:xfrm>
            <a:off x="6996113" y="4025900"/>
            <a:ext cx="1122362" cy="460375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ประโยคงาน 1</a:t>
            </a:r>
          </a:p>
        </p:txBody>
      </p:sp>
      <p:sp>
        <p:nvSpPr>
          <p:cNvPr id="25" name="Line 54"/>
          <p:cNvSpPr>
            <a:spLocks noChangeShapeType="1"/>
          </p:cNvSpPr>
          <p:nvPr/>
        </p:nvSpPr>
        <p:spPr bwMode="auto">
          <a:xfrm>
            <a:off x="6537325" y="3617913"/>
            <a:ext cx="968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6" name="Line 55"/>
          <p:cNvSpPr>
            <a:spLocks noChangeShapeType="1"/>
          </p:cNvSpPr>
          <p:nvPr/>
        </p:nvSpPr>
        <p:spPr bwMode="auto">
          <a:xfrm>
            <a:off x="7505700" y="3617913"/>
            <a:ext cx="0" cy="407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7" name="Rectangle 56"/>
          <p:cNvSpPr>
            <a:spLocks noChangeArrowheads="1"/>
          </p:cNvSpPr>
          <p:nvPr/>
        </p:nvSpPr>
        <p:spPr bwMode="auto">
          <a:xfrm>
            <a:off x="5364163" y="6064250"/>
            <a:ext cx="1428750" cy="46037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งานลำดับถัดไป</a:t>
            </a:r>
          </a:p>
        </p:txBody>
      </p:sp>
      <p:sp>
        <p:nvSpPr>
          <p:cNvPr id="28" name="Line 57"/>
          <p:cNvSpPr>
            <a:spLocks noChangeShapeType="1"/>
          </p:cNvSpPr>
          <p:nvPr/>
        </p:nvSpPr>
        <p:spPr bwMode="auto">
          <a:xfrm>
            <a:off x="5975350" y="3922713"/>
            <a:ext cx="0" cy="1428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9" name="Oval 58"/>
          <p:cNvSpPr>
            <a:spLocks noChangeArrowheads="1"/>
          </p:cNvSpPr>
          <p:nvPr/>
        </p:nvSpPr>
        <p:spPr bwMode="auto">
          <a:xfrm>
            <a:off x="5873750" y="5349875"/>
            <a:ext cx="204788" cy="2047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0" name="Line 59"/>
          <p:cNvSpPr>
            <a:spLocks noChangeShapeType="1"/>
          </p:cNvSpPr>
          <p:nvPr/>
        </p:nvSpPr>
        <p:spPr bwMode="auto">
          <a:xfrm>
            <a:off x="5975350" y="5554663"/>
            <a:ext cx="0" cy="509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1" name="Line 60"/>
          <p:cNvSpPr>
            <a:spLocks noChangeShapeType="1"/>
          </p:cNvSpPr>
          <p:nvPr/>
        </p:nvSpPr>
        <p:spPr bwMode="auto">
          <a:xfrm>
            <a:off x="5975350" y="2852738"/>
            <a:ext cx="0" cy="4587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2" name="Line 61"/>
          <p:cNvSpPr>
            <a:spLocks noChangeShapeType="1"/>
          </p:cNvSpPr>
          <p:nvPr/>
        </p:nvSpPr>
        <p:spPr bwMode="auto">
          <a:xfrm>
            <a:off x="7505700" y="4484688"/>
            <a:ext cx="0" cy="255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 flipH="1">
            <a:off x="6078538" y="5453063"/>
            <a:ext cx="1427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4" name="Text Box 63"/>
          <p:cNvSpPr txBox="1">
            <a:spLocks noChangeArrowheads="1"/>
          </p:cNvSpPr>
          <p:nvPr/>
        </p:nvSpPr>
        <p:spPr bwMode="auto">
          <a:xfrm>
            <a:off x="6084888" y="4149725"/>
            <a:ext cx="452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2000" b="1">
                <a:solidFill>
                  <a:srgbClr val="0000CC"/>
                </a:solidFill>
              </a:rPr>
              <a:t>จริง</a:t>
            </a: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6732588" y="30686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2400" b="1">
                <a:solidFill>
                  <a:srgbClr val="0000CC"/>
                </a:solidFill>
              </a:rPr>
              <a:t>เท็จ</a:t>
            </a:r>
          </a:p>
        </p:txBody>
      </p:sp>
      <p:sp>
        <p:nvSpPr>
          <p:cNvPr id="36" name="Rectangle 65"/>
          <p:cNvSpPr>
            <a:spLocks noChangeArrowheads="1"/>
          </p:cNvSpPr>
          <p:nvPr/>
        </p:nvSpPr>
        <p:spPr bwMode="auto">
          <a:xfrm>
            <a:off x="6945313" y="4740275"/>
            <a:ext cx="1122362" cy="458788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ประโยคงาน 2</a:t>
            </a:r>
          </a:p>
        </p:txBody>
      </p:sp>
      <p:sp>
        <p:nvSpPr>
          <p:cNvPr id="37" name="Line 66"/>
          <p:cNvSpPr>
            <a:spLocks noChangeShapeType="1"/>
          </p:cNvSpPr>
          <p:nvPr/>
        </p:nvSpPr>
        <p:spPr bwMode="auto">
          <a:xfrm>
            <a:off x="7505700" y="5199063"/>
            <a:ext cx="0" cy="255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8" name="Rectangle 67"/>
          <p:cNvSpPr>
            <a:spLocks noChangeArrowheads="1"/>
          </p:cNvSpPr>
          <p:nvPr/>
        </p:nvSpPr>
        <p:spPr bwMode="auto">
          <a:xfrm>
            <a:off x="6742113" y="3821113"/>
            <a:ext cx="1528762" cy="1530350"/>
          </a:xfrm>
          <a:prstGeom prst="rect">
            <a:avLst/>
          </a:prstGeom>
          <a:noFill/>
          <a:ln w="28575">
            <a:solidFill>
              <a:srgbClr val="6699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h-TH"/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>
            <a:off x="4932363" y="2997200"/>
            <a:ext cx="3527425" cy="35274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 flipV="1">
            <a:off x="4787900" y="2924175"/>
            <a:ext cx="3529013" cy="35290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54897757"/>
      </p:ext>
    </p:extLst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611188" y="1125538"/>
            <a:ext cx="3933825" cy="4968875"/>
            <a:chOff x="2926" y="709"/>
            <a:chExt cx="2585" cy="3265"/>
          </a:xfrm>
        </p:grpSpPr>
        <p:sp>
          <p:nvSpPr>
            <p:cNvPr id="7" name="AutoShape 52"/>
            <p:cNvSpPr>
              <a:spLocks noChangeArrowheads="1"/>
            </p:cNvSpPr>
            <p:nvPr/>
          </p:nvSpPr>
          <p:spPr bwMode="auto">
            <a:xfrm>
              <a:off x="2971" y="1117"/>
              <a:ext cx="999" cy="54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เงื่อนไข</a:t>
              </a:r>
            </a:p>
          </p:txBody>
        </p:sp>
        <p:sp>
          <p:nvSpPr>
            <p:cNvPr id="8" name="Rectangle 53"/>
            <p:cNvSpPr>
              <a:spLocks noChangeArrowheads="1"/>
            </p:cNvSpPr>
            <p:nvPr/>
          </p:nvSpPr>
          <p:spPr bwMode="auto">
            <a:xfrm>
              <a:off x="4377" y="1752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ประโยคงาน 1</a:t>
              </a:r>
            </a:p>
          </p:txBody>
        </p:sp>
        <p:sp>
          <p:nvSpPr>
            <p:cNvPr id="9" name="Line 54"/>
            <p:cNvSpPr>
              <a:spLocks noChangeShapeType="1"/>
            </p:cNvSpPr>
            <p:nvPr/>
          </p:nvSpPr>
          <p:spPr bwMode="auto">
            <a:xfrm>
              <a:off x="3969" y="1389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Line 55"/>
            <p:cNvSpPr>
              <a:spLocks noChangeShapeType="1"/>
            </p:cNvSpPr>
            <p:nvPr/>
          </p:nvSpPr>
          <p:spPr bwMode="auto">
            <a:xfrm>
              <a:off x="4831" y="1389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Rectangle 56"/>
            <p:cNvSpPr>
              <a:spLocks noChangeArrowheads="1"/>
            </p:cNvSpPr>
            <p:nvPr/>
          </p:nvSpPr>
          <p:spPr bwMode="auto">
            <a:xfrm>
              <a:off x="2926" y="3565"/>
              <a:ext cx="1270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งานลำดับถัดไป</a:t>
              </a:r>
            </a:p>
          </p:txBody>
        </p:sp>
        <p:sp>
          <p:nvSpPr>
            <p:cNvPr id="12" name="Line 57"/>
            <p:cNvSpPr>
              <a:spLocks noChangeShapeType="1"/>
            </p:cNvSpPr>
            <p:nvPr/>
          </p:nvSpPr>
          <p:spPr bwMode="auto">
            <a:xfrm>
              <a:off x="3470" y="1661"/>
              <a:ext cx="0" cy="12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Oval 58"/>
            <p:cNvSpPr>
              <a:spLocks noChangeArrowheads="1"/>
            </p:cNvSpPr>
            <p:nvPr/>
          </p:nvSpPr>
          <p:spPr bwMode="auto">
            <a:xfrm>
              <a:off x="3379" y="2930"/>
              <a:ext cx="182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4" name="Line 59"/>
            <p:cNvSpPr>
              <a:spLocks noChangeShapeType="1"/>
            </p:cNvSpPr>
            <p:nvPr/>
          </p:nvSpPr>
          <p:spPr bwMode="auto">
            <a:xfrm>
              <a:off x="3470" y="3111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60"/>
            <p:cNvSpPr>
              <a:spLocks noChangeShapeType="1"/>
            </p:cNvSpPr>
            <p:nvPr/>
          </p:nvSpPr>
          <p:spPr bwMode="auto">
            <a:xfrm>
              <a:off x="3470" y="709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61"/>
            <p:cNvSpPr>
              <a:spLocks noChangeShapeType="1"/>
            </p:cNvSpPr>
            <p:nvPr/>
          </p:nvSpPr>
          <p:spPr bwMode="auto">
            <a:xfrm>
              <a:off x="4831" y="216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Line 62"/>
            <p:cNvSpPr>
              <a:spLocks noChangeShapeType="1"/>
            </p:cNvSpPr>
            <p:nvPr/>
          </p:nvSpPr>
          <p:spPr bwMode="auto">
            <a:xfrm flipH="1">
              <a:off x="3561" y="3021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Text Box 63"/>
            <p:cNvSpPr txBox="1">
              <a:spLocks noChangeArrowheads="1"/>
            </p:cNvSpPr>
            <p:nvPr/>
          </p:nvSpPr>
          <p:spPr bwMode="auto">
            <a:xfrm>
              <a:off x="4229" y="1107"/>
              <a:ext cx="297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2000" b="1">
                  <a:solidFill>
                    <a:srgbClr val="0000CC"/>
                  </a:solidFill>
                </a:rPr>
                <a:t>จริง</a:t>
              </a:r>
            </a:p>
          </p:txBody>
        </p:sp>
        <p:sp>
          <p:nvSpPr>
            <p:cNvPr id="19" name="Text Box 64"/>
            <p:cNvSpPr txBox="1">
              <a:spLocks noChangeArrowheads="1"/>
            </p:cNvSpPr>
            <p:nvPr/>
          </p:nvSpPr>
          <p:spPr bwMode="auto">
            <a:xfrm>
              <a:off x="3469" y="1706"/>
              <a:ext cx="32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2400" b="1">
                  <a:solidFill>
                    <a:srgbClr val="0000CC"/>
                  </a:solidFill>
                </a:rPr>
                <a:t>เท็จ</a:t>
              </a:r>
            </a:p>
          </p:txBody>
        </p:sp>
        <p:sp>
          <p:nvSpPr>
            <p:cNvPr id="20" name="Rectangle 65"/>
            <p:cNvSpPr>
              <a:spLocks noChangeArrowheads="1"/>
            </p:cNvSpPr>
            <p:nvPr/>
          </p:nvSpPr>
          <p:spPr bwMode="auto">
            <a:xfrm>
              <a:off x="4332" y="2387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ประโยคงาน 2</a:t>
              </a:r>
            </a:p>
          </p:txBody>
        </p:sp>
        <p:sp>
          <p:nvSpPr>
            <p:cNvPr id="21" name="Line 66"/>
            <p:cNvSpPr>
              <a:spLocks noChangeShapeType="1"/>
            </p:cNvSpPr>
            <p:nvPr/>
          </p:nvSpPr>
          <p:spPr bwMode="auto">
            <a:xfrm>
              <a:off x="4831" y="2795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Rectangle 67"/>
            <p:cNvSpPr>
              <a:spLocks noChangeArrowheads="1"/>
            </p:cNvSpPr>
            <p:nvPr/>
          </p:nvSpPr>
          <p:spPr bwMode="auto">
            <a:xfrm>
              <a:off x="4151" y="1570"/>
              <a:ext cx="1360" cy="1361"/>
            </a:xfrm>
            <a:prstGeom prst="rect">
              <a:avLst/>
            </a:prstGeom>
            <a:noFill/>
            <a:ln w="28575">
              <a:solidFill>
                <a:srgbClr val="6699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056188" y="1790700"/>
            <a:ext cx="2651125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/>
              <a:t>IF </a:t>
            </a:r>
            <a:r>
              <a:rPr lang="th-TH"/>
              <a:t>เงื่อนไข </a:t>
            </a:r>
            <a:r>
              <a:rPr lang="en-US"/>
              <a:t>THEN</a:t>
            </a:r>
          </a:p>
          <a:p>
            <a:pPr eaLnBrk="1" hangingPunct="1"/>
            <a:r>
              <a:rPr lang="en-US"/>
              <a:t>   BEGIN</a:t>
            </a:r>
          </a:p>
          <a:p>
            <a:pPr eaLnBrk="1" hangingPunct="1"/>
            <a:r>
              <a:rPr lang="en-US"/>
              <a:t>	</a:t>
            </a:r>
            <a:r>
              <a:rPr lang="th-TH"/>
              <a:t>ประโยคงาน 1 </a:t>
            </a:r>
            <a:r>
              <a:rPr lang="en-US"/>
              <a:t>;</a:t>
            </a:r>
          </a:p>
          <a:p>
            <a:pPr eaLnBrk="1" hangingPunct="1"/>
            <a:r>
              <a:rPr lang="en-US"/>
              <a:t>	</a:t>
            </a:r>
            <a:r>
              <a:rPr lang="th-TH"/>
              <a:t>ประโยคงาน 2 </a:t>
            </a:r>
            <a:r>
              <a:rPr lang="en-US"/>
              <a:t>;</a:t>
            </a:r>
          </a:p>
          <a:p>
            <a:pPr eaLnBrk="1" hangingPunct="1"/>
            <a:r>
              <a:rPr lang="en-US"/>
              <a:t>   END;</a:t>
            </a:r>
          </a:p>
          <a:p>
            <a:pPr eaLnBrk="1" hangingPunct="1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38515541"/>
      </p:ext>
    </p:extLst>
  </p:cSld>
  <p:clrMapOvr>
    <a:masterClrMapping/>
  </p:clrMapOvr>
  <p:transition>
    <p:fade thruBlk="1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การเขียนผังงานแบบทางเลือกเดียว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611188" y="1125538"/>
            <a:ext cx="3933825" cy="4968875"/>
            <a:chOff x="2926" y="709"/>
            <a:chExt cx="2585" cy="3265"/>
          </a:xfrm>
        </p:grpSpPr>
        <p:sp>
          <p:nvSpPr>
            <p:cNvPr id="6" name="AutoShape 52"/>
            <p:cNvSpPr>
              <a:spLocks noChangeArrowheads="1"/>
            </p:cNvSpPr>
            <p:nvPr/>
          </p:nvSpPr>
          <p:spPr bwMode="auto">
            <a:xfrm>
              <a:off x="2971" y="1117"/>
              <a:ext cx="999" cy="54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เงื่อนไข</a:t>
              </a:r>
            </a:p>
          </p:txBody>
        </p:sp>
        <p:sp>
          <p:nvSpPr>
            <p:cNvPr id="7" name="Rectangle 53"/>
            <p:cNvSpPr>
              <a:spLocks noChangeArrowheads="1"/>
            </p:cNvSpPr>
            <p:nvPr/>
          </p:nvSpPr>
          <p:spPr bwMode="auto">
            <a:xfrm>
              <a:off x="4377" y="1752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ประโยคงาน 1</a:t>
              </a:r>
            </a:p>
          </p:txBody>
        </p:sp>
        <p:sp>
          <p:nvSpPr>
            <p:cNvPr id="8" name="Line 54"/>
            <p:cNvSpPr>
              <a:spLocks noChangeShapeType="1"/>
            </p:cNvSpPr>
            <p:nvPr/>
          </p:nvSpPr>
          <p:spPr bwMode="auto">
            <a:xfrm>
              <a:off x="3969" y="1389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Line 55"/>
            <p:cNvSpPr>
              <a:spLocks noChangeShapeType="1"/>
            </p:cNvSpPr>
            <p:nvPr/>
          </p:nvSpPr>
          <p:spPr bwMode="auto">
            <a:xfrm>
              <a:off x="4831" y="1389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Rectangle 56"/>
            <p:cNvSpPr>
              <a:spLocks noChangeArrowheads="1"/>
            </p:cNvSpPr>
            <p:nvPr/>
          </p:nvSpPr>
          <p:spPr bwMode="auto">
            <a:xfrm>
              <a:off x="2926" y="3565"/>
              <a:ext cx="1270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งานลำดับถัดไป</a:t>
              </a:r>
            </a:p>
          </p:txBody>
        </p:sp>
        <p:sp>
          <p:nvSpPr>
            <p:cNvPr id="11" name="Line 57"/>
            <p:cNvSpPr>
              <a:spLocks noChangeShapeType="1"/>
            </p:cNvSpPr>
            <p:nvPr/>
          </p:nvSpPr>
          <p:spPr bwMode="auto">
            <a:xfrm>
              <a:off x="3470" y="1661"/>
              <a:ext cx="0" cy="12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Oval 58"/>
            <p:cNvSpPr>
              <a:spLocks noChangeArrowheads="1"/>
            </p:cNvSpPr>
            <p:nvPr/>
          </p:nvSpPr>
          <p:spPr bwMode="auto">
            <a:xfrm>
              <a:off x="3379" y="2930"/>
              <a:ext cx="182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3" name="Line 59"/>
            <p:cNvSpPr>
              <a:spLocks noChangeShapeType="1"/>
            </p:cNvSpPr>
            <p:nvPr/>
          </p:nvSpPr>
          <p:spPr bwMode="auto">
            <a:xfrm>
              <a:off x="3470" y="3111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60"/>
            <p:cNvSpPr>
              <a:spLocks noChangeShapeType="1"/>
            </p:cNvSpPr>
            <p:nvPr/>
          </p:nvSpPr>
          <p:spPr bwMode="auto">
            <a:xfrm>
              <a:off x="3470" y="709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61"/>
            <p:cNvSpPr>
              <a:spLocks noChangeShapeType="1"/>
            </p:cNvSpPr>
            <p:nvPr/>
          </p:nvSpPr>
          <p:spPr bwMode="auto">
            <a:xfrm>
              <a:off x="4831" y="216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62"/>
            <p:cNvSpPr>
              <a:spLocks noChangeShapeType="1"/>
            </p:cNvSpPr>
            <p:nvPr/>
          </p:nvSpPr>
          <p:spPr bwMode="auto">
            <a:xfrm flipH="1">
              <a:off x="3561" y="3021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 Box 63"/>
            <p:cNvSpPr txBox="1">
              <a:spLocks noChangeArrowheads="1"/>
            </p:cNvSpPr>
            <p:nvPr/>
          </p:nvSpPr>
          <p:spPr bwMode="auto">
            <a:xfrm>
              <a:off x="4229" y="1107"/>
              <a:ext cx="28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2000" b="1">
                  <a:solidFill>
                    <a:srgbClr val="0000CC"/>
                  </a:solidFill>
                </a:rPr>
                <a:t>เท็จ</a:t>
              </a:r>
            </a:p>
          </p:txBody>
        </p:sp>
        <p:sp>
          <p:nvSpPr>
            <p:cNvPr id="18" name="Text Box 64"/>
            <p:cNvSpPr txBox="1">
              <a:spLocks noChangeArrowheads="1"/>
            </p:cNvSpPr>
            <p:nvPr/>
          </p:nvSpPr>
          <p:spPr bwMode="auto">
            <a:xfrm>
              <a:off x="3469" y="1706"/>
              <a:ext cx="33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sz="2400" b="1">
                  <a:solidFill>
                    <a:srgbClr val="0000CC"/>
                  </a:solidFill>
                </a:rPr>
                <a:t>จริง</a:t>
              </a:r>
            </a:p>
          </p:txBody>
        </p:sp>
        <p:sp>
          <p:nvSpPr>
            <p:cNvPr id="19" name="Rectangle 65"/>
            <p:cNvSpPr>
              <a:spLocks noChangeArrowheads="1"/>
            </p:cNvSpPr>
            <p:nvPr/>
          </p:nvSpPr>
          <p:spPr bwMode="auto">
            <a:xfrm>
              <a:off x="4332" y="2387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/>
                <a:t>ประโยคงาน 2</a:t>
              </a:r>
            </a:p>
          </p:txBody>
        </p:sp>
        <p:sp>
          <p:nvSpPr>
            <p:cNvPr id="20" name="Line 66"/>
            <p:cNvSpPr>
              <a:spLocks noChangeShapeType="1"/>
            </p:cNvSpPr>
            <p:nvPr/>
          </p:nvSpPr>
          <p:spPr bwMode="auto">
            <a:xfrm>
              <a:off x="4831" y="2795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Rectangle 67"/>
            <p:cNvSpPr>
              <a:spLocks noChangeArrowheads="1"/>
            </p:cNvSpPr>
            <p:nvPr/>
          </p:nvSpPr>
          <p:spPr bwMode="auto">
            <a:xfrm>
              <a:off x="4151" y="1570"/>
              <a:ext cx="1360" cy="1361"/>
            </a:xfrm>
            <a:prstGeom prst="rect">
              <a:avLst/>
            </a:prstGeom>
            <a:noFill/>
            <a:ln w="28575">
              <a:solidFill>
                <a:srgbClr val="6699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5056188" y="1790700"/>
            <a:ext cx="265112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/>
              <a:t>IF </a:t>
            </a:r>
            <a:r>
              <a:rPr lang="th-TH"/>
              <a:t>เงื่อนไข </a:t>
            </a:r>
            <a:r>
              <a:rPr lang="en-US"/>
              <a:t>THEN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ELSE</a:t>
            </a:r>
          </a:p>
          <a:p>
            <a:pPr eaLnBrk="1" hangingPunct="1"/>
            <a:r>
              <a:rPr lang="en-US"/>
              <a:t>   BEGIN</a:t>
            </a:r>
          </a:p>
          <a:p>
            <a:pPr eaLnBrk="1" hangingPunct="1"/>
            <a:r>
              <a:rPr lang="en-US"/>
              <a:t>	</a:t>
            </a:r>
            <a:r>
              <a:rPr lang="th-TH"/>
              <a:t>ประโยคงาน 1 </a:t>
            </a:r>
            <a:r>
              <a:rPr lang="en-US"/>
              <a:t>;</a:t>
            </a:r>
          </a:p>
          <a:p>
            <a:pPr eaLnBrk="1" hangingPunct="1"/>
            <a:r>
              <a:rPr lang="en-US"/>
              <a:t>	</a:t>
            </a:r>
            <a:r>
              <a:rPr lang="th-TH"/>
              <a:t>ประโยคงาน 2 </a:t>
            </a:r>
            <a:r>
              <a:rPr lang="en-US"/>
              <a:t>;</a:t>
            </a:r>
          </a:p>
          <a:p>
            <a:pPr eaLnBrk="1" hangingPunct="1"/>
            <a:r>
              <a:rPr lang="en-US"/>
              <a:t>   END;</a:t>
            </a:r>
          </a:p>
          <a:p>
            <a:pPr eaLnBrk="1" hangingPunct="1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6953221"/>
      </p:ext>
    </p:extLst>
  </p:cSld>
  <p:clrMapOvr>
    <a:masterClrMapping/>
  </p:clrMapOvr>
  <p:transition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388" y="1341438"/>
            <a:ext cx="878522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การทำงานขึ้นอยู่กับเงื่อนไข ถ้าเป็นจริงไปทำงานด้านหนึ่ง ถ้าเป็นเท็จ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ก็จะไปทำงานอีกอย่างหนึ่ง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331913" y="2419350"/>
            <a:ext cx="6048375" cy="3889375"/>
            <a:chOff x="839" y="1524"/>
            <a:chExt cx="3810" cy="2450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2245" y="1932"/>
              <a:ext cx="999" cy="544"/>
            </a:xfrm>
            <a:prstGeom prst="flowChartDecision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เงื่อนไข</a:t>
              </a: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651" y="2567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ประโยคงาน2</a:t>
              </a: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3243" y="2204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4105" y="2204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109" y="3565"/>
              <a:ext cx="1270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งานลำดับถัดไป</a:t>
              </a: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2653" y="3066"/>
              <a:ext cx="182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2744" y="324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2744" y="1524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4105" y="297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2835" y="3156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3503" y="1922"/>
              <a:ext cx="3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b="1">
                  <a:solidFill>
                    <a:srgbClr val="0000CC"/>
                  </a:solidFill>
                </a:rPr>
                <a:t>จริง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1656" y="193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th-TH" b="1">
                  <a:solidFill>
                    <a:srgbClr val="0000CC"/>
                  </a:solidFill>
                </a:rPr>
                <a:t>เท็จ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839" y="2567"/>
              <a:ext cx="998" cy="409"/>
            </a:xfrm>
            <a:prstGeom prst="rect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/>
                <a:t>ประโยคงาน1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1383" y="2204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383" y="2204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383" y="297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H="1">
              <a:off x="1383" y="3156"/>
              <a:ext cx="1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781344671"/>
      </p:ext>
    </p:extLst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292725" y="1341438"/>
            <a:ext cx="3671888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ถ้า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sex =1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เงื่อนไขเป็นจริง จะเพิ่มค่าตัวแปร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Male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ขึ้นอีก 1</a:t>
            </a: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ถ้า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sex =1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เงื่อนไขเป็นเท็จ จะเพิ่มค่าตัวแปร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Female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ขึ้นอีก 1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125663" y="2563813"/>
            <a:ext cx="1368425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Sex = 1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349625" y="3716338"/>
            <a:ext cx="17272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itchFamily="34" charset="0"/>
                <a:cs typeface="Tahoma" pitchFamily="34" charset="0"/>
              </a:rPr>
              <a:t>Male = Male +1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2628900" y="4868863"/>
            <a:ext cx="360363" cy="360362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3492500" y="2924175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4284663" y="2924175"/>
            <a:ext cx="0" cy="7921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1333500" y="2924175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1333500" y="2924175"/>
            <a:ext cx="0" cy="7921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1333500" y="4292600"/>
            <a:ext cx="0" cy="7921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1333500" y="5084763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284663" y="4292600"/>
            <a:ext cx="0" cy="7921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2989263" y="5084763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2844800" y="5229225"/>
            <a:ext cx="0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2844800" y="1916113"/>
            <a:ext cx="0" cy="647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3617913" y="2554288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True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1331913" y="2563813"/>
            <a:ext cx="841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False</a:t>
            </a: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468313" y="3716338"/>
            <a:ext cx="17272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b="1">
                <a:latin typeface="Tahoma" pitchFamily="34" charset="0"/>
                <a:cs typeface="Tahoma" pitchFamily="34" charset="0"/>
              </a:rPr>
              <a:t>Female = Female + 1</a:t>
            </a:r>
          </a:p>
        </p:txBody>
      </p:sp>
    </p:spTree>
    <p:extLst>
      <p:ext uri="{BB962C8B-B14F-4D97-AF65-F5344CB8AC3E}">
        <p14:creationId xmlns:p14="http://schemas.microsoft.com/office/powerpoint/2010/main" val="1113426708"/>
      </p:ext>
    </p:extLst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4925" y="1412875"/>
            <a:ext cx="4681538" cy="5040313"/>
            <a:chOff x="385" y="890"/>
            <a:chExt cx="2949" cy="3175"/>
          </a:xfrm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1474" y="890"/>
              <a:ext cx="772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>
                  <a:latin typeface="TH SarabunPSK" pitchFamily="34" charset="-34"/>
                  <a:cs typeface="TH SarabunPSK" pitchFamily="34" charset="-34"/>
                </a:rPr>
                <a:t>START</a:t>
              </a: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1474" y="3793"/>
              <a:ext cx="772" cy="272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>
                  <a:latin typeface="TH SarabunPSK" pitchFamily="34" charset="-34"/>
                  <a:cs typeface="TH SarabunPSK" pitchFamily="34" charset="-34"/>
                </a:rPr>
                <a:t>STOP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882" y="1752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2744" y="2205"/>
              <a:ext cx="0" cy="36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882" y="3521"/>
              <a:ext cx="0" cy="27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1337" y="1389"/>
              <a:ext cx="1088" cy="363"/>
            </a:xfrm>
            <a:prstGeom prst="flowChartInputOutpu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H SarabunPSK" pitchFamily="34" charset="-34"/>
                  <a:cs typeface="TH SarabunPSK" pitchFamily="34" charset="-34"/>
                </a:rPr>
                <a:t>read age</a:t>
              </a: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882" y="1162"/>
              <a:ext cx="0" cy="227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1383" y="1979"/>
              <a:ext cx="998" cy="454"/>
            </a:xfrm>
            <a:prstGeom prst="flowChartDecision">
              <a:avLst/>
            </a:prstGeom>
            <a:solidFill>
              <a:srgbClr val="00B8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>
                  <a:latin typeface="TH SarabunPSK" pitchFamily="34" charset="-34"/>
                  <a:cs typeface="TH SarabunPSK" pitchFamily="34" charset="-34"/>
                </a:rPr>
                <a:t>age &gt; 60</a:t>
              </a:r>
            </a:p>
          </p:txBody>
        </p:sp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2109" y="2568"/>
              <a:ext cx="1225" cy="499"/>
            </a:xfrm>
            <a:prstGeom prst="flowChartDisplay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>
                  <a:latin typeface="TH SarabunPSK" pitchFamily="34" charset="-34"/>
                  <a:cs typeface="TH SarabunPSK" pitchFamily="34" charset="-34"/>
                </a:rPr>
                <a:t>“You are old” </a:t>
              </a:r>
              <a:endParaRPr lang="th-TH" sz="2000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381" y="2206"/>
              <a:ext cx="363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H="1">
              <a:off x="1973" y="3430"/>
              <a:ext cx="771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336" y="1979"/>
              <a:ext cx="3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  <a:latin typeface="TH SarabunPSK" pitchFamily="34" charset="-34"/>
                  <a:cs typeface="TH SarabunPSK" pitchFamily="34" charset="-34"/>
                </a:rPr>
                <a:t>true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020" y="1979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  <a:latin typeface="TH SarabunPSK" pitchFamily="34" charset="-34"/>
                  <a:cs typeface="TH SarabunPSK" pitchFamily="34" charset="-34"/>
                </a:rPr>
                <a:t>false</a:t>
              </a: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1020" y="2205"/>
              <a:ext cx="363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020" y="2205"/>
              <a:ext cx="0" cy="36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20" name="AutoShape 20"/>
            <p:cNvSpPr>
              <a:spLocks noChangeArrowheads="1"/>
            </p:cNvSpPr>
            <p:nvPr/>
          </p:nvSpPr>
          <p:spPr bwMode="auto">
            <a:xfrm>
              <a:off x="385" y="2568"/>
              <a:ext cx="1225" cy="499"/>
            </a:xfrm>
            <a:prstGeom prst="flowChartDisplay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>
                  <a:latin typeface="TH SarabunPSK" pitchFamily="34" charset="-34"/>
                  <a:cs typeface="TH SarabunPSK" pitchFamily="34" charset="-34"/>
                </a:rPr>
                <a:t>“You are young” </a:t>
              </a:r>
              <a:endParaRPr lang="th-TH" sz="2000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1791" y="3339"/>
              <a:ext cx="182" cy="182"/>
            </a:xfrm>
            <a:prstGeom prst="ellipse">
              <a:avLst/>
            </a:prstGeom>
            <a:solidFill>
              <a:srgbClr val="B7BCE7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1020" y="3067"/>
              <a:ext cx="0" cy="36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1020" y="3430"/>
              <a:ext cx="771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2744" y="3067"/>
              <a:ext cx="0" cy="36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>
                <a:latin typeface="TH SarabunPSK" pitchFamily="34" charset="-34"/>
                <a:cs typeface="TH SarabunPSK" pitchFamily="34" charset="-34"/>
              </a:endParaRPr>
            </a:p>
          </p:txBody>
        </p:sp>
      </p:grp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4716463" y="1341438"/>
            <a:ext cx="9204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เริ่มต้น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4716463" y="2276475"/>
            <a:ext cx="24208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รับค่าใส่ตัวแปร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age</a:t>
            </a:r>
            <a:endParaRPr lang="th-TH" sz="3200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4716463" y="4043363"/>
            <a:ext cx="4451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TH SarabunPSK" pitchFamily="34" charset="-34"/>
                <a:cs typeface="TH SarabunPSK" pitchFamily="34" charset="-34"/>
              </a:rPr>
              <a:t>ถ้าเป็นจริง พิมพ์ข้อความ </a:t>
            </a:r>
            <a:r>
              <a:rPr lang="en-US" b="1">
                <a:latin typeface="TH SarabunPSK" pitchFamily="34" charset="-34"/>
                <a:cs typeface="TH SarabunPSK" pitchFamily="34" charset="-34"/>
              </a:rPr>
              <a:t>You are old</a:t>
            </a:r>
          </a:p>
          <a:p>
            <a:pPr eaLnBrk="1" hangingPunct="1"/>
            <a:r>
              <a:rPr lang="th-TH" b="1">
                <a:latin typeface="TH SarabunPSK" pitchFamily="34" charset="-34"/>
                <a:cs typeface="TH SarabunPSK" pitchFamily="34" charset="-34"/>
              </a:rPr>
              <a:t>ถ้าเป็นเท็จ พิมพ์ข้อความ </a:t>
            </a:r>
            <a:r>
              <a:rPr lang="en-US" b="1">
                <a:latin typeface="TH SarabunPSK" pitchFamily="34" charset="-34"/>
                <a:cs typeface="TH SarabunPSK" pitchFamily="34" charset="-34"/>
              </a:rPr>
              <a:t>You are young</a:t>
            </a:r>
            <a:endParaRPr lang="th-TH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4679950" y="5873750"/>
            <a:ext cx="17235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4716463" y="3209925"/>
            <a:ext cx="36391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3200" b="1">
                <a:latin typeface="TH SarabunPSK" pitchFamily="34" charset="-34"/>
                <a:cs typeface="TH SarabunPSK" pitchFamily="34" charset="-34"/>
              </a:rPr>
              <a:t>เปรีบเทียบค่า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age </a:t>
            </a:r>
            <a:r>
              <a:rPr lang="th-TH" sz="3200" b="1">
                <a:latin typeface="TH SarabunPSK" pitchFamily="34" charset="-34"/>
                <a:cs typeface="TH SarabunPSK" pitchFamily="34" charset="-34"/>
              </a:rPr>
              <a:t>มากกว่า </a:t>
            </a:r>
            <a:r>
              <a:rPr lang="en-US" sz="3200" b="1">
                <a:latin typeface="TH SarabunPSK" pitchFamily="34" charset="-34"/>
                <a:cs typeface="TH SarabunPSK" pitchFamily="34" charset="-34"/>
              </a:rPr>
              <a:t>60</a:t>
            </a:r>
            <a:endParaRPr lang="th-TH" sz="3200" b="1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5998501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1" name="AutoShape 4"/>
          <p:cNvSpPr>
            <a:spLocks noChangeArrowheads="1"/>
          </p:cNvSpPr>
          <p:nvPr/>
        </p:nvSpPr>
        <p:spPr bwMode="auto">
          <a:xfrm>
            <a:off x="2771775" y="1268413"/>
            <a:ext cx="1008063" cy="360362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400" b="1">
                <a:latin typeface="Cordia New" pitchFamily="34" charset="-34"/>
                <a:cs typeface="Cordia New" pitchFamily="34" charset="-34"/>
              </a:rPr>
              <a:t>เริ่ม</a:t>
            </a:r>
          </a:p>
        </p:txBody>
      </p:sp>
      <p:sp>
        <p:nvSpPr>
          <p:cNvPr id="62" name="AutoShape 5"/>
          <p:cNvSpPr>
            <a:spLocks noChangeArrowheads="1"/>
          </p:cNvSpPr>
          <p:nvPr/>
        </p:nvSpPr>
        <p:spPr bwMode="auto">
          <a:xfrm>
            <a:off x="2052638" y="2565400"/>
            <a:ext cx="2447925" cy="431800"/>
          </a:xfrm>
          <a:prstGeom prst="flowChartInputOutpu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400"/>
              <a:t>รับค่า </a:t>
            </a:r>
            <a:r>
              <a:rPr lang="en-US" sz="2400"/>
              <a:t>ans</a:t>
            </a:r>
            <a:endParaRPr lang="th-TH" sz="2400"/>
          </a:p>
        </p:txBody>
      </p:sp>
      <p:sp>
        <p:nvSpPr>
          <p:cNvPr id="63" name="AutoShape 6"/>
          <p:cNvSpPr>
            <a:spLocks noChangeArrowheads="1"/>
          </p:cNvSpPr>
          <p:nvPr/>
        </p:nvSpPr>
        <p:spPr bwMode="auto">
          <a:xfrm>
            <a:off x="2268538" y="3284538"/>
            <a:ext cx="2014537" cy="719137"/>
          </a:xfrm>
          <a:prstGeom prst="flowChartDecision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ans = </a:t>
            </a:r>
            <a:r>
              <a:rPr lang="en-US" sz="1400">
                <a:latin typeface="Times New Roman" pitchFamily="18" charset="0"/>
              </a:rPr>
              <a:t>‘</a:t>
            </a:r>
            <a:r>
              <a:rPr lang="en-US" sz="1400"/>
              <a:t>y</a:t>
            </a:r>
            <a:r>
              <a:rPr lang="en-US" sz="1400">
                <a:latin typeface="Times New Roman" pitchFamily="18" charset="0"/>
              </a:rPr>
              <a:t>’</a:t>
            </a:r>
            <a:r>
              <a:rPr lang="en-US" sz="1400"/>
              <a:t> OR ans=</a:t>
            </a:r>
            <a:r>
              <a:rPr lang="en-US" sz="1400">
                <a:latin typeface="Times New Roman" pitchFamily="18" charset="0"/>
              </a:rPr>
              <a:t>‘</a:t>
            </a:r>
            <a:r>
              <a:rPr lang="en-US" sz="1400"/>
              <a:t>Y</a:t>
            </a:r>
            <a:r>
              <a:rPr lang="en-US" sz="1400">
                <a:latin typeface="Times New Roman" pitchFamily="18" charset="0"/>
              </a:rPr>
              <a:t>’</a:t>
            </a:r>
            <a:endParaRPr lang="th-TH" sz="1400"/>
          </a:p>
        </p:txBody>
      </p:sp>
      <p:sp>
        <p:nvSpPr>
          <p:cNvPr id="64" name="Line 7"/>
          <p:cNvSpPr>
            <a:spLocks noChangeShapeType="1"/>
          </p:cNvSpPr>
          <p:nvPr/>
        </p:nvSpPr>
        <p:spPr bwMode="auto">
          <a:xfrm>
            <a:off x="3276600" y="1628775"/>
            <a:ext cx="0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5" name="Line 8"/>
          <p:cNvSpPr>
            <a:spLocks noChangeShapeType="1"/>
          </p:cNvSpPr>
          <p:nvPr/>
        </p:nvSpPr>
        <p:spPr bwMode="auto">
          <a:xfrm>
            <a:off x="3276600" y="2997200"/>
            <a:ext cx="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6" name="Line 9"/>
          <p:cNvSpPr>
            <a:spLocks noChangeShapeType="1"/>
          </p:cNvSpPr>
          <p:nvPr/>
        </p:nvSpPr>
        <p:spPr bwMode="auto">
          <a:xfrm>
            <a:off x="4284663" y="3644900"/>
            <a:ext cx="10080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>
            <a:off x="5292725" y="3644900"/>
            <a:ext cx="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8" name="Line 11"/>
          <p:cNvSpPr>
            <a:spLocks noChangeShapeType="1"/>
          </p:cNvSpPr>
          <p:nvPr/>
        </p:nvSpPr>
        <p:spPr bwMode="auto">
          <a:xfrm>
            <a:off x="1260475" y="3644900"/>
            <a:ext cx="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9" name="Line 12"/>
          <p:cNvSpPr>
            <a:spLocks noChangeShapeType="1"/>
          </p:cNvSpPr>
          <p:nvPr/>
        </p:nvSpPr>
        <p:spPr bwMode="auto">
          <a:xfrm flipH="1">
            <a:off x="3276600" y="5876925"/>
            <a:ext cx="1588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0" name="Oval 13"/>
          <p:cNvSpPr>
            <a:spLocks noChangeArrowheads="1"/>
          </p:cNvSpPr>
          <p:nvPr/>
        </p:nvSpPr>
        <p:spPr bwMode="auto">
          <a:xfrm>
            <a:off x="3132138" y="4724400"/>
            <a:ext cx="217487" cy="217488"/>
          </a:xfrm>
          <a:prstGeom prst="ellipse">
            <a:avLst/>
          </a:prstGeom>
          <a:solidFill>
            <a:srgbClr val="D0BBE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>
            <a:off x="3276600" y="4940300"/>
            <a:ext cx="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2" name="Line 15"/>
          <p:cNvSpPr>
            <a:spLocks noChangeShapeType="1"/>
          </p:cNvSpPr>
          <p:nvPr/>
        </p:nvSpPr>
        <p:spPr bwMode="auto">
          <a:xfrm flipH="1">
            <a:off x="3348038" y="4868863"/>
            <a:ext cx="1943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3" name="AutoShape 16"/>
          <p:cNvSpPr>
            <a:spLocks noChangeArrowheads="1"/>
          </p:cNvSpPr>
          <p:nvPr/>
        </p:nvSpPr>
        <p:spPr bwMode="auto">
          <a:xfrm>
            <a:off x="4068763" y="4005263"/>
            <a:ext cx="2447925" cy="576262"/>
          </a:xfrm>
          <a:prstGeom prst="flowChartInputOutpu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พิมพ์ </a:t>
            </a:r>
            <a:r>
              <a:rPr lang="en-US" sz="1400"/>
              <a:t>Thank You</a:t>
            </a:r>
            <a:endParaRPr lang="th-TH" sz="1400"/>
          </a:p>
        </p:txBody>
      </p:sp>
      <p:sp>
        <p:nvSpPr>
          <p:cNvPr id="74" name="AutoShape 17"/>
          <p:cNvSpPr>
            <a:spLocks noChangeArrowheads="1"/>
          </p:cNvSpPr>
          <p:nvPr/>
        </p:nvSpPr>
        <p:spPr bwMode="auto">
          <a:xfrm>
            <a:off x="36513" y="4005263"/>
            <a:ext cx="2447925" cy="576262"/>
          </a:xfrm>
          <a:prstGeom prst="flowChartInputOutpu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พิมพ์ </a:t>
            </a:r>
            <a:r>
              <a:rPr lang="en-US" sz="1400"/>
              <a:t>I</a:t>
            </a:r>
            <a:r>
              <a:rPr lang="en-US" sz="1400">
                <a:latin typeface="Times New Roman" pitchFamily="18" charset="0"/>
              </a:rPr>
              <a:t>’</a:t>
            </a:r>
            <a:r>
              <a:rPr lang="en-US" sz="1400"/>
              <a:t>m sorry to hear that</a:t>
            </a:r>
            <a:endParaRPr lang="th-TH" sz="1400"/>
          </a:p>
        </p:txBody>
      </p:sp>
      <p:sp>
        <p:nvSpPr>
          <p:cNvPr id="75" name="Text Box 18"/>
          <p:cNvSpPr txBox="1">
            <a:spLocks noChangeArrowheads="1"/>
          </p:cNvSpPr>
          <p:nvPr/>
        </p:nvSpPr>
        <p:spPr bwMode="auto">
          <a:xfrm>
            <a:off x="4427538" y="3224213"/>
            <a:ext cx="581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solidFill>
                  <a:srgbClr val="0000CC"/>
                </a:solidFill>
                <a:latin typeface="Cordia New" pitchFamily="34" charset="-34"/>
                <a:cs typeface="Cordia New" pitchFamily="34" charset="-34"/>
              </a:rPr>
              <a:t>จริง</a:t>
            </a:r>
          </a:p>
        </p:txBody>
      </p:sp>
      <p:sp>
        <p:nvSpPr>
          <p:cNvPr id="76" name="Text Box 19"/>
          <p:cNvSpPr txBox="1">
            <a:spLocks noChangeArrowheads="1"/>
          </p:cNvSpPr>
          <p:nvPr/>
        </p:nvSpPr>
        <p:spPr bwMode="auto">
          <a:xfrm>
            <a:off x="1692275" y="3224213"/>
            <a:ext cx="592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solidFill>
                  <a:srgbClr val="0000CC"/>
                </a:solidFill>
                <a:latin typeface="Cordia New" pitchFamily="34" charset="-34"/>
                <a:cs typeface="Cordia New" pitchFamily="34" charset="-34"/>
              </a:rPr>
              <a:t>เท็จ</a:t>
            </a:r>
          </a:p>
        </p:txBody>
      </p:sp>
      <p:sp>
        <p:nvSpPr>
          <p:cNvPr id="77" name="AutoShape 20"/>
          <p:cNvSpPr>
            <a:spLocks noChangeArrowheads="1"/>
          </p:cNvSpPr>
          <p:nvPr/>
        </p:nvSpPr>
        <p:spPr bwMode="auto">
          <a:xfrm>
            <a:off x="1979613" y="1844675"/>
            <a:ext cx="2592387" cy="431800"/>
          </a:xfrm>
          <a:prstGeom prst="flowChartInputOutpu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พิมพ์ </a:t>
            </a:r>
            <a:r>
              <a:rPr lang="en-US" sz="1400"/>
              <a:t>Do you like Pascal</a:t>
            </a:r>
            <a:endParaRPr lang="th-TH" sz="1400"/>
          </a:p>
        </p:txBody>
      </p:sp>
      <p:sp>
        <p:nvSpPr>
          <p:cNvPr id="78" name="Line 21"/>
          <p:cNvSpPr>
            <a:spLocks noChangeShapeType="1"/>
          </p:cNvSpPr>
          <p:nvPr/>
        </p:nvSpPr>
        <p:spPr bwMode="auto">
          <a:xfrm>
            <a:off x="3276600" y="2276475"/>
            <a:ext cx="0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9" name="Line 22"/>
          <p:cNvSpPr>
            <a:spLocks noChangeShapeType="1"/>
          </p:cNvSpPr>
          <p:nvPr/>
        </p:nvSpPr>
        <p:spPr bwMode="auto">
          <a:xfrm>
            <a:off x="1260475" y="3644900"/>
            <a:ext cx="1008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0" name="Line 23"/>
          <p:cNvSpPr>
            <a:spLocks noChangeShapeType="1"/>
          </p:cNvSpPr>
          <p:nvPr/>
        </p:nvSpPr>
        <p:spPr bwMode="auto">
          <a:xfrm>
            <a:off x="1260475" y="4581525"/>
            <a:ext cx="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1" name="Line 24"/>
          <p:cNvSpPr>
            <a:spLocks noChangeShapeType="1"/>
          </p:cNvSpPr>
          <p:nvPr/>
        </p:nvSpPr>
        <p:spPr bwMode="auto">
          <a:xfrm>
            <a:off x="5292725" y="4581525"/>
            <a:ext cx="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2" name="Line 25"/>
          <p:cNvSpPr>
            <a:spLocks noChangeShapeType="1"/>
          </p:cNvSpPr>
          <p:nvPr/>
        </p:nvSpPr>
        <p:spPr bwMode="auto">
          <a:xfrm flipH="1">
            <a:off x="1260475" y="4868863"/>
            <a:ext cx="18716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3" name="AutoShape 26"/>
          <p:cNvSpPr>
            <a:spLocks noChangeArrowheads="1"/>
          </p:cNvSpPr>
          <p:nvPr/>
        </p:nvSpPr>
        <p:spPr bwMode="auto">
          <a:xfrm>
            <a:off x="2052638" y="5300663"/>
            <a:ext cx="2447925" cy="576262"/>
          </a:xfrm>
          <a:prstGeom prst="flowChartInputOutpu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/>
              <a:t>พิมพ์ </a:t>
            </a:r>
            <a:r>
              <a:rPr lang="en-US" sz="1400"/>
              <a:t>Good Bye</a:t>
            </a:r>
            <a:endParaRPr lang="th-TH" sz="1400"/>
          </a:p>
        </p:txBody>
      </p:sp>
      <p:sp>
        <p:nvSpPr>
          <p:cNvPr id="84" name="AutoShape 27"/>
          <p:cNvSpPr>
            <a:spLocks noChangeArrowheads="1"/>
          </p:cNvSpPr>
          <p:nvPr/>
        </p:nvSpPr>
        <p:spPr bwMode="auto">
          <a:xfrm>
            <a:off x="2771775" y="6308725"/>
            <a:ext cx="1008063" cy="360363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400" b="1">
                <a:latin typeface="Cordia New" pitchFamily="34" charset="-34"/>
                <a:cs typeface="Cordia New" pitchFamily="34" charset="-34"/>
              </a:rPr>
              <a:t>จบ</a:t>
            </a:r>
          </a:p>
        </p:txBody>
      </p:sp>
      <p:sp>
        <p:nvSpPr>
          <p:cNvPr id="85" name="Text Box 28"/>
          <p:cNvSpPr txBox="1">
            <a:spLocks noChangeArrowheads="1"/>
          </p:cNvSpPr>
          <p:nvPr/>
        </p:nvSpPr>
        <p:spPr bwMode="auto">
          <a:xfrm>
            <a:off x="4465638" y="1903413"/>
            <a:ext cx="3724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Cordia New" pitchFamily="34" charset="-34"/>
                <a:cs typeface="Cordia New" pitchFamily="34" charset="-34"/>
              </a:rPr>
              <a:t>แสดงข้อความ </a:t>
            </a:r>
            <a:r>
              <a:rPr lang="en-US" b="1">
                <a:latin typeface="Cordia New" pitchFamily="34" charset="-34"/>
                <a:cs typeface="Cordia New" pitchFamily="34" charset="-34"/>
              </a:rPr>
              <a:t>Do you like Pascal</a:t>
            </a:r>
            <a:endParaRPr lang="th-TH" b="1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86" name="Text Box 29"/>
          <p:cNvSpPr txBox="1">
            <a:spLocks noChangeArrowheads="1"/>
          </p:cNvSpPr>
          <p:nvPr/>
        </p:nvSpPr>
        <p:spPr bwMode="auto">
          <a:xfrm>
            <a:off x="4465638" y="2624138"/>
            <a:ext cx="2251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Cordia New" pitchFamily="34" charset="-34"/>
                <a:cs typeface="Cordia New" pitchFamily="34" charset="-34"/>
              </a:rPr>
              <a:t>รับค่าใส่ตัวแปร </a:t>
            </a:r>
            <a:r>
              <a:rPr lang="en-US" b="1">
                <a:latin typeface="Cordia New" pitchFamily="34" charset="-34"/>
                <a:cs typeface="Cordia New" pitchFamily="34" charset="-34"/>
              </a:rPr>
              <a:t>ans</a:t>
            </a:r>
            <a:endParaRPr lang="th-TH" b="1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87" name="Text Box 30"/>
          <p:cNvSpPr txBox="1">
            <a:spLocks noChangeArrowheads="1"/>
          </p:cNvSpPr>
          <p:nvPr/>
        </p:nvSpPr>
        <p:spPr bwMode="auto">
          <a:xfrm>
            <a:off x="4465638" y="1255713"/>
            <a:ext cx="169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Cordia New" pitchFamily="34" charset="-34"/>
                <a:cs typeface="Cordia New" pitchFamily="34" charset="-34"/>
              </a:rPr>
              <a:t>เริ่มการทำงาน</a:t>
            </a:r>
          </a:p>
        </p:txBody>
      </p:sp>
      <p:sp>
        <p:nvSpPr>
          <p:cNvPr id="88" name="Text Box 31"/>
          <p:cNvSpPr txBox="1">
            <a:spLocks noChangeArrowheads="1"/>
          </p:cNvSpPr>
          <p:nvPr/>
        </p:nvSpPr>
        <p:spPr bwMode="auto">
          <a:xfrm>
            <a:off x="5400675" y="3459163"/>
            <a:ext cx="345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2400" b="1">
                <a:latin typeface="Cordia New" pitchFamily="34" charset="-34"/>
                <a:cs typeface="Cordia New" pitchFamily="34" charset="-34"/>
              </a:rPr>
              <a:t>เปรียบเทียบค่า </a:t>
            </a:r>
            <a:r>
              <a:rPr lang="en-US" sz="2400" b="1">
                <a:latin typeface="Cordia New" pitchFamily="34" charset="-34"/>
                <a:cs typeface="Cordia New" pitchFamily="34" charset="-34"/>
              </a:rPr>
              <a:t>ans </a:t>
            </a:r>
            <a:r>
              <a:rPr lang="th-TH" sz="2400" b="1">
                <a:latin typeface="Cordia New" pitchFamily="34" charset="-34"/>
                <a:cs typeface="Cordia New" pitchFamily="34" charset="-34"/>
              </a:rPr>
              <a:t>เท่ากับ </a:t>
            </a:r>
            <a:r>
              <a:rPr lang="en-US" sz="2400" b="1">
                <a:latin typeface="Cordia New" pitchFamily="34" charset="-34"/>
                <a:cs typeface="Cordia New" pitchFamily="34" charset="-34"/>
              </a:rPr>
              <a:t>y </a:t>
            </a:r>
            <a:r>
              <a:rPr lang="th-TH" sz="2400" b="1">
                <a:latin typeface="Cordia New" pitchFamily="34" charset="-34"/>
                <a:cs typeface="Cordia New" pitchFamily="34" charset="-34"/>
              </a:rPr>
              <a:t>หรือ </a:t>
            </a:r>
            <a:r>
              <a:rPr lang="en-US" sz="2400" b="1">
                <a:latin typeface="Cordia New" pitchFamily="34" charset="-34"/>
                <a:cs typeface="Cordia New" pitchFamily="34" charset="-34"/>
              </a:rPr>
              <a:t>Y</a:t>
            </a:r>
            <a:endParaRPr lang="th-TH" sz="2400" b="1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89" name="Text Box 32"/>
          <p:cNvSpPr txBox="1">
            <a:spLocks noChangeArrowheads="1"/>
          </p:cNvSpPr>
          <p:nvPr/>
        </p:nvSpPr>
        <p:spPr bwMode="auto">
          <a:xfrm>
            <a:off x="6481763" y="3933825"/>
            <a:ext cx="206851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400" b="1">
                <a:latin typeface="Cordia New" pitchFamily="34" charset="-34"/>
                <a:cs typeface="Cordia New" pitchFamily="34" charset="-34"/>
              </a:rPr>
              <a:t>- </a:t>
            </a:r>
            <a:r>
              <a:rPr lang="th-TH" sz="2400" b="1">
                <a:latin typeface="Cordia New" pitchFamily="34" charset="-34"/>
                <a:cs typeface="Cordia New" pitchFamily="34" charset="-34"/>
              </a:rPr>
              <a:t>ถ้าเป็นจริง พิมพ์</a:t>
            </a:r>
          </a:p>
          <a:p>
            <a:pPr eaLnBrk="1" hangingPunct="1"/>
            <a:r>
              <a:rPr lang="en-US" sz="2400" b="1">
                <a:latin typeface="Cordia New" pitchFamily="34" charset="-34"/>
                <a:cs typeface="Cordia New" pitchFamily="34" charset="-34"/>
              </a:rPr>
              <a:t>Thank you</a:t>
            </a:r>
            <a:endParaRPr lang="th-TH" sz="2400" b="1">
              <a:latin typeface="Cordia New" pitchFamily="34" charset="-34"/>
              <a:cs typeface="Cordia New" pitchFamily="34" charset="-34"/>
            </a:endParaRPr>
          </a:p>
          <a:p>
            <a:pPr eaLnBrk="1" hangingPunct="1">
              <a:buFontTx/>
              <a:buChar char="-"/>
            </a:pPr>
            <a:r>
              <a:rPr lang="th-TH" sz="2400" b="1">
                <a:latin typeface="Cordia New" pitchFamily="34" charset="-34"/>
                <a:cs typeface="Cordia New" pitchFamily="34" charset="-34"/>
              </a:rPr>
              <a:t>ถ้าเป็นเท็จ พิมพ์</a:t>
            </a:r>
          </a:p>
          <a:p>
            <a:pPr eaLnBrk="1" hangingPunct="1"/>
            <a:r>
              <a:rPr lang="en-US" sz="2400" b="1">
                <a:latin typeface="Cordia New" pitchFamily="34" charset="-34"/>
                <a:cs typeface="Cordia New" pitchFamily="34" charset="-34"/>
              </a:rPr>
              <a:t>I’m sorry to hear that</a:t>
            </a:r>
            <a:endParaRPr lang="th-TH" sz="2400" b="1">
              <a:latin typeface="Cordia New" pitchFamily="34" charset="-34"/>
              <a:cs typeface="Cordia New" pitchFamily="34" charset="-34"/>
            </a:endParaRPr>
          </a:p>
          <a:p>
            <a:pPr eaLnBrk="1" hangingPunct="1">
              <a:buFontTx/>
              <a:buChar char="-"/>
            </a:pPr>
            <a:endParaRPr lang="th-TH" sz="2400" b="1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90" name="Text Box 33"/>
          <p:cNvSpPr txBox="1">
            <a:spLocks noChangeArrowheads="1"/>
          </p:cNvSpPr>
          <p:nvPr/>
        </p:nvSpPr>
        <p:spPr bwMode="auto">
          <a:xfrm>
            <a:off x="4537075" y="5445125"/>
            <a:ext cx="2292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Cordia New" pitchFamily="34" charset="-34"/>
                <a:cs typeface="Cordia New" pitchFamily="34" charset="-34"/>
              </a:rPr>
              <a:t>พิมพ์คำว่า </a:t>
            </a:r>
            <a:r>
              <a:rPr lang="en-US" b="1">
                <a:latin typeface="Cordia New" pitchFamily="34" charset="-34"/>
                <a:cs typeface="Cordia New" pitchFamily="34" charset="-34"/>
              </a:rPr>
              <a:t>Goodbye</a:t>
            </a:r>
            <a:endParaRPr lang="th-TH" b="1">
              <a:latin typeface="Cordia New" pitchFamily="34" charset="-34"/>
              <a:cs typeface="Cordia New" pitchFamily="34" charset="-34"/>
            </a:endParaRPr>
          </a:p>
        </p:txBody>
      </p:sp>
      <p:sp>
        <p:nvSpPr>
          <p:cNvPr id="91" name="Text Box 34"/>
          <p:cNvSpPr txBox="1">
            <a:spLocks noChangeArrowheads="1"/>
          </p:cNvSpPr>
          <p:nvPr/>
        </p:nvSpPr>
        <p:spPr bwMode="auto">
          <a:xfrm>
            <a:off x="4500563" y="6165850"/>
            <a:ext cx="1630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latin typeface="Cordia New" pitchFamily="34" charset="-34"/>
                <a:cs typeface="Cordia New" pitchFamily="34" charset="-34"/>
              </a:rPr>
              <a:t>จบการทำงาน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838317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9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444" y="1341438"/>
            <a:ext cx="7993012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บริษัทแห่งหนึ่งต้องการเพิ่มเงินเดือนให้พนักงานที่มีเงินเดือนต่ำกว่า 5000 อีกคนละ 10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%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และพนักงานที่มีเงินเดือนตั้งแต่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5000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เพิ่ม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5%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ให้พนักงานทุกคนได้รับโบนัสคนละ 3 เท่าของเงินเดือน</a:t>
            </a:r>
          </a:p>
          <a:p>
            <a:pPr>
              <a:lnSpc>
                <a:spcPct val="80000"/>
              </a:lnSpc>
            </a:pPr>
            <a:r>
              <a:rPr lang="th-TH" b="1" dirty="0">
                <a:solidFill>
                  <a:srgbClr val="0000CC"/>
                </a:solidFill>
                <a:latin typeface="TH SarabunPSK" pitchFamily="34" charset="-34"/>
                <a:cs typeface="TH SarabunPSK" pitchFamily="34" charset="-34"/>
              </a:rPr>
              <a:t>ขั้นตอนการประมวลผล</a:t>
            </a:r>
          </a:p>
          <a:p>
            <a:pPr lvl="1">
              <a:lnSpc>
                <a:spcPct val="80000"/>
              </a:lnSpc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รับค่าชื่อพนักงาน . เงินเดือน</a:t>
            </a:r>
          </a:p>
          <a:p>
            <a:pPr lvl="1">
              <a:lnSpc>
                <a:spcPct val="80000"/>
              </a:lnSpc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เปรียบเทียบค่า เงินเดือน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&lt; 5000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 </a:t>
            </a:r>
          </a:p>
          <a:p>
            <a:pPr lvl="2">
              <a:lnSpc>
                <a:spcPct val="80000"/>
              </a:lnSpc>
              <a:buFontTx/>
              <a:buChar char="-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ถ้าเป็นจริง ให้อัตราเพิ่มเงินเดือน 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10/100</a:t>
            </a:r>
          </a:p>
          <a:p>
            <a:pPr lvl="2">
              <a:lnSpc>
                <a:spcPct val="80000"/>
              </a:lnSpc>
              <a:buFontTx/>
              <a:buChar char="-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ถ้าเป็นเท็จให้อัตราเพิ่มเงินเดือน 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5/100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 lvl="1">
              <a:lnSpc>
                <a:spcPct val="80000"/>
              </a:lnSpc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คำนวณเงินเดือน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เงินเดือน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+ (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เงินเดือน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*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อัตราเพิ่มเงินเดือน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)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 lvl="1">
              <a:lnSpc>
                <a:spcPct val="80000"/>
              </a:lnSpc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โบนัส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=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เงินเดือน * 3</a:t>
            </a:r>
          </a:p>
          <a:p>
            <a:pPr lvl="1">
              <a:lnSpc>
                <a:spcPct val="80000"/>
              </a:lnSpc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แสดงผลลัพธ์</a:t>
            </a:r>
          </a:p>
          <a:p>
            <a:pPr lvl="1">
              <a:lnSpc>
                <a:spcPct val="80000"/>
              </a:lnSpc>
              <a:buFontTx/>
              <a:buAutoNum type="arabicPeriod"/>
            </a:pP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จบการทำงาน</a:t>
            </a:r>
          </a:p>
        </p:txBody>
      </p:sp>
    </p:spTree>
    <p:extLst>
      <p:ext uri="{BB962C8B-B14F-4D97-AF65-F5344CB8AC3E}">
        <p14:creationId xmlns:p14="http://schemas.microsoft.com/office/powerpoint/2010/main" val="3560896618"/>
      </p:ext>
    </p:extLst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1979613" y="1412875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START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372225" y="5445125"/>
            <a:ext cx="1225550" cy="431800"/>
          </a:xfrm>
          <a:prstGeom prst="flowChartTermina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Verdana" pitchFamily="34" charset="0"/>
              </a:rPr>
              <a:t>STOP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555875" y="29241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187450" y="3644900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2555875" y="5084763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1187450" y="2205038"/>
            <a:ext cx="2665413" cy="719137"/>
          </a:xfrm>
          <a:prstGeom prst="flowChartInputOutpu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read </a:t>
            </a:r>
          </a:p>
          <a:p>
            <a:pPr algn="ctr"/>
            <a:r>
              <a:rPr lang="en-US" sz="2000"/>
              <a:t>name ,salary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2555875" y="18446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763713" y="3284538"/>
            <a:ext cx="1584325" cy="720725"/>
          </a:xfrm>
          <a:prstGeom prst="flowChartDecision">
            <a:avLst/>
          </a:prstGeom>
          <a:solidFill>
            <a:srgbClr val="00B8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salary &lt; 5000</a:t>
            </a: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5651500" y="4221163"/>
            <a:ext cx="2592388" cy="792162"/>
          </a:xfrm>
          <a:prstGeom prst="flowChartDisplay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Name , salary , </a:t>
            </a:r>
          </a:p>
          <a:p>
            <a:pPr algn="ctr"/>
            <a:r>
              <a:rPr lang="en-US" sz="2000"/>
              <a:t>bonus </a:t>
            </a: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3348038" y="3644900"/>
            <a:ext cx="6477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3995738" y="4652963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H="1">
            <a:off x="2771775" y="5013325"/>
            <a:ext cx="12239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348038" y="3284538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</a:rPr>
              <a:t>true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1116013" y="3284538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CC"/>
                </a:solidFill>
              </a:rPr>
              <a:t>false</a:t>
            </a: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3132138" y="4005263"/>
            <a:ext cx="1655762" cy="6477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rate = 10 / 100</a:t>
            </a:r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2339975" y="5518150"/>
            <a:ext cx="431800" cy="431800"/>
          </a:xfrm>
          <a:prstGeom prst="ellipse">
            <a:avLst/>
          </a:prstGeom>
          <a:solidFill>
            <a:srgbClr val="B7BCE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</a:t>
            </a:r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6732588" y="1341438"/>
            <a:ext cx="431800" cy="431800"/>
          </a:xfrm>
          <a:prstGeom prst="ellipse">
            <a:avLst/>
          </a:prstGeom>
          <a:solidFill>
            <a:srgbClr val="B7BCE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5724525" y="3141663"/>
            <a:ext cx="2449513" cy="6477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bonus = salary * 3</a:t>
            </a: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6948488" y="17732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6948488" y="3789363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6948488" y="5013325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6" name="Freeform 24"/>
          <p:cNvSpPr>
            <a:spLocks/>
          </p:cNvSpPr>
          <p:nvPr/>
        </p:nvSpPr>
        <p:spPr bwMode="auto">
          <a:xfrm>
            <a:off x="2555875" y="1052513"/>
            <a:ext cx="4392613" cy="5400675"/>
          </a:xfrm>
          <a:custGeom>
            <a:avLst/>
            <a:gdLst>
              <a:gd name="T0" fmla="*/ 0 w 2767"/>
              <a:gd name="T1" fmla="*/ 4968425 h 3311"/>
              <a:gd name="T2" fmla="*/ 215900 w 2767"/>
              <a:gd name="T3" fmla="*/ 5190259 h 3311"/>
              <a:gd name="T4" fmla="*/ 1079500 w 2767"/>
              <a:gd name="T5" fmla="*/ 5338692 h 3311"/>
              <a:gd name="T6" fmla="*/ 2520950 w 2767"/>
              <a:gd name="T7" fmla="*/ 4821623 h 3311"/>
              <a:gd name="T8" fmla="*/ 2447925 w 2767"/>
              <a:gd name="T9" fmla="*/ 1934521 h 3311"/>
              <a:gd name="T10" fmla="*/ 2808288 w 2767"/>
              <a:gd name="T11" fmla="*/ 381685 h 3311"/>
              <a:gd name="T12" fmla="*/ 4032250 w 2767"/>
              <a:gd name="T13" fmla="*/ 11418 h 3311"/>
              <a:gd name="T14" fmla="*/ 4392613 w 2767"/>
              <a:gd name="T15" fmla="*/ 308284 h 331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767"/>
              <a:gd name="T25" fmla="*/ 0 h 3311"/>
              <a:gd name="T26" fmla="*/ 2767 w 2767"/>
              <a:gd name="T27" fmla="*/ 3311 h 331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767" h="3311">
                <a:moveTo>
                  <a:pt x="0" y="3046"/>
                </a:moveTo>
                <a:cubicBezTo>
                  <a:pt x="11" y="3095"/>
                  <a:pt x="23" y="3144"/>
                  <a:pt x="136" y="3182"/>
                </a:cubicBezTo>
                <a:cubicBezTo>
                  <a:pt x="249" y="3220"/>
                  <a:pt x="438" y="3311"/>
                  <a:pt x="680" y="3273"/>
                </a:cubicBezTo>
                <a:cubicBezTo>
                  <a:pt x="922" y="3235"/>
                  <a:pt x="1444" y="3304"/>
                  <a:pt x="1588" y="2956"/>
                </a:cubicBezTo>
                <a:cubicBezTo>
                  <a:pt x="1732" y="2608"/>
                  <a:pt x="1512" y="1640"/>
                  <a:pt x="1542" y="1186"/>
                </a:cubicBezTo>
                <a:cubicBezTo>
                  <a:pt x="1572" y="732"/>
                  <a:pt x="1603" y="430"/>
                  <a:pt x="1769" y="234"/>
                </a:cubicBezTo>
                <a:cubicBezTo>
                  <a:pt x="1935" y="38"/>
                  <a:pt x="2374" y="14"/>
                  <a:pt x="2540" y="7"/>
                </a:cubicBezTo>
                <a:cubicBezTo>
                  <a:pt x="2706" y="0"/>
                  <a:pt x="2736" y="94"/>
                  <a:pt x="2767" y="189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5364163" y="6021388"/>
            <a:ext cx="2943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b="1">
                <a:solidFill>
                  <a:srgbClr val="FF0000"/>
                </a:solidFill>
                <a:latin typeface="Cordia New" pitchFamily="34" charset="-34"/>
                <a:cs typeface="Cordia New" pitchFamily="34" charset="-34"/>
              </a:rPr>
              <a:t>แต่ไม่ต้องเขียนเส้นเชื่อมนี้</a:t>
            </a: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H="1" flipV="1">
            <a:off x="5003800" y="5949950"/>
            <a:ext cx="431800" cy="2159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H="1">
            <a:off x="1187450" y="3644900"/>
            <a:ext cx="5762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3995738" y="3644900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323850" y="4005263"/>
            <a:ext cx="1655763" cy="6477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rate = 5 / 100</a:t>
            </a:r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2411413" y="4797425"/>
            <a:ext cx="360362" cy="360363"/>
          </a:xfrm>
          <a:prstGeom prst="ellipse">
            <a:avLst/>
          </a:prstGeom>
          <a:solidFill>
            <a:srgbClr val="B7BCE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1187450" y="4652963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1187450" y="5013325"/>
            <a:ext cx="12239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5292725" y="2133600"/>
            <a:ext cx="3382963" cy="6477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salary = salary+(salary * rate)</a:t>
            </a: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6948488" y="2781300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316017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การเขียนผังงานแบบหลายทาง (แบบ 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IF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388" y="1341438"/>
            <a:ext cx="4464050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เป็นรูปแบบการเลือกการทำงานที่มีทางเลือกมากกว่า 2 ทางขึ้นไป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1909763" y="1412875"/>
            <a:ext cx="6838950" cy="5300663"/>
            <a:chOff x="1203" y="890"/>
            <a:chExt cx="4308" cy="333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3789" y="1162"/>
              <a:ext cx="907" cy="454"/>
            </a:xfrm>
            <a:prstGeom prst="flowChartDecision">
              <a:avLst/>
            </a:prstGeom>
            <a:solidFill>
              <a:srgbClr val="8BDA2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เงื่อนไข 1</a:t>
              </a: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604" y="1707"/>
              <a:ext cx="907" cy="363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>
                  <a:latin typeface="Tahoma" pitchFamily="34" charset="0"/>
                  <a:cs typeface="Tahoma" pitchFamily="34" charset="0"/>
                </a:rPr>
                <a:t>คำสั่งที่ 1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2383" y="3203"/>
              <a:ext cx="227" cy="227"/>
            </a:xfrm>
            <a:prstGeom prst="ellipse">
              <a:avLst/>
            </a:prstGeom>
            <a:solidFill>
              <a:srgbClr val="99150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4696" y="1389"/>
              <a:ext cx="36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3380" y="1389"/>
              <a:ext cx="40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5059" y="2069"/>
              <a:ext cx="0" cy="17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471" y="3793"/>
              <a:ext cx="726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4242" y="890"/>
              <a:ext cx="0" cy="27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4729" y="1156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  <a:latin typeface="Tahoma" pitchFamily="34" charset="0"/>
                  <a:cs typeface="Tahoma" pitchFamily="34" charset="0"/>
                </a:rPr>
                <a:t>True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3335" y="1162"/>
              <a:ext cx="5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  <a:latin typeface="Tahoma" pitchFamily="34" charset="0"/>
                  <a:cs typeface="Tahoma" pitchFamily="34" charset="0"/>
                </a:rPr>
                <a:t>False</a:t>
              </a: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5058" y="1389"/>
              <a:ext cx="1" cy="3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3562" y="3566"/>
              <a:ext cx="63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197" y="2568"/>
              <a:ext cx="0" cy="99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0" name="AutoShape 17"/>
            <p:cNvSpPr>
              <a:spLocks noChangeArrowheads="1"/>
            </p:cNvSpPr>
            <p:nvPr/>
          </p:nvSpPr>
          <p:spPr bwMode="auto">
            <a:xfrm>
              <a:off x="2927" y="1661"/>
              <a:ext cx="907" cy="454"/>
            </a:xfrm>
            <a:prstGeom prst="flowChartDecision">
              <a:avLst/>
            </a:prstGeom>
            <a:solidFill>
              <a:srgbClr val="8BDA2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เงื่อนไข 2</a:t>
              </a: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3380" y="1389"/>
              <a:ext cx="0" cy="27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3743" y="2206"/>
              <a:ext cx="907" cy="363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>
                  <a:latin typeface="Tahoma" pitchFamily="34" charset="0"/>
                  <a:cs typeface="Tahoma" pitchFamily="34" charset="0"/>
                </a:rPr>
                <a:t>คำสั่งที่ 2</a:t>
              </a: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3835" y="1889"/>
              <a:ext cx="36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3868" y="1659"/>
              <a:ext cx="4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</a:rPr>
                <a:t>True</a:t>
              </a: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H="1">
              <a:off x="4197" y="1889"/>
              <a:ext cx="0" cy="31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2530" y="1887"/>
              <a:ext cx="40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2473" y="1660"/>
              <a:ext cx="5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  <a:latin typeface="Tahoma" pitchFamily="34" charset="0"/>
                  <a:cs typeface="Tahoma" pitchFamily="34" charset="0"/>
                </a:rPr>
                <a:t>False</a:t>
              </a:r>
            </a:p>
          </p:txBody>
        </p:sp>
        <p:sp>
          <p:nvSpPr>
            <p:cNvPr id="28" name="AutoShape 25"/>
            <p:cNvSpPr>
              <a:spLocks noChangeArrowheads="1"/>
            </p:cNvSpPr>
            <p:nvPr/>
          </p:nvSpPr>
          <p:spPr bwMode="auto">
            <a:xfrm>
              <a:off x="2077" y="2159"/>
              <a:ext cx="907" cy="454"/>
            </a:xfrm>
            <a:prstGeom prst="flowChartDecision">
              <a:avLst/>
            </a:prstGeom>
            <a:solidFill>
              <a:srgbClr val="8BDA2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1800" b="1">
                  <a:latin typeface="Tahoma" pitchFamily="34" charset="0"/>
                  <a:cs typeface="Tahoma" pitchFamily="34" charset="0"/>
                </a:rPr>
                <a:t>เงื่อนไข 3</a:t>
              </a: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2530" y="1887"/>
              <a:ext cx="0" cy="27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2893" y="2704"/>
              <a:ext cx="907" cy="363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>
                  <a:latin typeface="Tahoma" pitchFamily="34" charset="0"/>
                  <a:cs typeface="Tahoma" pitchFamily="34" charset="0"/>
                </a:rPr>
                <a:t>คำสั่งที่ 3</a:t>
              </a: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2985" y="2387"/>
              <a:ext cx="36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3018" y="2157"/>
              <a:ext cx="4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</a:rPr>
                <a:t>True</a:t>
              </a: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3347" y="2387"/>
              <a:ext cx="0" cy="31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1656" y="2387"/>
              <a:ext cx="40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1657" y="2160"/>
              <a:ext cx="5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itchFamily="34" charset="0"/>
                  <a:cs typeface="Angsana New" pitchFamily="18" charset="-34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000CC"/>
                  </a:solidFill>
                  <a:latin typeface="Tahoma" pitchFamily="34" charset="0"/>
                  <a:cs typeface="Tahoma" pitchFamily="34" charset="0"/>
                </a:rPr>
                <a:t>False</a:t>
              </a:r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>
              <a:off x="1656" y="2387"/>
              <a:ext cx="1" cy="31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7" name="Rectangle 34"/>
            <p:cNvSpPr>
              <a:spLocks noChangeArrowheads="1"/>
            </p:cNvSpPr>
            <p:nvPr/>
          </p:nvSpPr>
          <p:spPr bwMode="auto">
            <a:xfrm>
              <a:off x="1203" y="2704"/>
              <a:ext cx="907" cy="363"/>
            </a:xfrm>
            <a:prstGeom prst="rect">
              <a:avLst/>
            </a:prstGeom>
            <a:solidFill>
              <a:srgbClr val="DFA7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h-TH" sz="2000">
                  <a:latin typeface="Tahoma" pitchFamily="34" charset="0"/>
                  <a:cs typeface="Tahoma" pitchFamily="34" charset="0"/>
                </a:rPr>
                <a:t>คำสั่งที่ 4</a:t>
              </a:r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1657" y="3067"/>
              <a:ext cx="0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1657" y="3294"/>
              <a:ext cx="72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3335" y="3067"/>
              <a:ext cx="0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>
              <a:off x="2609" y="3294"/>
              <a:ext cx="72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335" y="3430"/>
              <a:ext cx="227" cy="227"/>
            </a:xfrm>
            <a:prstGeom prst="ellipse">
              <a:avLst/>
            </a:prstGeom>
            <a:solidFill>
              <a:srgbClr val="99150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2519" y="3430"/>
              <a:ext cx="0" cy="1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2519" y="3566"/>
              <a:ext cx="81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197" y="3657"/>
              <a:ext cx="227" cy="227"/>
            </a:xfrm>
            <a:prstGeom prst="ellipse">
              <a:avLst/>
            </a:prstGeom>
            <a:solidFill>
              <a:srgbClr val="99150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46" name="Line 43"/>
            <p:cNvSpPr>
              <a:spLocks noChangeShapeType="1"/>
            </p:cNvSpPr>
            <p:nvPr/>
          </p:nvSpPr>
          <p:spPr bwMode="auto">
            <a:xfrm>
              <a:off x="3471" y="3657"/>
              <a:ext cx="0" cy="1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H="1">
              <a:off x="4424" y="3793"/>
              <a:ext cx="63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4333" y="3883"/>
              <a:ext cx="0" cy="34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813109873"/>
      </p:ext>
    </p:extLst>
  </p:cSld>
  <p:clrMapOvr>
    <a:masterClrMapping/>
  </p:clrMapOvr>
  <p:transition>
    <p:fade thruBlk="1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55303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การเขียนผังงานแบบสองทางเลือก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6081713" y="2492375"/>
            <a:ext cx="1439862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itchFamily="34" charset="0"/>
                <a:cs typeface="Tahoma" pitchFamily="34" charset="0"/>
              </a:rPr>
              <a:t>Score &gt;=80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6804025" y="2133600"/>
            <a:ext cx="0" cy="358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7523163" y="2852738"/>
            <a:ext cx="5032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8026400" y="28527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307263" y="3213100"/>
            <a:ext cx="1439862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‘A’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7450138" y="2492375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true</a:t>
            </a: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5507038" y="2852738"/>
            <a:ext cx="5746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507038" y="2492375"/>
            <a:ext cx="70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4786313" y="3213100"/>
            <a:ext cx="1439862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itchFamily="34" charset="0"/>
                <a:cs typeface="Tahoma" pitchFamily="34" charset="0"/>
              </a:rPr>
              <a:t>Score &gt;=70</a:t>
            </a: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5507038" y="2854325"/>
            <a:ext cx="0" cy="358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6227763" y="3573463"/>
            <a:ext cx="5032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6731000" y="3573463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011863" y="3933825"/>
            <a:ext cx="1439862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‘B’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154738" y="32131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true</a:t>
            </a: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4211638" y="3573463"/>
            <a:ext cx="5746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211638" y="3213100"/>
            <a:ext cx="70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21" name="AutoShape 22"/>
          <p:cNvSpPr>
            <a:spLocks noChangeArrowheads="1"/>
          </p:cNvSpPr>
          <p:nvPr/>
        </p:nvSpPr>
        <p:spPr bwMode="auto">
          <a:xfrm>
            <a:off x="3490913" y="3932238"/>
            <a:ext cx="1439862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itchFamily="34" charset="0"/>
                <a:cs typeface="Tahoma" pitchFamily="34" charset="0"/>
              </a:rPr>
              <a:t>Score &gt;=60</a:t>
            </a: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4211638" y="3573463"/>
            <a:ext cx="0" cy="358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4932363" y="4292600"/>
            <a:ext cx="5032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5435600" y="4292600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4716463" y="4652963"/>
            <a:ext cx="1439862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‘C’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4859338" y="393223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true</a:t>
            </a: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H="1">
            <a:off x="2916238" y="4292600"/>
            <a:ext cx="5746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2916238" y="3932238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29" name="AutoShape 31"/>
          <p:cNvSpPr>
            <a:spLocks noChangeArrowheads="1"/>
          </p:cNvSpPr>
          <p:nvPr/>
        </p:nvSpPr>
        <p:spPr bwMode="auto">
          <a:xfrm>
            <a:off x="2193925" y="4652963"/>
            <a:ext cx="1439863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itchFamily="34" charset="0"/>
                <a:cs typeface="Tahoma" pitchFamily="34" charset="0"/>
              </a:rPr>
              <a:t>Score &gt;=50</a:t>
            </a: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2914650" y="4294188"/>
            <a:ext cx="0" cy="358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3635375" y="5013325"/>
            <a:ext cx="50323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4138613" y="501332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3419475" y="5373688"/>
            <a:ext cx="1439863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‘D’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3562350" y="4652963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true</a:t>
            </a: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 flipH="1">
            <a:off x="1619250" y="5013325"/>
            <a:ext cx="5746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6" name="Line 38"/>
          <p:cNvSpPr>
            <a:spLocks noChangeShapeType="1"/>
          </p:cNvSpPr>
          <p:nvPr/>
        </p:nvSpPr>
        <p:spPr bwMode="auto">
          <a:xfrm>
            <a:off x="1619250" y="501332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7" name="Text Box 39"/>
          <p:cNvSpPr txBox="1">
            <a:spLocks noChangeArrowheads="1"/>
          </p:cNvSpPr>
          <p:nvPr/>
        </p:nvSpPr>
        <p:spPr bwMode="auto">
          <a:xfrm>
            <a:off x="1619250" y="4652963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FF"/>
                </a:solidFill>
              </a:rPr>
              <a:t>false</a:t>
            </a:r>
          </a:p>
        </p:txBody>
      </p: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900113" y="5373688"/>
            <a:ext cx="1439862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‘F’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9" name="Oval 41"/>
          <p:cNvSpPr>
            <a:spLocks noChangeArrowheads="1"/>
          </p:cNvSpPr>
          <p:nvPr/>
        </p:nvSpPr>
        <p:spPr bwMode="auto">
          <a:xfrm>
            <a:off x="2627313" y="6165850"/>
            <a:ext cx="360362" cy="360363"/>
          </a:xfrm>
          <a:prstGeom prst="ellipse">
            <a:avLst/>
          </a:prstGeom>
          <a:solidFill>
            <a:srgbClr val="B7BCE7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40" name="Line 42"/>
          <p:cNvSpPr>
            <a:spLocks noChangeShapeType="1"/>
          </p:cNvSpPr>
          <p:nvPr/>
        </p:nvSpPr>
        <p:spPr bwMode="auto">
          <a:xfrm>
            <a:off x="1619250" y="5949950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1619250" y="6381750"/>
            <a:ext cx="10080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2" name="Line 44"/>
          <p:cNvSpPr>
            <a:spLocks noChangeShapeType="1"/>
          </p:cNvSpPr>
          <p:nvPr/>
        </p:nvSpPr>
        <p:spPr bwMode="auto">
          <a:xfrm>
            <a:off x="8027988" y="3789363"/>
            <a:ext cx="0" cy="259238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3" name="Line 45"/>
          <p:cNvSpPr>
            <a:spLocks noChangeShapeType="1"/>
          </p:cNvSpPr>
          <p:nvPr/>
        </p:nvSpPr>
        <p:spPr bwMode="auto">
          <a:xfrm flipH="1">
            <a:off x="2987675" y="6381750"/>
            <a:ext cx="504031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4" name="Line 46"/>
          <p:cNvSpPr>
            <a:spLocks noChangeShapeType="1"/>
          </p:cNvSpPr>
          <p:nvPr/>
        </p:nvSpPr>
        <p:spPr bwMode="auto">
          <a:xfrm>
            <a:off x="2771775" y="6524625"/>
            <a:ext cx="0" cy="2889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5" name="Line 47"/>
          <p:cNvSpPr>
            <a:spLocks noChangeShapeType="1"/>
          </p:cNvSpPr>
          <p:nvPr/>
        </p:nvSpPr>
        <p:spPr bwMode="auto">
          <a:xfrm>
            <a:off x="4140200" y="5949950"/>
            <a:ext cx="0" cy="431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6" name="Line 48"/>
          <p:cNvSpPr>
            <a:spLocks noChangeShapeType="1"/>
          </p:cNvSpPr>
          <p:nvPr/>
        </p:nvSpPr>
        <p:spPr bwMode="auto">
          <a:xfrm>
            <a:off x="5435600" y="5229225"/>
            <a:ext cx="0" cy="1152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7" name="Line 49"/>
          <p:cNvSpPr>
            <a:spLocks noChangeShapeType="1"/>
          </p:cNvSpPr>
          <p:nvPr/>
        </p:nvSpPr>
        <p:spPr bwMode="auto">
          <a:xfrm>
            <a:off x="6732588" y="4510088"/>
            <a:ext cx="0" cy="1871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8" name="Rectangle 50"/>
          <p:cNvSpPr>
            <a:spLocks noChangeArrowheads="1"/>
          </p:cNvSpPr>
          <p:nvPr/>
        </p:nvSpPr>
        <p:spPr bwMode="auto">
          <a:xfrm>
            <a:off x="5580063" y="1557338"/>
            <a:ext cx="2447925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Score = mid + final</a:t>
            </a:r>
          </a:p>
        </p:txBody>
      </p:sp>
      <p:sp>
        <p:nvSpPr>
          <p:cNvPr id="49" name="Line 51"/>
          <p:cNvSpPr>
            <a:spLocks noChangeShapeType="1"/>
          </p:cNvSpPr>
          <p:nvPr/>
        </p:nvSpPr>
        <p:spPr bwMode="auto">
          <a:xfrm>
            <a:off x="6804025" y="1196975"/>
            <a:ext cx="0" cy="360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3733723"/>
      </p:ext>
    </p:extLst>
  </p:cSld>
  <p:clrMapOvr>
    <a:masterClrMapping/>
  </p:clrMapOvr>
  <p:transition>
    <p:fade thruBlk="1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3"/>
          <p:cNvSpPr txBox="1">
            <a:spLocks noChangeArrowheads="1"/>
          </p:cNvSpPr>
          <p:nvPr/>
        </p:nvSpPr>
        <p:spPr>
          <a:xfrm>
            <a:off x="179388" y="1196677"/>
            <a:ext cx="878522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เป็นรูปแบบการเลือกการทำงานที่มีทางเลือกมากกว่า 2 ทางขึ้นไป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51" name="AutoShape 4"/>
          <p:cNvSpPr>
            <a:spLocks noChangeArrowheads="1"/>
          </p:cNvSpPr>
          <p:nvPr/>
        </p:nvSpPr>
        <p:spPr bwMode="auto">
          <a:xfrm>
            <a:off x="3779838" y="2779414"/>
            <a:ext cx="1441450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เงื่อนไข</a:t>
            </a:r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2771775" y="4868564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>
                <a:latin typeface="Tahoma" pitchFamily="34" charset="0"/>
                <a:cs typeface="Tahoma" pitchFamily="34" charset="0"/>
              </a:rPr>
              <a:t>คำสั่งที่ 2</a:t>
            </a:r>
          </a:p>
        </p:txBody>
      </p:sp>
      <p:sp>
        <p:nvSpPr>
          <p:cNvPr id="53" name="Rectangle 6"/>
          <p:cNvSpPr>
            <a:spLocks noChangeArrowheads="1"/>
          </p:cNvSpPr>
          <p:nvPr/>
        </p:nvSpPr>
        <p:spPr bwMode="auto">
          <a:xfrm>
            <a:off x="900113" y="4868564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>
                <a:latin typeface="Tahoma" pitchFamily="34" charset="0"/>
                <a:cs typeface="Tahoma" pitchFamily="34" charset="0"/>
              </a:rPr>
              <a:t>คำสั่งที่ 1</a:t>
            </a:r>
          </a:p>
        </p:txBody>
      </p:sp>
      <p:sp>
        <p:nvSpPr>
          <p:cNvPr id="54" name="Oval 7"/>
          <p:cNvSpPr>
            <a:spLocks noChangeArrowheads="1"/>
          </p:cNvSpPr>
          <p:nvPr/>
        </p:nvSpPr>
        <p:spPr bwMode="auto">
          <a:xfrm>
            <a:off x="4283075" y="5805189"/>
            <a:ext cx="360363" cy="360363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55" name="Line 8"/>
          <p:cNvSpPr>
            <a:spLocks noChangeShapeType="1"/>
          </p:cNvSpPr>
          <p:nvPr/>
        </p:nvSpPr>
        <p:spPr bwMode="auto">
          <a:xfrm>
            <a:off x="1692275" y="4508202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6" name="Line 9"/>
          <p:cNvSpPr>
            <a:spLocks noChangeShapeType="1"/>
          </p:cNvSpPr>
          <p:nvPr/>
        </p:nvSpPr>
        <p:spPr bwMode="auto">
          <a:xfrm>
            <a:off x="1692275" y="5444827"/>
            <a:ext cx="0" cy="5032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7" name="Line 10"/>
          <p:cNvSpPr>
            <a:spLocks noChangeShapeType="1"/>
          </p:cNvSpPr>
          <p:nvPr/>
        </p:nvSpPr>
        <p:spPr bwMode="auto">
          <a:xfrm>
            <a:off x="1692275" y="5948064"/>
            <a:ext cx="259238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8" name="Line 11"/>
          <p:cNvSpPr>
            <a:spLocks noChangeShapeType="1"/>
          </p:cNvSpPr>
          <p:nvPr/>
        </p:nvSpPr>
        <p:spPr bwMode="auto">
          <a:xfrm>
            <a:off x="5938838" y="5371802"/>
            <a:ext cx="1587" cy="5762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9" name="Line 12"/>
          <p:cNvSpPr>
            <a:spLocks noChangeShapeType="1"/>
          </p:cNvSpPr>
          <p:nvPr/>
        </p:nvSpPr>
        <p:spPr bwMode="auto">
          <a:xfrm>
            <a:off x="4645025" y="5948064"/>
            <a:ext cx="259238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0" name="Line 13"/>
          <p:cNvSpPr>
            <a:spLocks noChangeShapeType="1"/>
          </p:cNvSpPr>
          <p:nvPr/>
        </p:nvSpPr>
        <p:spPr bwMode="auto">
          <a:xfrm>
            <a:off x="4500563" y="6165552"/>
            <a:ext cx="0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>
            <a:off x="4498975" y="2131714"/>
            <a:ext cx="0" cy="647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2" name="Oval 15"/>
          <p:cNvSpPr>
            <a:spLocks noChangeArrowheads="1"/>
          </p:cNvSpPr>
          <p:nvPr/>
        </p:nvSpPr>
        <p:spPr bwMode="auto">
          <a:xfrm>
            <a:off x="4284663" y="3860502"/>
            <a:ext cx="360362" cy="360362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63" name="Rectangle 16"/>
          <p:cNvSpPr>
            <a:spLocks noChangeArrowheads="1"/>
          </p:cNvSpPr>
          <p:nvPr/>
        </p:nvSpPr>
        <p:spPr bwMode="auto">
          <a:xfrm>
            <a:off x="6516688" y="4868564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>
                <a:latin typeface="Tahoma" pitchFamily="34" charset="0"/>
                <a:cs typeface="Tahoma" pitchFamily="34" charset="0"/>
              </a:rPr>
              <a:t>คำสั่งที่ 4</a:t>
            </a:r>
          </a:p>
        </p:txBody>
      </p:sp>
      <p:sp>
        <p:nvSpPr>
          <p:cNvPr id="64" name="Rectangle 17"/>
          <p:cNvSpPr>
            <a:spLocks noChangeArrowheads="1"/>
          </p:cNvSpPr>
          <p:nvPr/>
        </p:nvSpPr>
        <p:spPr bwMode="auto">
          <a:xfrm>
            <a:off x="4645025" y="4868564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>
                <a:latin typeface="Tahoma" pitchFamily="34" charset="0"/>
                <a:cs typeface="Tahoma" pitchFamily="34" charset="0"/>
              </a:rPr>
              <a:t>คำสั่งที่ 3</a:t>
            </a:r>
          </a:p>
        </p:txBody>
      </p:sp>
      <p:sp>
        <p:nvSpPr>
          <p:cNvPr id="65" name="Line 18"/>
          <p:cNvSpPr>
            <a:spLocks noChangeShapeType="1"/>
          </p:cNvSpPr>
          <p:nvPr/>
        </p:nvSpPr>
        <p:spPr bwMode="auto">
          <a:xfrm>
            <a:off x="4500563" y="3500139"/>
            <a:ext cx="0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6" name="Line 19"/>
          <p:cNvSpPr>
            <a:spLocks noChangeShapeType="1"/>
          </p:cNvSpPr>
          <p:nvPr/>
        </p:nvSpPr>
        <p:spPr bwMode="auto">
          <a:xfrm>
            <a:off x="1692275" y="4508202"/>
            <a:ext cx="554513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7" name="Line 20"/>
          <p:cNvSpPr>
            <a:spLocks noChangeShapeType="1"/>
          </p:cNvSpPr>
          <p:nvPr/>
        </p:nvSpPr>
        <p:spPr bwMode="auto">
          <a:xfrm>
            <a:off x="3563938" y="4508202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8" name="Line 21"/>
          <p:cNvSpPr>
            <a:spLocks noChangeShapeType="1"/>
          </p:cNvSpPr>
          <p:nvPr/>
        </p:nvSpPr>
        <p:spPr bwMode="auto">
          <a:xfrm>
            <a:off x="5437188" y="4508202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9" name="Line 22"/>
          <p:cNvSpPr>
            <a:spLocks noChangeShapeType="1"/>
          </p:cNvSpPr>
          <p:nvPr/>
        </p:nvSpPr>
        <p:spPr bwMode="auto">
          <a:xfrm>
            <a:off x="7237413" y="4508202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0" name="Line 23"/>
          <p:cNvSpPr>
            <a:spLocks noChangeShapeType="1"/>
          </p:cNvSpPr>
          <p:nvPr/>
        </p:nvSpPr>
        <p:spPr bwMode="auto">
          <a:xfrm>
            <a:off x="4500563" y="4220864"/>
            <a:ext cx="0" cy="287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1" name="Line 24"/>
          <p:cNvSpPr>
            <a:spLocks noChangeShapeType="1"/>
          </p:cNvSpPr>
          <p:nvPr/>
        </p:nvSpPr>
        <p:spPr bwMode="auto">
          <a:xfrm>
            <a:off x="3563938" y="5444827"/>
            <a:ext cx="0" cy="5032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2" name="Line 25"/>
          <p:cNvSpPr>
            <a:spLocks noChangeShapeType="1"/>
          </p:cNvSpPr>
          <p:nvPr/>
        </p:nvSpPr>
        <p:spPr bwMode="auto">
          <a:xfrm>
            <a:off x="7237413" y="5444827"/>
            <a:ext cx="0" cy="5032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3" name="Text Box 27"/>
          <p:cNvSpPr txBox="1">
            <a:spLocks noChangeArrowheads="1"/>
          </p:cNvSpPr>
          <p:nvPr/>
        </p:nvSpPr>
        <p:spPr bwMode="auto">
          <a:xfrm>
            <a:off x="1216025" y="4141489"/>
            <a:ext cx="90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กรณี 1</a:t>
            </a:r>
          </a:p>
        </p:txBody>
      </p:sp>
      <p:sp>
        <p:nvSpPr>
          <p:cNvPr id="74" name="Text Box 28"/>
          <p:cNvSpPr txBox="1">
            <a:spLocks noChangeArrowheads="1"/>
          </p:cNvSpPr>
          <p:nvPr/>
        </p:nvSpPr>
        <p:spPr bwMode="auto">
          <a:xfrm>
            <a:off x="2987675" y="4147839"/>
            <a:ext cx="90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กรณี 2</a:t>
            </a:r>
          </a:p>
        </p:txBody>
      </p:sp>
      <p:sp>
        <p:nvSpPr>
          <p:cNvPr id="75" name="Text Box 29"/>
          <p:cNvSpPr txBox="1">
            <a:spLocks noChangeArrowheads="1"/>
          </p:cNvSpPr>
          <p:nvPr/>
        </p:nvSpPr>
        <p:spPr bwMode="auto">
          <a:xfrm>
            <a:off x="4932363" y="4147839"/>
            <a:ext cx="90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กรณี 3</a:t>
            </a:r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6804025" y="4147839"/>
            <a:ext cx="908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th-TH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กรณี 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การเขียนผังงานแบบหลายทาง (แบบ 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CASE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60075762"/>
      </p:ext>
    </p:extLst>
  </p:cSld>
  <p:clrMapOvr>
    <a:masterClrMapping/>
  </p:clrMapOvr>
  <p:transition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การเขียนผังงานแบบหลายทาง (แบบ </a:t>
            </a:r>
            <a:r>
              <a:rPr lang="en-US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CASE</a:t>
            </a: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924300" y="2708275"/>
            <a:ext cx="1441450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score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124075" y="4797425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‘B’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96875" y="4797425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‘A’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4427538" y="5734050"/>
            <a:ext cx="360362" cy="360363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187450" y="4437063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1187450" y="5372100"/>
            <a:ext cx="0" cy="5032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1187450" y="5876925"/>
            <a:ext cx="324008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6370638" y="5300663"/>
            <a:ext cx="1587" cy="5762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4787900" y="5876925"/>
            <a:ext cx="324008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4643438" y="2060575"/>
            <a:ext cx="0" cy="647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4429125" y="3789363"/>
            <a:ext cx="360363" cy="360362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5580063" y="4797425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‘D’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3852863" y="4797425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‘C’</a:t>
            </a:r>
            <a:endParaRPr lang="th-TH" sz="16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4645025" y="3429000"/>
            <a:ext cx="0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1187450" y="4437063"/>
            <a:ext cx="684053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2916238" y="4437063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6372225" y="4437063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8027988" y="4437063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H="1">
            <a:off x="4643438" y="4149725"/>
            <a:ext cx="1587" cy="647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2916238" y="5372100"/>
            <a:ext cx="0" cy="5032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8027988" y="5373688"/>
            <a:ext cx="0" cy="5032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755650" y="4076700"/>
            <a:ext cx="1057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80..100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2411413" y="4076700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70..79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4572000" y="4076700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60..69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6011863" y="4076700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50..59</a:t>
            </a: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7308850" y="4797425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Grade = ‘F’</a:t>
            </a:r>
            <a:endParaRPr lang="th-TH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524750" y="4076700"/>
            <a:ext cx="765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0..49</a:t>
            </a: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4643438" y="5372100"/>
            <a:ext cx="0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643438" y="6092825"/>
            <a:ext cx="0" cy="5048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3419475" y="1700213"/>
            <a:ext cx="2447925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Score = mid + final</a:t>
            </a: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4643438" y="1268413"/>
            <a:ext cx="0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0543174"/>
      </p:ext>
    </p:extLst>
  </p:cSld>
  <p:clrMapOvr>
    <a:masterClrMapping/>
  </p:clrMapOvr>
  <p:transition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8" y="1341438"/>
            <a:ext cx="8281045" cy="2663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แบบกำหนดรอบไว้ล่วงหน้า</a:t>
            </a:r>
            <a:r>
              <a:rPr lang="en-US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(Controlled Loop)</a:t>
            </a:r>
            <a:endParaRPr lang="th-TH" sz="4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แบบตรวจสอบเงื่อนไขก่อน</a:t>
            </a:r>
            <a:r>
              <a:rPr lang="en-US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(Pre-Test Condition)</a:t>
            </a:r>
            <a:endParaRPr lang="th-TH" sz="4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แบบตรวจสอบเงื่อนไขทีหลัง</a:t>
            </a:r>
            <a:r>
              <a:rPr lang="en-US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(Post-Test Condition)</a:t>
            </a:r>
            <a:endParaRPr lang="th-TH" sz="4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34607278"/>
      </p:ext>
    </p:extLst>
  </p:cSld>
  <p:clrMapOvr>
    <a:masterClrMapping/>
  </p:clrMapOvr>
  <p:transition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8" y="908720"/>
            <a:ext cx="8281045" cy="1007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แบบกำหนดรอบไว้ล่วงหน้า</a:t>
            </a:r>
            <a:r>
              <a:rPr lang="en-US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 (Controlled Loop)</a:t>
            </a:r>
            <a:endParaRPr lang="th-TH" sz="4000" b="1" dirty="0">
              <a:solidFill>
                <a:srgbClr val="0070C0"/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179388" y="1412701"/>
            <a:ext cx="878522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มีการกำหนดรอบการทำงานซ้ำไว้ล่วงหน้า เมื่อครบตามจำนวนรอบ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จึงหยุดทำงานซ้ำแล้วทำคำสั่งต่อไป</a:t>
            </a:r>
          </a:p>
        </p:txBody>
      </p:sp>
      <p:sp>
        <p:nvSpPr>
          <p:cNvPr id="20" name="AutoShape 4"/>
          <p:cNvSpPr>
            <a:spLocks noChangeArrowheads="1"/>
          </p:cNvSpPr>
          <p:nvPr/>
        </p:nvSpPr>
        <p:spPr bwMode="auto">
          <a:xfrm>
            <a:off x="3132138" y="2995438"/>
            <a:ext cx="2374900" cy="576263"/>
          </a:xfrm>
          <a:prstGeom prst="flowChartPreparation">
            <a:avLst/>
          </a:prstGeom>
          <a:solidFill>
            <a:srgbClr val="CEB3E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600" b="1">
                <a:latin typeface="Tahoma" pitchFamily="34" charset="0"/>
                <a:cs typeface="Tahoma" pitchFamily="34" charset="0"/>
              </a:rPr>
              <a:t>กำหนดรอบการทำงาน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3348038" y="4005088"/>
            <a:ext cx="1871662" cy="649288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>
                <a:latin typeface="Tahoma" pitchFamily="34" charset="0"/>
                <a:cs typeface="Tahoma" pitchFamily="34" charset="0"/>
              </a:rPr>
              <a:t>คำสั่งทำซ้ำ 1</a:t>
            </a: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3348038" y="5013151"/>
            <a:ext cx="1871662" cy="649287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2000">
                <a:latin typeface="Tahoma" pitchFamily="34" charset="0"/>
                <a:cs typeface="Tahoma" pitchFamily="34" charset="0"/>
              </a:rPr>
              <a:t>คำสั่งทำซ้ำ 2</a:t>
            </a:r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4067175" y="6021213"/>
            <a:ext cx="433388" cy="433388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itchFamily="34" charset="0"/>
                <a:cs typeface="Tahoma" pitchFamily="34" charset="0"/>
              </a:rPr>
              <a:t>Next</a:t>
            </a: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4284663" y="2708101"/>
            <a:ext cx="0" cy="2873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4284663" y="3571701"/>
            <a:ext cx="0" cy="4333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4284663" y="4652788"/>
            <a:ext cx="0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4284663" y="5660851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 flipH="1">
            <a:off x="2195513" y="6237113"/>
            <a:ext cx="18716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9" name="Line 13"/>
          <p:cNvSpPr>
            <a:spLocks noChangeShapeType="1"/>
          </p:cNvSpPr>
          <p:nvPr/>
        </p:nvSpPr>
        <p:spPr bwMode="auto">
          <a:xfrm flipV="1">
            <a:off x="2195513" y="3284363"/>
            <a:ext cx="0" cy="29527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>
            <a:off x="2195513" y="3284363"/>
            <a:ext cx="9366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>
            <a:off x="4284663" y="6453013"/>
            <a:ext cx="0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8604600"/>
      </p:ext>
    </p:extLst>
  </p:cSld>
  <p:clrMapOvr>
    <a:masterClrMapping/>
  </p:clrMapOvr>
  <p:transition>
    <p:fade thruBlk="1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8" y="908720"/>
            <a:ext cx="828104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แบบกำหนดรอบการทำงานเอาไว้ล่วงหน้า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83568" y="1484784"/>
            <a:ext cx="828104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ค่า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จะเริ่มต้นที่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1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และเพิ่มค่าทีละ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1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จนกระทั่ง มากกว่า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5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จึงหยุดการทำงานซ้ำ และทำคำสั่งถัดจาก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Next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ในแต่ละรอบของงานที่ให้ทำซ้ำคือ พิมพ์ค่าในตัวแปร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ทีละรอบ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2411413" y="3356446"/>
            <a:ext cx="3311525" cy="3140075"/>
            <a:chOff x="1519" y="2024"/>
            <a:chExt cx="2086" cy="1978"/>
          </a:xfrm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2109" y="2205"/>
              <a:ext cx="1496" cy="363"/>
            </a:xfrm>
            <a:prstGeom prst="flowChartPreparation">
              <a:avLst/>
            </a:prstGeom>
            <a:solidFill>
              <a:srgbClr val="CEB3E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ahoma" pitchFamily="34" charset="0"/>
                  <a:cs typeface="Tahoma" pitchFamily="34" charset="0"/>
                </a:rPr>
                <a:t>For N =1 , 5</a:t>
              </a:r>
            </a:p>
          </p:txBody>
        </p:sp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2699" y="3430"/>
              <a:ext cx="273" cy="273"/>
            </a:xfrm>
            <a:prstGeom prst="ellipse">
              <a:avLst/>
            </a:prstGeom>
            <a:solidFill>
              <a:srgbClr val="99150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Tahoma" pitchFamily="34" charset="0"/>
                  <a:cs typeface="Tahoma" pitchFamily="34" charset="0"/>
                </a:rPr>
                <a:t>Next</a:t>
              </a: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835" y="2024"/>
              <a:ext cx="0" cy="18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835" y="2568"/>
              <a:ext cx="0" cy="27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835" y="3203"/>
              <a:ext cx="0" cy="22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1519" y="3566"/>
              <a:ext cx="117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1519" y="2387"/>
              <a:ext cx="0" cy="117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1519" y="2387"/>
              <a:ext cx="59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2835" y="3702"/>
              <a:ext cx="0" cy="3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AutoShape 13"/>
            <p:cNvSpPr>
              <a:spLocks noChangeArrowheads="1"/>
            </p:cNvSpPr>
            <p:nvPr/>
          </p:nvSpPr>
          <p:spPr bwMode="auto">
            <a:xfrm>
              <a:off x="2336" y="2840"/>
              <a:ext cx="997" cy="363"/>
            </a:xfrm>
            <a:prstGeom prst="flowChartDisplay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>
                  <a:latin typeface="Tahoma" pitchFamily="34" charset="0"/>
                  <a:cs typeface="Tahoma" pitchFamily="34" charset="0"/>
                </a:rPr>
                <a:t>Print 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8336876"/>
      </p:ext>
    </p:extLst>
  </p:cSld>
  <p:clrMapOvr>
    <a:masterClrMapping/>
  </p:clrMapOvr>
  <p:transition>
    <p:fade thruBlk="1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8" y="908720"/>
            <a:ext cx="828104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แบบตรวจสอบเงื่อนไขก่อนถ้าเป็นจริงแล้วค่อยทำซ้ำ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83568" y="1437690"/>
            <a:ext cx="8281045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แบบตรวจสอบเงื่อนไขก่อน ถ้าเงื่อนไขยังเป็นจริงให้ทำงานซ้ำ จนกระทั่งเงื่อนไขเป็นเท็จจึงหยุดทำงานซ้ำ แล้วไปทำงานคำสั่งอื่นถัดไป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3563938" y="3716338"/>
            <a:ext cx="1439862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เงื่อนไข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492500" y="4795838"/>
            <a:ext cx="15113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คำสั่งงานซ้ำ 1</a:t>
            </a: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4284663" y="4437063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4284663" y="3355975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2555875" y="6667500"/>
            <a:ext cx="172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V="1">
            <a:off x="2555875" y="3284538"/>
            <a:ext cx="0" cy="33829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2555875" y="3284538"/>
            <a:ext cx="15843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4140200" y="3140075"/>
            <a:ext cx="288925" cy="288925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003800" y="4076700"/>
            <a:ext cx="13684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6372225" y="4076700"/>
            <a:ext cx="0" cy="5032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283075" y="2779713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4264025" y="4357688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True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5075238" y="3716338"/>
            <a:ext cx="7762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False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3490913" y="5732463"/>
            <a:ext cx="15113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คำสั่งงานซ้ำ 2</a:t>
            </a: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4283075" y="6307138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4283075" y="5372100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0952816"/>
      </p:ext>
    </p:extLst>
  </p:cSld>
  <p:clrMapOvr>
    <a:masterClrMapping/>
  </p:clrMapOvr>
  <p:transition>
    <p:fade thruBlk="1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8" y="908720"/>
            <a:ext cx="828104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แบบตรวจสอบเงื่อนไขก่อนถ้าเป็นจริงแล้วค่อยทำซ้ำ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512" y="1557734"/>
            <a:ext cx="4464050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ตรวจสอบเงื่อนไขถ้า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&lt;= 5</a:t>
            </a:r>
          </a:p>
          <a:p>
            <a:pPr lvl="1"/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ให้พิมพ์ ค่า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</a:t>
            </a:r>
            <a:endParaRPr lang="th-TH" b="1" dirty="0">
              <a:latin typeface="TH SarabunPSK" pitchFamily="34" charset="-34"/>
              <a:cs typeface="TH SarabunPSK" pitchFamily="34" charset="-34"/>
            </a:endParaRPr>
          </a:p>
          <a:p>
            <a:pPr lvl="1"/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เพิ่มค่า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อีก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1 (N=N+1)</a:t>
            </a:r>
          </a:p>
          <a:p>
            <a:pPr lvl="1">
              <a:buFontTx/>
              <a:buNone/>
            </a:pPr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กลับไปตรวจสอบเงื่อนไขอีก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 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จนกว่าเงื่อนจะเป็นเท็จ จึงหยุดทำงานซ้ำ แล้วไปทำงานคำสั่งอื่น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867524" y="3284934"/>
            <a:ext cx="1439863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N &lt;=5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796087" y="5301059"/>
            <a:ext cx="15113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N = N+1</a:t>
            </a: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6588249" y="4005659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6588249" y="2924571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4859462" y="6236096"/>
            <a:ext cx="172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V="1">
            <a:off x="4859462" y="2853134"/>
            <a:ext cx="0" cy="33829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4859462" y="2853134"/>
            <a:ext cx="15843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6443787" y="2708671"/>
            <a:ext cx="288925" cy="288925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7307387" y="3645296"/>
            <a:ext cx="13684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8675812" y="3645296"/>
            <a:ext cx="0" cy="5032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6586662" y="2348309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6567612" y="3926284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True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7378824" y="3284934"/>
            <a:ext cx="7762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False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6586662" y="5875734"/>
            <a:ext cx="0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6586662" y="4940696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22" name="AutoShape 19"/>
          <p:cNvSpPr>
            <a:spLocks noChangeArrowheads="1"/>
          </p:cNvSpPr>
          <p:nvPr/>
        </p:nvSpPr>
        <p:spPr bwMode="auto">
          <a:xfrm>
            <a:off x="5796087" y="4364434"/>
            <a:ext cx="1511300" cy="576262"/>
          </a:xfrm>
          <a:prstGeom prst="flowChartDisp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Print N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5843712" y="1773634"/>
            <a:ext cx="15113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N = 1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6605712" y="1435496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3999728"/>
      </p:ext>
    </p:extLst>
  </p:cSld>
  <p:clrMapOvr>
    <a:masterClrMapping/>
  </p:clrMapOvr>
  <p:transition>
    <p:fade thruBlk="1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683568" y="908720"/>
            <a:ext cx="828104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แบบทำซ้ำแล้วค่อยตรวจสอบเงื่อนไข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899592" y="1700510"/>
            <a:ext cx="4824933" cy="3168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แบบให้ทำงานในคำสั่งทำซ้ำก่อน </a:t>
            </a:r>
            <a:br>
              <a:rPr lang="th-TH" b="1" dirty="0">
                <a:latin typeface="TH SarabunPSK" pitchFamily="34" charset="-34"/>
                <a:cs typeface="TH SarabunPSK" pitchFamily="34" charset="-34"/>
              </a:rPr>
            </a:br>
            <a:r>
              <a:rPr lang="th-TH" b="1" dirty="0">
                <a:latin typeface="TH SarabunPSK" pitchFamily="34" charset="-34"/>
                <a:cs typeface="TH SarabunPSK" pitchFamily="34" charset="-34"/>
              </a:rPr>
              <a:t>แล้วค่อยตรวจสอบเงื่อนไข ถ้าเงื่อนไขยังเป็นเท็จให้กลับไปทำงานในคำสั่งทำซ้ำอีก จนกระทั่งตรวจสอบแล้วเงื่อนไขเป็นจริง จึงหยุด แล้วไปทำงานคำสั่งอื่น</a:t>
            </a:r>
          </a:p>
        </p:txBody>
      </p:sp>
      <p:sp>
        <p:nvSpPr>
          <p:cNvPr id="27" name="AutoShape 4"/>
          <p:cNvSpPr>
            <a:spLocks noChangeArrowheads="1"/>
          </p:cNvSpPr>
          <p:nvPr/>
        </p:nvSpPr>
        <p:spPr bwMode="auto">
          <a:xfrm>
            <a:off x="7164388" y="4868863"/>
            <a:ext cx="1439862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เงื่อนไข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7092950" y="2997200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คำสั่งงานซ้ำ 1</a:t>
            </a:r>
          </a:p>
        </p:txBody>
      </p:sp>
      <p:sp>
        <p:nvSpPr>
          <p:cNvPr id="29" name="Line 6"/>
          <p:cNvSpPr>
            <a:spLocks noChangeShapeType="1"/>
          </p:cNvSpPr>
          <p:nvPr/>
        </p:nvSpPr>
        <p:spPr bwMode="auto">
          <a:xfrm>
            <a:off x="7883525" y="1987550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7883525" y="4508500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1" name="Line 8"/>
          <p:cNvSpPr>
            <a:spLocks noChangeShapeType="1"/>
          </p:cNvSpPr>
          <p:nvPr/>
        </p:nvSpPr>
        <p:spPr bwMode="auto">
          <a:xfrm flipH="1">
            <a:off x="5724525" y="5229225"/>
            <a:ext cx="14382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2" name="Line 9"/>
          <p:cNvSpPr>
            <a:spLocks noChangeShapeType="1"/>
          </p:cNvSpPr>
          <p:nvPr/>
        </p:nvSpPr>
        <p:spPr bwMode="auto">
          <a:xfrm flipV="1">
            <a:off x="5724525" y="2492375"/>
            <a:ext cx="0" cy="27352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3" name="Line 10"/>
          <p:cNvSpPr>
            <a:spLocks noChangeShapeType="1"/>
          </p:cNvSpPr>
          <p:nvPr/>
        </p:nvSpPr>
        <p:spPr bwMode="auto">
          <a:xfrm>
            <a:off x="5724525" y="2492375"/>
            <a:ext cx="20161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4" name="Oval 11"/>
          <p:cNvSpPr>
            <a:spLocks noChangeArrowheads="1"/>
          </p:cNvSpPr>
          <p:nvPr/>
        </p:nvSpPr>
        <p:spPr bwMode="auto">
          <a:xfrm>
            <a:off x="7740650" y="2347913"/>
            <a:ext cx="288925" cy="288925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5" name="Line 12"/>
          <p:cNvSpPr>
            <a:spLocks noChangeShapeType="1"/>
          </p:cNvSpPr>
          <p:nvPr/>
        </p:nvSpPr>
        <p:spPr bwMode="auto">
          <a:xfrm>
            <a:off x="7883525" y="2636838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36" name="Text Box 13"/>
          <p:cNvSpPr txBox="1">
            <a:spLocks noChangeArrowheads="1"/>
          </p:cNvSpPr>
          <p:nvPr/>
        </p:nvSpPr>
        <p:spPr bwMode="auto">
          <a:xfrm>
            <a:off x="7883525" y="5588000"/>
            <a:ext cx="70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True</a:t>
            </a:r>
          </a:p>
        </p:txBody>
      </p:sp>
      <p:sp>
        <p:nvSpPr>
          <p:cNvPr id="37" name="Text Box 14"/>
          <p:cNvSpPr txBox="1">
            <a:spLocks noChangeArrowheads="1"/>
          </p:cNvSpPr>
          <p:nvPr/>
        </p:nvSpPr>
        <p:spPr bwMode="auto">
          <a:xfrm>
            <a:off x="6443663" y="4868863"/>
            <a:ext cx="7762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False</a:t>
            </a:r>
          </a:p>
        </p:txBody>
      </p:sp>
      <p:sp>
        <p:nvSpPr>
          <p:cNvPr id="38" name="Rectangle 15"/>
          <p:cNvSpPr>
            <a:spLocks noChangeArrowheads="1"/>
          </p:cNvSpPr>
          <p:nvPr/>
        </p:nvSpPr>
        <p:spPr bwMode="auto">
          <a:xfrm>
            <a:off x="7091363" y="3933825"/>
            <a:ext cx="1511300" cy="576263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h-TH" sz="1800" b="1">
                <a:latin typeface="Tahoma" pitchFamily="34" charset="0"/>
                <a:cs typeface="Tahoma" pitchFamily="34" charset="0"/>
              </a:rPr>
              <a:t>คำสั่งงานซ้ำ 2</a:t>
            </a:r>
          </a:p>
        </p:txBody>
      </p:sp>
      <p:sp>
        <p:nvSpPr>
          <p:cNvPr id="39" name="Line 16"/>
          <p:cNvSpPr>
            <a:spLocks noChangeShapeType="1"/>
          </p:cNvSpPr>
          <p:nvPr/>
        </p:nvSpPr>
        <p:spPr bwMode="auto">
          <a:xfrm>
            <a:off x="7883525" y="3573463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40" name="Line 17"/>
          <p:cNvSpPr>
            <a:spLocks noChangeShapeType="1"/>
          </p:cNvSpPr>
          <p:nvPr/>
        </p:nvSpPr>
        <p:spPr bwMode="auto">
          <a:xfrm>
            <a:off x="7924800" y="5584825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9337019"/>
      </p:ext>
    </p:extLst>
  </p:cSld>
  <p:clrMapOvr>
    <a:masterClrMapping/>
  </p:clrMapOvr>
  <p:transition>
    <p:fade thruBlk="1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th-TH" sz="44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การเขียนผังงานแบบวนซ้ำ</a:t>
            </a:r>
            <a:endParaRPr lang="en-US" sz="44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568" y="908720"/>
            <a:ext cx="8281045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4000" b="1" dirty="0">
                <a:solidFill>
                  <a:srgbClr val="0070C0"/>
                </a:solidFill>
                <a:latin typeface="TH SarabunPSK" pitchFamily="34" charset="-34"/>
                <a:cs typeface="TH SarabunPSK" pitchFamily="34" charset="-34"/>
              </a:rPr>
              <a:t>แบบทำซ้ำแล้วค่อยตรวจสอบเงื่อนไข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388" y="1836638"/>
            <a:ext cx="4176712" cy="418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th-TH" b="1" dirty="0">
                <a:latin typeface="TH SarabunPSK" pitchFamily="34" charset="-34"/>
                <a:cs typeface="TH SarabunPSK" pitchFamily="34" charset="-34"/>
              </a:rPr>
              <a:t>ให้พิมพ์ค่าในตัวแปร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</a:t>
            </a:r>
          </a:p>
          <a:p>
            <a:pPr lvl="1"/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เพิ่มค่าให้ตัวแปร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อีก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1</a:t>
            </a:r>
          </a:p>
          <a:p>
            <a:pPr lvl="1"/>
            <a:endParaRPr lang="en-US" b="1" dirty="0">
              <a:latin typeface="TH SarabunPSK" pitchFamily="34" charset="-34"/>
              <a:cs typeface="TH SarabunPSK" pitchFamily="34" charset="-34"/>
            </a:endParaRPr>
          </a:p>
          <a:p>
            <a:r>
              <a:rPr lang="th-TH" b="1" dirty="0">
                <a:latin typeface="TH SarabunPSK" pitchFamily="34" charset="-34"/>
                <a:cs typeface="TH SarabunPSK" pitchFamily="34" charset="-34"/>
              </a:rPr>
              <a:t>ตรวจสอบเงื่อนไข ถ้า </a:t>
            </a:r>
            <a:r>
              <a:rPr lang="en-US" b="1" dirty="0">
                <a:latin typeface="TH SarabunPSK" pitchFamily="34" charset="-34"/>
                <a:cs typeface="TH SarabunPSK" pitchFamily="34" charset="-34"/>
              </a:rPr>
              <a:t>N &gt; 5 </a:t>
            </a:r>
            <a:r>
              <a:rPr lang="th-TH" b="1" dirty="0">
                <a:latin typeface="TH SarabunPSK" pitchFamily="34" charset="-34"/>
                <a:cs typeface="TH SarabunPSK" pitchFamily="34" charset="-34"/>
              </a:rPr>
              <a:t>เป็นจริงให้หยุดทำงานซ้ำ  ถ้าเป็นเท็จให้กลับไปทำงานคำสั่งซ้ำอีกรอบ </a:t>
            </a:r>
          </a:p>
          <a:p>
            <a:endParaRPr lang="th-TH" b="1" dirty="0"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938838" y="5159375"/>
            <a:ext cx="1439862" cy="720725"/>
          </a:xfrm>
          <a:prstGeom prst="flowChartDecision">
            <a:avLst/>
          </a:prstGeom>
          <a:solidFill>
            <a:srgbClr val="8BDA2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N &gt; 5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6657975" y="2278063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6657975" y="4799013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4498975" y="5519738"/>
            <a:ext cx="14382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V="1">
            <a:off x="4498975" y="2782888"/>
            <a:ext cx="0" cy="27352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4498975" y="2782888"/>
            <a:ext cx="20161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6515100" y="2638425"/>
            <a:ext cx="288925" cy="288925"/>
          </a:xfrm>
          <a:prstGeom prst="ellipse">
            <a:avLst/>
          </a:prstGeom>
          <a:solidFill>
            <a:srgbClr val="99150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6657975" y="5878513"/>
            <a:ext cx="0" cy="5032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6657975" y="2927350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6657975" y="5878513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True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5218113" y="5159375"/>
            <a:ext cx="776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itchFamily="34" charset="0"/>
                <a:cs typeface="Angsana New" pitchFamily="18" charset="-34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00CC"/>
                </a:solidFill>
                <a:latin typeface="Tahoma" pitchFamily="34" charset="0"/>
                <a:cs typeface="Tahoma" pitchFamily="34" charset="0"/>
              </a:rPr>
              <a:t>False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657975" y="3863975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5867400" y="4221163"/>
            <a:ext cx="15113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N = N+1</a:t>
            </a: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5867400" y="3284538"/>
            <a:ext cx="1511300" cy="576262"/>
          </a:xfrm>
          <a:prstGeom prst="flowChartDisp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ahoma" pitchFamily="34" charset="0"/>
                <a:cs typeface="Tahoma" pitchFamily="34" charset="0"/>
              </a:rPr>
              <a:t>Print N</a:t>
            </a: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5940425" y="1690688"/>
            <a:ext cx="1511300" cy="576262"/>
          </a:xfrm>
          <a:prstGeom prst="rect">
            <a:avLst/>
          </a:prstGeom>
          <a:solidFill>
            <a:srgbClr val="DFA70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>
                <a:latin typeface="Tahoma" pitchFamily="34" charset="0"/>
                <a:cs typeface="Tahoma" pitchFamily="34" charset="0"/>
              </a:rPr>
              <a:t>N = 1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6702425" y="1352550"/>
            <a:ext cx="0" cy="358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7698451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16803</TotalTime>
  <Words>4702</Words>
  <Application>Microsoft Macintosh PowerPoint</Application>
  <PresentationFormat>On-screen Show (4:3)</PresentationFormat>
  <Paragraphs>716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2" baseType="lpstr">
      <vt:lpstr>Aharoni</vt:lpstr>
      <vt:lpstr>Angsana New</vt:lpstr>
      <vt:lpstr>AngsanaUPC</vt:lpstr>
      <vt:lpstr>Arial</vt:lpstr>
      <vt:lpstr>Browallia New</vt:lpstr>
      <vt:lpstr>Calibri</vt:lpstr>
      <vt:lpstr>Cordia New</vt:lpstr>
      <vt:lpstr>Tahoma</vt:lpstr>
      <vt:lpstr>TH Baijam</vt:lpstr>
      <vt:lpstr>TH SarabunPSK</vt:lpstr>
      <vt:lpstr>Times New Roman</vt:lpstr>
      <vt:lpstr>Verdana</vt:lpstr>
      <vt:lpstr>Wide Latin</vt:lpstr>
      <vt:lpstr>Wingdings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KIT</dc:creator>
  <cp:lastModifiedBy>เขมวิทย์ จิตตะยโศธร</cp:lastModifiedBy>
  <cp:revision>5779</cp:revision>
  <dcterms:created xsi:type="dcterms:W3CDTF">2011-07-24T06:58:47Z</dcterms:created>
  <dcterms:modified xsi:type="dcterms:W3CDTF">2026-01-20T01:03:19Z</dcterms:modified>
</cp:coreProperties>
</file>