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7" r:id="rId1"/>
  </p:sldMasterIdLst>
  <p:notesMasterIdLst>
    <p:notesMasterId r:id="rId62"/>
  </p:notesMasterIdLst>
  <p:sldIdLst>
    <p:sldId id="441" r:id="rId2"/>
    <p:sldId id="442" r:id="rId3"/>
    <p:sldId id="351" r:id="rId4"/>
    <p:sldId id="333" r:id="rId5"/>
    <p:sldId id="334" r:id="rId6"/>
    <p:sldId id="352" r:id="rId7"/>
    <p:sldId id="429" r:id="rId8"/>
    <p:sldId id="394" r:id="rId9"/>
    <p:sldId id="353" r:id="rId10"/>
    <p:sldId id="355" r:id="rId11"/>
    <p:sldId id="356" r:id="rId12"/>
    <p:sldId id="357" r:id="rId13"/>
    <p:sldId id="396" r:id="rId14"/>
    <p:sldId id="358" r:id="rId15"/>
    <p:sldId id="359" r:id="rId16"/>
    <p:sldId id="430" r:id="rId17"/>
    <p:sldId id="431" r:id="rId18"/>
    <p:sldId id="432" r:id="rId19"/>
    <p:sldId id="433" r:id="rId20"/>
    <p:sldId id="360" r:id="rId21"/>
    <p:sldId id="361" r:id="rId22"/>
    <p:sldId id="362" r:id="rId23"/>
    <p:sldId id="363" r:id="rId24"/>
    <p:sldId id="434" r:id="rId25"/>
    <p:sldId id="435" r:id="rId26"/>
    <p:sldId id="436" r:id="rId27"/>
    <p:sldId id="437" r:id="rId28"/>
    <p:sldId id="438" r:id="rId29"/>
    <p:sldId id="439" r:id="rId30"/>
    <p:sldId id="370" r:id="rId31"/>
    <p:sldId id="440" r:id="rId32"/>
    <p:sldId id="372" r:id="rId33"/>
    <p:sldId id="382" r:id="rId34"/>
    <p:sldId id="383" r:id="rId35"/>
    <p:sldId id="384" r:id="rId36"/>
    <p:sldId id="385" r:id="rId37"/>
    <p:sldId id="391" r:id="rId38"/>
    <p:sldId id="390" r:id="rId39"/>
    <p:sldId id="389" r:id="rId40"/>
    <p:sldId id="408" r:id="rId41"/>
    <p:sldId id="409" r:id="rId42"/>
    <p:sldId id="410" r:id="rId43"/>
    <p:sldId id="411" r:id="rId44"/>
    <p:sldId id="412" r:id="rId45"/>
    <p:sldId id="413" r:id="rId46"/>
    <p:sldId id="414" r:id="rId47"/>
    <p:sldId id="415" r:id="rId48"/>
    <p:sldId id="416" r:id="rId49"/>
    <p:sldId id="417" r:id="rId50"/>
    <p:sldId id="418" r:id="rId51"/>
    <p:sldId id="419" r:id="rId52"/>
    <p:sldId id="420" r:id="rId53"/>
    <p:sldId id="421" r:id="rId54"/>
    <p:sldId id="422" r:id="rId55"/>
    <p:sldId id="423" r:id="rId56"/>
    <p:sldId id="424" r:id="rId57"/>
    <p:sldId id="425" r:id="rId58"/>
    <p:sldId id="426" r:id="rId59"/>
    <p:sldId id="427" r:id="rId60"/>
    <p:sldId id="428" r:id="rId6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52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99FF"/>
    <a:srgbClr val="FFFFCC"/>
    <a:srgbClr val="CCFFFF"/>
    <a:srgbClr val="66FFFF"/>
    <a:srgbClr val="00CC99"/>
    <a:srgbClr val="9900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41" autoAdjust="0"/>
    <p:restoredTop sz="94660"/>
  </p:normalViewPr>
  <p:slideViewPr>
    <p:cSldViewPr>
      <p:cViewPr varScale="1">
        <p:scale>
          <a:sx n="118" d="100"/>
          <a:sy n="118" d="100"/>
        </p:scale>
        <p:origin x="1400" y="192"/>
      </p:cViewPr>
      <p:guideLst>
        <p:guide orient="horz" pos="1152"/>
        <p:guide pos="2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latin typeface="Angsana New" pitchFamily="18" charset="-34"/>
                <a:cs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>
                <a:latin typeface="Angsana New" pitchFamily="18" charset="-34"/>
                <a:cs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noProof="0"/>
              <a:t>Click to edit Master text styles</a:t>
            </a:r>
          </a:p>
          <a:p>
            <a:pPr lvl="1"/>
            <a:r>
              <a:rPr lang="th-TH" noProof="0"/>
              <a:t>Second level</a:t>
            </a:r>
          </a:p>
          <a:p>
            <a:pPr lvl="2"/>
            <a:r>
              <a:rPr lang="th-TH" noProof="0"/>
              <a:t>Third level</a:t>
            </a:r>
          </a:p>
          <a:p>
            <a:pPr lvl="3"/>
            <a:r>
              <a:rPr lang="th-TH" noProof="0"/>
              <a:t>Fourth level</a:t>
            </a:r>
          </a:p>
          <a:p>
            <a:pPr lvl="4"/>
            <a:r>
              <a:rPr lang="th-TH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>
                <a:latin typeface="Angsana New" pitchFamily="18" charset="-34"/>
                <a:cs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</a:lstStyle>
          <a:p>
            <a:fld id="{40C3571A-098A-486E-AADF-4E146FEBC5E2}" type="slidenum">
              <a:rPr lang="en-US" altLang="th-TH"/>
              <a:pPr/>
              <a:t>‹#›</a:t>
            </a:fld>
            <a:endParaRPr lang="th-TH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Arial" pitchFamily="34" charset="0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th-TH" altLang="th-TH" sz="2400">
                <a:latin typeface="Times New Roman" panose="02020603050405020304" pitchFamily="18" charset="0"/>
                <a:cs typeface="Angsana New" panose="02020603050405020304" pitchFamily="18" charset="-34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th-TH" altLang="th-TH" sz="2400">
                  <a:latin typeface="Times New Roman" panose="02020603050405020304" pitchFamily="18" charset="0"/>
                  <a:cs typeface="Angsana New" panose="02020603050405020304" pitchFamily="18" charset="-34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th-TH" altLang="th-TH" sz="2400">
                  <a:latin typeface="Times New Roman" panose="02020603050405020304" pitchFamily="18" charset="0"/>
                  <a:cs typeface="Angsana New" panose="02020603050405020304" pitchFamily="18" charset="-34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h-TH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th-TH" altLang="th-TH" sz="2400">
                  <a:latin typeface="Times New Roman" panose="02020603050405020304" pitchFamily="18" charset="0"/>
                  <a:cs typeface="Angsana New" panose="02020603050405020304" pitchFamily="18" charset="-34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h-TH"/>
              </a:p>
            </p:txBody>
          </p:sp>
        </p:grpSp>
      </p:grpSp>
      <p:sp>
        <p:nvSpPr>
          <p:cNvPr id="2099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noProof="0"/>
              <a:t>คลิกเพื่อแก้ไขลักษณะชื่อเรื่องต้นแบบ</a:t>
            </a:r>
          </a:p>
        </p:txBody>
      </p:sp>
      <p:sp>
        <p:nvSpPr>
          <p:cNvPr id="2099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คลิกเพื่อแก้ไขลักษณะชื่อเรื่องรองต้นแบบ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0D3995-CFD6-48C0-9BEA-4A38BDCCC895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77057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CFA79C-E599-48B8-AAC7-047807D7C251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17918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AFA651-DAE1-4B04-8CBB-1C3C3AC2A3BC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91061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32E957-DFBA-4179-B4E2-0B938E610DF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21134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1D29FC-ECB9-4C5F-B666-295072BDCB01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7379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EB189E-7DC5-4C1F-97C7-923A17F0797A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06760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C4CEEF-3077-4B32-915A-D313AFCFD769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08774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922C3F-8091-4A2F-9A76-7BD74542715E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40381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h-TH" noProof="0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E05ABD-A8DF-4CE8-B6FE-A7A390302FFF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063860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AD36E5-428E-412E-9E4F-E3B85F04C42E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17483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F2AB17-F2F3-4973-8940-E26EA436013A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456720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ชื่อเรื่อง ข้อความ 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1A91C6-FC5D-4D04-9C4C-8ACCD3B6756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101201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ชื่อเรื่อง ข้อความ และ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quarter" idx="2"/>
          </p:nvPr>
        </p:nvSpPr>
        <p:spPr>
          <a:xfrm>
            <a:off x="4876800" y="1600200"/>
            <a:ext cx="3810000" cy="2189163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เนื้อหา 4"/>
          <p:cNvSpPr>
            <a:spLocks noGrp="1"/>
          </p:cNvSpPr>
          <p:nvPr>
            <p:ph sz="quarter" idx="3"/>
          </p:nvPr>
        </p:nvSpPr>
        <p:spPr>
          <a:xfrm>
            <a:off x="4876800" y="3941763"/>
            <a:ext cx="3810000" cy="2189162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D59BBF-0961-49D6-9A2D-965DA121DC8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15479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th-TH" altLang="th-TH" sz="2400">
                <a:latin typeface="Times New Roman" panose="02020603050405020304" pitchFamily="18" charset="0"/>
                <a:cs typeface="Angsana New" panose="02020603050405020304" pitchFamily="18" charset="-34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th-TH" altLang="th-TH" sz="2400">
                  <a:latin typeface="Times New Roman" panose="02020603050405020304" pitchFamily="18" charset="0"/>
                  <a:cs typeface="Angsana New" panose="02020603050405020304" pitchFamily="18" charset="-34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h-TH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คลิกเพื่อแก้ไขลักษณะชื่อเรื่องต้นแบบ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คลิกเพื่อแก้ไขลักษณะของข้อความต้นแบบ</a:t>
            </a:r>
          </a:p>
          <a:p>
            <a:pPr lvl="1"/>
            <a:r>
              <a:rPr lang="en-US" altLang="th-TH"/>
              <a:t>ระดับที่สอง</a:t>
            </a:r>
          </a:p>
          <a:p>
            <a:pPr lvl="2"/>
            <a:r>
              <a:rPr lang="en-US" altLang="th-TH"/>
              <a:t>ระดับที่สาม</a:t>
            </a:r>
          </a:p>
          <a:p>
            <a:pPr lvl="3"/>
            <a:r>
              <a:rPr lang="en-US" altLang="th-TH"/>
              <a:t>ระดับที่สี่</a:t>
            </a:r>
          </a:p>
          <a:p>
            <a:pPr lvl="4"/>
            <a:r>
              <a:rPr lang="en-US" altLang="th-TH"/>
              <a:t>ระดับที่ห้า</a:t>
            </a:r>
          </a:p>
        </p:txBody>
      </p:sp>
      <p:sp>
        <p:nvSpPr>
          <p:cNvPr id="2089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cs typeface="Angsana New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cs typeface="Angsana New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cs typeface="Angsana New" panose="02020603050405020304" pitchFamily="18" charset="-34"/>
              </a:defRPr>
            </a:lvl1pPr>
          </a:lstStyle>
          <a:p>
            <a:fld id="{72F440F8-2726-4D5F-AEF8-31E89379893B}" type="slidenum">
              <a:rPr lang="en-US" altLang="th-TH"/>
              <a:pPr/>
              <a:t>‹#›</a:t>
            </a:fld>
            <a:endParaRPr lang="en-US" altLang="th-TH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7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9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1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ตัวแทนข้อความ 3"/>
          <p:cNvSpPr txBox="1">
            <a:spLocks/>
          </p:cNvSpPr>
          <p:nvPr/>
        </p:nvSpPr>
        <p:spPr>
          <a:xfrm>
            <a:off x="4814888" y="3219450"/>
            <a:ext cx="4248150" cy="19272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6">
                  <a:lumMod val="75000"/>
                </a:schemeClr>
              </a:buClr>
              <a:defRPr/>
            </a:pPr>
            <a:br>
              <a:rPr lang="th-TH" sz="2800" b="1" i="1" dirty="0">
                <a:solidFill>
                  <a:srgbClr val="FF0066"/>
                </a:solidFill>
              </a:rPr>
            </a:br>
            <a:endParaRPr lang="th-TH" sz="2800" b="1" dirty="0">
              <a:solidFill>
                <a:srgbClr val="FF0066"/>
              </a:solidFill>
              <a:latin typeface="TH Baijam" pitchFamily="2" charset="-34"/>
              <a:cs typeface="TH Baijam" pitchFamily="2" charset="-34"/>
            </a:endParaRPr>
          </a:p>
        </p:txBody>
      </p:sp>
      <p:sp>
        <p:nvSpPr>
          <p:cNvPr id="3076" name="TextBox 6"/>
          <p:cNvSpPr txBox="1">
            <a:spLocks noChangeArrowheads="1"/>
          </p:cNvSpPr>
          <p:nvPr/>
        </p:nvSpPr>
        <p:spPr bwMode="auto">
          <a:xfrm>
            <a:off x="593725" y="908720"/>
            <a:ext cx="795655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th-TH" altLang="th-TH" sz="4400" b="1" dirty="0">
                <a:solidFill>
                  <a:srgbClr val="FF000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แผนผังแสดงความสัมพันธ์ระหว่างข้อมูล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9815" y="240903"/>
            <a:ext cx="938213" cy="76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h-TH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gsanaUPC" pitchFamily="18" charset="-34"/>
                <a:cs typeface="AngsanaUPC" pitchFamily="18" charset="-34"/>
              </a:rPr>
              <a:t>บทที่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6115" y="-27384"/>
            <a:ext cx="1076325" cy="1200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Wide Latin" pitchFamily="18" charset="0"/>
                <a:cs typeface="#ZF Terminal" pitchFamily="2" charset="0"/>
              </a:rPr>
              <a:t>7</a:t>
            </a:r>
            <a:endParaRPr lang="th-TH" sz="7200" b="1" dirty="0">
              <a:solidFill>
                <a:schemeClr val="tx1">
                  <a:lumMod val="50000"/>
                  <a:lumOff val="50000"/>
                </a:schemeClr>
              </a:solidFill>
              <a:latin typeface="Wide Latin" pitchFamily="18" charset="0"/>
              <a:cs typeface="#ZF Terminal" pitchFamily="2" charset="0"/>
            </a:endParaRPr>
          </a:p>
        </p:txBody>
      </p:sp>
      <p:sp>
        <p:nvSpPr>
          <p:cNvPr id="3079" name="TextBox 9"/>
          <p:cNvSpPr txBox="1">
            <a:spLocks noChangeArrowheads="1"/>
          </p:cNvSpPr>
          <p:nvPr/>
        </p:nvSpPr>
        <p:spPr bwMode="auto">
          <a:xfrm>
            <a:off x="425450" y="1556792"/>
            <a:ext cx="81359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th-TH" sz="4000" dirty="0">
                <a:solidFill>
                  <a:srgbClr val="0070C0"/>
                </a:solidFill>
              </a:rPr>
              <a:t>E-R Diagram/E-R Model</a:t>
            </a:r>
            <a:endParaRPr lang="th-TH" altLang="th-TH" sz="4000" dirty="0">
              <a:solidFill>
                <a:srgbClr val="0070C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ตัวแทนข้อความ 3">
            <a:extLst>
              <a:ext uri="{FF2B5EF4-FFF2-40B4-BE49-F238E27FC236}">
                <a16:creationId xmlns:a16="http://schemas.microsoft.com/office/drawing/2014/main" id="{75960B62-5D16-1EE4-E7E8-97BB6D4E330F}"/>
              </a:ext>
            </a:extLst>
          </p:cNvPr>
          <p:cNvSpPr txBox="1">
            <a:spLocks/>
          </p:cNvSpPr>
          <p:nvPr/>
        </p:nvSpPr>
        <p:spPr>
          <a:xfrm>
            <a:off x="4346476" y="4174967"/>
            <a:ext cx="4703107" cy="836712"/>
          </a:xfrm>
          <a:prstGeom prst="rect">
            <a:avLst/>
          </a:prstGeom>
          <a:solidFill>
            <a:srgbClr val="F2F2F2">
              <a:alpha val="38824"/>
            </a:srgbClr>
          </a:solidFill>
        </p:spPr>
        <p:txBody>
          <a:bodyPr/>
          <a:lstStyle>
            <a:defPPr>
              <a:defRPr lang="th-TH"/>
            </a:defPPr>
            <a:lvl1pPr marL="342900" indent="-3429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ITC2006 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การวิเคราะห์และออกแบบระบบสารสนเทศ</a:t>
            </a:r>
          </a:p>
          <a:p>
            <a:pPr algn="r"/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โดย  อ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เขมวิทย์ จิตตะ</a:t>
            </a:r>
            <a:r>
              <a:rPr lang="th-TH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ยโศ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ธร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1571625" y="3032125"/>
            <a:ext cx="6197600" cy="460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Diagram</a:t>
            </a: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1001713" y="3032125"/>
            <a:ext cx="577850" cy="460375"/>
          </a:xfrm>
          <a:prstGeom prst="rect">
            <a:avLst/>
          </a:prstGeom>
          <a:solidFill>
            <a:srgbClr val="FF0066"/>
          </a:solidFill>
          <a:ln w="19050">
            <a:solidFill>
              <a:schemeClr val="accent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3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571625" y="3560763"/>
            <a:ext cx="6197600" cy="503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การออกแบบฐานข้อมูลด้วย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1001713" y="3560763"/>
            <a:ext cx="577850" cy="503237"/>
          </a:xfrm>
          <a:prstGeom prst="rect">
            <a:avLst/>
          </a:prstGeom>
          <a:solidFill>
            <a:srgbClr val="FF0066"/>
          </a:solidFill>
          <a:ln w="19050">
            <a:solidFill>
              <a:schemeClr val="accent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4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1571625" y="1844675"/>
            <a:ext cx="6197600" cy="536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ความหมายของ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1001713" y="1844675"/>
            <a:ext cx="577850" cy="536575"/>
          </a:xfrm>
          <a:prstGeom prst="rect">
            <a:avLst/>
          </a:prstGeom>
          <a:solidFill>
            <a:srgbClr val="FF0066"/>
          </a:solidFill>
          <a:ln w="19050">
            <a:solidFill>
              <a:schemeClr val="accent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1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104" name="TextBox 9"/>
          <p:cNvSpPr txBox="1">
            <a:spLocks noChangeArrowheads="1"/>
          </p:cNvSpPr>
          <p:nvPr/>
        </p:nvSpPr>
        <p:spPr bwMode="auto">
          <a:xfrm>
            <a:off x="1201738" y="355600"/>
            <a:ext cx="6323012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th-TH" altLang="th-TH" sz="4400" b="1">
                <a:solidFill>
                  <a:srgbClr val="FF006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รายละเอียดของเนื้อหา</a:t>
            </a:r>
            <a:endParaRPr lang="th-TH" altLang="th-TH" sz="4400">
              <a:solidFill>
                <a:srgbClr val="FF0066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สี่เหลี่ยมผืนผ้า 10"/>
          <p:cNvSpPr/>
          <p:nvPr/>
        </p:nvSpPr>
        <p:spPr>
          <a:xfrm>
            <a:off x="1571625" y="2435225"/>
            <a:ext cx="6197600" cy="536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จุดเด่นของ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2" name="สี่เหลี่ยมผืนผ้า 11"/>
          <p:cNvSpPr/>
          <p:nvPr/>
        </p:nvSpPr>
        <p:spPr>
          <a:xfrm>
            <a:off x="1001713" y="2435225"/>
            <a:ext cx="577850" cy="536575"/>
          </a:xfrm>
          <a:prstGeom prst="rect">
            <a:avLst/>
          </a:prstGeom>
          <a:solidFill>
            <a:srgbClr val="FF0066"/>
          </a:solidFill>
          <a:ln w="19050">
            <a:solidFill>
              <a:schemeClr val="accent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2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107" name="ตัวแทนหมายเลขภาพนิ่ง 1"/>
          <p:cNvSpPr>
            <a:spLocks noGrp="1"/>
          </p:cNvSpPr>
          <p:nvPr>
            <p:ph type="sldNum" sz="quarter" idx="12"/>
          </p:nvPr>
        </p:nvSpPr>
        <p:spPr>
          <a:xfrm>
            <a:off x="6553200" y="6519863"/>
            <a:ext cx="2133600" cy="365125"/>
          </a:xfrm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F4E895-7CB0-497B-93DB-CEC4639CE88A}" type="slidenum">
              <a:rPr lang="th-TH" altLang="th-TH" sz="3200">
                <a:cs typeface="Angsana New" panose="02020603050405020304" pitchFamily="18" charset="-34"/>
              </a:rPr>
              <a:pPr eaLnBrk="1" hangingPunct="1"/>
              <a:t>2</a:t>
            </a:fld>
            <a:endParaRPr lang="th-TH" altLang="th-TH" sz="3200"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286AFB4-DC4E-4336-9CC9-DBBF87F39F61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88938"/>
            <a:ext cx="8229600" cy="1139825"/>
          </a:xfrm>
        </p:spPr>
        <p:txBody>
          <a:bodyPr/>
          <a:lstStyle/>
          <a:p>
            <a:pPr eaLnBrk="1" hangingPunct="1">
              <a:lnSpc>
                <a:spcPct val="85000"/>
              </a:lnSpc>
              <a:defRPr/>
            </a:pPr>
            <a:r>
              <a:rPr lang="en-US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Entity Relationship Model (E-R Model)</a:t>
            </a:r>
            <a:endParaRPr lang="th-TH" sz="50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th-TH" sz="4000" b="1">
                <a:latin typeface="TH SarabunPSK" panose="020B0500040200020003" pitchFamily="34" charset="-34"/>
                <a:cs typeface="TH SarabunPSK" panose="020B0500040200020003" pitchFamily="34" charset="-34"/>
              </a:rPr>
              <a:t> คือ แบบจำลองที่ใช้อธิบายโครงสร้างของฐานข้อมูลซึ่งเขียนออกมาในลักษณะของรูปภาพ</a:t>
            </a:r>
          </a:p>
          <a:p>
            <a:pPr eaLnBrk="1" hangingPunct="1">
              <a:lnSpc>
                <a:spcPct val="90000"/>
              </a:lnSpc>
            </a:pPr>
            <a:r>
              <a:rPr lang="th-TH" altLang="th-TH" sz="4000" b="1">
                <a:latin typeface="TH SarabunPSK" panose="020B0500040200020003" pitchFamily="34" charset="-34"/>
                <a:cs typeface="TH SarabunPSK" panose="020B0500040200020003" pitchFamily="34" charset="-34"/>
              </a:rPr>
              <a:t> การอธิบายโครงสร้างและความสัมพันธ์ของข้อมูล ประกอบด้วย 2 ส่วน</a:t>
            </a:r>
          </a:p>
          <a:p>
            <a:pPr lvl="1" eaLnBrk="1" hangingPunct="1">
              <a:lnSpc>
                <a:spcPct val="90000"/>
              </a:lnSpc>
            </a:pPr>
            <a:r>
              <a:rPr lang="th-TH" altLang="th-TH" sz="4000" b="1">
                <a:latin typeface="TH SarabunPSK" panose="020B0500040200020003" pitchFamily="34" charset="-34"/>
                <a:cs typeface="TH SarabunPSK" panose="020B0500040200020003" pitchFamily="34" charset="-34"/>
              </a:rPr>
              <a:t> เอนทิตี้ (</a:t>
            </a:r>
            <a:r>
              <a:rPr lang="en-US" altLang="th-TH" sz="40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h-TH" sz="40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altLang="th-TH" sz="4000" b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 (</a:t>
            </a:r>
            <a:r>
              <a:rPr lang="en-US" altLang="th-TH" sz="4000" b="1">
                <a:latin typeface="TH SarabunPSK" panose="020B0500040200020003" pitchFamily="34" charset="-34"/>
                <a:cs typeface="TH SarabunPSK" panose="020B0500040200020003" pitchFamily="34" charset="-34"/>
              </a:rPr>
              <a:t>Relationship) </a:t>
            </a:r>
            <a:r>
              <a:rPr lang="th-TH" altLang="th-TH" sz="4000" b="1">
                <a:latin typeface="TH SarabunPSK" panose="020B0500040200020003" pitchFamily="34" charset="-34"/>
                <a:cs typeface="TH SarabunPSK" panose="020B0500040200020003" pitchFamily="34" charset="-34"/>
              </a:rPr>
              <a:t>ระหว่าง </a:t>
            </a:r>
            <a:r>
              <a:rPr lang="en-US" altLang="th-TH" sz="40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endParaRPr lang="th-TH" altLang="th-TH" sz="40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ตัวแทนหมายเลขภาพนิ่ง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5DD6B16-19E8-41A3-A7FC-2ADD775B63D5}" type="slidenum">
              <a:rPr lang="en-US" altLang="th-TH" sz="1000">
                <a:cs typeface="Angsana New" panose="02020603050405020304" pitchFamily="18" charset="-34"/>
              </a:rPr>
              <a:pPr eaLnBrk="1" hangingPunct="1"/>
              <a:t>4</a:t>
            </a:fld>
            <a:endParaRPr lang="en-US" altLang="th-TH" sz="1000">
              <a:cs typeface="Angsana New" panose="02020603050405020304" pitchFamily="18" charset="-34"/>
            </a:endParaRPr>
          </a:p>
        </p:txBody>
      </p:sp>
      <p:sp>
        <p:nvSpPr>
          <p:cNvPr id="150530" name="Rectangle 2"/>
          <p:cNvSpPr>
            <a:spLocks noChangeArrowheads="1"/>
          </p:cNvSpPr>
          <p:nvPr/>
        </p:nvSpPr>
        <p:spPr bwMode="auto">
          <a:xfrm>
            <a:off x="719138" y="184150"/>
            <a:ext cx="8424862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4000" b="1">
                <a:solidFill>
                  <a:srgbClr val="FF006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การออกแบบโครงสร้างฐานข้อมูลด้วย </a:t>
            </a:r>
            <a:r>
              <a:rPr lang="en-US" altLang="th-TH" sz="4000" b="1">
                <a:solidFill>
                  <a:srgbClr val="FF006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E-R Model </a:t>
            </a:r>
            <a:br>
              <a:rPr lang="th-TH" altLang="th-TH" sz="4000" b="1">
                <a:solidFill>
                  <a:srgbClr val="FF006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th-TH" altLang="th-TH" sz="4000" b="1">
                <a:solidFill>
                  <a:srgbClr val="FF006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และการแปลงเป็นรีเลชัน</a:t>
            </a:r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684213" y="1916113"/>
            <a:ext cx="8135937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E-R Model = Entity Relationship Model</a:t>
            </a:r>
            <a:endParaRPr lang="th-TH" altLang="th-TH" sz="36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th-TH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นำมาเขียนแสดงเป็นแผนภาพ เรียกว่า </a:t>
            </a: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ERD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(Entity Relationship Diagram)</a:t>
            </a:r>
            <a:endParaRPr lang="th-TH" altLang="th-TH" sz="36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autoUpdateAnimBg="0"/>
      <p:bldP spid="15053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8A27855-3AC4-46EA-B17A-A2205245A84B}" type="slidenum">
              <a:rPr lang="en-US" altLang="th-TH" sz="1000">
                <a:cs typeface="Angsana New" panose="02020603050405020304" pitchFamily="18" charset="-34"/>
              </a:rPr>
              <a:pPr eaLnBrk="1" hangingPunct="1"/>
              <a:t>5</a:t>
            </a:fld>
            <a:endParaRPr lang="en-US" altLang="th-TH" sz="1000">
              <a:cs typeface="Angsana New" panose="02020603050405020304" pitchFamily="18" charset="-34"/>
            </a:endParaRPr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725" y="404813"/>
            <a:ext cx="8604250" cy="838200"/>
          </a:xfrm>
        </p:spPr>
        <p:txBody>
          <a:bodyPr/>
          <a:lstStyle/>
          <a:p>
            <a:pPr eaLnBrk="1" hangingPunct="1"/>
            <a:r>
              <a:rPr lang="th-TH" altLang="th-TH" sz="4600" b="1">
                <a:solidFill>
                  <a:srgbClr val="FF006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จุดเด่นของ </a:t>
            </a:r>
            <a:r>
              <a:rPr lang="en-US" altLang="th-TH" sz="4600" b="1">
                <a:solidFill>
                  <a:srgbClr val="FF006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E-R Model</a:t>
            </a:r>
          </a:p>
        </p:txBody>
      </p:sp>
      <p:sp>
        <p:nvSpPr>
          <p:cNvPr id="181254" name="Rectangle 6"/>
          <p:cNvSpPr>
            <a:spLocks noChangeArrowheads="1"/>
          </p:cNvSpPr>
          <p:nvPr/>
        </p:nvSpPr>
        <p:spPr bwMode="auto">
          <a:xfrm>
            <a:off x="684213" y="1484313"/>
            <a:ext cx="8280400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endParaRPr lang="th-TH" altLang="th-TH" sz="3600" b="1">
              <a:cs typeface="FreesiaUPC" panose="020B0604020202020204" pitchFamily="34" charset="-34"/>
            </a:endParaRPr>
          </a:p>
        </p:txBody>
      </p:sp>
      <p:sp>
        <p:nvSpPr>
          <p:cNvPr id="181261" name="Rectangle 13"/>
          <p:cNvSpPr>
            <a:spLocks noChangeArrowheads="1"/>
          </p:cNvSpPr>
          <p:nvPr/>
        </p:nvSpPr>
        <p:spPr bwMode="auto">
          <a:xfrm>
            <a:off x="684213" y="1916113"/>
            <a:ext cx="8135937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v"/>
              <a:defRPr/>
            </a:pPr>
            <a:r>
              <a:rPr lang="th-TH" sz="3600" b="1" dirty="0">
                <a:latin typeface="TH SarabunPSK" pitchFamily="34" charset="-34"/>
                <a:cs typeface="TH SarabunPSK" pitchFamily="34" charset="-34"/>
              </a:rPr>
              <a:t>ช่วยให้การอกแบบได้ง่ายขึ้นด้วยการจัดระเบียบความคิด</a:t>
            </a:r>
            <a:br>
              <a:rPr lang="th-TH" sz="36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600" b="1" dirty="0">
                <a:latin typeface="TH SarabunPSK" pitchFamily="34" charset="-34"/>
                <a:cs typeface="TH SarabunPSK" pitchFamily="34" charset="-34"/>
              </a:rPr>
              <a:t>ของคนที่ทำการออกแบบ</a:t>
            </a:r>
          </a:p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v"/>
              <a:defRPr/>
            </a:pPr>
            <a:r>
              <a:rPr lang="th-TH" sz="3600" b="1" dirty="0">
                <a:latin typeface="TH SarabunPSK" pitchFamily="34" charset="-34"/>
                <a:cs typeface="TH SarabunPSK" pitchFamily="34" charset="-34"/>
              </a:rPr>
              <a:t>ลดความซับซ้อนของระบบได้เป็นอย่างดี</a:t>
            </a:r>
          </a:p>
          <a:p>
            <a:pPr marL="571500" indent="-5715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autoUpdateAnimBg="0"/>
      <p:bldP spid="181254" grpId="0" autoUpdateAnimBg="0"/>
      <p:bldP spid="18126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15E7E96-BDE7-485F-B2BE-647811462879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6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3388"/>
            <a:ext cx="8229600" cy="1139825"/>
          </a:xfrm>
        </p:spPr>
        <p:txBody>
          <a:bodyPr/>
          <a:lstStyle/>
          <a:p>
            <a:pPr eaLnBrk="1" hangingPunct="1">
              <a:lnSpc>
                <a:spcPct val="75000"/>
              </a:lnSpc>
            </a:pPr>
            <a:r>
              <a:rPr lang="th-TH" altLang="th-TH" sz="5700" b="1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สัญลักษณ์ที่ใช้ในการเขียน </a:t>
            </a:r>
            <a:r>
              <a:rPr lang="en-US" altLang="th-TH" sz="5700" b="1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E-R Diagram</a:t>
            </a:r>
            <a:endParaRPr lang="th-TH" altLang="th-TH" sz="5700" b="1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196" name="Picture 3" descr="Fig04-3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81113" y="1652588"/>
            <a:ext cx="6670675" cy="50942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DEC108-CED3-4A48-95FD-1E6AD56B0358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7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3388"/>
            <a:ext cx="8229600" cy="1139825"/>
          </a:xfrm>
        </p:spPr>
        <p:txBody>
          <a:bodyPr/>
          <a:lstStyle/>
          <a:p>
            <a:pPr eaLnBrk="1" hangingPunct="1">
              <a:lnSpc>
                <a:spcPct val="75000"/>
              </a:lnSpc>
            </a:pPr>
            <a:r>
              <a:rPr lang="th-TH" altLang="th-TH" sz="5700" b="1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สัญลักษณ์ที่ใช้ในการเขียน </a:t>
            </a:r>
            <a:r>
              <a:rPr lang="en-US" altLang="th-TH" sz="5700" b="1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E-R Diagram</a:t>
            </a:r>
            <a:endParaRPr lang="th-TH" altLang="th-TH" sz="5700" b="1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22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412875"/>
            <a:ext cx="8424863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422AB2-5AF2-4C23-9129-7D35F37BD367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8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 </a:t>
            </a: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Diagram </a:t>
            </a:r>
            <a:b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ใช้แบบ </a:t>
            </a: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Chen Model</a:t>
            </a:r>
            <a:endParaRPr lang="th-TH" sz="48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Entity</a:t>
            </a:r>
          </a:p>
          <a:p>
            <a:pPr lvl="1" eaLnBrk="1" hangingPunct="1"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เป็นส่วนที่ใช้สำหรับเก็บข้อมูลแต่ละรายการภายในระบบที่เรากำลังจัดทำอยู่</a:t>
            </a:r>
          </a:p>
          <a:p>
            <a:pPr lvl="1" eaLnBrk="1" hangingPunct="1"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เช่น</a:t>
            </a:r>
          </a:p>
          <a:p>
            <a:pPr lvl="2" eaLnBrk="1" hangingPunct="1"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บุคคล (พนักงาน, ผู้ป่วย, บุคลากร, นักศึกษา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,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ลูกค้า)</a:t>
            </a:r>
          </a:p>
          <a:p>
            <a:pPr lvl="2" eaLnBrk="1" hangingPunct="1"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สถานที่ 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จังหวัด, อำเภอ, ภาค, ที่อยู่)</a:t>
            </a:r>
          </a:p>
          <a:p>
            <a:pPr lvl="2" eaLnBrk="1" hangingPunct="1"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วัตถุ 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รถยนต์, อาคาร, เครื่องจักร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,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สินค้า)</a:t>
            </a:r>
          </a:p>
          <a:p>
            <a:pPr lvl="2" eaLnBrk="1" hangingPunct="1"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เหตุการณ์ (ประวัติ, การลงทะเบียน, การรักษาโรค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,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ซื้อ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,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ขาย)</a:t>
            </a:r>
          </a:p>
          <a:p>
            <a:pPr lvl="1" eaLnBrk="1" hangingPunct="1"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สัญลักษณ์จะแทนด้วยรูปสี่เหลี่ยมและมีชื่อ 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Entity 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อยู่ภายใน</a:t>
            </a: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7092950" y="3213100"/>
            <a:ext cx="1582738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th-TH" alt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พนักงาน</a:t>
            </a:r>
          </a:p>
        </p:txBody>
      </p:sp>
      <p:sp>
        <p:nvSpPr>
          <p:cNvPr id="10246" name="Text Box 5"/>
          <p:cNvSpPr txBox="1">
            <a:spLocks noChangeArrowheads="1"/>
          </p:cNvSpPr>
          <p:nvPr/>
        </p:nvSpPr>
        <p:spPr bwMode="auto">
          <a:xfrm>
            <a:off x="6875463" y="2636838"/>
            <a:ext cx="21701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สัญลักษณ์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endParaRPr lang="th-TH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1479A1-9B50-47CD-886C-E99A39438C3D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9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เอนทิตี้ (</a:t>
            </a:r>
            <a:r>
              <a:rPr lang="en-US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Entity)</a:t>
            </a:r>
            <a:endParaRPr lang="th-TH" sz="57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คือสิ่งที่คงอยู่ สามารถระบุได้ในความจริง เช่น บุคคล เหตุการณ์ สถานที่</a:t>
            </a:r>
          </a:p>
          <a:p>
            <a:pPr eaLnBrk="1" hangingPunct="1">
              <a:lnSpc>
                <a:spcPct val="90000"/>
              </a:lnSpc>
            </a:pPr>
            <a:r>
              <a:rPr lang="th-TH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มักจะอยู่ในรูปของนาม</a:t>
            </a:r>
          </a:p>
          <a:p>
            <a:pPr eaLnBrk="1" hangingPunct="1">
              <a:lnSpc>
                <a:spcPct val="90000"/>
              </a:lnSpc>
            </a:pPr>
            <a:r>
              <a:rPr lang="th-TH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สามารถมีคุณสมบัติ (</a:t>
            </a:r>
            <a:r>
              <a:rPr lang="en-US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Property) </a:t>
            </a:r>
            <a:r>
              <a:rPr lang="th-TH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หรือแอททริบิวต์ (</a:t>
            </a:r>
            <a:r>
              <a:rPr lang="en-US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Attribute) </a:t>
            </a:r>
            <a:r>
              <a:rPr lang="th-TH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ได้ เช่น บุคคล จะมี </a:t>
            </a:r>
            <a:r>
              <a:rPr lang="en-US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br>
              <a:rPr lang="th-TH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th-TH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 ที่อยู่ อายุ เพศ วุฒิการศึกษา ฯลฯ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ACEDCC2-DDAB-4515-A7D2-AED14A898740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10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เอนทิตี้ (</a:t>
            </a:r>
            <a:r>
              <a:rPr lang="en-US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Entity)</a:t>
            </a:r>
            <a:endParaRPr lang="th-TH" sz="57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404225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แบ่งได้เป็น 3 ชนิด</a:t>
            </a:r>
          </a:p>
          <a:p>
            <a:pPr lvl="1" eaLnBrk="1" hangingPunct="1">
              <a:lnSpc>
                <a:spcPct val="80000"/>
              </a:lnSpc>
            </a:pP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altLang="th-TH" sz="3200" b="1">
                <a:solidFill>
                  <a:schemeClr val="accent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Regular Entity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คือ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ทั่ว ๆ ไป ที่มี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หนึ่งแยกความแตกต่างของข้อมูลแต่ละ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Tuple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ได้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altLang="th-TH" sz="3200" b="1">
                <a:solidFill>
                  <a:schemeClr val="accent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Weak Entity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อ่อนแอ คือ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ที่ต้องอาศัย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อื่นมาช่วยในแยกความแตกต่างของข้อมูลแต่ละ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Tuple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altLang="th-TH" sz="3200" b="1">
                <a:solidFill>
                  <a:schemeClr val="accent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Composite Entity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คือ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ที่ต้องมี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ที่เป็น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Primary key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จาก 2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แยกความแตกต่างของข้อมูลแต่ละ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Tuple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ที่ถูกสร้างขึ้นเพื่อแปลงความสัมพันธ์แบบ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M:M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ให้เป็น   แบบ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1:M</a:t>
            </a:r>
            <a:r>
              <a:rPr lang="en-US" alt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altLang="th-TH" sz="3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475B6-1E46-426A-8B52-9E58B5CEBDE6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11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Regular Entity</a:t>
            </a:r>
            <a:endParaRPr lang="th-TH" sz="57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aphicFrame>
        <p:nvGraphicFramePr>
          <p:cNvPr id="1331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319213" y="1795463"/>
          <a:ext cx="7212012" cy="431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323810" imgH="3010320" progId="Paint.Picture">
                  <p:embed/>
                </p:oleObj>
              </mc:Choice>
              <mc:Fallback>
                <p:oleObj name="Bitmap Image" r:id="rId2" imgW="5323810" imgH="301032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1795463"/>
                        <a:ext cx="7212012" cy="431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1795A6-D711-469F-8382-FAD1FF9C1BCE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12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Weak Entity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14340" name="Group 3"/>
          <p:cNvGrpSpPr>
            <a:grpSpLocks/>
          </p:cNvGrpSpPr>
          <p:nvPr/>
        </p:nvGrpSpPr>
        <p:grpSpPr bwMode="auto">
          <a:xfrm>
            <a:off x="1241425" y="1511300"/>
            <a:ext cx="6343650" cy="5051425"/>
            <a:chOff x="754" y="952"/>
            <a:chExt cx="3996" cy="3182"/>
          </a:xfrm>
        </p:grpSpPr>
        <p:graphicFrame>
          <p:nvGraphicFramePr>
            <p:cNvPr id="14341" name="Object 4"/>
            <p:cNvGraphicFramePr>
              <a:graphicFrameLocks noChangeAspect="1"/>
            </p:cNvGraphicFramePr>
            <p:nvPr/>
          </p:nvGraphicFramePr>
          <p:xfrm>
            <a:off x="754" y="952"/>
            <a:ext cx="3996" cy="28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4067743" imgH="2914286" progId="Paint.Picture">
                    <p:embed/>
                  </p:oleObj>
                </mc:Choice>
                <mc:Fallback>
                  <p:oleObj name="Bitmap Image" r:id="rId2" imgW="4067743" imgH="2914286" progId="Paint.Picture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993"/>
                        <a:stretch>
                          <a:fillRect/>
                        </a:stretch>
                      </p:blipFill>
                      <p:spPr bwMode="auto">
                        <a:xfrm>
                          <a:off x="754" y="952"/>
                          <a:ext cx="3996" cy="28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2" name="Text Box 5"/>
            <p:cNvSpPr txBox="1">
              <a:spLocks noChangeArrowheads="1"/>
            </p:cNvSpPr>
            <p:nvPr/>
          </p:nvSpPr>
          <p:spPr bwMode="auto">
            <a:xfrm>
              <a:off x="2011" y="3843"/>
              <a:ext cx="16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4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สัญลักษณ์ของ </a:t>
              </a:r>
              <a:r>
                <a:rPr lang="en-US" altLang="th-TH" sz="24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 Weak Entity</a:t>
              </a:r>
              <a:endPara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2885E4-574E-40DB-8B9D-774AF80ED31A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13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1362" name="Rectangle 2"/>
          <p:cNvSpPr>
            <a:spLocks noChangeArrowheads="1"/>
          </p:cNvSpPr>
          <p:nvPr/>
        </p:nvSpPr>
        <p:spPr bwMode="auto">
          <a:xfrm>
            <a:off x="684213" y="188913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th-TH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ภาพอธิบาย </a:t>
            </a: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Strong &amp; Weak Entity</a:t>
            </a:r>
            <a:endParaRPr lang="th-TH" sz="48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aphicFrame>
        <p:nvGraphicFramePr>
          <p:cNvPr id="271363" name="Group 3"/>
          <p:cNvGraphicFramePr>
            <a:graphicFrameLocks noGrp="1"/>
          </p:cNvGraphicFramePr>
          <p:nvPr/>
        </p:nvGraphicFramePr>
        <p:xfrm>
          <a:off x="838200" y="2209800"/>
          <a:ext cx="3733800" cy="1554163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รหัส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8B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ชื่อ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8B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คณะ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8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45001</a:t>
                      </a:r>
                      <a:endParaRPr kumimoji="0" lang="th-TH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เดชา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บริหารธุรกิจ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45002</a:t>
                      </a:r>
                      <a:endParaRPr kumimoji="0" lang="th-TH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สมชาย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เกษตร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1381" name="Group 21"/>
          <p:cNvGraphicFramePr>
            <a:graphicFrameLocks noGrp="1"/>
          </p:cNvGraphicFramePr>
          <p:nvPr/>
        </p:nvGraphicFramePr>
        <p:xfrm>
          <a:off x="3352800" y="4191000"/>
          <a:ext cx="3352800" cy="2563813"/>
        </p:xfrm>
        <a:graphic>
          <a:graphicData uri="http://schemas.openxmlformats.org/drawingml/2006/table">
            <a:tbl>
              <a:tblPr/>
              <a:tblGrid>
                <a:gridCol w="76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รหัส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ปีการศึกษา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รหัสวิชา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45001</a:t>
                      </a:r>
                      <a:endParaRPr kumimoji="0" lang="th-TH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1/45</a:t>
                      </a:r>
                      <a:endParaRPr kumimoji="0" lang="th-TH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01</a:t>
                      </a:r>
                      <a:endParaRPr kumimoji="0" lang="th-TH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45002</a:t>
                      </a:r>
                      <a:endParaRPr kumimoji="0" lang="th-TH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1/45</a:t>
                      </a:r>
                      <a:endParaRPr kumimoji="0" lang="th-TH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01</a:t>
                      </a:r>
                      <a:endParaRPr kumimoji="0" lang="th-TH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45001</a:t>
                      </a:r>
                      <a:endParaRPr kumimoji="0" lang="th-TH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1/45</a:t>
                      </a:r>
                      <a:endParaRPr kumimoji="0" lang="th-TH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02</a:t>
                      </a:r>
                      <a:endParaRPr kumimoji="0" lang="th-TH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45002</a:t>
                      </a:r>
                      <a:endParaRPr kumimoji="0" lang="th-TH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1/45</a:t>
                      </a:r>
                      <a:endParaRPr kumimoji="0" lang="th-TH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02</a:t>
                      </a:r>
                      <a:endParaRPr kumimoji="0" lang="th-TH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F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1407" name="Group 47"/>
          <p:cNvGraphicFramePr>
            <a:graphicFrameLocks noGrp="1"/>
          </p:cNvGraphicFramePr>
          <p:nvPr/>
        </p:nvGraphicFramePr>
        <p:xfrm>
          <a:off x="5181600" y="2209800"/>
          <a:ext cx="3048000" cy="1554163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รหัสวิชา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ชื่อวิชา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01</a:t>
                      </a:r>
                      <a:endParaRPr kumimoji="0" lang="th-TH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ฐานข้อมูล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02</a:t>
                      </a:r>
                      <a:endParaRPr kumimoji="0" lang="th-TH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rial" pitchFamily="34" charset="0"/>
                      </a:endParaRP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rial" pitchFamily="34" charset="0"/>
                        </a:rPr>
                        <a:t>โครงสร้าง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422" name="AutoShape 61"/>
          <p:cNvCxnSpPr>
            <a:cxnSpLocks noChangeShapeType="1"/>
          </p:cNvCxnSpPr>
          <p:nvPr/>
        </p:nvCxnSpPr>
        <p:spPr bwMode="auto">
          <a:xfrm rot="16200000" flipH="1">
            <a:off x="2285206" y="2740819"/>
            <a:ext cx="612775" cy="2287588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423" name="Line 62"/>
          <p:cNvSpPr>
            <a:spLocks noChangeShapeType="1"/>
          </p:cNvSpPr>
          <p:nvPr/>
        </p:nvSpPr>
        <p:spPr bwMode="auto">
          <a:xfrm>
            <a:off x="5943600" y="35814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5424" name="Text Box 63"/>
          <p:cNvSpPr txBox="1">
            <a:spLocks noChangeArrowheads="1"/>
          </p:cNvSpPr>
          <p:nvPr/>
        </p:nvSpPr>
        <p:spPr bwMode="auto">
          <a:xfrm>
            <a:off x="1143000" y="17526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Student (</a:t>
            </a:r>
            <a:r>
              <a:rPr lang="en-US" altLang="th-TH" sz="2400" b="1">
                <a:solidFill>
                  <a:schemeClr val="folHlink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Strong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425" name="Text Box 64"/>
          <p:cNvSpPr txBox="1">
            <a:spLocks noChangeArrowheads="1"/>
          </p:cNvSpPr>
          <p:nvPr/>
        </p:nvSpPr>
        <p:spPr bwMode="auto">
          <a:xfrm>
            <a:off x="5181600" y="17526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Subject (</a:t>
            </a:r>
            <a:r>
              <a:rPr lang="en-US" altLang="th-TH" sz="2400" b="1">
                <a:solidFill>
                  <a:schemeClr val="folHlink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Strong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426" name="Text Box 65"/>
          <p:cNvSpPr txBox="1">
            <a:spLocks noChangeArrowheads="1"/>
          </p:cNvSpPr>
          <p:nvPr/>
        </p:nvSpPr>
        <p:spPr bwMode="auto">
          <a:xfrm>
            <a:off x="3962400" y="3733800"/>
            <a:ext cx="19050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Regis_Detail(</a:t>
            </a:r>
            <a:r>
              <a:rPr lang="en-US" altLang="th-TH" sz="2400" b="1">
                <a:solidFill>
                  <a:schemeClr val="hlink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Weak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16FD43C-E122-4E91-9F5C-F735DADCDACC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14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Composite Entity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16388" name="Group 7"/>
          <p:cNvGrpSpPr>
            <a:grpSpLocks noChangeAspect="1"/>
          </p:cNvGrpSpPr>
          <p:nvPr/>
        </p:nvGrpSpPr>
        <p:grpSpPr bwMode="auto">
          <a:xfrm>
            <a:off x="611188" y="2420938"/>
            <a:ext cx="8162925" cy="854075"/>
            <a:chOff x="309" y="3022"/>
            <a:chExt cx="5142" cy="538"/>
          </a:xfrm>
        </p:grpSpPr>
        <p:sp>
          <p:nvSpPr>
            <p:cNvPr id="16389" name="AutoShape 8"/>
            <p:cNvSpPr>
              <a:spLocks noChangeAspect="1" noChangeArrowheads="1" noTextEdit="1"/>
            </p:cNvSpPr>
            <p:nvPr/>
          </p:nvSpPr>
          <p:spPr bwMode="auto">
            <a:xfrm>
              <a:off x="309" y="3022"/>
              <a:ext cx="5142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390" name="Rectangle 9"/>
            <p:cNvSpPr>
              <a:spLocks noChangeArrowheads="1"/>
            </p:cNvSpPr>
            <p:nvPr/>
          </p:nvSpPr>
          <p:spPr bwMode="auto">
            <a:xfrm>
              <a:off x="331" y="3044"/>
              <a:ext cx="1111" cy="495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391" name="Rectangle 10"/>
            <p:cNvSpPr>
              <a:spLocks noChangeArrowheads="1"/>
            </p:cNvSpPr>
            <p:nvPr/>
          </p:nvSpPr>
          <p:spPr bwMode="auto">
            <a:xfrm>
              <a:off x="331" y="3044"/>
              <a:ext cx="1111" cy="49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392" name="Rectangle 11"/>
            <p:cNvSpPr>
              <a:spLocks noChangeArrowheads="1"/>
            </p:cNvSpPr>
            <p:nvPr/>
          </p:nvSpPr>
          <p:spPr bwMode="auto">
            <a:xfrm>
              <a:off x="505" y="3140"/>
              <a:ext cx="639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31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Student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393" name="Rectangle 12"/>
            <p:cNvSpPr>
              <a:spLocks noChangeArrowheads="1"/>
            </p:cNvSpPr>
            <p:nvPr/>
          </p:nvSpPr>
          <p:spPr bwMode="auto">
            <a:xfrm>
              <a:off x="4318" y="3044"/>
              <a:ext cx="1112" cy="495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394" name="Rectangle 13"/>
            <p:cNvSpPr>
              <a:spLocks noChangeArrowheads="1"/>
            </p:cNvSpPr>
            <p:nvPr/>
          </p:nvSpPr>
          <p:spPr bwMode="auto">
            <a:xfrm>
              <a:off x="4318" y="3044"/>
              <a:ext cx="1112" cy="49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395" name="Rectangle 14"/>
            <p:cNvSpPr>
              <a:spLocks noChangeArrowheads="1"/>
            </p:cNvSpPr>
            <p:nvPr/>
          </p:nvSpPr>
          <p:spPr bwMode="auto">
            <a:xfrm>
              <a:off x="4464" y="3140"/>
              <a:ext cx="598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31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Subject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396" name="Line 15"/>
            <p:cNvSpPr>
              <a:spLocks noChangeShapeType="1"/>
            </p:cNvSpPr>
            <p:nvPr/>
          </p:nvSpPr>
          <p:spPr bwMode="auto">
            <a:xfrm>
              <a:off x="1442" y="3291"/>
              <a:ext cx="864" cy="1"/>
            </a:xfrm>
            <a:prstGeom prst="line">
              <a:avLst/>
            </a:prstGeom>
            <a:noFill/>
            <a:ln w="33338" cap="rnd">
              <a:solidFill>
                <a:srgbClr val="4677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397" name="Rectangle 16"/>
            <p:cNvSpPr>
              <a:spLocks noChangeArrowheads="1"/>
            </p:cNvSpPr>
            <p:nvPr/>
          </p:nvSpPr>
          <p:spPr bwMode="auto">
            <a:xfrm>
              <a:off x="2151" y="3074"/>
              <a:ext cx="8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398" name="Line 17"/>
            <p:cNvSpPr>
              <a:spLocks noChangeShapeType="1"/>
            </p:cNvSpPr>
            <p:nvPr/>
          </p:nvSpPr>
          <p:spPr bwMode="auto">
            <a:xfrm>
              <a:off x="3491" y="3291"/>
              <a:ext cx="827" cy="1"/>
            </a:xfrm>
            <a:prstGeom prst="line">
              <a:avLst/>
            </a:prstGeom>
            <a:noFill/>
            <a:ln w="33338" cap="rnd">
              <a:solidFill>
                <a:srgbClr val="4677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399" name="Rectangle 18"/>
            <p:cNvSpPr>
              <a:spLocks noChangeArrowheads="1"/>
            </p:cNvSpPr>
            <p:nvPr/>
          </p:nvSpPr>
          <p:spPr bwMode="auto">
            <a:xfrm>
              <a:off x="3536" y="3074"/>
              <a:ext cx="8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400" name="Rectangle 19"/>
            <p:cNvSpPr>
              <a:spLocks noChangeArrowheads="1"/>
            </p:cNvSpPr>
            <p:nvPr/>
          </p:nvSpPr>
          <p:spPr bwMode="auto">
            <a:xfrm>
              <a:off x="1498" y="3074"/>
              <a:ext cx="5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401" name="Rectangle 20"/>
            <p:cNvSpPr>
              <a:spLocks noChangeArrowheads="1"/>
            </p:cNvSpPr>
            <p:nvPr/>
          </p:nvSpPr>
          <p:spPr bwMode="auto">
            <a:xfrm>
              <a:off x="4163" y="3074"/>
              <a:ext cx="5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402" name="Rectangle 21"/>
            <p:cNvSpPr>
              <a:spLocks noChangeArrowheads="1"/>
            </p:cNvSpPr>
            <p:nvPr/>
          </p:nvSpPr>
          <p:spPr bwMode="auto">
            <a:xfrm>
              <a:off x="2306" y="3044"/>
              <a:ext cx="1185" cy="495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403" name="Rectangle 22"/>
            <p:cNvSpPr>
              <a:spLocks noChangeArrowheads="1"/>
            </p:cNvSpPr>
            <p:nvPr/>
          </p:nvSpPr>
          <p:spPr bwMode="auto">
            <a:xfrm>
              <a:off x="2306" y="3044"/>
              <a:ext cx="1185" cy="49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404" name="Freeform 23"/>
            <p:cNvSpPr>
              <a:spLocks/>
            </p:cNvSpPr>
            <p:nvPr/>
          </p:nvSpPr>
          <p:spPr bwMode="auto">
            <a:xfrm>
              <a:off x="2306" y="3044"/>
              <a:ext cx="1185" cy="495"/>
            </a:xfrm>
            <a:custGeom>
              <a:avLst/>
              <a:gdLst>
                <a:gd name="T0" fmla="*/ 0 w 1185"/>
                <a:gd name="T1" fmla="*/ 247 h 495"/>
                <a:gd name="T2" fmla="*/ 593 w 1185"/>
                <a:gd name="T3" fmla="*/ 0 h 495"/>
                <a:gd name="T4" fmla="*/ 1185 w 1185"/>
                <a:gd name="T5" fmla="*/ 247 h 495"/>
                <a:gd name="T6" fmla="*/ 593 w 1185"/>
                <a:gd name="T7" fmla="*/ 495 h 495"/>
                <a:gd name="T8" fmla="*/ 0 w 1185"/>
                <a:gd name="T9" fmla="*/ 247 h 4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5" h="495">
                  <a:moveTo>
                    <a:pt x="0" y="247"/>
                  </a:moveTo>
                  <a:lnTo>
                    <a:pt x="593" y="0"/>
                  </a:lnTo>
                  <a:lnTo>
                    <a:pt x="1185" y="247"/>
                  </a:lnTo>
                  <a:lnTo>
                    <a:pt x="593" y="495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405" name="Freeform 24"/>
            <p:cNvSpPr>
              <a:spLocks/>
            </p:cNvSpPr>
            <p:nvPr/>
          </p:nvSpPr>
          <p:spPr bwMode="auto">
            <a:xfrm>
              <a:off x="2306" y="3044"/>
              <a:ext cx="1185" cy="495"/>
            </a:xfrm>
            <a:custGeom>
              <a:avLst/>
              <a:gdLst>
                <a:gd name="T0" fmla="*/ 0 w 1185"/>
                <a:gd name="T1" fmla="*/ 247 h 495"/>
                <a:gd name="T2" fmla="*/ 593 w 1185"/>
                <a:gd name="T3" fmla="*/ 0 h 495"/>
                <a:gd name="T4" fmla="*/ 1185 w 1185"/>
                <a:gd name="T5" fmla="*/ 247 h 495"/>
                <a:gd name="T6" fmla="*/ 593 w 1185"/>
                <a:gd name="T7" fmla="*/ 495 h 495"/>
                <a:gd name="T8" fmla="*/ 0 w 1185"/>
                <a:gd name="T9" fmla="*/ 247 h 4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5" h="495">
                  <a:moveTo>
                    <a:pt x="0" y="247"/>
                  </a:moveTo>
                  <a:lnTo>
                    <a:pt x="593" y="0"/>
                  </a:lnTo>
                  <a:lnTo>
                    <a:pt x="1185" y="247"/>
                  </a:lnTo>
                  <a:lnTo>
                    <a:pt x="593" y="495"/>
                  </a:lnTo>
                  <a:lnTo>
                    <a:pt x="0" y="247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406" name="Rectangle 25"/>
            <p:cNvSpPr>
              <a:spLocks noChangeArrowheads="1"/>
            </p:cNvSpPr>
            <p:nvPr/>
          </p:nvSpPr>
          <p:spPr bwMode="auto">
            <a:xfrm>
              <a:off x="2556" y="3192"/>
              <a:ext cx="45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21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Learning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FB5E64F-37D9-4F15-A9CD-237C6A097AAD}" type="slidenum">
              <a:rPr lang="en-US" altLang="th-TH" sz="1000">
                <a:solidFill>
                  <a:srgbClr val="FF585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15</a:t>
            </a:fld>
            <a:endParaRPr lang="en-US" altLang="th-TH" sz="1000">
              <a:solidFill>
                <a:srgbClr val="FF5858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Attribute </a:t>
            </a: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Property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659688" cy="4530725"/>
          </a:xfrm>
        </p:spPr>
        <p:txBody>
          <a:bodyPr/>
          <a:lstStyle/>
          <a:p>
            <a:pPr eaLnBrk="1" hangingPunct="1">
              <a:defRPr/>
            </a:pPr>
            <a:r>
              <a:rPr lang="th-TH" sz="44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คือคุณสมบัติต่าง ๆ ของ </a:t>
            </a:r>
            <a:r>
              <a:rPr lang="en-US" sz="44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Entity</a:t>
            </a:r>
            <a:endParaRPr lang="th-TH" sz="44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aphicFrame>
        <p:nvGraphicFramePr>
          <p:cNvPr id="1741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773113" y="2794000"/>
          <a:ext cx="8007350" cy="338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09524" imgH="2580952" progId="Paint.Picture">
                  <p:embed/>
                </p:oleObj>
              </mc:Choice>
              <mc:Fallback>
                <p:oleObj name="Bitmap Image" r:id="rId2" imgW="5409524" imgH="2580952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383"/>
                      <a:stretch>
                        <a:fillRect/>
                      </a:stretch>
                    </p:blipFill>
                    <p:spPr bwMode="auto">
                      <a:xfrm>
                        <a:off x="773113" y="2794000"/>
                        <a:ext cx="8007350" cy="338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3798888" y="2363788"/>
            <a:ext cx="1662112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Attribute</a:t>
            </a:r>
            <a:endParaRPr lang="th-TH" sz="40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2CB3E3-7B6D-455A-B5D9-64EAFF6447A4}" type="slidenum"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16</a:t>
            </a:fld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</a:p>
          <a:p>
            <a:pPr lvl="1" eaLnBrk="1" hangingPunct="1"/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เป็นคุณสมบัติหรือลักษณะของ </a:t>
            </a:r>
            <a:r>
              <a:rPr lang="en-US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</a:p>
          <a:p>
            <a:pPr lvl="1" eaLnBrk="1" hangingPunct="1"/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ของ พนักงาน ประกอบด้วย</a:t>
            </a:r>
          </a:p>
          <a:p>
            <a:pPr lvl="2" eaLnBrk="1" hangingPunct="1"/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เลขที่พนักงาน</a:t>
            </a:r>
          </a:p>
          <a:p>
            <a:pPr lvl="2" eaLnBrk="1" hangingPunct="1"/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</a:t>
            </a:r>
            <a:r>
              <a:rPr lang="en-US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-</a:t>
            </a:r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นามสกุล</a:t>
            </a:r>
          </a:p>
          <a:p>
            <a:pPr lvl="2" eaLnBrk="1" hangingPunct="1"/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เพศ</a:t>
            </a:r>
          </a:p>
          <a:p>
            <a:pPr lvl="2" eaLnBrk="1" hangingPunct="1"/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เงินเดือน</a:t>
            </a:r>
            <a:endParaRPr lang="en-US" altLang="th-TH" sz="2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สัญลักษณ์ </a:t>
            </a:r>
            <a:r>
              <a:rPr lang="en-US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นั้นจะแทนด้วยวงรี </a:t>
            </a:r>
            <a:r>
              <a:rPr lang="en-US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โดยมีชื่อของ </a:t>
            </a:r>
            <a:r>
              <a:rPr lang="en-US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กำกับอยู่ภายใน</a:t>
            </a:r>
            <a:r>
              <a:rPr lang="en-US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และมีเส้นเชื่อมต่อกับ </a:t>
            </a:r>
            <a:r>
              <a:rPr lang="en-US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ของมัน เช่น</a:t>
            </a:r>
          </a:p>
          <a:p>
            <a:pPr lvl="2" eaLnBrk="1" hangingPunct="1"/>
            <a:endParaRPr lang="th-TH" altLang="th-TH" sz="2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Attribute </a:t>
            </a: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Property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349F9A1-5AB6-4780-9CBC-7AD868C37C3F}" type="slidenum"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17</a:t>
            </a:fld>
            <a:endParaRPr lang="en-US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555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</a:p>
          <a:p>
            <a:pPr eaLnBrk="1" hangingPunct="1">
              <a:lnSpc>
                <a:spcPct val="90000"/>
              </a:lnSpc>
            </a:pPr>
            <a:endParaRPr lang="th-TH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5292725" y="3933825"/>
            <a:ext cx="2159000" cy="86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Employee</a:t>
            </a:r>
            <a:endParaRPr lang="th-TH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2771775" y="2924175"/>
            <a:ext cx="1944688" cy="649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Name</a:t>
            </a:r>
            <a:endParaRPr lang="th-TH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462" name="Oval 6"/>
          <p:cNvSpPr>
            <a:spLocks noChangeArrowheads="1"/>
          </p:cNvSpPr>
          <p:nvPr/>
        </p:nvSpPr>
        <p:spPr bwMode="auto">
          <a:xfrm>
            <a:off x="2627313" y="3933825"/>
            <a:ext cx="1944687" cy="649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Emp_ID</a:t>
            </a:r>
            <a:endParaRPr lang="th-TH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5003800" y="2636838"/>
            <a:ext cx="1944688" cy="649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Sex</a:t>
            </a:r>
            <a:endParaRPr lang="th-TH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464" name="Oval 8"/>
          <p:cNvSpPr>
            <a:spLocks noChangeArrowheads="1"/>
          </p:cNvSpPr>
          <p:nvPr/>
        </p:nvSpPr>
        <p:spPr bwMode="auto">
          <a:xfrm>
            <a:off x="3635375" y="5300663"/>
            <a:ext cx="1944688" cy="649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Salary</a:t>
            </a:r>
            <a:endParaRPr lang="th-TH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4643438" y="4797425"/>
            <a:ext cx="1008062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>
            <a:off x="4572000" y="429260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6084888" y="32845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9468" name="Line 12"/>
          <p:cNvSpPr>
            <a:spLocks noChangeShapeType="1"/>
          </p:cNvSpPr>
          <p:nvPr/>
        </p:nvSpPr>
        <p:spPr bwMode="auto">
          <a:xfrm>
            <a:off x="4643438" y="3357563"/>
            <a:ext cx="9366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Attribute </a:t>
            </a: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Property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F9D1B6-BAB1-4E82-AB13-44AD2901C8E0}" type="slidenum">
              <a:rPr lang="en-US" altLang="th-TH" sz="10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18</a:t>
            </a:fld>
            <a:endParaRPr lang="en-US" altLang="th-TH" sz="10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th-TH" sz="6000" b="1">
                <a:solidFill>
                  <a:schemeClr val="accent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00200"/>
            <a:ext cx="8218487" cy="4530725"/>
          </a:xfrm>
        </p:spPr>
        <p:txBody>
          <a:bodyPr/>
          <a:lstStyle/>
          <a:p>
            <a:pPr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สามารถจำแนกได้เป็น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6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ประเภท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1 Simple Attributes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ที่ไม่สามารถแบ่งแยกย่อยได้อีกแล้ว เช่น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เพศ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,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เงินเดือน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2 Composite Attributes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มีลักษณะตรงข้ามกับแบบ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Simple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ที่สามารถแบ่งแยกย่อยไปได้อีก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ชื่อสกุล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ที่สามารถแบ่งออกได้เป็น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 และ สกุล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3 Key Attributes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ที่สามารถบ่งบอกถึงเอกลักษณ์ของ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นั้นได้ (มีค่าไม่ซ้ำกัน)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เวลาเขียน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ER Diagram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ต้องขีดเส้นใต้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ที่เป็น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Key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</a:t>
            </a:r>
          </a:p>
          <a:p>
            <a:pPr eaLnBrk="1" hangingPunct="1"/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8A92B4F-36BA-4256-B09C-7CEC47E8F874}" type="slidenum"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19</a:t>
            </a:fld>
            <a:endParaRPr lang="en-US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600200"/>
            <a:ext cx="8147050" cy="4530725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 4  Single - Valued 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Property </a:t>
            </a: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ที่มีค่าของข้อมูลได้เพียงแค่ค่าเดียว เช่น 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เพศ ที่ระบุได้เพียง ชาย หรือ หญิง เท่านั้น เพราะมนุษย์มีเพียงเพศเดียว </a:t>
            </a:r>
          </a:p>
          <a:p>
            <a:pPr lvl="1" eaLnBrk="1" hangingPunct="1">
              <a:lnSpc>
                <a:spcPct val="90000"/>
              </a:lnSpc>
            </a:pP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สัญลักษณ์เป็นวงรี เส้นเชื่อมเป็นเส้นเดี่ยว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5 Multi - Valued 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มีลักษณะตรงข้ามกับแบบ 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Single </a:t>
            </a: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ที่สามารถมีค่าของข้อมูลได้หลายค่า เช่น เบอร์โทรที่ประกอบด้วยรหัสพื้นที่และตามด้วยหมายเลขโทรศัพท์</a:t>
            </a:r>
          </a:p>
          <a:p>
            <a:pPr lvl="1" eaLnBrk="1" hangingPunct="1">
              <a:lnSpc>
                <a:spcPct val="90000"/>
              </a:lnSpc>
            </a:pP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สัญลักษณ์เป็นวงรีสองเส้น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6  Derived 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Property </a:t>
            </a: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ที่ได้มาจากการคำนวณ โดยอาศัยค่าใน 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Property </a:t>
            </a: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 ๆ เช่น ค่าของอายุ ที่ได้มาจาก 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Property </a:t>
            </a: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วันเกิด</a:t>
            </a:r>
          </a:p>
          <a:p>
            <a:pPr lvl="1" eaLnBrk="1" hangingPunct="1">
              <a:lnSpc>
                <a:spcPct val="90000"/>
              </a:lnSpc>
            </a:pP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สัญลักษณ์เป็นวงรีเส้นประ</a:t>
            </a:r>
          </a:p>
          <a:p>
            <a:pPr eaLnBrk="1" hangingPunct="1">
              <a:lnSpc>
                <a:spcPct val="90000"/>
              </a:lnSpc>
            </a:pP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th-TH" sz="6000" b="1">
                <a:solidFill>
                  <a:schemeClr val="accent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7A840A-E0EA-4DD1-A3C6-282FCE323FEE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20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8121650" cy="1143000"/>
          </a:xfrm>
        </p:spPr>
        <p:txBody>
          <a:bodyPr/>
          <a:lstStyle/>
          <a:p>
            <a:pPr eaLnBrk="1" hangingPunct="1">
              <a:defRPr/>
            </a:pPr>
            <a:r>
              <a:rPr lang="th-TH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 </a:t>
            </a:r>
            <a:r>
              <a:rPr lang="en-US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Attribute</a:t>
            </a:r>
            <a:r>
              <a:rPr lang="th-TH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หรือ </a:t>
            </a:r>
            <a:r>
              <a:rPr lang="en-US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Property</a:t>
            </a:r>
            <a:endParaRPr lang="th-TH" sz="57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3814763" cy="4530725"/>
          </a:xfrm>
        </p:spPr>
        <p:txBody>
          <a:bodyPr/>
          <a:lstStyle/>
          <a:p>
            <a:pPr eaLnBrk="1" hangingPunct="1"/>
            <a:r>
              <a:rPr lang="en-US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Simple Attribute</a:t>
            </a:r>
            <a:endParaRPr lang="th-TH" altLang="th-TH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2533" name="Picture 4" descr="Image3_1_2_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" r="2719"/>
          <a:stretch>
            <a:fillRect/>
          </a:stretch>
        </p:blipFill>
        <p:spPr>
          <a:xfrm>
            <a:off x="3203575" y="3429000"/>
            <a:ext cx="5329238" cy="2163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34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2420938"/>
            <a:ext cx="3802062" cy="20399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7974462-4D5B-4EE5-9778-676D7EE1F133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21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Attribute</a:t>
            </a: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หรือ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Property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5818188" cy="676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Composite Attribute</a:t>
            </a:r>
            <a:endParaRPr lang="th-TH" altLang="th-TH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>
              <a:lnSpc>
                <a:spcPct val="90000"/>
              </a:lnSpc>
            </a:pPr>
            <a:endParaRPr lang="th-TH" altLang="th-TH" sz="4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3557" name="Picture 4" descr="Image3_1_2_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08350" y="3816350"/>
            <a:ext cx="5835650" cy="2392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558" name="Picture 5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4088" y="2371725"/>
            <a:ext cx="3119437" cy="2519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144DA74-414C-43FC-9AC9-2ED03A6749D2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22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Attribute</a:t>
            </a: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หรือ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Property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3814763" cy="4530725"/>
          </a:xfrm>
        </p:spPr>
        <p:txBody>
          <a:bodyPr/>
          <a:lstStyle/>
          <a:p>
            <a:pPr eaLnBrk="1" hangingPunct="1"/>
            <a:r>
              <a:rPr lang="en-US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Key Attribute</a:t>
            </a:r>
            <a:endParaRPr lang="th-TH" altLang="th-TH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endParaRPr lang="th-TH" altLang="th-TH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4581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24163" y="2474913"/>
            <a:ext cx="4387850" cy="354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0ADB53D-A34E-4BB7-8F13-71A8FC974E9B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23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8050213" cy="1143000"/>
          </a:xfrm>
        </p:spPr>
        <p:txBody>
          <a:bodyPr/>
          <a:lstStyle/>
          <a:p>
            <a:pPr eaLnBrk="1" hangingPunct="1">
              <a:defRPr/>
            </a:pP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Attribute</a:t>
            </a: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หรือ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Property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Single-Valued Attribute</a:t>
            </a:r>
            <a:endParaRPr lang="th-TH" altLang="th-TH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		</a:t>
            </a:r>
            <a:r>
              <a:rPr lang="th-TH" altLang="zh-CN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คือ </a:t>
            </a:r>
            <a:r>
              <a:rPr lang="en-US" altLang="zh-CN" sz="4400" b="1">
                <a:latin typeface="TH SarabunPSK" panose="020B0500040200020003" pitchFamily="34" charset="-34"/>
                <a:ea typeface="SimSun" panose="02010600030101010101" pitchFamily="2" charset="-122"/>
                <a:cs typeface="TH SarabunPSK" panose="020B0500040200020003" pitchFamily="34" charset="-34"/>
              </a:rPr>
              <a:t>Attribute</a:t>
            </a:r>
            <a:r>
              <a:rPr lang="th-TH" altLang="zh-CN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ที่ค่าข้อมูลของ </a:t>
            </a:r>
            <a:r>
              <a:rPr lang="en-US" altLang="zh-CN" sz="4400" b="1">
                <a:latin typeface="TH SarabunPSK" panose="020B0500040200020003" pitchFamily="34" charset="-34"/>
                <a:ea typeface="SimSun" panose="02010600030101010101" pitchFamily="2" charset="-122"/>
              </a:rPr>
              <a:t>Attribute </a:t>
            </a:r>
            <a:r>
              <a:rPr lang="th-TH" altLang="zh-CN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นั้น มีอยู่เพียงค่าเดียว เช่น</a:t>
            </a:r>
            <a:r>
              <a:rPr lang="en-US" altLang="zh-CN" sz="4400" b="1">
                <a:latin typeface="TH SarabunPSK" panose="020B0500040200020003" pitchFamily="34" charset="-34"/>
                <a:ea typeface="SimSun" panose="02010600030101010101" pitchFamily="2" charset="-122"/>
              </a:rPr>
              <a:t> </a:t>
            </a:r>
            <a:r>
              <a:rPr lang="th-TH" altLang="zh-CN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รหัสลูกค้า</a:t>
            </a:r>
            <a:r>
              <a:rPr lang="en-US" altLang="zh-CN" sz="4400" b="1">
                <a:latin typeface="TH SarabunPSK" panose="020B0500040200020003" pitchFamily="34" charset="-34"/>
                <a:ea typeface="SimSun" panose="02010600030101010101" pitchFamily="2" charset="-122"/>
              </a:rPr>
              <a:t> </a:t>
            </a:r>
            <a:r>
              <a:rPr lang="th-TH" altLang="zh-CN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เป็นต้น </a:t>
            </a:r>
            <a:endParaRPr lang="th-TH" altLang="th-TH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2E1387-5074-479C-9F57-80B70D579EFE}" type="slidenum">
              <a:rPr lang="en-US" altLang="th-TH" sz="10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24</a:t>
            </a:fld>
            <a:endParaRPr lang="en-US" altLang="th-TH" sz="10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620713"/>
            <a:ext cx="8137525" cy="4810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th-TH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ตัวอย่างภาพ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Attributes </a:t>
            </a:r>
            <a:r>
              <a:rPr lang="th-TH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ชนิดต่าง ๆ</a:t>
            </a:r>
          </a:p>
        </p:txBody>
      </p:sp>
      <p:sp>
        <p:nvSpPr>
          <p:cNvPr id="26628" name="Line 4"/>
          <p:cNvSpPr>
            <a:spLocks noChangeShapeType="1"/>
          </p:cNvSpPr>
          <p:nvPr/>
        </p:nvSpPr>
        <p:spPr bwMode="auto">
          <a:xfrm>
            <a:off x="5867400" y="4419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4191000" y="4191000"/>
            <a:ext cx="1676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Student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30" name="Oval 6"/>
          <p:cNvSpPr>
            <a:spLocks noChangeArrowheads="1"/>
          </p:cNvSpPr>
          <p:nvPr/>
        </p:nvSpPr>
        <p:spPr bwMode="auto">
          <a:xfrm>
            <a:off x="2209800" y="4191000"/>
            <a:ext cx="1295400" cy="533400"/>
          </a:xfrm>
          <a:prstGeom prst="ellipse">
            <a:avLst/>
          </a:prstGeom>
          <a:solidFill>
            <a:srgbClr val="C5FF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b="1" u="sng">
                <a:latin typeface="TH SarabunPSK" panose="020B0500040200020003" pitchFamily="34" charset="-34"/>
                <a:cs typeface="TH SarabunPSK" panose="020B0500040200020003" pitchFamily="34" charset="-34"/>
              </a:rPr>
              <a:t>ID</a:t>
            </a:r>
            <a:endParaRPr lang="th-TH" altLang="th-TH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31" name="Oval 7"/>
          <p:cNvSpPr>
            <a:spLocks noChangeArrowheads="1"/>
          </p:cNvSpPr>
          <p:nvPr/>
        </p:nvSpPr>
        <p:spPr bwMode="auto">
          <a:xfrm>
            <a:off x="6477000" y="4191000"/>
            <a:ext cx="1295400" cy="533400"/>
          </a:xfrm>
          <a:prstGeom prst="ellipse">
            <a:avLst/>
          </a:prstGeom>
          <a:solidFill>
            <a:srgbClr val="C5FFF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Age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32" name="Oval 8"/>
          <p:cNvSpPr>
            <a:spLocks noChangeArrowheads="1"/>
          </p:cNvSpPr>
          <p:nvPr/>
        </p:nvSpPr>
        <p:spPr bwMode="auto">
          <a:xfrm>
            <a:off x="2209800" y="3429000"/>
            <a:ext cx="1905000" cy="533400"/>
          </a:xfrm>
          <a:prstGeom prst="ellipse">
            <a:avLst/>
          </a:prstGeom>
          <a:solidFill>
            <a:srgbClr val="C5FF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Name_Surname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33" name="Oval 9"/>
          <p:cNvSpPr>
            <a:spLocks noChangeArrowheads="1"/>
          </p:cNvSpPr>
          <p:nvPr/>
        </p:nvSpPr>
        <p:spPr bwMode="auto">
          <a:xfrm>
            <a:off x="5943600" y="3429000"/>
            <a:ext cx="1295400" cy="533400"/>
          </a:xfrm>
          <a:prstGeom prst="ellipse">
            <a:avLst/>
          </a:prstGeom>
          <a:solidFill>
            <a:srgbClr val="C5FF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Birthday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34" name="Oval 10"/>
          <p:cNvSpPr>
            <a:spLocks noChangeArrowheads="1"/>
          </p:cNvSpPr>
          <p:nvPr/>
        </p:nvSpPr>
        <p:spPr bwMode="auto">
          <a:xfrm>
            <a:off x="4419600" y="3124200"/>
            <a:ext cx="1295400" cy="533400"/>
          </a:xfrm>
          <a:prstGeom prst="ellipse">
            <a:avLst/>
          </a:prstGeom>
          <a:solidFill>
            <a:srgbClr val="C5FF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Sex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4038600" y="3810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5029200" y="3657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 flipH="1">
            <a:off x="5715000" y="3810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>
            <a:off x="3505200" y="4495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26639" name="Oval 15"/>
          <p:cNvSpPr>
            <a:spLocks noChangeArrowheads="1"/>
          </p:cNvSpPr>
          <p:nvPr/>
        </p:nvSpPr>
        <p:spPr bwMode="auto">
          <a:xfrm>
            <a:off x="1524000" y="2209800"/>
            <a:ext cx="1295400" cy="533400"/>
          </a:xfrm>
          <a:prstGeom prst="ellipse">
            <a:avLst/>
          </a:prstGeom>
          <a:solidFill>
            <a:srgbClr val="C5FF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Name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40" name="Oval 16"/>
          <p:cNvSpPr>
            <a:spLocks noChangeArrowheads="1"/>
          </p:cNvSpPr>
          <p:nvPr/>
        </p:nvSpPr>
        <p:spPr bwMode="auto">
          <a:xfrm>
            <a:off x="762000" y="2667000"/>
            <a:ext cx="1295400" cy="533400"/>
          </a:xfrm>
          <a:prstGeom prst="ellipse">
            <a:avLst/>
          </a:prstGeom>
          <a:solidFill>
            <a:srgbClr val="C5FF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Surname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>
            <a:off x="2514600" y="26670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1981200" y="30480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26643" name="Oval 19"/>
          <p:cNvSpPr>
            <a:spLocks noChangeArrowheads="1"/>
          </p:cNvSpPr>
          <p:nvPr/>
        </p:nvSpPr>
        <p:spPr bwMode="auto">
          <a:xfrm>
            <a:off x="5715000" y="4953000"/>
            <a:ext cx="1295400" cy="533400"/>
          </a:xfrm>
          <a:prstGeom prst="ellipse">
            <a:avLst/>
          </a:prstGeom>
          <a:solidFill>
            <a:srgbClr val="C5FFF0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Tel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>
            <a:off x="5334000" y="46482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179388" y="2205038"/>
            <a:ext cx="9747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Composite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2608263" y="4811713"/>
            <a:ext cx="4365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key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47" name="Rectangle 23"/>
          <p:cNvSpPr>
            <a:spLocks noChangeArrowheads="1"/>
          </p:cNvSpPr>
          <p:nvPr/>
        </p:nvSpPr>
        <p:spPr bwMode="auto">
          <a:xfrm>
            <a:off x="7885113" y="4005263"/>
            <a:ext cx="66357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400" b="1">
                <a:latin typeface="TH SarabunPSK" panose="020B0500040200020003" pitchFamily="34" charset="-34"/>
                <a:cs typeface="TH SarabunPSK" panose="020B0500040200020003" pitchFamily="34" charset="-34"/>
              </a:rPr>
              <a:t> Derived</a:t>
            </a:r>
            <a:endParaRPr lang="th-TH" altLang="th-TH" sz="1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648" name="Rectangle 24"/>
          <p:cNvSpPr>
            <a:spLocks noChangeArrowheads="1"/>
          </p:cNvSpPr>
          <p:nvPr/>
        </p:nvSpPr>
        <p:spPr bwMode="auto">
          <a:xfrm>
            <a:off x="5508625" y="5784850"/>
            <a:ext cx="10001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400" b="1">
                <a:latin typeface="TH SarabunPSK" panose="020B0500040200020003" pitchFamily="34" charset="-34"/>
                <a:cs typeface="TH SarabunPSK" panose="020B0500040200020003" pitchFamily="34" charset="-34"/>
              </a:rPr>
              <a:t>Multi - Valued</a:t>
            </a:r>
            <a:endParaRPr lang="th-TH" altLang="th-TH" sz="1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2F8C441-D2E7-4A01-9949-FD540BC1FFBC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25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หมายถึง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ที่แสดงความสัมพันธ์ระหว่าง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2 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ขึ้นไป </a:t>
            </a:r>
          </a:p>
          <a:p>
            <a:pPr lvl="1" eaLnBrk="1" hangingPunct="1"/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เป็นความสัมพันธ์ระหว่าง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ร่วมกัน </a:t>
            </a:r>
          </a:p>
          <a:p>
            <a:pPr lvl="1" eaLnBrk="1" hangingPunct="1"/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โดยแต่ละความสัมพันธ์จะถูกระบุด้วยสัญลักษณ์สี่เหลี่ยมข้าวหลามตัด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(Diamond)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และคำที่อธิบายถึงความสัมพันธ์นั้น ๆ </a:t>
            </a:r>
            <a:endParaRPr lang="en-US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/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พร้อมทั้งระบุชนิดของความสัมพันธ์ระหว่าง 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นั้น ๆ ด้วย</a:t>
            </a:r>
            <a:endParaRPr lang="en-US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endParaRPr lang="th-TH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6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ความสัมพันธ์ (</a:t>
            </a:r>
            <a:r>
              <a:rPr lang="en-US" sz="6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Relationship)</a:t>
            </a:r>
            <a:endParaRPr lang="th-TH" sz="60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A8AE27A-4CC7-4B5B-B511-AD76367AD620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26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709613"/>
          </a:xfrm>
        </p:spPr>
        <p:txBody>
          <a:bodyPr/>
          <a:lstStyle/>
          <a:p>
            <a:pPr eaLnBrk="1" hangingPunct="1"/>
            <a:r>
              <a:rPr lang="th-TH" altLang="th-TH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Relationship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th-TH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971550" y="2349500"/>
            <a:ext cx="7416800" cy="1150938"/>
            <a:chOff x="612" y="1480"/>
            <a:chExt cx="4672" cy="725"/>
          </a:xfrm>
        </p:grpSpPr>
        <p:sp>
          <p:nvSpPr>
            <p:cNvPr id="28685" name="Rectangle 5"/>
            <p:cNvSpPr>
              <a:spLocks noChangeArrowheads="1"/>
            </p:cNvSpPr>
            <p:nvPr/>
          </p:nvSpPr>
          <p:spPr bwMode="auto">
            <a:xfrm>
              <a:off x="612" y="1570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>
                  <a:latin typeface="TH SarabunPSK" panose="020B0500040200020003" pitchFamily="34" charset="-34"/>
                  <a:cs typeface="TH SarabunPSK" panose="020B0500040200020003" pitchFamily="34" charset="-34"/>
                </a:rPr>
                <a:t>Employee</a:t>
              </a:r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8686" name="AutoShape 6"/>
            <p:cNvSpPr>
              <a:spLocks noChangeArrowheads="1"/>
            </p:cNvSpPr>
            <p:nvPr/>
          </p:nvSpPr>
          <p:spPr bwMode="auto">
            <a:xfrm>
              <a:off x="2199" y="1480"/>
              <a:ext cx="1452" cy="725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>
                  <a:latin typeface="TH SarabunPSK" panose="020B0500040200020003" pitchFamily="34" charset="-34"/>
                  <a:cs typeface="TH SarabunPSK" panose="020B0500040200020003" pitchFamily="34" charset="-34"/>
                </a:rPr>
                <a:t>Work_in</a:t>
              </a:r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8687" name="Rectangle 7"/>
            <p:cNvSpPr>
              <a:spLocks noChangeArrowheads="1"/>
            </p:cNvSpPr>
            <p:nvPr/>
          </p:nvSpPr>
          <p:spPr bwMode="auto">
            <a:xfrm>
              <a:off x="4059" y="1570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>
                  <a:latin typeface="TH SarabunPSK" panose="020B0500040200020003" pitchFamily="34" charset="-34"/>
                  <a:cs typeface="TH SarabunPSK" panose="020B0500040200020003" pitchFamily="34" charset="-34"/>
                </a:rPr>
                <a:t>Department</a:t>
              </a:r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8688" name="Line 8"/>
            <p:cNvSpPr>
              <a:spLocks noChangeShapeType="1"/>
            </p:cNvSpPr>
            <p:nvPr/>
          </p:nvSpPr>
          <p:spPr bwMode="auto">
            <a:xfrm>
              <a:off x="1837" y="1842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8689" name="Line 9"/>
            <p:cNvSpPr>
              <a:spLocks noChangeShapeType="1"/>
            </p:cNvSpPr>
            <p:nvPr/>
          </p:nvSpPr>
          <p:spPr bwMode="auto">
            <a:xfrm>
              <a:off x="3651" y="184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28677" name="Group 10"/>
          <p:cNvGrpSpPr>
            <a:grpSpLocks/>
          </p:cNvGrpSpPr>
          <p:nvPr/>
        </p:nvGrpSpPr>
        <p:grpSpPr bwMode="auto">
          <a:xfrm>
            <a:off x="900113" y="4941888"/>
            <a:ext cx="7488237" cy="1150937"/>
            <a:chOff x="567" y="3113"/>
            <a:chExt cx="4717" cy="725"/>
          </a:xfrm>
        </p:grpSpPr>
        <p:sp>
          <p:nvSpPr>
            <p:cNvPr id="28679" name="Rectangle 11"/>
            <p:cNvSpPr>
              <a:spLocks noChangeArrowheads="1"/>
            </p:cNvSpPr>
            <p:nvPr/>
          </p:nvSpPr>
          <p:spPr bwMode="auto">
            <a:xfrm>
              <a:off x="3969" y="3158"/>
              <a:ext cx="1315" cy="59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8680" name="Rectangle 12"/>
            <p:cNvSpPr>
              <a:spLocks noChangeArrowheads="1"/>
            </p:cNvSpPr>
            <p:nvPr/>
          </p:nvSpPr>
          <p:spPr bwMode="auto">
            <a:xfrm>
              <a:off x="567" y="3203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>
                  <a:latin typeface="TH SarabunPSK" panose="020B0500040200020003" pitchFamily="34" charset="-34"/>
                  <a:cs typeface="TH SarabunPSK" panose="020B0500040200020003" pitchFamily="34" charset="-34"/>
                </a:rPr>
                <a:t>Order</a:t>
              </a:r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8681" name="AutoShape 13"/>
            <p:cNvSpPr>
              <a:spLocks noChangeArrowheads="1"/>
            </p:cNvSpPr>
            <p:nvPr/>
          </p:nvSpPr>
          <p:spPr bwMode="auto">
            <a:xfrm>
              <a:off x="2154" y="3113"/>
              <a:ext cx="1452" cy="725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>
                  <a:latin typeface="TH SarabunPSK" panose="020B0500040200020003" pitchFamily="34" charset="-34"/>
                  <a:cs typeface="TH SarabunPSK" panose="020B0500040200020003" pitchFamily="34" charset="-34"/>
                </a:rPr>
                <a:t>Of</a:t>
              </a:r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8682" name="Rectangle 14"/>
            <p:cNvSpPr>
              <a:spLocks noChangeArrowheads="1"/>
            </p:cNvSpPr>
            <p:nvPr/>
          </p:nvSpPr>
          <p:spPr bwMode="auto">
            <a:xfrm>
              <a:off x="4014" y="3203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>
                  <a:latin typeface="TH SarabunPSK" panose="020B0500040200020003" pitchFamily="34" charset="-34"/>
                  <a:cs typeface="TH SarabunPSK" panose="020B0500040200020003" pitchFamily="34" charset="-34"/>
                </a:rPr>
                <a:t>Order_detail</a:t>
              </a:r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8683" name="Line 15"/>
            <p:cNvSpPr>
              <a:spLocks noChangeShapeType="1"/>
            </p:cNvSpPr>
            <p:nvPr/>
          </p:nvSpPr>
          <p:spPr bwMode="auto">
            <a:xfrm>
              <a:off x="1792" y="347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8684" name="Line 16"/>
            <p:cNvSpPr>
              <a:spLocks noChangeShapeType="1"/>
            </p:cNvSpPr>
            <p:nvPr/>
          </p:nvSpPr>
          <p:spPr bwMode="auto">
            <a:xfrm>
              <a:off x="3606" y="347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28678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60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ความสัมพันธ์ (</a:t>
            </a:r>
            <a:r>
              <a:rPr lang="en-US" sz="60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Relationship)</a:t>
            </a:r>
            <a:endParaRPr lang="th-TH" sz="60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104AA8-B96F-4347-803A-87300B8E6E42}" type="slidenum">
              <a:rPr lang="en-US" altLang="th-TH" sz="10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27</a:t>
            </a:fld>
            <a:endParaRPr lang="en-US" altLang="th-TH" sz="10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60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 </a:t>
            </a:r>
            <a:r>
              <a:rPr lang="en-US" sz="60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Relationship</a:t>
            </a:r>
            <a:endParaRPr lang="th-TH" sz="60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001000" cy="4267200"/>
          </a:xfrm>
        </p:spPr>
        <p:txBody>
          <a:bodyPr/>
          <a:lstStyle/>
          <a:p>
            <a:pPr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1.  One-to-One Relationship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เป็นความสัมพันธ์ของสมาชิกของใน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หนึ่งไปสัมพันธ์กับ กับสมาชิกของใน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อีกอันหนึ่ง เพียงหนึ่งเดียวเท่านั้น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29701" name="Group 4"/>
          <p:cNvGrpSpPr>
            <a:grpSpLocks/>
          </p:cNvGrpSpPr>
          <p:nvPr/>
        </p:nvGrpSpPr>
        <p:grpSpPr bwMode="auto">
          <a:xfrm>
            <a:off x="971550" y="4149725"/>
            <a:ext cx="7416800" cy="1150938"/>
            <a:chOff x="612" y="1480"/>
            <a:chExt cx="4672" cy="725"/>
          </a:xfrm>
        </p:grpSpPr>
        <p:sp>
          <p:nvSpPr>
            <p:cNvPr id="29705" name="Rectangle 5"/>
            <p:cNvSpPr>
              <a:spLocks noChangeArrowheads="1"/>
            </p:cNvSpPr>
            <p:nvPr/>
          </p:nvSpPr>
          <p:spPr bwMode="auto">
            <a:xfrm>
              <a:off x="612" y="1570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Employee</a:t>
              </a:r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9706" name="AutoShape 6"/>
            <p:cNvSpPr>
              <a:spLocks noChangeArrowheads="1"/>
            </p:cNvSpPr>
            <p:nvPr/>
          </p:nvSpPr>
          <p:spPr bwMode="auto">
            <a:xfrm>
              <a:off x="2199" y="1480"/>
              <a:ext cx="1452" cy="725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Owner</a:t>
              </a:r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9707" name="Rectangle 7"/>
            <p:cNvSpPr>
              <a:spLocks noChangeArrowheads="1"/>
            </p:cNvSpPr>
            <p:nvPr/>
          </p:nvSpPr>
          <p:spPr bwMode="auto">
            <a:xfrm>
              <a:off x="4059" y="1570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9708" name="Line 8"/>
            <p:cNvSpPr>
              <a:spLocks noChangeShapeType="1"/>
            </p:cNvSpPr>
            <p:nvPr/>
          </p:nvSpPr>
          <p:spPr bwMode="auto">
            <a:xfrm>
              <a:off x="1837" y="1842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9709" name="Line 9"/>
            <p:cNvSpPr>
              <a:spLocks noChangeShapeType="1"/>
            </p:cNvSpPr>
            <p:nvPr/>
          </p:nvSpPr>
          <p:spPr bwMode="auto">
            <a:xfrm>
              <a:off x="3651" y="184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29702" name="Text Box 10"/>
          <p:cNvSpPr txBox="1">
            <a:spLocks noChangeArrowheads="1"/>
          </p:cNvSpPr>
          <p:nvPr/>
        </p:nvSpPr>
        <p:spPr bwMode="auto">
          <a:xfrm>
            <a:off x="3059113" y="4365625"/>
            <a:ext cx="2714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703" name="Text Box 11"/>
          <p:cNvSpPr txBox="1">
            <a:spLocks noChangeArrowheads="1"/>
          </p:cNvSpPr>
          <p:nvPr/>
        </p:nvSpPr>
        <p:spPr bwMode="auto">
          <a:xfrm>
            <a:off x="6011863" y="4365625"/>
            <a:ext cx="2714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704" name="Text Box 12"/>
          <p:cNvSpPr txBox="1">
            <a:spLocks noChangeArrowheads="1"/>
          </p:cNvSpPr>
          <p:nvPr/>
        </p:nvSpPr>
        <p:spPr bwMode="auto">
          <a:xfrm>
            <a:off x="7164388" y="4508500"/>
            <a:ext cx="4254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Car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6B60FB6-D2F9-498C-9F6C-04353042D302}" type="slidenum">
              <a:rPr lang="en-US" altLang="th-TH" sz="10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28</a:t>
            </a:fld>
            <a:endParaRPr lang="en-US" altLang="th-TH" sz="10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60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 </a:t>
            </a:r>
            <a:r>
              <a:rPr lang="en-US" sz="60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Relationship</a:t>
            </a:r>
            <a:endParaRPr lang="th-TH" sz="60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1703388"/>
          </a:xfrm>
        </p:spPr>
        <p:txBody>
          <a:bodyPr/>
          <a:lstStyle/>
          <a:p>
            <a:pPr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2.  One-to-Many Relationship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เป็นความสัมพันธ์ของสมาชิกของใน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หนึ่งไปสัมพันธ์กับ กับสมาชิกของใน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อีกอันหนึ่ง มากกว่า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1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สมาชิก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30725" name="Group 4"/>
          <p:cNvGrpSpPr>
            <a:grpSpLocks/>
          </p:cNvGrpSpPr>
          <p:nvPr/>
        </p:nvGrpSpPr>
        <p:grpSpPr bwMode="auto">
          <a:xfrm>
            <a:off x="1187450" y="4365625"/>
            <a:ext cx="7416800" cy="1150938"/>
            <a:chOff x="612" y="1480"/>
            <a:chExt cx="4672" cy="725"/>
          </a:xfrm>
        </p:grpSpPr>
        <p:sp>
          <p:nvSpPr>
            <p:cNvPr id="30729" name="Rectangle 5"/>
            <p:cNvSpPr>
              <a:spLocks noChangeArrowheads="1"/>
            </p:cNvSpPr>
            <p:nvPr/>
          </p:nvSpPr>
          <p:spPr bwMode="auto">
            <a:xfrm>
              <a:off x="612" y="1570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Employee</a:t>
              </a:r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0730" name="AutoShape 6"/>
            <p:cNvSpPr>
              <a:spLocks noChangeArrowheads="1"/>
            </p:cNvSpPr>
            <p:nvPr/>
          </p:nvSpPr>
          <p:spPr bwMode="auto">
            <a:xfrm>
              <a:off x="2199" y="1480"/>
              <a:ext cx="1452" cy="725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Have</a:t>
              </a:r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0731" name="Rectangle 7"/>
            <p:cNvSpPr>
              <a:spLocks noChangeArrowheads="1"/>
            </p:cNvSpPr>
            <p:nvPr/>
          </p:nvSpPr>
          <p:spPr bwMode="auto">
            <a:xfrm>
              <a:off x="4059" y="1570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0732" name="Line 8"/>
            <p:cNvSpPr>
              <a:spLocks noChangeShapeType="1"/>
            </p:cNvSpPr>
            <p:nvPr/>
          </p:nvSpPr>
          <p:spPr bwMode="auto">
            <a:xfrm>
              <a:off x="1837" y="1842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0733" name="Line 9"/>
            <p:cNvSpPr>
              <a:spLocks noChangeShapeType="1"/>
            </p:cNvSpPr>
            <p:nvPr/>
          </p:nvSpPr>
          <p:spPr bwMode="auto">
            <a:xfrm>
              <a:off x="3651" y="184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30726" name="Text Box 10"/>
          <p:cNvSpPr txBox="1">
            <a:spLocks noChangeArrowheads="1"/>
          </p:cNvSpPr>
          <p:nvPr/>
        </p:nvSpPr>
        <p:spPr bwMode="auto">
          <a:xfrm>
            <a:off x="3275013" y="4581525"/>
            <a:ext cx="2714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727" name="Text Box 11"/>
          <p:cNvSpPr txBox="1">
            <a:spLocks noChangeArrowheads="1"/>
          </p:cNvSpPr>
          <p:nvPr/>
        </p:nvSpPr>
        <p:spPr bwMode="auto">
          <a:xfrm>
            <a:off x="6227763" y="4581525"/>
            <a:ext cx="3175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728" name="Text Box 12"/>
          <p:cNvSpPr txBox="1">
            <a:spLocks noChangeArrowheads="1"/>
          </p:cNvSpPr>
          <p:nvPr/>
        </p:nvSpPr>
        <p:spPr bwMode="auto">
          <a:xfrm>
            <a:off x="7380288" y="4724400"/>
            <a:ext cx="4254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Car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A2EDC7-2DD8-4A84-94E1-66C224B787F1}" type="slidenum">
              <a:rPr lang="en-US" altLang="th-TH" sz="10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29</a:t>
            </a:fld>
            <a:endParaRPr lang="en-US" altLang="th-TH" sz="10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60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 </a:t>
            </a:r>
            <a:r>
              <a:rPr lang="en-US" sz="60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Relationship</a:t>
            </a:r>
            <a:endParaRPr lang="th-TH" sz="60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1933575"/>
          </a:xfrm>
        </p:spPr>
        <p:txBody>
          <a:bodyPr/>
          <a:lstStyle/>
          <a:p>
            <a:pPr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3.  Many-to-Many Relationship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เป็นความสัมพันธ์ของสมาชิกมากกว่า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1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สมาชิก ของใน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หนึ่งไปสัมพันธ์กับ กับสมาชิกของใน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อีกอันหนึ่ง มากกว่า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1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สมาชิก</a:t>
            </a:r>
          </a:p>
          <a:p>
            <a:pPr eaLnBrk="1" hangingPunct="1"/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31749" name="Group 4"/>
          <p:cNvGrpSpPr>
            <a:grpSpLocks/>
          </p:cNvGrpSpPr>
          <p:nvPr/>
        </p:nvGrpSpPr>
        <p:grpSpPr bwMode="auto">
          <a:xfrm>
            <a:off x="827088" y="4005263"/>
            <a:ext cx="7416800" cy="1150937"/>
            <a:chOff x="612" y="1480"/>
            <a:chExt cx="4672" cy="725"/>
          </a:xfrm>
        </p:grpSpPr>
        <p:sp>
          <p:nvSpPr>
            <p:cNvPr id="31753" name="Rectangle 5"/>
            <p:cNvSpPr>
              <a:spLocks noChangeArrowheads="1"/>
            </p:cNvSpPr>
            <p:nvPr/>
          </p:nvSpPr>
          <p:spPr bwMode="auto">
            <a:xfrm>
              <a:off x="612" y="1570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Customer</a:t>
              </a:r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1754" name="AutoShape 6"/>
            <p:cNvSpPr>
              <a:spLocks noChangeArrowheads="1"/>
            </p:cNvSpPr>
            <p:nvPr/>
          </p:nvSpPr>
          <p:spPr bwMode="auto">
            <a:xfrm>
              <a:off x="2199" y="1480"/>
              <a:ext cx="1452" cy="725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Belong_to</a:t>
              </a:r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1755" name="Rectangle 7"/>
            <p:cNvSpPr>
              <a:spLocks noChangeArrowheads="1"/>
            </p:cNvSpPr>
            <p:nvPr/>
          </p:nvSpPr>
          <p:spPr bwMode="auto">
            <a:xfrm>
              <a:off x="4059" y="1570"/>
              <a:ext cx="1225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1756" name="Line 8"/>
            <p:cNvSpPr>
              <a:spLocks noChangeShapeType="1"/>
            </p:cNvSpPr>
            <p:nvPr/>
          </p:nvSpPr>
          <p:spPr bwMode="auto">
            <a:xfrm>
              <a:off x="1837" y="1842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1757" name="Line 9"/>
            <p:cNvSpPr>
              <a:spLocks noChangeShapeType="1"/>
            </p:cNvSpPr>
            <p:nvPr/>
          </p:nvSpPr>
          <p:spPr bwMode="auto">
            <a:xfrm>
              <a:off x="3651" y="184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31750" name="Text Box 10"/>
          <p:cNvSpPr txBox="1">
            <a:spLocks noChangeArrowheads="1"/>
          </p:cNvSpPr>
          <p:nvPr/>
        </p:nvSpPr>
        <p:spPr bwMode="auto">
          <a:xfrm>
            <a:off x="2914650" y="4221163"/>
            <a:ext cx="3175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751" name="Text Box 11"/>
          <p:cNvSpPr txBox="1">
            <a:spLocks noChangeArrowheads="1"/>
          </p:cNvSpPr>
          <p:nvPr/>
        </p:nvSpPr>
        <p:spPr bwMode="auto">
          <a:xfrm>
            <a:off x="5867400" y="4221163"/>
            <a:ext cx="2936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N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752" name="Text Box 12"/>
          <p:cNvSpPr txBox="1">
            <a:spLocks noChangeArrowheads="1"/>
          </p:cNvSpPr>
          <p:nvPr/>
        </p:nvSpPr>
        <p:spPr bwMode="auto">
          <a:xfrm>
            <a:off x="6659563" y="4365625"/>
            <a:ext cx="7969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Account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594F477-D861-4579-ABEC-93D5CF301F7D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30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708025" y="188913"/>
            <a:ext cx="8435975" cy="1633537"/>
          </a:xfrm>
        </p:spPr>
        <p:txBody>
          <a:bodyPr/>
          <a:lstStyle/>
          <a:p>
            <a:pPr eaLnBrk="1" hangingPunct="1">
              <a:lnSpc>
                <a:spcPct val="85000"/>
              </a:lnSpc>
              <a:defRPr/>
            </a:pPr>
            <a:r>
              <a:rPr lang="en-US" sz="44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Relationship </a:t>
            </a:r>
            <a:r>
              <a:rPr lang="th-TH" sz="44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sz="44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Connectivity :</a:t>
            </a:r>
            <a:br>
              <a:rPr lang="en-US" sz="44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44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แบบ </a:t>
            </a:r>
            <a:r>
              <a:rPr lang="en-US" sz="44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One to One , 1:1 </a:t>
            </a:r>
            <a:endParaRPr lang="th-TH" sz="44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32772" name="Group 45"/>
          <p:cNvGrpSpPr>
            <a:grpSpLocks/>
          </p:cNvGrpSpPr>
          <p:nvPr/>
        </p:nvGrpSpPr>
        <p:grpSpPr bwMode="auto">
          <a:xfrm>
            <a:off x="323850" y="2349500"/>
            <a:ext cx="8432800" cy="2427288"/>
            <a:chOff x="204" y="1480"/>
            <a:chExt cx="5312" cy="1529"/>
          </a:xfrm>
        </p:grpSpPr>
        <p:sp>
          <p:nvSpPr>
            <p:cNvPr id="32773" name="AutoShape 8"/>
            <p:cNvSpPr>
              <a:spLocks noChangeAspect="1" noChangeArrowheads="1" noTextEdit="1"/>
            </p:cNvSpPr>
            <p:nvPr/>
          </p:nvSpPr>
          <p:spPr bwMode="auto">
            <a:xfrm>
              <a:off x="295" y="1570"/>
              <a:ext cx="5221" cy="1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74" name="Rectangle 10"/>
            <p:cNvSpPr>
              <a:spLocks noChangeArrowheads="1"/>
            </p:cNvSpPr>
            <p:nvPr/>
          </p:nvSpPr>
          <p:spPr bwMode="auto">
            <a:xfrm>
              <a:off x="1111" y="2429"/>
              <a:ext cx="1018" cy="5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75" name="Rectangle 11"/>
            <p:cNvSpPr>
              <a:spLocks noChangeArrowheads="1"/>
            </p:cNvSpPr>
            <p:nvPr/>
          </p:nvSpPr>
          <p:spPr bwMode="auto">
            <a:xfrm>
              <a:off x="1111" y="2429"/>
              <a:ext cx="1018" cy="535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76" name="Rectangle 12"/>
            <p:cNvSpPr>
              <a:spLocks noChangeArrowheads="1"/>
            </p:cNvSpPr>
            <p:nvPr/>
          </p:nvSpPr>
          <p:spPr bwMode="auto">
            <a:xfrm>
              <a:off x="1251" y="2465"/>
              <a:ext cx="580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ตัวแทน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77" name="Freeform 14"/>
            <p:cNvSpPr>
              <a:spLocks/>
            </p:cNvSpPr>
            <p:nvPr/>
          </p:nvSpPr>
          <p:spPr bwMode="auto">
            <a:xfrm>
              <a:off x="204" y="1480"/>
              <a:ext cx="874" cy="503"/>
            </a:xfrm>
            <a:custGeom>
              <a:avLst/>
              <a:gdLst>
                <a:gd name="T0" fmla="*/ 2727 w 598"/>
                <a:gd name="T1" fmla="*/ 1300 h 286"/>
                <a:gd name="T2" fmla="*/ 2711 w 598"/>
                <a:gd name="T3" fmla="*/ 1161 h 286"/>
                <a:gd name="T4" fmla="*/ 2680 w 598"/>
                <a:gd name="T5" fmla="*/ 1024 h 286"/>
                <a:gd name="T6" fmla="*/ 2640 w 598"/>
                <a:gd name="T7" fmla="*/ 897 h 286"/>
                <a:gd name="T8" fmla="*/ 2588 w 598"/>
                <a:gd name="T9" fmla="*/ 783 h 286"/>
                <a:gd name="T10" fmla="*/ 2528 w 598"/>
                <a:gd name="T11" fmla="*/ 660 h 286"/>
                <a:gd name="T12" fmla="*/ 2454 w 598"/>
                <a:gd name="T13" fmla="*/ 566 h 286"/>
                <a:gd name="T14" fmla="*/ 2374 w 598"/>
                <a:gd name="T15" fmla="*/ 457 h 286"/>
                <a:gd name="T16" fmla="*/ 2276 w 598"/>
                <a:gd name="T17" fmla="*/ 352 h 286"/>
                <a:gd name="T18" fmla="*/ 2176 w 598"/>
                <a:gd name="T19" fmla="*/ 266 h 286"/>
                <a:gd name="T20" fmla="*/ 2017 w 598"/>
                <a:gd name="T21" fmla="*/ 172 h 286"/>
                <a:gd name="T22" fmla="*/ 1767 w 598"/>
                <a:gd name="T23" fmla="*/ 65 h 286"/>
                <a:gd name="T24" fmla="*/ 1501 w 598"/>
                <a:gd name="T25" fmla="*/ 12 h 286"/>
                <a:gd name="T26" fmla="*/ 1223 w 598"/>
                <a:gd name="T27" fmla="*/ 12 h 286"/>
                <a:gd name="T28" fmla="*/ 953 w 598"/>
                <a:gd name="T29" fmla="*/ 65 h 286"/>
                <a:gd name="T30" fmla="*/ 712 w 598"/>
                <a:gd name="T31" fmla="*/ 172 h 286"/>
                <a:gd name="T32" fmla="*/ 547 w 598"/>
                <a:gd name="T33" fmla="*/ 266 h 286"/>
                <a:gd name="T34" fmla="*/ 444 w 598"/>
                <a:gd name="T35" fmla="*/ 352 h 286"/>
                <a:gd name="T36" fmla="*/ 357 w 598"/>
                <a:gd name="T37" fmla="*/ 457 h 286"/>
                <a:gd name="T38" fmla="*/ 269 w 598"/>
                <a:gd name="T39" fmla="*/ 566 h 286"/>
                <a:gd name="T40" fmla="*/ 190 w 598"/>
                <a:gd name="T41" fmla="*/ 660 h 286"/>
                <a:gd name="T42" fmla="*/ 130 w 598"/>
                <a:gd name="T43" fmla="*/ 783 h 286"/>
                <a:gd name="T44" fmla="*/ 88 w 598"/>
                <a:gd name="T45" fmla="*/ 897 h 286"/>
                <a:gd name="T46" fmla="*/ 38 w 598"/>
                <a:gd name="T47" fmla="*/ 1024 h 286"/>
                <a:gd name="T48" fmla="*/ 13 w 598"/>
                <a:gd name="T49" fmla="*/ 1161 h 286"/>
                <a:gd name="T50" fmla="*/ 0 w 598"/>
                <a:gd name="T51" fmla="*/ 1300 h 286"/>
                <a:gd name="T52" fmla="*/ 0 w 598"/>
                <a:gd name="T53" fmla="*/ 1454 h 286"/>
                <a:gd name="T54" fmla="*/ 13 w 598"/>
                <a:gd name="T55" fmla="*/ 1590 h 286"/>
                <a:gd name="T56" fmla="*/ 38 w 598"/>
                <a:gd name="T57" fmla="*/ 1701 h 286"/>
                <a:gd name="T58" fmla="*/ 88 w 598"/>
                <a:gd name="T59" fmla="*/ 1843 h 286"/>
                <a:gd name="T60" fmla="*/ 130 w 598"/>
                <a:gd name="T61" fmla="*/ 1965 h 286"/>
                <a:gd name="T62" fmla="*/ 190 w 598"/>
                <a:gd name="T63" fmla="*/ 2084 h 286"/>
                <a:gd name="T64" fmla="*/ 269 w 598"/>
                <a:gd name="T65" fmla="*/ 2193 h 286"/>
                <a:gd name="T66" fmla="*/ 357 w 598"/>
                <a:gd name="T67" fmla="*/ 2286 h 286"/>
                <a:gd name="T68" fmla="*/ 444 w 598"/>
                <a:gd name="T69" fmla="*/ 2394 h 286"/>
                <a:gd name="T70" fmla="*/ 547 w 598"/>
                <a:gd name="T71" fmla="*/ 2482 h 286"/>
                <a:gd name="T72" fmla="*/ 712 w 598"/>
                <a:gd name="T73" fmla="*/ 2584 h 286"/>
                <a:gd name="T74" fmla="*/ 953 w 598"/>
                <a:gd name="T75" fmla="*/ 2675 h 286"/>
                <a:gd name="T76" fmla="*/ 1223 w 598"/>
                <a:gd name="T77" fmla="*/ 2737 h 286"/>
                <a:gd name="T78" fmla="*/ 1501 w 598"/>
                <a:gd name="T79" fmla="*/ 2737 h 286"/>
                <a:gd name="T80" fmla="*/ 1767 w 598"/>
                <a:gd name="T81" fmla="*/ 2675 h 286"/>
                <a:gd name="T82" fmla="*/ 2017 w 598"/>
                <a:gd name="T83" fmla="*/ 2584 h 286"/>
                <a:gd name="T84" fmla="*/ 2176 w 598"/>
                <a:gd name="T85" fmla="*/ 2482 h 286"/>
                <a:gd name="T86" fmla="*/ 2276 w 598"/>
                <a:gd name="T87" fmla="*/ 2394 h 286"/>
                <a:gd name="T88" fmla="*/ 2374 w 598"/>
                <a:gd name="T89" fmla="*/ 2286 h 286"/>
                <a:gd name="T90" fmla="*/ 2454 w 598"/>
                <a:gd name="T91" fmla="*/ 2193 h 286"/>
                <a:gd name="T92" fmla="*/ 2528 w 598"/>
                <a:gd name="T93" fmla="*/ 2084 h 286"/>
                <a:gd name="T94" fmla="*/ 2588 w 598"/>
                <a:gd name="T95" fmla="*/ 1965 h 286"/>
                <a:gd name="T96" fmla="*/ 2640 w 598"/>
                <a:gd name="T97" fmla="*/ 1843 h 286"/>
                <a:gd name="T98" fmla="*/ 2680 w 598"/>
                <a:gd name="T99" fmla="*/ 1701 h 286"/>
                <a:gd name="T100" fmla="*/ 2711 w 598"/>
                <a:gd name="T101" fmla="*/ 1590 h 286"/>
                <a:gd name="T102" fmla="*/ 2727 w 598"/>
                <a:gd name="T103" fmla="*/ 1454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8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4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10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2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2" y="12"/>
                  </a:lnTo>
                  <a:lnTo>
                    <a:pt x="156" y="18"/>
                  </a:lnTo>
                  <a:lnTo>
                    <a:pt x="131" y="25"/>
                  </a:lnTo>
                  <a:lnTo>
                    <a:pt x="120" y="28"/>
                  </a:lnTo>
                  <a:lnTo>
                    <a:pt x="109" y="34"/>
                  </a:lnTo>
                  <a:lnTo>
                    <a:pt x="97" y="37"/>
                  </a:lnTo>
                  <a:lnTo>
                    <a:pt x="87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6" y="75"/>
                  </a:lnTo>
                  <a:lnTo>
                    <a:pt x="29" y="82"/>
                  </a:lnTo>
                  <a:lnTo>
                    <a:pt x="24" y="87"/>
                  </a:lnTo>
                  <a:lnTo>
                    <a:pt x="19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2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9" y="193"/>
                  </a:lnTo>
                  <a:lnTo>
                    <a:pt x="24" y="200"/>
                  </a:lnTo>
                  <a:lnTo>
                    <a:pt x="29" y="205"/>
                  </a:lnTo>
                  <a:lnTo>
                    <a:pt x="36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7" y="245"/>
                  </a:lnTo>
                  <a:lnTo>
                    <a:pt x="97" y="250"/>
                  </a:lnTo>
                  <a:lnTo>
                    <a:pt x="109" y="254"/>
                  </a:lnTo>
                  <a:lnTo>
                    <a:pt x="120" y="259"/>
                  </a:lnTo>
                  <a:lnTo>
                    <a:pt x="131" y="263"/>
                  </a:lnTo>
                  <a:lnTo>
                    <a:pt x="156" y="270"/>
                  </a:lnTo>
                  <a:lnTo>
                    <a:pt x="182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2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10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4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8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2778" name="Rectangle 15"/>
            <p:cNvSpPr>
              <a:spLocks noChangeArrowheads="1"/>
            </p:cNvSpPr>
            <p:nvPr/>
          </p:nvSpPr>
          <p:spPr bwMode="auto">
            <a:xfrm>
              <a:off x="249" y="1616"/>
              <a:ext cx="77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รหัสตัวแทน</a:t>
              </a:r>
              <a:endParaRPr lang="en-US" altLang="th-TH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79" name="Freeform 17"/>
            <p:cNvSpPr>
              <a:spLocks/>
            </p:cNvSpPr>
            <p:nvPr/>
          </p:nvSpPr>
          <p:spPr bwMode="auto">
            <a:xfrm>
              <a:off x="1111" y="1525"/>
              <a:ext cx="1043" cy="458"/>
            </a:xfrm>
            <a:custGeom>
              <a:avLst/>
              <a:gdLst>
                <a:gd name="T0" fmla="*/ 5534 w 598"/>
                <a:gd name="T1" fmla="*/ 895 h 286"/>
                <a:gd name="T2" fmla="*/ 5498 w 598"/>
                <a:gd name="T3" fmla="*/ 797 h 286"/>
                <a:gd name="T4" fmla="*/ 5442 w 598"/>
                <a:gd name="T5" fmla="*/ 703 h 286"/>
                <a:gd name="T6" fmla="*/ 5360 w 598"/>
                <a:gd name="T7" fmla="*/ 621 h 286"/>
                <a:gd name="T8" fmla="*/ 5248 w 598"/>
                <a:gd name="T9" fmla="*/ 538 h 286"/>
                <a:gd name="T10" fmla="*/ 5126 w 598"/>
                <a:gd name="T11" fmla="*/ 452 h 286"/>
                <a:gd name="T12" fmla="*/ 4976 w 598"/>
                <a:gd name="T13" fmla="*/ 388 h 286"/>
                <a:gd name="T14" fmla="*/ 4812 w 598"/>
                <a:gd name="T15" fmla="*/ 315 h 286"/>
                <a:gd name="T16" fmla="*/ 4615 w 598"/>
                <a:gd name="T17" fmla="*/ 242 h 286"/>
                <a:gd name="T18" fmla="*/ 4414 w 598"/>
                <a:gd name="T19" fmla="*/ 184 h 286"/>
                <a:gd name="T20" fmla="*/ 4080 w 598"/>
                <a:gd name="T21" fmla="*/ 119 h 286"/>
                <a:gd name="T22" fmla="*/ 3581 w 598"/>
                <a:gd name="T23" fmla="*/ 46 h 286"/>
                <a:gd name="T24" fmla="*/ 3045 w 598"/>
                <a:gd name="T25" fmla="*/ 8 h 286"/>
                <a:gd name="T26" fmla="*/ 2478 w 598"/>
                <a:gd name="T27" fmla="*/ 8 h 286"/>
                <a:gd name="T28" fmla="*/ 1938 w 598"/>
                <a:gd name="T29" fmla="*/ 46 h 286"/>
                <a:gd name="T30" fmla="*/ 1442 w 598"/>
                <a:gd name="T31" fmla="*/ 119 h 286"/>
                <a:gd name="T32" fmla="*/ 1111 w 598"/>
                <a:gd name="T33" fmla="*/ 184 h 286"/>
                <a:gd name="T34" fmla="*/ 898 w 598"/>
                <a:gd name="T35" fmla="*/ 242 h 286"/>
                <a:gd name="T36" fmla="*/ 720 w 598"/>
                <a:gd name="T37" fmla="*/ 315 h 286"/>
                <a:gd name="T38" fmla="*/ 548 w 598"/>
                <a:gd name="T39" fmla="*/ 388 h 286"/>
                <a:gd name="T40" fmla="*/ 387 w 598"/>
                <a:gd name="T41" fmla="*/ 452 h 286"/>
                <a:gd name="T42" fmla="*/ 270 w 598"/>
                <a:gd name="T43" fmla="*/ 538 h 286"/>
                <a:gd name="T44" fmla="*/ 164 w 598"/>
                <a:gd name="T45" fmla="*/ 621 h 286"/>
                <a:gd name="T46" fmla="*/ 73 w 598"/>
                <a:gd name="T47" fmla="*/ 703 h 286"/>
                <a:gd name="T48" fmla="*/ 28 w 598"/>
                <a:gd name="T49" fmla="*/ 797 h 286"/>
                <a:gd name="T50" fmla="*/ 0 w 598"/>
                <a:gd name="T51" fmla="*/ 895 h 286"/>
                <a:gd name="T52" fmla="*/ 0 w 598"/>
                <a:gd name="T53" fmla="*/ 998 h 286"/>
                <a:gd name="T54" fmla="*/ 28 w 598"/>
                <a:gd name="T55" fmla="*/ 1092 h 286"/>
                <a:gd name="T56" fmla="*/ 73 w 598"/>
                <a:gd name="T57" fmla="*/ 1169 h 286"/>
                <a:gd name="T58" fmla="*/ 164 w 598"/>
                <a:gd name="T59" fmla="*/ 1270 h 286"/>
                <a:gd name="T60" fmla="*/ 270 w 598"/>
                <a:gd name="T61" fmla="*/ 1347 h 286"/>
                <a:gd name="T62" fmla="*/ 387 w 598"/>
                <a:gd name="T63" fmla="*/ 1433 h 286"/>
                <a:gd name="T64" fmla="*/ 548 w 598"/>
                <a:gd name="T65" fmla="*/ 1509 h 286"/>
                <a:gd name="T66" fmla="*/ 720 w 598"/>
                <a:gd name="T67" fmla="*/ 1573 h 286"/>
                <a:gd name="T68" fmla="*/ 898 w 598"/>
                <a:gd name="T69" fmla="*/ 1643 h 286"/>
                <a:gd name="T70" fmla="*/ 1111 w 598"/>
                <a:gd name="T71" fmla="*/ 1705 h 286"/>
                <a:gd name="T72" fmla="*/ 1442 w 598"/>
                <a:gd name="T73" fmla="*/ 1774 h 286"/>
                <a:gd name="T74" fmla="*/ 1938 w 598"/>
                <a:gd name="T75" fmla="*/ 1838 h 286"/>
                <a:gd name="T76" fmla="*/ 2478 w 598"/>
                <a:gd name="T77" fmla="*/ 1880 h 286"/>
                <a:gd name="T78" fmla="*/ 3045 w 598"/>
                <a:gd name="T79" fmla="*/ 1880 h 286"/>
                <a:gd name="T80" fmla="*/ 3581 w 598"/>
                <a:gd name="T81" fmla="*/ 1838 h 286"/>
                <a:gd name="T82" fmla="*/ 4080 w 598"/>
                <a:gd name="T83" fmla="*/ 1774 h 286"/>
                <a:gd name="T84" fmla="*/ 4414 w 598"/>
                <a:gd name="T85" fmla="*/ 1705 h 286"/>
                <a:gd name="T86" fmla="*/ 4615 w 598"/>
                <a:gd name="T87" fmla="*/ 1643 h 286"/>
                <a:gd name="T88" fmla="*/ 4812 w 598"/>
                <a:gd name="T89" fmla="*/ 1573 h 286"/>
                <a:gd name="T90" fmla="*/ 4976 w 598"/>
                <a:gd name="T91" fmla="*/ 1509 h 286"/>
                <a:gd name="T92" fmla="*/ 5126 w 598"/>
                <a:gd name="T93" fmla="*/ 1433 h 286"/>
                <a:gd name="T94" fmla="*/ 5248 w 598"/>
                <a:gd name="T95" fmla="*/ 1347 h 286"/>
                <a:gd name="T96" fmla="*/ 5360 w 598"/>
                <a:gd name="T97" fmla="*/ 1270 h 286"/>
                <a:gd name="T98" fmla="*/ 5442 w 598"/>
                <a:gd name="T99" fmla="*/ 1169 h 286"/>
                <a:gd name="T100" fmla="*/ 5498 w 598"/>
                <a:gd name="T101" fmla="*/ 1092 h 286"/>
                <a:gd name="T102" fmla="*/ 5534 w 598"/>
                <a:gd name="T103" fmla="*/ 998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8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4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09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1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2" y="12"/>
                  </a:lnTo>
                  <a:lnTo>
                    <a:pt x="156" y="18"/>
                  </a:lnTo>
                  <a:lnTo>
                    <a:pt x="131" y="25"/>
                  </a:lnTo>
                  <a:lnTo>
                    <a:pt x="120" y="28"/>
                  </a:lnTo>
                  <a:lnTo>
                    <a:pt x="108" y="34"/>
                  </a:lnTo>
                  <a:lnTo>
                    <a:pt x="97" y="37"/>
                  </a:lnTo>
                  <a:lnTo>
                    <a:pt x="86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5" y="75"/>
                  </a:lnTo>
                  <a:lnTo>
                    <a:pt x="29" y="82"/>
                  </a:lnTo>
                  <a:lnTo>
                    <a:pt x="24" y="87"/>
                  </a:lnTo>
                  <a:lnTo>
                    <a:pt x="18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1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1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8" y="193"/>
                  </a:lnTo>
                  <a:lnTo>
                    <a:pt x="24" y="200"/>
                  </a:lnTo>
                  <a:lnTo>
                    <a:pt x="29" y="205"/>
                  </a:lnTo>
                  <a:lnTo>
                    <a:pt x="35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6" y="245"/>
                  </a:lnTo>
                  <a:lnTo>
                    <a:pt x="97" y="250"/>
                  </a:lnTo>
                  <a:lnTo>
                    <a:pt x="108" y="254"/>
                  </a:lnTo>
                  <a:lnTo>
                    <a:pt x="120" y="259"/>
                  </a:lnTo>
                  <a:lnTo>
                    <a:pt x="131" y="263"/>
                  </a:lnTo>
                  <a:lnTo>
                    <a:pt x="156" y="270"/>
                  </a:lnTo>
                  <a:lnTo>
                    <a:pt x="182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1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09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4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8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2780" name="Rectangle 18"/>
            <p:cNvSpPr>
              <a:spLocks noChangeArrowheads="1"/>
            </p:cNvSpPr>
            <p:nvPr/>
          </p:nvSpPr>
          <p:spPr bwMode="auto">
            <a:xfrm>
              <a:off x="1292" y="1644"/>
              <a:ext cx="7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ชื่อตัวแทน</a:t>
              </a:r>
              <a:endPara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81" name="Freeform 20"/>
            <p:cNvSpPr>
              <a:spLocks/>
            </p:cNvSpPr>
            <p:nvPr/>
          </p:nvSpPr>
          <p:spPr bwMode="auto">
            <a:xfrm>
              <a:off x="2163" y="1626"/>
              <a:ext cx="989" cy="357"/>
            </a:xfrm>
            <a:custGeom>
              <a:avLst/>
              <a:gdLst>
                <a:gd name="T0" fmla="*/ 4475 w 598"/>
                <a:gd name="T1" fmla="*/ 331 h 286"/>
                <a:gd name="T2" fmla="*/ 4442 w 598"/>
                <a:gd name="T3" fmla="*/ 293 h 286"/>
                <a:gd name="T4" fmla="*/ 4393 w 598"/>
                <a:gd name="T5" fmla="*/ 260 h 286"/>
                <a:gd name="T6" fmla="*/ 4333 w 598"/>
                <a:gd name="T7" fmla="*/ 227 h 286"/>
                <a:gd name="T8" fmla="*/ 4242 w 598"/>
                <a:gd name="T9" fmla="*/ 198 h 286"/>
                <a:gd name="T10" fmla="*/ 4138 w 598"/>
                <a:gd name="T11" fmla="*/ 167 h 286"/>
                <a:gd name="T12" fmla="*/ 4025 w 598"/>
                <a:gd name="T13" fmla="*/ 144 h 286"/>
                <a:gd name="T14" fmla="*/ 3890 w 598"/>
                <a:gd name="T15" fmla="*/ 117 h 286"/>
                <a:gd name="T16" fmla="*/ 3731 w 598"/>
                <a:gd name="T17" fmla="*/ 89 h 286"/>
                <a:gd name="T18" fmla="*/ 3569 w 598"/>
                <a:gd name="T19" fmla="*/ 69 h 286"/>
                <a:gd name="T20" fmla="*/ 3299 w 598"/>
                <a:gd name="T21" fmla="*/ 42 h 286"/>
                <a:gd name="T22" fmla="*/ 2894 w 598"/>
                <a:gd name="T23" fmla="*/ 17 h 286"/>
                <a:gd name="T24" fmla="*/ 2461 w 598"/>
                <a:gd name="T25" fmla="*/ 1 h 286"/>
                <a:gd name="T26" fmla="*/ 2004 w 598"/>
                <a:gd name="T27" fmla="*/ 1 h 286"/>
                <a:gd name="T28" fmla="*/ 1565 w 598"/>
                <a:gd name="T29" fmla="*/ 17 h 286"/>
                <a:gd name="T30" fmla="*/ 1168 w 598"/>
                <a:gd name="T31" fmla="*/ 42 h 286"/>
                <a:gd name="T32" fmla="*/ 895 w 598"/>
                <a:gd name="T33" fmla="*/ 69 h 286"/>
                <a:gd name="T34" fmla="*/ 724 w 598"/>
                <a:gd name="T35" fmla="*/ 89 h 286"/>
                <a:gd name="T36" fmla="*/ 582 w 598"/>
                <a:gd name="T37" fmla="*/ 117 h 286"/>
                <a:gd name="T38" fmla="*/ 443 w 598"/>
                <a:gd name="T39" fmla="*/ 144 h 286"/>
                <a:gd name="T40" fmla="*/ 313 w 598"/>
                <a:gd name="T41" fmla="*/ 167 h 286"/>
                <a:gd name="T42" fmla="*/ 217 w 598"/>
                <a:gd name="T43" fmla="*/ 198 h 286"/>
                <a:gd name="T44" fmla="*/ 137 w 598"/>
                <a:gd name="T45" fmla="*/ 227 h 286"/>
                <a:gd name="T46" fmla="*/ 60 w 598"/>
                <a:gd name="T47" fmla="*/ 260 h 286"/>
                <a:gd name="T48" fmla="*/ 22 w 598"/>
                <a:gd name="T49" fmla="*/ 293 h 286"/>
                <a:gd name="T50" fmla="*/ 0 w 598"/>
                <a:gd name="T51" fmla="*/ 331 h 286"/>
                <a:gd name="T52" fmla="*/ 0 w 598"/>
                <a:gd name="T53" fmla="*/ 369 h 286"/>
                <a:gd name="T54" fmla="*/ 22 w 598"/>
                <a:gd name="T55" fmla="*/ 402 h 286"/>
                <a:gd name="T56" fmla="*/ 60 w 598"/>
                <a:gd name="T57" fmla="*/ 432 h 286"/>
                <a:gd name="T58" fmla="*/ 137 w 598"/>
                <a:gd name="T59" fmla="*/ 469 h 286"/>
                <a:gd name="T60" fmla="*/ 217 w 598"/>
                <a:gd name="T61" fmla="*/ 498 h 286"/>
                <a:gd name="T62" fmla="*/ 313 w 598"/>
                <a:gd name="T63" fmla="*/ 529 h 286"/>
                <a:gd name="T64" fmla="*/ 443 w 598"/>
                <a:gd name="T65" fmla="*/ 557 h 286"/>
                <a:gd name="T66" fmla="*/ 582 w 598"/>
                <a:gd name="T67" fmla="*/ 579 h 286"/>
                <a:gd name="T68" fmla="*/ 724 w 598"/>
                <a:gd name="T69" fmla="*/ 607 h 286"/>
                <a:gd name="T70" fmla="*/ 895 w 598"/>
                <a:gd name="T71" fmla="*/ 628 h 286"/>
                <a:gd name="T72" fmla="*/ 1168 w 598"/>
                <a:gd name="T73" fmla="*/ 657 h 286"/>
                <a:gd name="T74" fmla="*/ 1565 w 598"/>
                <a:gd name="T75" fmla="*/ 680 h 286"/>
                <a:gd name="T76" fmla="*/ 2004 w 598"/>
                <a:gd name="T77" fmla="*/ 695 h 286"/>
                <a:gd name="T78" fmla="*/ 2461 w 598"/>
                <a:gd name="T79" fmla="*/ 695 h 286"/>
                <a:gd name="T80" fmla="*/ 2894 w 598"/>
                <a:gd name="T81" fmla="*/ 680 h 286"/>
                <a:gd name="T82" fmla="*/ 3299 w 598"/>
                <a:gd name="T83" fmla="*/ 657 h 286"/>
                <a:gd name="T84" fmla="*/ 3569 w 598"/>
                <a:gd name="T85" fmla="*/ 628 h 286"/>
                <a:gd name="T86" fmla="*/ 3731 w 598"/>
                <a:gd name="T87" fmla="*/ 607 h 286"/>
                <a:gd name="T88" fmla="*/ 3890 w 598"/>
                <a:gd name="T89" fmla="*/ 579 h 286"/>
                <a:gd name="T90" fmla="*/ 4025 w 598"/>
                <a:gd name="T91" fmla="*/ 557 h 286"/>
                <a:gd name="T92" fmla="*/ 4138 w 598"/>
                <a:gd name="T93" fmla="*/ 529 h 286"/>
                <a:gd name="T94" fmla="*/ 4242 w 598"/>
                <a:gd name="T95" fmla="*/ 498 h 286"/>
                <a:gd name="T96" fmla="*/ 4333 w 598"/>
                <a:gd name="T97" fmla="*/ 469 h 286"/>
                <a:gd name="T98" fmla="*/ 4393 w 598"/>
                <a:gd name="T99" fmla="*/ 432 h 286"/>
                <a:gd name="T100" fmla="*/ 4442 w 598"/>
                <a:gd name="T101" fmla="*/ 402 h 286"/>
                <a:gd name="T102" fmla="*/ 4475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7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3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09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1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1" y="12"/>
                  </a:lnTo>
                  <a:lnTo>
                    <a:pt x="156" y="18"/>
                  </a:lnTo>
                  <a:lnTo>
                    <a:pt x="130" y="25"/>
                  </a:lnTo>
                  <a:lnTo>
                    <a:pt x="120" y="28"/>
                  </a:lnTo>
                  <a:lnTo>
                    <a:pt x="108" y="34"/>
                  </a:lnTo>
                  <a:lnTo>
                    <a:pt x="97" y="37"/>
                  </a:lnTo>
                  <a:lnTo>
                    <a:pt x="86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5" y="75"/>
                  </a:lnTo>
                  <a:lnTo>
                    <a:pt x="29" y="82"/>
                  </a:lnTo>
                  <a:lnTo>
                    <a:pt x="23" y="87"/>
                  </a:lnTo>
                  <a:lnTo>
                    <a:pt x="18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1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1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8" y="193"/>
                  </a:lnTo>
                  <a:lnTo>
                    <a:pt x="23" y="200"/>
                  </a:lnTo>
                  <a:lnTo>
                    <a:pt x="29" y="205"/>
                  </a:lnTo>
                  <a:lnTo>
                    <a:pt x="35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6" y="245"/>
                  </a:lnTo>
                  <a:lnTo>
                    <a:pt x="97" y="250"/>
                  </a:lnTo>
                  <a:lnTo>
                    <a:pt x="108" y="254"/>
                  </a:lnTo>
                  <a:lnTo>
                    <a:pt x="120" y="259"/>
                  </a:lnTo>
                  <a:lnTo>
                    <a:pt x="130" y="263"/>
                  </a:lnTo>
                  <a:lnTo>
                    <a:pt x="156" y="270"/>
                  </a:lnTo>
                  <a:lnTo>
                    <a:pt x="181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1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09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3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7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82" name="Rectangle 21"/>
            <p:cNvSpPr>
              <a:spLocks noChangeArrowheads="1"/>
            </p:cNvSpPr>
            <p:nvPr/>
          </p:nvSpPr>
          <p:spPr bwMode="auto">
            <a:xfrm>
              <a:off x="2377" y="1644"/>
              <a:ext cx="59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2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ที่อยู่</a:t>
              </a:r>
              <a:endPara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83" name="Line 22"/>
            <p:cNvSpPr>
              <a:spLocks noChangeShapeType="1"/>
            </p:cNvSpPr>
            <p:nvPr/>
          </p:nvSpPr>
          <p:spPr bwMode="auto">
            <a:xfrm>
              <a:off x="738" y="1983"/>
              <a:ext cx="610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84" name="Line 23"/>
            <p:cNvSpPr>
              <a:spLocks noChangeShapeType="1"/>
            </p:cNvSpPr>
            <p:nvPr/>
          </p:nvSpPr>
          <p:spPr bwMode="auto">
            <a:xfrm>
              <a:off x="1654" y="1983"/>
              <a:ext cx="1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85" name="Line 24"/>
            <p:cNvSpPr>
              <a:spLocks noChangeShapeType="1"/>
            </p:cNvSpPr>
            <p:nvPr/>
          </p:nvSpPr>
          <p:spPr bwMode="auto">
            <a:xfrm flipV="1">
              <a:off x="1925" y="1992"/>
              <a:ext cx="543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86" name="Freeform 25"/>
            <p:cNvSpPr>
              <a:spLocks/>
            </p:cNvSpPr>
            <p:nvPr/>
          </p:nvSpPr>
          <p:spPr bwMode="auto">
            <a:xfrm>
              <a:off x="2570" y="2429"/>
              <a:ext cx="1018" cy="535"/>
            </a:xfrm>
            <a:custGeom>
              <a:avLst/>
              <a:gdLst>
                <a:gd name="T0" fmla="*/ 0 w 815"/>
                <a:gd name="T1" fmla="*/ 520 h 429"/>
                <a:gd name="T2" fmla="*/ 994 w 815"/>
                <a:gd name="T3" fmla="*/ 0 h 429"/>
                <a:gd name="T4" fmla="*/ 1985 w 815"/>
                <a:gd name="T5" fmla="*/ 520 h 429"/>
                <a:gd name="T6" fmla="*/ 994 w 815"/>
                <a:gd name="T7" fmla="*/ 1038 h 429"/>
                <a:gd name="T8" fmla="*/ 0 w 815"/>
                <a:gd name="T9" fmla="*/ 52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5" h="429">
                  <a:moveTo>
                    <a:pt x="0" y="215"/>
                  </a:moveTo>
                  <a:lnTo>
                    <a:pt x="408" y="0"/>
                  </a:lnTo>
                  <a:lnTo>
                    <a:pt x="815" y="215"/>
                  </a:lnTo>
                  <a:lnTo>
                    <a:pt x="408" y="429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87" name="Freeform 26"/>
            <p:cNvSpPr>
              <a:spLocks/>
            </p:cNvSpPr>
            <p:nvPr/>
          </p:nvSpPr>
          <p:spPr bwMode="auto">
            <a:xfrm>
              <a:off x="2570" y="2429"/>
              <a:ext cx="1018" cy="535"/>
            </a:xfrm>
            <a:custGeom>
              <a:avLst/>
              <a:gdLst>
                <a:gd name="T0" fmla="*/ 0 w 815"/>
                <a:gd name="T1" fmla="*/ 520 h 429"/>
                <a:gd name="T2" fmla="*/ 994 w 815"/>
                <a:gd name="T3" fmla="*/ 0 h 429"/>
                <a:gd name="T4" fmla="*/ 1985 w 815"/>
                <a:gd name="T5" fmla="*/ 520 h 429"/>
                <a:gd name="T6" fmla="*/ 994 w 815"/>
                <a:gd name="T7" fmla="*/ 1038 h 429"/>
                <a:gd name="T8" fmla="*/ 0 w 815"/>
                <a:gd name="T9" fmla="*/ 52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5" h="429">
                  <a:moveTo>
                    <a:pt x="0" y="215"/>
                  </a:moveTo>
                  <a:lnTo>
                    <a:pt x="408" y="0"/>
                  </a:lnTo>
                  <a:lnTo>
                    <a:pt x="815" y="215"/>
                  </a:lnTo>
                  <a:lnTo>
                    <a:pt x="408" y="429"/>
                  </a:lnTo>
                  <a:lnTo>
                    <a:pt x="0" y="215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88" name="Rectangle 27"/>
            <p:cNvSpPr>
              <a:spLocks noChangeArrowheads="1"/>
            </p:cNvSpPr>
            <p:nvPr/>
          </p:nvSpPr>
          <p:spPr bwMode="auto">
            <a:xfrm>
              <a:off x="2816" y="2505"/>
              <a:ext cx="38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0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  ดูแล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89" name="Rectangle 28"/>
            <p:cNvSpPr>
              <a:spLocks noChangeArrowheads="1"/>
            </p:cNvSpPr>
            <p:nvPr/>
          </p:nvSpPr>
          <p:spPr bwMode="auto">
            <a:xfrm>
              <a:off x="4097" y="2411"/>
              <a:ext cx="1017" cy="5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90" name="Rectangle 29"/>
            <p:cNvSpPr>
              <a:spLocks noChangeArrowheads="1"/>
            </p:cNvSpPr>
            <p:nvPr/>
          </p:nvSpPr>
          <p:spPr bwMode="auto">
            <a:xfrm>
              <a:off x="4097" y="2411"/>
              <a:ext cx="1017" cy="53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91" name="Rectangle 30"/>
            <p:cNvSpPr>
              <a:spLocks noChangeArrowheads="1"/>
            </p:cNvSpPr>
            <p:nvPr/>
          </p:nvSpPr>
          <p:spPr bwMode="auto">
            <a:xfrm>
              <a:off x="4304" y="2446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ลูกค้า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92" name="Freeform 32"/>
            <p:cNvSpPr>
              <a:spLocks/>
            </p:cNvSpPr>
            <p:nvPr/>
          </p:nvSpPr>
          <p:spPr bwMode="auto">
            <a:xfrm>
              <a:off x="3424" y="1607"/>
              <a:ext cx="944" cy="357"/>
            </a:xfrm>
            <a:custGeom>
              <a:avLst/>
              <a:gdLst>
                <a:gd name="T0" fmla="*/ 3713 w 598"/>
                <a:gd name="T1" fmla="*/ 331 h 286"/>
                <a:gd name="T2" fmla="*/ 3692 w 598"/>
                <a:gd name="T3" fmla="*/ 296 h 286"/>
                <a:gd name="T4" fmla="*/ 3651 w 598"/>
                <a:gd name="T5" fmla="*/ 263 h 286"/>
                <a:gd name="T6" fmla="*/ 3604 w 598"/>
                <a:gd name="T7" fmla="*/ 232 h 286"/>
                <a:gd name="T8" fmla="*/ 3528 w 598"/>
                <a:gd name="T9" fmla="*/ 202 h 286"/>
                <a:gd name="T10" fmla="*/ 3441 w 598"/>
                <a:gd name="T11" fmla="*/ 170 h 286"/>
                <a:gd name="T12" fmla="*/ 3347 w 598"/>
                <a:gd name="T13" fmla="*/ 144 h 286"/>
                <a:gd name="T14" fmla="*/ 3230 w 598"/>
                <a:gd name="T15" fmla="*/ 119 h 286"/>
                <a:gd name="T16" fmla="*/ 3105 w 598"/>
                <a:gd name="T17" fmla="*/ 92 h 286"/>
                <a:gd name="T18" fmla="*/ 2971 w 598"/>
                <a:gd name="T19" fmla="*/ 70 h 286"/>
                <a:gd name="T20" fmla="*/ 2747 w 598"/>
                <a:gd name="T21" fmla="*/ 42 h 286"/>
                <a:gd name="T22" fmla="*/ 2407 w 598"/>
                <a:gd name="T23" fmla="*/ 19 h 286"/>
                <a:gd name="T24" fmla="*/ 2049 w 598"/>
                <a:gd name="T25" fmla="*/ 2 h 286"/>
                <a:gd name="T26" fmla="*/ 1672 w 598"/>
                <a:gd name="T27" fmla="*/ 2 h 286"/>
                <a:gd name="T28" fmla="*/ 1298 w 598"/>
                <a:gd name="T29" fmla="*/ 19 h 286"/>
                <a:gd name="T30" fmla="*/ 974 w 598"/>
                <a:gd name="T31" fmla="*/ 42 h 286"/>
                <a:gd name="T32" fmla="*/ 753 w 598"/>
                <a:gd name="T33" fmla="*/ 70 h 286"/>
                <a:gd name="T34" fmla="*/ 603 w 598"/>
                <a:gd name="T35" fmla="*/ 92 h 286"/>
                <a:gd name="T36" fmla="*/ 491 w 598"/>
                <a:gd name="T37" fmla="*/ 119 h 286"/>
                <a:gd name="T38" fmla="*/ 374 w 598"/>
                <a:gd name="T39" fmla="*/ 144 h 286"/>
                <a:gd name="T40" fmla="*/ 267 w 598"/>
                <a:gd name="T41" fmla="*/ 170 h 286"/>
                <a:gd name="T42" fmla="*/ 182 w 598"/>
                <a:gd name="T43" fmla="*/ 202 h 286"/>
                <a:gd name="T44" fmla="*/ 117 w 598"/>
                <a:gd name="T45" fmla="*/ 232 h 286"/>
                <a:gd name="T46" fmla="*/ 55 w 598"/>
                <a:gd name="T47" fmla="*/ 263 h 286"/>
                <a:gd name="T48" fmla="*/ 22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22 w 598"/>
                <a:gd name="T55" fmla="*/ 406 h 286"/>
                <a:gd name="T56" fmla="*/ 55 w 598"/>
                <a:gd name="T57" fmla="*/ 433 h 286"/>
                <a:gd name="T58" fmla="*/ 117 w 598"/>
                <a:gd name="T59" fmla="*/ 469 h 286"/>
                <a:gd name="T60" fmla="*/ 182 w 598"/>
                <a:gd name="T61" fmla="*/ 501 h 286"/>
                <a:gd name="T62" fmla="*/ 267 w 598"/>
                <a:gd name="T63" fmla="*/ 532 h 286"/>
                <a:gd name="T64" fmla="*/ 374 w 598"/>
                <a:gd name="T65" fmla="*/ 557 h 286"/>
                <a:gd name="T66" fmla="*/ 491 w 598"/>
                <a:gd name="T67" fmla="*/ 583 h 286"/>
                <a:gd name="T68" fmla="*/ 603 w 598"/>
                <a:gd name="T69" fmla="*/ 609 h 286"/>
                <a:gd name="T70" fmla="*/ 753 w 598"/>
                <a:gd name="T71" fmla="*/ 633 h 286"/>
                <a:gd name="T72" fmla="*/ 974 w 598"/>
                <a:gd name="T73" fmla="*/ 657 h 286"/>
                <a:gd name="T74" fmla="*/ 1298 w 598"/>
                <a:gd name="T75" fmla="*/ 683 h 286"/>
                <a:gd name="T76" fmla="*/ 1672 w 598"/>
                <a:gd name="T77" fmla="*/ 695 h 286"/>
                <a:gd name="T78" fmla="*/ 2049 w 598"/>
                <a:gd name="T79" fmla="*/ 695 h 286"/>
                <a:gd name="T80" fmla="*/ 2407 w 598"/>
                <a:gd name="T81" fmla="*/ 683 h 286"/>
                <a:gd name="T82" fmla="*/ 2747 w 598"/>
                <a:gd name="T83" fmla="*/ 657 h 286"/>
                <a:gd name="T84" fmla="*/ 2971 w 598"/>
                <a:gd name="T85" fmla="*/ 633 h 286"/>
                <a:gd name="T86" fmla="*/ 3105 w 598"/>
                <a:gd name="T87" fmla="*/ 609 h 286"/>
                <a:gd name="T88" fmla="*/ 3230 w 598"/>
                <a:gd name="T89" fmla="*/ 583 h 286"/>
                <a:gd name="T90" fmla="*/ 3347 w 598"/>
                <a:gd name="T91" fmla="*/ 557 h 286"/>
                <a:gd name="T92" fmla="*/ 3441 w 598"/>
                <a:gd name="T93" fmla="*/ 532 h 286"/>
                <a:gd name="T94" fmla="*/ 3528 w 598"/>
                <a:gd name="T95" fmla="*/ 501 h 286"/>
                <a:gd name="T96" fmla="*/ 3604 w 598"/>
                <a:gd name="T97" fmla="*/ 469 h 286"/>
                <a:gd name="T98" fmla="*/ 3651 w 598"/>
                <a:gd name="T99" fmla="*/ 433 h 286"/>
                <a:gd name="T100" fmla="*/ 3692 w 598"/>
                <a:gd name="T101" fmla="*/ 406 h 286"/>
                <a:gd name="T102" fmla="*/ 3713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68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09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7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7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09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68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2793" name="Rectangle 33"/>
            <p:cNvSpPr>
              <a:spLocks noChangeArrowheads="1"/>
            </p:cNvSpPr>
            <p:nvPr/>
          </p:nvSpPr>
          <p:spPr bwMode="auto">
            <a:xfrm>
              <a:off x="3651" y="1661"/>
              <a:ext cx="7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รหัสลูกค้า</a:t>
              </a:r>
              <a:endParaRPr lang="en-US" altLang="th-TH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94" name="Freeform 34"/>
            <p:cNvSpPr>
              <a:spLocks/>
            </p:cNvSpPr>
            <p:nvPr/>
          </p:nvSpPr>
          <p:spPr bwMode="auto">
            <a:xfrm>
              <a:off x="4741" y="1607"/>
              <a:ext cx="746" cy="357"/>
            </a:xfrm>
            <a:custGeom>
              <a:avLst/>
              <a:gdLst>
                <a:gd name="T0" fmla="*/ 1448 w 598"/>
                <a:gd name="T1" fmla="*/ 331 h 286"/>
                <a:gd name="T2" fmla="*/ 1441 w 598"/>
                <a:gd name="T3" fmla="*/ 296 h 286"/>
                <a:gd name="T4" fmla="*/ 1426 w 598"/>
                <a:gd name="T5" fmla="*/ 263 h 286"/>
                <a:gd name="T6" fmla="*/ 1405 w 598"/>
                <a:gd name="T7" fmla="*/ 232 h 286"/>
                <a:gd name="T8" fmla="*/ 1381 w 598"/>
                <a:gd name="T9" fmla="*/ 202 h 286"/>
                <a:gd name="T10" fmla="*/ 1341 w 598"/>
                <a:gd name="T11" fmla="*/ 170 h 286"/>
                <a:gd name="T12" fmla="*/ 1304 w 598"/>
                <a:gd name="T13" fmla="*/ 144 h 286"/>
                <a:gd name="T14" fmla="*/ 1260 w 598"/>
                <a:gd name="T15" fmla="*/ 119 h 286"/>
                <a:gd name="T16" fmla="*/ 1211 w 598"/>
                <a:gd name="T17" fmla="*/ 92 h 286"/>
                <a:gd name="T18" fmla="*/ 1158 w 598"/>
                <a:gd name="T19" fmla="*/ 70 h 286"/>
                <a:gd name="T20" fmla="*/ 1069 w 598"/>
                <a:gd name="T21" fmla="*/ 42 h 286"/>
                <a:gd name="T22" fmla="*/ 939 w 598"/>
                <a:gd name="T23" fmla="*/ 19 h 286"/>
                <a:gd name="T24" fmla="*/ 800 w 598"/>
                <a:gd name="T25" fmla="*/ 2 h 286"/>
                <a:gd name="T26" fmla="*/ 652 w 598"/>
                <a:gd name="T27" fmla="*/ 2 h 286"/>
                <a:gd name="T28" fmla="*/ 510 w 598"/>
                <a:gd name="T29" fmla="*/ 19 h 286"/>
                <a:gd name="T30" fmla="*/ 382 w 598"/>
                <a:gd name="T31" fmla="*/ 42 h 286"/>
                <a:gd name="T32" fmla="*/ 293 w 598"/>
                <a:gd name="T33" fmla="*/ 70 h 286"/>
                <a:gd name="T34" fmla="*/ 241 w 598"/>
                <a:gd name="T35" fmla="*/ 92 h 286"/>
                <a:gd name="T36" fmla="*/ 193 w 598"/>
                <a:gd name="T37" fmla="*/ 119 h 286"/>
                <a:gd name="T38" fmla="*/ 146 w 598"/>
                <a:gd name="T39" fmla="*/ 144 h 286"/>
                <a:gd name="T40" fmla="*/ 105 w 598"/>
                <a:gd name="T41" fmla="*/ 170 h 286"/>
                <a:gd name="T42" fmla="*/ 70 w 598"/>
                <a:gd name="T43" fmla="*/ 202 h 286"/>
                <a:gd name="T44" fmla="*/ 46 w 598"/>
                <a:gd name="T45" fmla="*/ 232 h 286"/>
                <a:gd name="T46" fmla="*/ 21 w 598"/>
                <a:gd name="T47" fmla="*/ 263 h 286"/>
                <a:gd name="T48" fmla="*/ 9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9 w 598"/>
                <a:gd name="T55" fmla="*/ 406 h 286"/>
                <a:gd name="T56" fmla="*/ 21 w 598"/>
                <a:gd name="T57" fmla="*/ 433 h 286"/>
                <a:gd name="T58" fmla="*/ 46 w 598"/>
                <a:gd name="T59" fmla="*/ 469 h 286"/>
                <a:gd name="T60" fmla="*/ 70 w 598"/>
                <a:gd name="T61" fmla="*/ 501 h 286"/>
                <a:gd name="T62" fmla="*/ 105 w 598"/>
                <a:gd name="T63" fmla="*/ 532 h 286"/>
                <a:gd name="T64" fmla="*/ 146 w 598"/>
                <a:gd name="T65" fmla="*/ 557 h 286"/>
                <a:gd name="T66" fmla="*/ 193 w 598"/>
                <a:gd name="T67" fmla="*/ 583 h 286"/>
                <a:gd name="T68" fmla="*/ 241 w 598"/>
                <a:gd name="T69" fmla="*/ 609 h 286"/>
                <a:gd name="T70" fmla="*/ 293 w 598"/>
                <a:gd name="T71" fmla="*/ 633 h 286"/>
                <a:gd name="T72" fmla="*/ 382 w 598"/>
                <a:gd name="T73" fmla="*/ 657 h 286"/>
                <a:gd name="T74" fmla="*/ 510 w 598"/>
                <a:gd name="T75" fmla="*/ 683 h 286"/>
                <a:gd name="T76" fmla="*/ 652 w 598"/>
                <a:gd name="T77" fmla="*/ 695 h 286"/>
                <a:gd name="T78" fmla="*/ 800 w 598"/>
                <a:gd name="T79" fmla="*/ 695 h 286"/>
                <a:gd name="T80" fmla="*/ 939 w 598"/>
                <a:gd name="T81" fmla="*/ 683 h 286"/>
                <a:gd name="T82" fmla="*/ 1069 w 598"/>
                <a:gd name="T83" fmla="*/ 657 h 286"/>
                <a:gd name="T84" fmla="*/ 1158 w 598"/>
                <a:gd name="T85" fmla="*/ 633 h 286"/>
                <a:gd name="T86" fmla="*/ 1211 w 598"/>
                <a:gd name="T87" fmla="*/ 609 h 286"/>
                <a:gd name="T88" fmla="*/ 1260 w 598"/>
                <a:gd name="T89" fmla="*/ 583 h 286"/>
                <a:gd name="T90" fmla="*/ 1304 w 598"/>
                <a:gd name="T91" fmla="*/ 557 h 286"/>
                <a:gd name="T92" fmla="*/ 1341 w 598"/>
                <a:gd name="T93" fmla="*/ 532 h 286"/>
                <a:gd name="T94" fmla="*/ 1381 w 598"/>
                <a:gd name="T95" fmla="*/ 501 h 286"/>
                <a:gd name="T96" fmla="*/ 1405 w 598"/>
                <a:gd name="T97" fmla="*/ 469 h 286"/>
                <a:gd name="T98" fmla="*/ 1426 w 598"/>
                <a:gd name="T99" fmla="*/ 433 h 286"/>
                <a:gd name="T100" fmla="*/ 1441 w 598"/>
                <a:gd name="T101" fmla="*/ 406 h 286"/>
                <a:gd name="T102" fmla="*/ 1448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70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11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9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9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11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70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95" name="Freeform 35"/>
            <p:cNvSpPr>
              <a:spLocks/>
            </p:cNvSpPr>
            <p:nvPr/>
          </p:nvSpPr>
          <p:spPr bwMode="auto">
            <a:xfrm>
              <a:off x="4741" y="1607"/>
              <a:ext cx="746" cy="357"/>
            </a:xfrm>
            <a:custGeom>
              <a:avLst/>
              <a:gdLst>
                <a:gd name="T0" fmla="*/ 1448 w 598"/>
                <a:gd name="T1" fmla="*/ 331 h 286"/>
                <a:gd name="T2" fmla="*/ 1441 w 598"/>
                <a:gd name="T3" fmla="*/ 296 h 286"/>
                <a:gd name="T4" fmla="*/ 1426 w 598"/>
                <a:gd name="T5" fmla="*/ 263 h 286"/>
                <a:gd name="T6" fmla="*/ 1405 w 598"/>
                <a:gd name="T7" fmla="*/ 232 h 286"/>
                <a:gd name="T8" fmla="*/ 1381 w 598"/>
                <a:gd name="T9" fmla="*/ 202 h 286"/>
                <a:gd name="T10" fmla="*/ 1341 w 598"/>
                <a:gd name="T11" fmla="*/ 170 h 286"/>
                <a:gd name="T12" fmla="*/ 1304 w 598"/>
                <a:gd name="T13" fmla="*/ 144 h 286"/>
                <a:gd name="T14" fmla="*/ 1260 w 598"/>
                <a:gd name="T15" fmla="*/ 119 h 286"/>
                <a:gd name="T16" fmla="*/ 1211 w 598"/>
                <a:gd name="T17" fmla="*/ 92 h 286"/>
                <a:gd name="T18" fmla="*/ 1158 w 598"/>
                <a:gd name="T19" fmla="*/ 70 h 286"/>
                <a:gd name="T20" fmla="*/ 1069 w 598"/>
                <a:gd name="T21" fmla="*/ 42 h 286"/>
                <a:gd name="T22" fmla="*/ 939 w 598"/>
                <a:gd name="T23" fmla="*/ 19 h 286"/>
                <a:gd name="T24" fmla="*/ 800 w 598"/>
                <a:gd name="T25" fmla="*/ 2 h 286"/>
                <a:gd name="T26" fmla="*/ 652 w 598"/>
                <a:gd name="T27" fmla="*/ 2 h 286"/>
                <a:gd name="T28" fmla="*/ 510 w 598"/>
                <a:gd name="T29" fmla="*/ 19 h 286"/>
                <a:gd name="T30" fmla="*/ 382 w 598"/>
                <a:gd name="T31" fmla="*/ 42 h 286"/>
                <a:gd name="T32" fmla="*/ 293 w 598"/>
                <a:gd name="T33" fmla="*/ 70 h 286"/>
                <a:gd name="T34" fmla="*/ 241 w 598"/>
                <a:gd name="T35" fmla="*/ 92 h 286"/>
                <a:gd name="T36" fmla="*/ 193 w 598"/>
                <a:gd name="T37" fmla="*/ 119 h 286"/>
                <a:gd name="T38" fmla="*/ 146 w 598"/>
                <a:gd name="T39" fmla="*/ 144 h 286"/>
                <a:gd name="T40" fmla="*/ 105 w 598"/>
                <a:gd name="T41" fmla="*/ 170 h 286"/>
                <a:gd name="T42" fmla="*/ 70 w 598"/>
                <a:gd name="T43" fmla="*/ 202 h 286"/>
                <a:gd name="T44" fmla="*/ 46 w 598"/>
                <a:gd name="T45" fmla="*/ 232 h 286"/>
                <a:gd name="T46" fmla="*/ 21 w 598"/>
                <a:gd name="T47" fmla="*/ 263 h 286"/>
                <a:gd name="T48" fmla="*/ 9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9 w 598"/>
                <a:gd name="T55" fmla="*/ 406 h 286"/>
                <a:gd name="T56" fmla="*/ 21 w 598"/>
                <a:gd name="T57" fmla="*/ 433 h 286"/>
                <a:gd name="T58" fmla="*/ 46 w 598"/>
                <a:gd name="T59" fmla="*/ 469 h 286"/>
                <a:gd name="T60" fmla="*/ 70 w 598"/>
                <a:gd name="T61" fmla="*/ 501 h 286"/>
                <a:gd name="T62" fmla="*/ 105 w 598"/>
                <a:gd name="T63" fmla="*/ 532 h 286"/>
                <a:gd name="T64" fmla="*/ 146 w 598"/>
                <a:gd name="T65" fmla="*/ 557 h 286"/>
                <a:gd name="T66" fmla="*/ 193 w 598"/>
                <a:gd name="T67" fmla="*/ 583 h 286"/>
                <a:gd name="T68" fmla="*/ 241 w 598"/>
                <a:gd name="T69" fmla="*/ 609 h 286"/>
                <a:gd name="T70" fmla="*/ 293 w 598"/>
                <a:gd name="T71" fmla="*/ 633 h 286"/>
                <a:gd name="T72" fmla="*/ 382 w 598"/>
                <a:gd name="T73" fmla="*/ 657 h 286"/>
                <a:gd name="T74" fmla="*/ 510 w 598"/>
                <a:gd name="T75" fmla="*/ 683 h 286"/>
                <a:gd name="T76" fmla="*/ 652 w 598"/>
                <a:gd name="T77" fmla="*/ 695 h 286"/>
                <a:gd name="T78" fmla="*/ 800 w 598"/>
                <a:gd name="T79" fmla="*/ 695 h 286"/>
                <a:gd name="T80" fmla="*/ 939 w 598"/>
                <a:gd name="T81" fmla="*/ 683 h 286"/>
                <a:gd name="T82" fmla="*/ 1069 w 598"/>
                <a:gd name="T83" fmla="*/ 657 h 286"/>
                <a:gd name="T84" fmla="*/ 1158 w 598"/>
                <a:gd name="T85" fmla="*/ 633 h 286"/>
                <a:gd name="T86" fmla="*/ 1211 w 598"/>
                <a:gd name="T87" fmla="*/ 609 h 286"/>
                <a:gd name="T88" fmla="*/ 1260 w 598"/>
                <a:gd name="T89" fmla="*/ 583 h 286"/>
                <a:gd name="T90" fmla="*/ 1304 w 598"/>
                <a:gd name="T91" fmla="*/ 557 h 286"/>
                <a:gd name="T92" fmla="*/ 1341 w 598"/>
                <a:gd name="T93" fmla="*/ 532 h 286"/>
                <a:gd name="T94" fmla="*/ 1381 w 598"/>
                <a:gd name="T95" fmla="*/ 501 h 286"/>
                <a:gd name="T96" fmla="*/ 1405 w 598"/>
                <a:gd name="T97" fmla="*/ 469 h 286"/>
                <a:gd name="T98" fmla="*/ 1426 w 598"/>
                <a:gd name="T99" fmla="*/ 433 h 286"/>
                <a:gd name="T100" fmla="*/ 1441 w 598"/>
                <a:gd name="T101" fmla="*/ 406 h 286"/>
                <a:gd name="T102" fmla="*/ 1448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70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11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9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9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11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70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96" name="Rectangle 36"/>
            <p:cNvSpPr>
              <a:spLocks noChangeArrowheads="1"/>
            </p:cNvSpPr>
            <p:nvPr/>
          </p:nvSpPr>
          <p:spPr bwMode="auto">
            <a:xfrm>
              <a:off x="4856" y="1625"/>
              <a:ext cx="50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ชื่อลูกค้า</a:t>
              </a:r>
              <a:endParaRPr lang="en-US" altLang="th-TH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797" name="Line 37"/>
            <p:cNvSpPr>
              <a:spLocks noChangeShapeType="1"/>
            </p:cNvSpPr>
            <p:nvPr/>
          </p:nvSpPr>
          <p:spPr bwMode="auto">
            <a:xfrm>
              <a:off x="4023" y="1964"/>
              <a:ext cx="413" cy="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98" name="Line 38"/>
            <p:cNvSpPr>
              <a:spLocks noChangeShapeType="1"/>
            </p:cNvSpPr>
            <p:nvPr/>
          </p:nvSpPr>
          <p:spPr bwMode="auto">
            <a:xfrm flipH="1">
              <a:off x="4741" y="1964"/>
              <a:ext cx="408" cy="43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799" name="Line 41"/>
            <p:cNvSpPr>
              <a:spLocks noChangeShapeType="1"/>
            </p:cNvSpPr>
            <p:nvPr/>
          </p:nvSpPr>
          <p:spPr bwMode="auto">
            <a:xfrm flipH="1">
              <a:off x="2129" y="2697"/>
              <a:ext cx="44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800" name="Line 42"/>
            <p:cNvSpPr>
              <a:spLocks noChangeShapeType="1"/>
            </p:cNvSpPr>
            <p:nvPr/>
          </p:nvSpPr>
          <p:spPr bwMode="auto">
            <a:xfrm>
              <a:off x="3600" y="2694"/>
              <a:ext cx="476" cy="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801" name="Rectangle 43"/>
            <p:cNvSpPr>
              <a:spLocks noChangeArrowheads="1"/>
            </p:cNvSpPr>
            <p:nvPr/>
          </p:nvSpPr>
          <p:spPr bwMode="auto">
            <a:xfrm>
              <a:off x="2326" y="2200"/>
              <a:ext cx="137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802" name="Rectangle 44"/>
            <p:cNvSpPr>
              <a:spLocks noChangeArrowheads="1"/>
            </p:cNvSpPr>
            <p:nvPr/>
          </p:nvSpPr>
          <p:spPr bwMode="auto">
            <a:xfrm>
              <a:off x="3717" y="2200"/>
              <a:ext cx="137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9A7230F-81A4-4877-BAC5-1853856075BA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31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33795" name="Group 35"/>
          <p:cNvGrpSpPr>
            <a:grpSpLocks/>
          </p:cNvGrpSpPr>
          <p:nvPr/>
        </p:nvGrpSpPr>
        <p:grpSpPr bwMode="auto">
          <a:xfrm>
            <a:off x="323850" y="2349500"/>
            <a:ext cx="8432800" cy="2427288"/>
            <a:chOff x="204" y="1480"/>
            <a:chExt cx="5312" cy="1529"/>
          </a:xfrm>
        </p:grpSpPr>
        <p:sp>
          <p:nvSpPr>
            <p:cNvPr id="33797" name="AutoShape 3"/>
            <p:cNvSpPr>
              <a:spLocks noChangeAspect="1" noChangeArrowheads="1" noTextEdit="1"/>
            </p:cNvSpPr>
            <p:nvPr/>
          </p:nvSpPr>
          <p:spPr bwMode="auto">
            <a:xfrm>
              <a:off x="295" y="1570"/>
              <a:ext cx="5221" cy="1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798" name="Rectangle 4"/>
            <p:cNvSpPr>
              <a:spLocks noChangeArrowheads="1"/>
            </p:cNvSpPr>
            <p:nvPr/>
          </p:nvSpPr>
          <p:spPr bwMode="auto">
            <a:xfrm>
              <a:off x="1111" y="2429"/>
              <a:ext cx="1018" cy="5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799" name="Rectangle 5"/>
            <p:cNvSpPr>
              <a:spLocks noChangeArrowheads="1"/>
            </p:cNvSpPr>
            <p:nvPr/>
          </p:nvSpPr>
          <p:spPr bwMode="auto">
            <a:xfrm>
              <a:off x="1111" y="2429"/>
              <a:ext cx="1018" cy="535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00" name="Rectangle 6"/>
            <p:cNvSpPr>
              <a:spLocks noChangeArrowheads="1"/>
            </p:cNvSpPr>
            <p:nvPr/>
          </p:nvSpPr>
          <p:spPr bwMode="auto">
            <a:xfrm>
              <a:off x="1251" y="2465"/>
              <a:ext cx="580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ตัวแทน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01" name="Freeform 7"/>
            <p:cNvSpPr>
              <a:spLocks/>
            </p:cNvSpPr>
            <p:nvPr/>
          </p:nvSpPr>
          <p:spPr bwMode="auto">
            <a:xfrm>
              <a:off x="204" y="1480"/>
              <a:ext cx="874" cy="503"/>
            </a:xfrm>
            <a:custGeom>
              <a:avLst/>
              <a:gdLst>
                <a:gd name="T0" fmla="*/ 2727 w 598"/>
                <a:gd name="T1" fmla="*/ 1300 h 286"/>
                <a:gd name="T2" fmla="*/ 2711 w 598"/>
                <a:gd name="T3" fmla="*/ 1161 h 286"/>
                <a:gd name="T4" fmla="*/ 2680 w 598"/>
                <a:gd name="T5" fmla="*/ 1024 h 286"/>
                <a:gd name="T6" fmla="*/ 2640 w 598"/>
                <a:gd name="T7" fmla="*/ 897 h 286"/>
                <a:gd name="T8" fmla="*/ 2588 w 598"/>
                <a:gd name="T9" fmla="*/ 783 h 286"/>
                <a:gd name="T10" fmla="*/ 2528 w 598"/>
                <a:gd name="T11" fmla="*/ 660 h 286"/>
                <a:gd name="T12" fmla="*/ 2454 w 598"/>
                <a:gd name="T13" fmla="*/ 566 h 286"/>
                <a:gd name="T14" fmla="*/ 2374 w 598"/>
                <a:gd name="T15" fmla="*/ 457 h 286"/>
                <a:gd name="T16" fmla="*/ 2276 w 598"/>
                <a:gd name="T17" fmla="*/ 352 h 286"/>
                <a:gd name="T18" fmla="*/ 2176 w 598"/>
                <a:gd name="T19" fmla="*/ 266 h 286"/>
                <a:gd name="T20" fmla="*/ 2017 w 598"/>
                <a:gd name="T21" fmla="*/ 172 h 286"/>
                <a:gd name="T22" fmla="*/ 1767 w 598"/>
                <a:gd name="T23" fmla="*/ 65 h 286"/>
                <a:gd name="T24" fmla="*/ 1501 w 598"/>
                <a:gd name="T25" fmla="*/ 12 h 286"/>
                <a:gd name="T26" fmla="*/ 1223 w 598"/>
                <a:gd name="T27" fmla="*/ 12 h 286"/>
                <a:gd name="T28" fmla="*/ 953 w 598"/>
                <a:gd name="T29" fmla="*/ 65 h 286"/>
                <a:gd name="T30" fmla="*/ 712 w 598"/>
                <a:gd name="T31" fmla="*/ 172 h 286"/>
                <a:gd name="T32" fmla="*/ 547 w 598"/>
                <a:gd name="T33" fmla="*/ 266 h 286"/>
                <a:gd name="T34" fmla="*/ 444 w 598"/>
                <a:gd name="T35" fmla="*/ 352 h 286"/>
                <a:gd name="T36" fmla="*/ 357 w 598"/>
                <a:gd name="T37" fmla="*/ 457 h 286"/>
                <a:gd name="T38" fmla="*/ 269 w 598"/>
                <a:gd name="T39" fmla="*/ 566 h 286"/>
                <a:gd name="T40" fmla="*/ 190 w 598"/>
                <a:gd name="T41" fmla="*/ 660 h 286"/>
                <a:gd name="T42" fmla="*/ 130 w 598"/>
                <a:gd name="T43" fmla="*/ 783 h 286"/>
                <a:gd name="T44" fmla="*/ 88 w 598"/>
                <a:gd name="T45" fmla="*/ 897 h 286"/>
                <a:gd name="T46" fmla="*/ 38 w 598"/>
                <a:gd name="T47" fmla="*/ 1024 h 286"/>
                <a:gd name="T48" fmla="*/ 13 w 598"/>
                <a:gd name="T49" fmla="*/ 1161 h 286"/>
                <a:gd name="T50" fmla="*/ 0 w 598"/>
                <a:gd name="T51" fmla="*/ 1300 h 286"/>
                <a:gd name="T52" fmla="*/ 0 w 598"/>
                <a:gd name="T53" fmla="*/ 1454 h 286"/>
                <a:gd name="T54" fmla="*/ 13 w 598"/>
                <a:gd name="T55" fmla="*/ 1590 h 286"/>
                <a:gd name="T56" fmla="*/ 38 w 598"/>
                <a:gd name="T57" fmla="*/ 1701 h 286"/>
                <a:gd name="T58" fmla="*/ 88 w 598"/>
                <a:gd name="T59" fmla="*/ 1843 h 286"/>
                <a:gd name="T60" fmla="*/ 130 w 598"/>
                <a:gd name="T61" fmla="*/ 1965 h 286"/>
                <a:gd name="T62" fmla="*/ 190 w 598"/>
                <a:gd name="T63" fmla="*/ 2084 h 286"/>
                <a:gd name="T64" fmla="*/ 269 w 598"/>
                <a:gd name="T65" fmla="*/ 2193 h 286"/>
                <a:gd name="T66" fmla="*/ 357 w 598"/>
                <a:gd name="T67" fmla="*/ 2286 h 286"/>
                <a:gd name="T68" fmla="*/ 444 w 598"/>
                <a:gd name="T69" fmla="*/ 2394 h 286"/>
                <a:gd name="T70" fmla="*/ 547 w 598"/>
                <a:gd name="T71" fmla="*/ 2482 h 286"/>
                <a:gd name="T72" fmla="*/ 712 w 598"/>
                <a:gd name="T73" fmla="*/ 2584 h 286"/>
                <a:gd name="T74" fmla="*/ 953 w 598"/>
                <a:gd name="T75" fmla="*/ 2675 h 286"/>
                <a:gd name="T76" fmla="*/ 1223 w 598"/>
                <a:gd name="T77" fmla="*/ 2737 h 286"/>
                <a:gd name="T78" fmla="*/ 1501 w 598"/>
                <a:gd name="T79" fmla="*/ 2737 h 286"/>
                <a:gd name="T80" fmla="*/ 1767 w 598"/>
                <a:gd name="T81" fmla="*/ 2675 h 286"/>
                <a:gd name="T82" fmla="*/ 2017 w 598"/>
                <a:gd name="T83" fmla="*/ 2584 h 286"/>
                <a:gd name="T84" fmla="*/ 2176 w 598"/>
                <a:gd name="T85" fmla="*/ 2482 h 286"/>
                <a:gd name="T86" fmla="*/ 2276 w 598"/>
                <a:gd name="T87" fmla="*/ 2394 h 286"/>
                <a:gd name="T88" fmla="*/ 2374 w 598"/>
                <a:gd name="T89" fmla="*/ 2286 h 286"/>
                <a:gd name="T90" fmla="*/ 2454 w 598"/>
                <a:gd name="T91" fmla="*/ 2193 h 286"/>
                <a:gd name="T92" fmla="*/ 2528 w 598"/>
                <a:gd name="T93" fmla="*/ 2084 h 286"/>
                <a:gd name="T94" fmla="*/ 2588 w 598"/>
                <a:gd name="T95" fmla="*/ 1965 h 286"/>
                <a:gd name="T96" fmla="*/ 2640 w 598"/>
                <a:gd name="T97" fmla="*/ 1843 h 286"/>
                <a:gd name="T98" fmla="*/ 2680 w 598"/>
                <a:gd name="T99" fmla="*/ 1701 h 286"/>
                <a:gd name="T100" fmla="*/ 2711 w 598"/>
                <a:gd name="T101" fmla="*/ 1590 h 286"/>
                <a:gd name="T102" fmla="*/ 2727 w 598"/>
                <a:gd name="T103" fmla="*/ 1454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8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4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10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2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2" y="12"/>
                  </a:lnTo>
                  <a:lnTo>
                    <a:pt x="156" y="18"/>
                  </a:lnTo>
                  <a:lnTo>
                    <a:pt x="131" y="25"/>
                  </a:lnTo>
                  <a:lnTo>
                    <a:pt x="120" y="28"/>
                  </a:lnTo>
                  <a:lnTo>
                    <a:pt x="109" y="34"/>
                  </a:lnTo>
                  <a:lnTo>
                    <a:pt x="97" y="37"/>
                  </a:lnTo>
                  <a:lnTo>
                    <a:pt x="87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6" y="75"/>
                  </a:lnTo>
                  <a:lnTo>
                    <a:pt x="29" y="82"/>
                  </a:lnTo>
                  <a:lnTo>
                    <a:pt x="24" y="87"/>
                  </a:lnTo>
                  <a:lnTo>
                    <a:pt x="19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2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9" y="193"/>
                  </a:lnTo>
                  <a:lnTo>
                    <a:pt x="24" y="200"/>
                  </a:lnTo>
                  <a:lnTo>
                    <a:pt x="29" y="205"/>
                  </a:lnTo>
                  <a:lnTo>
                    <a:pt x="36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7" y="245"/>
                  </a:lnTo>
                  <a:lnTo>
                    <a:pt x="97" y="250"/>
                  </a:lnTo>
                  <a:lnTo>
                    <a:pt x="109" y="254"/>
                  </a:lnTo>
                  <a:lnTo>
                    <a:pt x="120" y="259"/>
                  </a:lnTo>
                  <a:lnTo>
                    <a:pt x="131" y="263"/>
                  </a:lnTo>
                  <a:lnTo>
                    <a:pt x="156" y="270"/>
                  </a:lnTo>
                  <a:lnTo>
                    <a:pt x="182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2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10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4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8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3802" name="Rectangle 8"/>
            <p:cNvSpPr>
              <a:spLocks noChangeArrowheads="1"/>
            </p:cNvSpPr>
            <p:nvPr/>
          </p:nvSpPr>
          <p:spPr bwMode="auto">
            <a:xfrm>
              <a:off x="249" y="1616"/>
              <a:ext cx="77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th-TH" altLang="th-TH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รหัสตัวแทน</a:t>
              </a:r>
              <a:endParaRPr lang="en-US" altLang="th-TH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03" name="Freeform 9"/>
            <p:cNvSpPr>
              <a:spLocks/>
            </p:cNvSpPr>
            <p:nvPr/>
          </p:nvSpPr>
          <p:spPr bwMode="auto">
            <a:xfrm>
              <a:off x="1111" y="1525"/>
              <a:ext cx="1043" cy="458"/>
            </a:xfrm>
            <a:custGeom>
              <a:avLst/>
              <a:gdLst>
                <a:gd name="T0" fmla="*/ 5534 w 598"/>
                <a:gd name="T1" fmla="*/ 895 h 286"/>
                <a:gd name="T2" fmla="*/ 5498 w 598"/>
                <a:gd name="T3" fmla="*/ 797 h 286"/>
                <a:gd name="T4" fmla="*/ 5442 w 598"/>
                <a:gd name="T5" fmla="*/ 703 h 286"/>
                <a:gd name="T6" fmla="*/ 5360 w 598"/>
                <a:gd name="T7" fmla="*/ 621 h 286"/>
                <a:gd name="T8" fmla="*/ 5248 w 598"/>
                <a:gd name="T9" fmla="*/ 538 h 286"/>
                <a:gd name="T10" fmla="*/ 5126 w 598"/>
                <a:gd name="T11" fmla="*/ 452 h 286"/>
                <a:gd name="T12" fmla="*/ 4976 w 598"/>
                <a:gd name="T13" fmla="*/ 388 h 286"/>
                <a:gd name="T14" fmla="*/ 4812 w 598"/>
                <a:gd name="T15" fmla="*/ 315 h 286"/>
                <a:gd name="T16" fmla="*/ 4615 w 598"/>
                <a:gd name="T17" fmla="*/ 242 h 286"/>
                <a:gd name="T18" fmla="*/ 4414 w 598"/>
                <a:gd name="T19" fmla="*/ 184 h 286"/>
                <a:gd name="T20" fmla="*/ 4080 w 598"/>
                <a:gd name="T21" fmla="*/ 119 h 286"/>
                <a:gd name="T22" fmla="*/ 3581 w 598"/>
                <a:gd name="T23" fmla="*/ 46 h 286"/>
                <a:gd name="T24" fmla="*/ 3045 w 598"/>
                <a:gd name="T25" fmla="*/ 8 h 286"/>
                <a:gd name="T26" fmla="*/ 2478 w 598"/>
                <a:gd name="T27" fmla="*/ 8 h 286"/>
                <a:gd name="T28" fmla="*/ 1938 w 598"/>
                <a:gd name="T29" fmla="*/ 46 h 286"/>
                <a:gd name="T30" fmla="*/ 1442 w 598"/>
                <a:gd name="T31" fmla="*/ 119 h 286"/>
                <a:gd name="T32" fmla="*/ 1111 w 598"/>
                <a:gd name="T33" fmla="*/ 184 h 286"/>
                <a:gd name="T34" fmla="*/ 898 w 598"/>
                <a:gd name="T35" fmla="*/ 242 h 286"/>
                <a:gd name="T36" fmla="*/ 720 w 598"/>
                <a:gd name="T37" fmla="*/ 315 h 286"/>
                <a:gd name="T38" fmla="*/ 548 w 598"/>
                <a:gd name="T39" fmla="*/ 388 h 286"/>
                <a:gd name="T40" fmla="*/ 387 w 598"/>
                <a:gd name="T41" fmla="*/ 452 h 286"/>
                <a:gd name="T42" fmla="*/ 270 w 598"/>
                <a:gd name="T43" fmla="*/ 538 h 286"/>
                <a:gd name="T44" fmla="*/ 164 w 598"/>
                <a:gd name="T45" fmla="*/ 621 h 286"/>
                <a:gd name="T46" fmla="*/ 73 w 598"/>
                <a:gd name="T47" fmla="*/ 703 h 286"/>
                <a:gd name="T48" fmla="*/ 28 w 598"/>
                <a:gd name="T49" fmla="*/ 797 h 286"/>
                <a:gd name="T50" fmla="*/ 0 w 598"/>
                <a:gd name="T51" fmla="*/ 895 h 286"/>
                <a:gd name="T52" fmla="*/ 0 w 598"/>
                <a:gd name="T53" fmla="*/ 998 h 286"/>
                <a:gd name="T54" fmla="*/ 28 w 598"/>
                <a:gd name="T55" fmla="*/ 1092 h 286"/>
                <a:gd name="T56" fmla="*/ 73 w 598"/>
                <a:gd name="T57" fmla="*/ 1169 h 286"/>
                <a:gd name="T58" fmla="*/ 164 w 598"/>
                <a:gd name="T59" fmla="*/ 1270 h 286"/>
                <a:gd name="T60" fmla="*/ 270 w 598"/>
                <a:gd name="T61" fmla="*/ 1347 h 286"/>
                <a:gd name="T62" fmla="*/ 387 w 598"/>
                <a:gd name="T63" fmla="*/ 1433 h 286"/>
                <a:gd name="T64" fmla="*/ 548 w 598"/>
                <a:gd name="T65" fmla="*/ 1509 h 286"/>
                <a:gd name="T66" fmla="*/ 720 w 598"/>
                <a:gd name="T67" fmla="*/ 1573 h 286"/>
                <a:gd name="T68" fmla="*/ 898 w 598"/>
                <a:gd name="T69" fmla="*/ 1643 h 286"/>
                <a:gd name="T70" fmla="*/ 1111 w 598"/>
                <a:gd name="T71" fmla="*/ 1705 h 286"/>
                <a:gd name="T72" fmla="*/ 1442 w 598"/>
                <a:gd name="T73" fmla="*/ 1774 h 286"/>
                <a:gd name="T74" fmla="*/ 1938 w 598"/>
                <a:gd name="T75" fmla="*/ 1838 h 286"/>
                <a:gd name="T76" fmla="*/ 2478 w 598"/>
                <a:gd name="T77" fmla="*/ 1880 h 286"/>
                <a:gd name="T78" fmla="*/ 3045 w 598"/>
                <a:gd name="T79" fmla="*/ 1880 h 286"/>
                <a:gd name="T80" fmla="*/ 3581 w 598"/>
                <a:gd name="T81" fmla="*/ 1838 h 286"/>
                <a:gd name="T82" fmla="*/ 4080 w 598"/>
                <a:gd name="T83" fmla="*/ 1774 h 286"/>
                <a:gd name="T84" fmla="*/ 4414 w 598"/>
                <a:gd name="T85" fmla="*/ 1705 h 286"/>
                <a:gd name="T86" fmla="*/ 4615 w 598"/>
                <a:gd name="T87" fmla="*/ 1643 h 286"/>
                <a:gd name="T88" fmla="*/ 4812 w 598"/>
                <a:gd name="T89" fmla="*/ 1573 h 286"/>
                <a:gd name="T90" fmla="*/ 4976 w 598"/>
                <a:gd name="T91" fmla="*/ 1509 h 286"/>
                <a:gd name="T92" fmla="*/ 5126 w 598"/>
                <a:gd name="T93" fmla="*/ 1433 h 286"/>
                <a:gd name="T94" fmla="*/ 5248 w 598"/>
                <a:gd name="T95" fmla="*/ 1347 h 286"/>
                <a:gd name="T96" fmla="*/ 5360 w 598"/>
                <a:gd name="T97" fmla="*/ 1270 h 286"/>
                <a:gd name="T98" fmla="*/ 5442 w 598"/>
                <a:gd name="T99" fmla="*/ 1169 h 286"/>
                <a:gd name="T100" fmla="*/ 5498 w 598"/>
                <a:gd name="T101" fmla="*/ 1092 h 286"/>
                <a:gd name="T102" fmla="*/ 5534 w 598"/>
                <a:gd name="T103" fmla="*/ 998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8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4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09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1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2" y="12"/>
                  </a:lnTo>
                  <a:lnTo>
                    <a:pt x="156" y="18"/>
                  </a:lnTo>
                  <a:lnTo>
                    <a:pt x="131" y="25"/>
                  </a:lnTo>
                  <a:lnTo>
                    <a:pt x="120" y="28"/>
                  </a:lnTo>
                  <a:lnTo>
                    <a:pt x="108" y="34"/>
                  </a:lnTo>
                  <a:lnTo>
                    <a:pt x="97" y="37"/>
                  </a:lnTo>
                  <a:lnTo>
                    <a:pt x="86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5" y="75"/>
                  </a:lnTo>
                  <a:lnTo>
                    <a:pt x="29" y="82"/>
                  </a:lnTo>
                  <a:lnTo>
                    <a:pt x="24" y="87"/>
                  </a:lnTo>
                  <a:lnTo>
                    <a:pt x="18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1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1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8" y="193"/>
                  </a:lnTo>
                  <a:lnTo>
                    <a:pt x="24" y="200"/>
                  </a:lnTo>
                  <a:lnTo>
                    <a:pt x="29" y="205"/>
                  </a:lnTo>
                  <a:lnTo>
                    <a:pt x="35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6" y="245"/>
                  </a:lnTo>
                  <a:lnTo>
                    <a:pt x="97" y="250"/>
                  </a:lnTo>
                  <a:lnTo>
                    <a:pt x="108" y="254"/>
                  </a:lnTo>
                  <a:lnTo>
                    <a:pt x="120" y="259"/>
                  </a:lnTo>
                  <a:lnTo>
                    <a:pt x="131" y="263"/>
                  </a:lnTo>
                  <a:lnTo>
                    <a:pt x="156" y="270"/>
                  </a:lnTo>
                  <a:lnTo>
                    <a:pt x="182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1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09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4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8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3804" name="Rectangle 10"/>
            <p:cNvSpPr>
              <a:spLocks noChangeArrowheads="1"/>
            </p:cNvSpPr>
            <p:nvPr/>
          </p:nvSpPr>
          <p:spPr bwMode="auto">
            <a:xfrm>
              <a:off x="1292" y="1644"/>
              <a:ext cx="7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ชื่อตัวแทน</a:t>
              </a:r>
              <a:endPara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05" name="Freeform 11"/>
            <p:cNvSpPr>
              <a:spLocks/>
            </p:cNvSpPr>
            <p:nvPr/>
          </p:nvSpPr>
          <p:spPr bwMode="auto">
            <a:xfrm>
              <a:off x="2163" y="1626"/>
              <a:ext cx="989" cy="357"/>
            </a:xfrm>
            <a:custGeom>
              <a:avLst/>
              <a:gdLst>
                <a:gd name="T0" fmla="*/ 4475 w 598"/>
                <a:gd name="T1" fmla="*/ 331 h 286"/>
                <a:gd name="T2" fmla="*/ 4442 w 598"/>
                <a:gd name="T3" fmla="*/ 293 h 286"/>
                <a:gd name="T4" fmla="*/ 4393 w 598"/>
                <a:gd name="T5" fmla="*/ 260 h 286"/>
                <a:gd name="T6" fmla="*/ 4333 w 598"/>
                <a:gd name="T7" fmla="*/ 227 h 286"/>
                <a:gd name="T8" fmla="*/ 4242 w 598"/>
                <a:gd name="T9" fmla="*/ 198 h 286"/>
                <a:gd name="T10" fmla="*/ 4138 w 598"/>
                <a:gd name="T11" fmla="*/ 167 h 286"/>
                <a:gd name="T12" fmla="*/ 4025 w 598"/>
                <a:gd name="T13" fmla="*/ 144 h 286"/>
                <a:gd name="T14" fmla="*/ 3890 w 598"/>
                <a:gd name="T15" fmla="*/ 117 h 286"/>
                <a:gd name="T16" fmla="*/ 3731 w 598"/>
                <a:gd name="T17" fmla="*/ 89 h 286"/>
                <a:gd name="T18" fmla="*/ 3569 w 598"/>
                <a:gd name="T19" fmla="*/ 69 h 286"/>
                <a:gd name="T20" fmla="*/ 3299 w 598"/>
                <a:gd name="T21" fmla="*/ 42 h 286"/>
                <a:gd name="T22" fmla="*/ 2894 w 598"/>
                <a:gd name="T23" fmla="*/ 17 h 286"/>
                <a:gd name="T24" fmla="*/ 2461 w 598"/>
                <a:gd name="T25" fmla="*/ 1 h 286"/>
                <a:gd name="T26" fmla="*/ 2004 w 598"/>
                <a:gd name="T27" fmla="*/ 1 h 286"/>
                <a:gd name="T28" fmla="*/ 1565 w 598"/>
                <a:gd name="T29" fmla="*/ 17 h 286"/>
                <a:gd name="T30" fmla="*/ 1168 w 598"/>
                <a:gd name="T31" fmla="*/ 42 h 286"/>
                <a:gd name="T32" fmla="*/ 895 w 598"/>
                <a:gd name="T33" fmla="*/ 69 h 286"/>
                <a:gd name="T34" fmla="*/ 724 w 598"/>
                <a:gd name="T35" fmla="*/ 89 h 286"/>
                <a:gd name="T36" fmla="*/ 582 w 598"/>
                <a:gd name="T37" fmla="*/ 117 h 286"/>
                <a:gd name="T38" fmla="*/ 443 w 598"/>
                <a:gd name="T39" fmla="*/ 144 h 286"/>
                <a:gd name="T40" fmla="*/ 313 w 598"/>
                <a:gd name="T41" fmla="*/ 167 h 286"/>
                <a:gd name="T42" fmla="*/ 217 w 598"/>
                <a:gd name="T43" fmla="*/ 198 h 286"/>
                <a:gd name="T44" fmla="*/ 137 w 598"/>
                <a:gd name="T45" fmla="*/ 227 h 286"/>
                <a:gd name="T46" fmla="*/ 60 w 598"/>
                <a:gd name="T47" fmla="*/ 260 h 286"/>
                <a:gd name="T48" fmla="*/ 22 w 598"/>
                <a:gd name="T49" fmla="*/ 293 h 286"/>
                <a:gd name="T50" fmla="*/ 0 w 598"/>
                <a:gd name="T51" fmla="*/ 331 h 286"/>
                <a:gd name="T52" fmla="*/ 0 w 598"/>
                <a:gd name="T53" fmla="*/ 369 h 286"/>
                <a:gd name="T54" fmla="*/ 22 w 598"/>
                <a:gd name="T55" fmla="*/ 402 h 286"/>
                <a:gd name="T56" fmla="*/ 60 w 598"/>
                <a:gd name="T57" fmla="*/ 432 h 286"/>
                <a:gd name="T58" fmla="*/ 137 w 598"/>
                <a:gd name="T59" fmla="*/ 469 h 286"/>
                <a:gd name="T60" fmla="*/ 217 w 598"/>
                <a:gd name="T61" fmla="*/ 498 h 286"/>
                <a:gd name="T62" fmla="*/ 313 w 598"/>
                <a:gd name="T63" fmla="*/ 529 h 286"/>
                <a:gd name="T64" fmla="*/ 443 w 598"/>
                <a:gd name="T65" fmla="*/ 557 h 286"/>
                <a:gd name="T66" fmla="*/ 582 w 598"/>
                <a:gd name="T67" fmla="*/ 579 h 286"/>
                <a:gd name="T68" fmla="*/ 724 w 598"/>
                <a:gd name="T69" fmla="*/ 607 h 286"/>
                <a:gd name="T70" fmla="*/ 895 w 598"/>
                <a:gd name="T71" fmla="*/ 628 h 286"/>
                <a:gd name="T72" fmla="*/ 1168 w 598"/>
                <a:gd name="T73" fmla="*/ 657 h 286"/>
                <a:gd name="T74" fmla="*/ 1565 w 598"/>
                <a:gd name="T75" fmla="*/ 680 h 286"/>
                <a:gd name="T76" fmla="*/ 2004 w 598"/>
                <a:gd name="T77" fmla="*/ 695 h 286"/>
                <a:gd name="T78" fmla="*/ 2461 w 598"/>
                <a:gd name="T79" fmla="*/ 695 h 286"/>
                <a:gd name="T80" fmla="*/ 2894 w 598"/>
                <a:gd name="T81" fmla="*/ 680 h 286"/>
                <a:gd name="T82" fmla="*/ 3299 w 598"/>
                <a:gd name="T83" fmla="*/ 657 h 286"/>
                <a:gd name="T84" fmla="*/ 3569 w 598"/>
                <a:gd name="T85" fmla="*/ 628 h 286"/>
                <a:gd name="T86" fmla="*/ 3731 w 598"/>
                <a:gd name="T87" fmla="*/ 607 h 286"/>
                <a:gd name="T88" fmla="*/ 3890 w 598"/>
                <a:gd name="T89" fmla="*/ 579 h 286"/>
                <a:gd name="T90" fmla="*/ 4025 w 598"/>
                <a:gd name="T91" fmla="*/ 557 h 286"/>
                <a:gd name="T92" fmla="*/ 4138 w 598"/>
                <a:gd name="T93" fmla="*/ 529 h 286"/>
                <a:gd name="T94" fmla="*/ 4242 w 598"/>
                <a:gd name="T95" fmla="*/ 498 h 286"/>
                <a:gd name="T96" fmla="*/ 4333 w 598"/>
                <a:gd name="T97" fmla="*/ 469 h 286"/>
                <a:gd name="T98" fmla="*/ 4393 w 598"/>
                <a:gd name="T99" fmla="*/ 432 h 286"/>
                <a:gd name="T100" fmla="*/ 4442 w 598"/>
                <a:gd name="T101" fmla="*/ 402 h 286"/>
                <a:gd name="T102" fmla="*/ 4475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7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3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09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1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1" y="12"/>
                  </a:lnTo>
                  <a:lnTo>
                    <a:pt x="156" y="18"/>
                  </a:lnTo>
                  <a:lnTo>
                    <a:pt x="130" y="25"/>
                  </a:lnTo>
                  <a:lnTo>
                    <a:pt x="120" y="28"/>
                  </a:lnTo>
                  <a:lnTo>
                    <a:pt x="108" y="34"/>
                  </a:lnTo>
                  <a:lnTo>
                    <a:pt x="97" y="37"/>
                  </a:lnTo>
                  <a:lnTo>
                    <a:pt x="86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5" y="75"/>
                  </a:lnTo>
                  <a:lnTo>
                    <a:pt x="29" y="82"/>
                  </a:lnTo>
                  <a:lnTo>
                    <a:pt x="23" y="87"/>
                  </a:lnTo>
                  <a:lnTo>
                    <a:pt x="18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1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1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8" y="193"/>
                  </a:lnTo>
                  <a:lnTo>
                    <a:pt x="23" y="200"/>
                  </a:lnTo>
                  <a:lnTo>
                    <a:pt x="29" y="205"/>
                  </a:lnTo>
                  <a:lnTo>
                    <a:pt x="35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6" y="245"/>
                  </a:lnTo>
                  <a:lnTo>
                    <a:pt x="97" y="250"/>
                  </a:lnTo>
                  <a:lnTo>
                    <a:pt x="108" y="254"/>
                  </a:lnTo>
                  <a:lnTo>
                    <a:pt x="120" y="259"/>
                  </a:lnTo>
                  <a:lnTo>
                    <a:pt x="130" y="263"/>
                  </a:lnTo>
                  <a:lnTo>
                    <a:pt x="156" y="270"/>
                  </a:lnTo>
                  <a:lnTo>
                    <a:pt x="181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1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09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3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7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06" name="Rectangle 12"/>
            <p:cNvSpPr>
              <a:spLocks noChangeArrowheads="1"/>
            </p:cNvSpPr>
            <p:nvPr/>
          </p:nvSpPr>
          <p:spPr bwMode="auto">
            <a:xfrm>
              <a:off x="2377" y="1644"/>
              <a:ext cx="59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2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ที่อยู่</a:t>
              </a:r>
              <a:endPara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07" name="Line 13"/>
            <p:cNvSpPr>
              <a:spLocks noChangeShapeType="1"/>
            </p:cNvSpPr>
            <p:nvPr/>
          </p:nvSpPr>
          <p:spPr bwMode="auto">
            <a:xfrm>
              <a:off x="738" y="1983"/>
              <a:ext cx="610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08" name="Line 14"/>
            <p:cNvSpPr>
              <a:spLocks noChangeShapeType="1"/>
            </p:cNvSpPr>
            <p:nvPr/>
          </p:nvSpPr>
          <p:spPr bwMode="auto">
            <a:xfrm>
              <a:off x="1654" y="1983"/>
              <a:ext cx="1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09" name="Line 15"/>
            <p:cNvSpPr>
              <a:spLocks noChangeShapeType="1"/>
            </p:cNvSpPr>
            <p:nvPr/>
          </p:nvSpPr>
          <p:spPr bwMode="auto">
            <a:xfrm flipV="1">
              <a:off x="1925" y="1992"/>
              <a:ext cx="543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10" name="Freeform 16"/>
            <p:cNvSpPr>
              <a:spLocks/>
            </p:cNvSpPr>
            <p:nvPr/>
          </p:nvSpPr>
          <p:spPr bwMode="auto">
            <a:xfrm>
              <a:off x="2570" y="2429"/>
              <a:ext cx="1018" cy="535"/>
            </a:xfrm>
            <a:custGeom>
              <a:avLst/>
              <a:gdLst>
                <a:gd name="T0" fmla="*/ 0 w 815"/>
                <a:gd name="T1" fmla="*/ 520 h 429"/>
                <a:gd name="T2" fmla="*/ 994 w 815"/>
                <a:gd name="T3" fmla="*/ 0 h 429"/>
                <a:gd name="T4" fmla="*/ 1985 w 815"/>
                <a:gd name="T5" fmla="*/ 520 h 429"/>
                <a:gd name="T6" fmla="*/ 994 w 815"/>
                <a:gd name="T7" fmla="*/ 1038 h 429"/>
                <a:gd name="T8" fmla="*/ 0 w 815"/>
                <a:gd name="T9" fmla="*/ 52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5" h="429">
                  <a:moveTo>
                    <a:pt x="0" y="215"/>
                  </a:moveTo>
                  <a:lnTo>
                    <a:pt x="408" y="0"/>
                  </a:lnTo>
                  <a:lnTo>
                    <a:pt x="815" y="215"/>
                  </a:lnTo>
                  <a:lnTo>
                    <a:pt x="408" y="429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11" name="Freeform 17"/>
            <p:cNvSpPr>
              <a:spLocks/>
            </p:cNvSpPr>
            <p:nvPr/>
          </p:nvSpPr>
          <p:spPr bwMode="auto">
            <a:xfrm>
              <a:off x="2570" y="2429"/>
              <a:ext cx="1018" cy="535"/>
            </a:xfrm>
            <a:custGeom>
              <a:avLst/>
              <a:gdLst>
                <a:gd name="T0" fmla="*/ 0 w 815"/>
                <a:gd name="T1" fmla="*/ 520 h 429"/>
                <a:gd name="T2" fmla="*/ 994 w 815"/>
                <a:gd name="T3" fmla="*/ 0 h 429"/>
                <a:gd name="T4" fmla="*/ 1985 w 815"/>
                <a:gd name="T5" fmla="*/ 520 h 429"/>
                <a:gd name="T6" fmla="*/ 994 w 815"/>
                <a:gd name="T7" fmla="*/ 1038 h 429"/>
                <a:gd name="T8" fmla="*/ 0 w 815"/>
                <a:gd name="T9" fmla="*/ 52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5" h="429">
                  <a:moveTo>
                    <a:pt x="0" y="215"/>
                  </a:moveTo>
                  <a:lnTo>
                    <a:pt x="408" y="0"/>
                  </a:lnTo>
                  <a:lnTo>
                    <a:pt x="815" y="215"/>
                  </a:lnTo>
                  <a:lnTo>
                    <a:pt x="408" y="429"/>
                  </a:lnTo>
                  <a:lnTo>
                    <a:pt x="0" y="215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12" name="Rectangle 18"/>
            <p:cNvSpPr>
              <a:spLocks noChangeArrowheads="1"/>
            </p:cNvSpPr>
            <p:nvPr/>
          </p:nvSpPr>
          <p:spPr bwMode="auto">
            <a:xfrm>
              <a:off x="2816" y="2505"/>
              <a:ext cx="38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0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  ดูแล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13" name="Rectangle 19"/>
            <p:cNvSpPr>
              <a:spLocks noChangeArrowheads="1"/>
            </p:cNvSpPr>
            <p:nvPr/>
          </p:nvSpPr>
          <p:spPr bwMode="auto">
            <a:xfrm>
              <a:off x="4097" y="2411"/>
              <a:ext cx="1017" cy="5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14" name="Rectangle 20"/>
            <p:cNvSpPr>
              <a:spLocks noChangeArrowheads="1"/>
            </p:cNvSpPr>
            <p:nvPr/>
          </p:nvSpPr>
          <p:spPr bwMode="auto">
            <a:xfrm>
              <a:off x="4097" y="2411"/>
              <a:ext cx="1017" cy="53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15" name="Rectangle 21"/>
            <p:cNvSpPr>
              <a:spLocks noChangeArrowheads="1"/>
            </p:cNvSpPr>
            <p:nvPr/>
          </p:nvSpPr>
          <p:spPr bwMode="auto">
            <a:xfrm>
              <a:off x="4304" y="2446"/>
              <a:ext cx="43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ลูกค้า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16" name="Freeform 22"/>
            <p:cNvSpPr>
              <a:spLocks/>
            </p:cNvSpPr>
            <p:nvPr/>
          </p:nvSpPr>
          <p:spPr bwMode="auto">
            <a:xfrm>
              <a:off x="3424" y="1607"/>
              <a:ext cx="944" cy="357"/>
            </a:xfrm>
            <a:custGeom>
              <a:avLst/>
              <a:gdLst>
                <a:gd name="T0" fmla="*/ 3713 w 598"/>
                <a:gd name="T1" fmla="*/ 331 h 286"/>
                <a:gd name="T2" fmla="*/ 3692 w 598"/>
                <a:gd name="T3" fmla="*/ 296 h 286"/>
                <a:gd name="T4" fmla="*/ 3651 w 598"/>
                <a:gd name="T5" fmla="*/ 263 h 286"/>
                <a:gd name="T6" fmla="*/ 3604 w 598"/>
                <a:gd name="T7" fmla="*/ 232 h 286"/>
                <a:gd name="T8" fmla="*/ 3528 w 598"/>
                <a:gd name="T9" fmla="*/ 202 h 286"/>
                <a:gd name="T10" fmla="*/ 3441 w 598"/>
                <a:gd name="T11" fmla="*/ 170 h 286"/>
                <a:gd name="T12" fmla="*/ 3347 w 598"/>
                <a:gd name="T13" fmla="*/ 144 h 286"/>
                <a:gd name="T14" fmla="*/ 3230 w 598"/>
                <a:gd name="T15" fmla="*/ 119 h 286"/>
                <a:gd name="T16" fmla="*/ 3105 w 598"/>
                <a:gd name="T17" fmla="*/ 92 h 286"/>
                <a:gd name="T18" fmla="*/ 2971 w 598"/>
                <a:gd name="T19" fmla="*/ 70 h 286"/>
                <a:gd name="T20" fmla="*/ 2747 w 598"/>
                <a:gd name="T21" fmla="*/ 42 h 286"/>
                <a:gd name="T22" fmla="*/ 2407 w 598"/>
                <a:gd name="T23" fmla="*/ 19 h 286"/>
                <a:gd name="T24" fmla="*/ 2049 w 598"/>
                <a:gd name="T25" fmla="*/ 2 h 286"/>
                <a:gd name="T26" fmla="*/ 1672 w 598"/>
                <a:gd name="T27" fmla="*/ 2 h 286"/>
                <a:gd name="T28" fmla="*/ 1298 w 598"/>
                <a:gd name="T29" fmla="*/ 19 h 286"/>
                <a:gd name="T30" fmla="*/ 974 w 598"/>
                <a:gd name="T31" fmla="*/ 42 h 286"/>
                <a:gd name="T32" fmla="*/ 753 w 598"/>
                <a:gd name="T33" fmla="*/ 70 h 286"/>
                <a:gd name="T34" fmla="*/ 603 w 598"/>
                <a:gd name="T35" fmla="*/ 92 h 286"/>
                <a:gd name="T36" fmla="*/ 491 w 598"/>
                <a:gd name="T37" fmla="*/ 119 h 286"/>
                <a:gd name="T38" fmla="*/ 374 w 598"/>
                <a:gd name="T39" fmla="*/ 144 h 286"/>
                <a:gd name="T40" fmla="*/ 267 w 598"/>
                <a:gd name="T41" fmla="*/ 170 h 286"/>
                <a:gd name="T42" fmla="*/ 182 w 598"/>
                <a:gd name="T43" fmla="*/ 202 h 286"/>
                <a:gd name="T44" fmla="*/ 117 w 598"/>
                <a:gd name="T45" fmla="*/ 232 h 286"/>
                <a:gd name="T46" fmla="*/ 55 w 598"/>
                <a:gd name="T47" fmla="*/ 263 h 286"/>
                <a:gd name="T48" fmla="*/ 22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22 w 598"/>
                <a:gd name="T55" fmla="*/ 406 h 286"/>
                <a:gd name="T56" fmla="*/ 55 w 598"/>
                <a:gd name="T57" fmla="*/ 433 h 286"/>
                <a:gd name="T58" fmla="*/ 117 w 598"/>
                <a:gd name="T59" fmla="*/ 469 h 286"/>
                <a:gd name="T60" fmla="*/ 182 w 598"/>
                <a:gd name="T61" fmla="*/ 501 h 286"/>
                <a:gd name="T62" fmla="*/ 267 w 598"/>
                <a:gd name="T63" fmla="*/ 532 h 286"/>
                <a:gd name="T64" fmla="*/ 374 w 598"/>
                <a:gd name="T65" fmla="*/ 557 h 286"/>
                <a:gd name="T66" fmla="*/ 491 w 598"/>
                <a:gd name="T67" fmla="*/ 583 h 286"/>
                <a:gd name="T68" fmla="*/ 603 w 598"/>
                <a:gd name="T69" fmla="*/ 609 h 286"/>
                <a:gd name="T70" fmla="*/ 753 w 598"/>
                <a:gd name="T71" fmla="*/ 633 h 286"/>
                <a:gd name="T72" fmla="*/ 974 w 598"/>
                <a:gd name="T73" fmla="*/ 657 h 286"/>
                <a:gd name="T74" fmla="*/ 1298 w 598"/>
                <a:gd name="T75" fmla="*/ 683 h 286"/>
                <a:gd name="T76" fmla="*/ 1672 w 598"/>
                <a:gd name="T77" fmla="*/ 695 h 286"/>
                <a:gd name="T78" fmla="*/ 2049 w 598"/>
                <a:gd name="T79" fmla="*/ 695 h 286"/>
                <a:gd name="T80" fmla="*/ 2407 w 598"/>
                <a:gd name="T81" fmla="*/ 683 h 286"/>
                <a:gd name="T82" fmla="*/ 2747 w 598"/>
                <a:gd name="T83" fmla="*/ 657 h 286"/>
                <a:gd name="T84" fmla="*/ 2971 w 598"/>
                <a:gd name="T85" fmla="*/ 633 h 286"/>
                <a:gd name="T86" fmla="*/ 3105 w 598"/>
                <a:gd name="T87" fmla="*/ 609 h 286"/>
                <a:gd name="T88" fmla="*/ 3230 w 598"/>
                <a:gd name="T89" fmla="*/ 583 h 286"/>
                <a:gd name="T90" fmla="*/ 3347 w 598"/>
                <a:gd name="T91" fmla="*/ 557 h 286"/>
                <a:gd name="T92" fmla="*/ 3441 w 598"/>
                <a:gd name="T93" fmla="*/ 532 h 286"/>
                <a:gd name="T94" fmla="*/ 3528 w 598"/>
                <a:gd name="T95" fmla="*/ 501 h 286"/>
                <a:gd name="T96" fmla="*/ 3604 w 598"/>
                <a:gd name="T97" fmla="*/ 469 h 286"/>
                <a:gd name="T98" fmla="*/ 3651 w 598"/>
                <a:gd name="T99" fmla="*/ 433 h 286"/>
                <a:gd name="T100" fmla="*/ 3692 w 598"/>
                <a:gd name="T101" fmla="*/ 406 h 286"/>
                <a:gd name="T102" fmla="*/ 3713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68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09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7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7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09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68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3817" name="Rectangle 23"/>
            <p:cNvSpPr>
              <a:spLocks noChangeArrowheads="1"/>
            </p:cNvSpPr>
            <p:nvPr/>
          </p:nvSpPr>
          <p:spPr bwMode="auto">
            <a:xfrm>
              <a:off x="3651" y="1661"/>
              <a:ext cx="7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รหัสลูกค้า</a:t>
              </a:r>
              <a:endParaRPr lang="en-US" altLang="th-TH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18" name="Freeform 24"/>
            <p:cNvSpPr>
              <a:spLocks/>
            </p:cNvSpPr>
            <p:nvPr/>
          </p:nvSpPr>
          <p:spPr bwMode="auto">
            <a:xfrm>
              <a:off x="4741" y="1607"/>
              <a:ext cx="746" cy="357"/>
            </a:xfrm>
            <a:custGeom>
              <a:avLst/>
              <a:gdLst>
                <a:gd name="T0" fmla="*/ 1448 w 598"/>
                <a:gd name="T1" fmla="*/ 331 h 286"/>
                <a:gd name="T2" fmla="*/ 1441 w 598"/>
                <a:gd name="T3" fmla="*/ 296 h 286"/>
                <a:gd name="T4" fmla="*/ 1426 w 598"/>
                <a:gd name="T5" fmla="*/ 263 h 286"/>
                <a:gd name="T6" fmla="*/ 1405 w 598"/>
                <a:gd name="T7" fmla="*/ 232 h 286"/>
                <a:gd name="T8" fmla="*/ 1381 w 598"/>
                <a:gd name="T9" fmla="*/ 202 h 286"/>
                <a:gd name="T10" fmla="*/ 1341 w 598"/>
                <a:gd name="T11" fmla="*/ 170 h 286"/>
                <a:gd name="T12" fmla="*/ 1304 w 598"/>
                <a:gd name="T13" fmla="*/ 144 h 286"/>
                <a:gd name="T14" fmla="*/ 1260 w 598"/>
                <a:gd name="T15" fmla="*/ 119 h 286"/>
                <a:gd name="T16" fmla="*/ 1211 w 598"/>
                <a:gd name="T17" fmla="*/ 92 h 286"/>
                <a:gd name="T18" fmla="*/ 1158 w 598"/>
                <a:gd name="T19" fmla="*/ 70 h 286"/>
                <a:gd name="T20" fmla="*/ 1069 w 598"/>
                <a:gd name="T21" fmla="*/ 42 h 286"/>
                <a:gd name="T22" fmla="*/ 939 w 598"/>
                <a:gd name="T23" fmla="*/ 19 h 286"/>
                <a:gd name="T24" fmla="*/ 800 w 598"/>
                <a:gd name="T25" fmla="*/ 2 h 286"/>
                <a:gd name="T26" fmla="*/ 652 w 598"/>
                <a:gd name="T27" fmla="*/ 2 h 286"/>
                <a:gd name="T28" fmla="*/ 510 w 598"/>
                <a:gd name="T29" fmla="*/ 19 h 286"/>
                <a:gd name="T30" fmla="*/ 382 w 598"/>
                <a:gd name="T31" fmla="*/ 42 h 286"/>
                <a:gd name="T32" fmla="*/ 293 w 598"/>
                <a:gd name="T33" fmla="*/ 70 h 286"/>
                <a:gd name="T34" fmla="*/ 241 w 598"/>
                <a:gd name="T35" fmla="*/ 92 h 286"/>
                <a:gd name="T36" fmla="*/ 193 w 598"/>
                <a:gd name="T37" fmla="*/ 119 h 286"/>
                <a:gd name="T38" fmla="*/ 146 w 598"/>
                <a:gd name="T39" fmla="*/ 144 h 286"/>
                <a:gd name="T40" fmla="*/ 105 w 598"/>
                <a:gd name="T41" fmla="*/ 170 h 286"/>
                <a:gd name="T42" fmla="*/ 70 w 598"/>
                <a:gd name="T43" fmla="*/ 202 h 286"/>
                <a:gd name="T44" fmla="*/ 46 w 598"/>
                <a:gd name="T45" fmla="*/ 232 h 286"/>
                <a:gd name="T46" fmla="*/ 21 w 598"/>
                <a:gd name="T47" fmla="*/ 263 h 286"/>
                <a:gd name="T48" fmla="*/ 9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9 w 598"/>
                <a:gd name="T55" fmla="*/ 406 h 286"/>
                <a:gd name="T56" fmla="*/ 21 w 598"/>
                <a:gd name="T57" fmla="*/ 433 h 286"/>
                <a:gd name="T58" fmla="*/ 46 w 598"/>
                <a:gd name="T59" fmla="*/ 469 h 286"/>
                <a:gd name="T60" fmla="*/ 70 w 598"/>
                <a:gd name="T61" fmla="*/ 501 h 286"/>
                <a:gd name="T62" fmla="*/ 105 w 598"/>
                <a:gd name="T63" fmla="*/ 532 h 286"/>
                <a:gd name="T64" fmla="*/ 146 w 598"/>
                <a:gd name="T65" fmla="*/ 557 h 286"/>
                <a:gd name="T66" fmla="*/ 193 w 598"/>
                <a:gd name="T67" fmla="*/ 583 h 286"/>
                <a:gd name="T68" fmla="*/ 241 w 598"/>
                <a:gd name="T69" fmla="*/ 609 h 286"/>
                <a:gd name="T70" fmla="*/ 293 w 598"/>
                <a:gd name="T71" fmla="*/ 633 h 286"/>
                <a:gd name="T72" fmla="*/ 382 w 598"/>
                <a:gd name="T73" fmla="*/ 657 h 286"/>
                <a:gd name="T74" fmla="*/ 510 w 598"/>
                <a:gd name="T75" fmla="*/ 683 h 286"/>
                <a:gd name="T76" fmla="*/ 652 w 598"/>
                <a:gd name="T77" fmla="*/ 695 h 286"/>
                <a:gd name="T78" fmla="*/ 800 w 598"/>
                <a:gd name="T79" fmla="*/ 695 h 286"/>
                <a:gd name="T80" fmla="*/ 939 w 598"/>
                <a:gd name="T81" fmla="*/ 683 h 286"/>
                <a:gd name="T82" fmla="*/ 1069 w 598"/>
                <a:gd name="T83" fmla="*/ 657 h 286"/>
                <a:gd name="T84" fmla="*/ 1158 w 598"/>
                <a:gd name="T85" fmla="*/ 633 h 286"/>
                <a:gd name="T86" fmla="*/ 1211 w 598"/>
                <a:gd name="T87" fmla="*/ 609 h 286"/>
                <a:gd name="T88" fmla="*/ 1260 w 598"/>
                <a:gd name="T89" fmla="*/ 583 h 286"/>
                <a:gd name="T90" fmla="*/ 1304 w 598"/>
                <a:gd name="T91" fmla="*/ 557 h 286"/>
                <a:gd name="T92" fmla="*/ 1341 w 598"/>
                <a:gd name="T93" fmla="*/ 532 h 286"/>
                <a:gd name="T94" fmla="*/ 1381 w 598"/>
                <a:gd name="T95" fmla="*/ 501 h 286"/>
                <a:gd name="T96" fmla="*/ 1405 w 598"/>
                <a:gd name="T97" fmla="*/ 469 h 286"/>
                <a:gd name="T98" fmla="*/ 1426 w 598"/>
                <a:gd name="T99" fmla="*/ 433 h 286"/>
                <a:gd name="T100" fmla="*/ 1441 w 598"/>
                <a:gd name="T101" fmla="*/ 406 h 286"/>
                <a:gd name="T102" fmla="*/ 1448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70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11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9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9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11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70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19" name="Freeform 25"/>
            <p:cNvSpPr>
              <a:spLocks/>
            </p:cNvSpPr>
            <p:nvPr/>
          </p:nvSpPr>
          <p:spPr bwMode="auto">
            <a:xfrm>
              <a:off x="4741" y="1607"/>
              <a:ext cx="746" cy="357"/>
            </a:xfrm>
            <a:custGeom>
              <a:avLst/>
              <a:gdLst>
                <a:gd name="T0" fmla="*/ 1448 w 598"/>
                <a:gd name="T1" fmla="*/ 331 h 286"/>
                <a:gd name="T2" fmla="*/ 1441 w 598"/>
                <a:gd name="T3" fmla="*/ 296 h 286"/>
                <a:gd name="T4" fmla="*/ 1426 w 598"/>
                <a:gd name="T5" fmla="*/ 263 h 286"/>
                <a:gd name="T6" fmla="*/ 1405 w 598"/>
                <a:gd name="T7" fmla="*/ 232 h 286"/>
                <a:gd name="T8" fmla="*/ 1381 w 598"/>
                <a:gd name="T9" fmla="*/ 202 h 286"/>
                <a:gd name="T10" fmla="*/ 1341 w 598"/>
                <a:gd name="T11" fmla="*/ 170 h 286"/>
                <a:gd name="T12" fmla="*/ 1304 w 598"/>
                <a:gd name="T13" fmla="*/ 144 h 286"/>
                <a:gd name="T14" fmla="*/ 1260 w 598"/>
                <a:gd name="T15" fmla="*/ 119 h 286"/>
                <a:gd name="T16" fmla="*/ 1211 w 598"/>
                <a:gd name="T17" fmla="*/ 92 h 286"/>
                <a:gd name="T18" fmla="*/ 1158 w 598"/>
                <a:gd name="T19" fmla="*/ 70 h 286"/>
                <a:gd name="T20" fmla="*/ 1069 w 598"/>
                <a:gd name="T21" fmla="*/ 42 h 286"/>
                <a:gd name="T22" fmla="*/ 939 w 598"/>
                <a:gd name="T23" fmla="*/ 19 h 286"/>
                <a:gd name="T24" fmla="*/ 800 w 598"/>
                <a:gd name="T25" fmla="*/ 2 h 286"/>
                <a:gd name="T26" fmla="*/ 652 w 598"/>
                <a:gd name="T27" fmla="*/ 2 h 286"/>
                <a:gd name="T28" fmla="*/ 510 w 598"/>
                <a:gd name="T29" fmla="*/ 19 h 286"/>
                <a:gd name="T30" fmla="*/ 382 w 598"/>
                <a:gd name="T31" fmla="*/ 42 h 286"/>
                <a:gd name="T32" fmla="*/ 293 w 598"/>
                <a:gd name="T33" fmla="*/ 70 h 286"/>
                <a:gd name="T34" fmla="*/ 241 w 598"/>
                <a:gd name="T35" fmla="*/ 92 h 286"/>
                <a:gd name="T36" fmla="*/ 193 w 598"/>
                <a:gd name="T37" fmla="*/ 119 h 286"/>
                <a:gd name="T38" fmla="*/ 146 w 598"/>
                <a:gd name="T39" fmla="*/ 144 h 286"/>
                <a:gd name="T40" fmla="*/ 105 w 598"/>
                <a:gd name="T41" fmla="*/ 170 h 286"/>
                <a:gd name="T42" fmla="*/ 70 w 598"/>
                <a:gd name="T43" fmla="*/ 202 h 286"/>
                <a:gd name="T44" fmla="*/ 46 w 598"/>
                <a:gd name="T45" fmla="*/ 232 h 286"/>
                <a:gd name="T46" fmla="*/ 21 w 598"/>
                <a:gd name="T47" fmla="*/ 263 h 286"/>
                <a:gd name="T48" fmla="*/ 9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9 w 598"/>
                <a:gd name="T55" fmla="*/ 406 h 286"/>
                <a:gd name="T56" fmla="*/ 21 w 598"/>
                <a:gd name="T57" fmla="*/ 433 h 286"/>
                <a:gd name="T58" fmla="*/ 46 w 598"/>
                <a:gd name="T59" fmla="*/ 469 h 286"/>
                <a:gd name="T60" fmla="*/ 70 w 598"/>
                <a:gd name="T61" fmla="*/ 501 h 286"/>
                <a:gd name="T62" fmla="*/ 105 w 598"/>
                <a:gd name="T63" fmla="*/ 532 h 286"/>
                <a:gd name="T64" fmla="*/ 146 w 598"/>
                <a:gd name="T65" fmla="*/ 557 h 286"/>
                <a:gd name="T66" fmla="*/ 193 w 598"/>
                <a:gd name="T67" fmla="*/ 583 h 286"/>
                <a:gd name="T68" fmla="*/ 241 w 598"/>
                <a:gd name="T69" fmla="*/ 609 h 286"/>
                <a:gd name="T70" fmla="*/ 293 w 598"/>
                <a:gd name="T71" fmla="*/ 633 h 286"/>
                <a:gd name="T72" fmla="*/ 382 w 598"/>
                <a:gd name="T73" fmla="*/ 657 h 286"/>
                <a:gd name="T74" fmla="*/ 510 w 598"/>
                <a:gd name="T75" fmla="*/ 683 h 286"/>
                <a:gd name="T76" fmla="*/ 652 w 598"/>
                <a:gd name="T77" fmla="*/ 695 h 286"/>
                <a:gd name="T78" fmla="*/ 800 w 598"/>
                <a:gd name="T79" fmla="*/ 695 h 286"/>
                <a:gd name="T80" fmla="*/ 939 w 598"/>
                <a:gd name="T81" fmla="*/ 683 h 286"/>
                <a:gd name="T82" fmla="*/ 1069 w 598"/>
                <a:gd name="T83" fmla="*/ 657 h 286"/>
                <a:gd name="T84" fmla="*/ 1158 w 598"/>
                <a:gd name="T85" fmla="*/ 633 h 286"/>
                <a:gd name="T86" fmla="*/ 1211 w 598"/>
                <a:gd name="T87" fmla="*/ 609 h 286"/>
                <a:gd name="T88" fmla="*/ 1260 w 598"/>
                <a:gd name="T89" fmla="*/ 583 h 286"/>
                <a:gd name="T90" fmla="*/ 1304 w 598"/>
                <a:gd name="T91" fmla="*/ 557 h 286"/>
                <a:gd name="T92" fmla="*/ 1341 w 598"/>
                <a:gd name="T93" fmla="*/ 532 h 286"/>
                <a:gd name="T94" fmla="*/ 1381 w 598"/>
                <a:gd name="T95" fmla="*/ 501 h 286"/>
                <a:gd name="T96" fmla="*/ 1405 w 598"/>
                <a:gd name="T97" fmla="*/ 469 h 286"/>
                <a:gd name="T98" fmla="*/ 1426 w 598"/>
                <a:gd name="T99" fmla="*/ 433 h 286"/>
                <a:gd name="T100" fmla="*/ 1441 w 598"/>
                <a:gd name="T101" fmla="*/ 406 h 286"/>
                <a:gd name="T102" fmla="*/ 1448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70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11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9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9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11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70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20" name="Rectangle 26"/>
            <p:cNvSpPr>
              <a:spLocks noChangeArrowheads="1"/>
            </p:cNvSpPr>
            <p:nvPr/>
          </p:nvSpPr>
          <p:spPr bwMode="auto">
            <a:xfrm>
              <a:off x="4856" y="1625"/>
              <a:ext cx="50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ชื่อลูกค้า</a:t>
              </a:r>
              <a:endParaRPr lang="en-US" altLang="th-TH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21" name="Line 27"/>
            <p:cNvSpPr>
              <a:spLocks noChangeShapeType="1"/>
            </p:cNvSpPr>
            <p:nvPr/>
          </p:nvSpPr>
          <p:spPr bwMode="auto">
            <a:xfrm>
              <a:off x="4023" y="1964"/>
              <a:ext cx="413" cy="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22" name="Line 28"/>
            <p:cNvSpPr>
              <a:spLocks noChangeShapeType="1"/>
            </p:cNvSpPr>
            <p:nvPr/>
          </p:nvSpPr>
          <p:spPr bwMode="auto">
            <a:xfrm flipH="1">
              <a:off x="4741" y="1964"/>
              <a:ext cx="408" cy="43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23" name="Line 29"/>
            <p:cNvSpPr>
              <a:spLocks noChangeShapeType="1"/>
            </p:cNvSpPr>
            <p:nvPr/>
          </p:nvSpPr>
          <p:spPr bwMode="auto">
            <a:xfrm flipH="1">
              <a:off x="2129" y="2697"/>
              <a:ext cx="44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24" name="Line 30"/>
            <p:cNvSpPr>
              <a:spLocks noChangeShapeType="1"/>
            </p:cNvSpPr>
            <p:nvPr/>
          </p:nvSpPr>
          <p:spPr bwMode="auto">
            <a:xfrm>
              <a:off x="3600" y="2694"/>
              <a:ext cx="476" cy="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825" name="Rectangle 31"/>
            <p:cNvSpPr>
              <a:spLocks noChangeArrowheads="1"/>
            </p:cNvSpPr>
            <p:nvPr/>
          </p:nvSpPr>
          <p:spPr bwMode="auto">
            <a:xfrm>
              <a:off x="2326" y="2200"/>
              <a:ext cx="137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826" name="Rectangle 32"/>
            <p:cNvSpPr>
              <a:spLocks noChangeArrowheads="1"/>
            </p:cNvSpPr>
            <p:nvPr/>
          </p:nvSpPr>
          <p:spPr bwMode="auto">
            <a:xfrm>
              <a:off x="3717" y="2200"/>
              <a:ext cx="209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33796" name="Rectangle 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  <a:defRPr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Relationship </a:t>
            </a: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Connectivity :</a:t>
            </a:r>
            <a:b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แบบ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One to Many, 1:M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endParaRPr lang="th-TH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F6139E-5578-46BC-B756-7F4AFF47C0C4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32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74688" y="333375"/>
            <a:ext cx="8218487" cy="935038"/>
          </a:xfrm>
        </p:spPr>
        <p:txBody>
          <a:bodyPr/>
          <a:lstStyle/>
          <a:p>
            <a:pPr eaLnBrk="1" hangingPunct="1">
              <a:lnSpc>
                <a:spcPct val="85000"/>
              </a:lnSpc>
              <a:defRPr/>
            </a:pP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Relationship </a:t>
            </a:r>
            <a:r>
              <a:rPr lang="th-TH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Connectivity :</a:t>
            </a:r>
            <a:b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แบบ </a:t>
            </a: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Many to Many, M:N </a:t>
            </a:r>
            <a:endParaRPr lang="th-TH" sz="48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34820" name="Group 45"/>
          <p:cNvGrpSpPr>
            <a:grpSpLocks/>
          </p:cNvGrpSpPr>
          <p:nvPr/>
        </p:nvGrpSpPr>
        <p:grpSpPr bwMode="auto">
          <a:xfrm>
            <a:off x="468313" y="2565400"/>
            <a:ext cx="8116887" cy="2663825"/>
            <a:chOff x="295" y="1616"/>
            <a:chExt cx="5113" cy="1678"/>
          </a:xfrm>
        </p:grpSpPr>
        <p:sp>
          <p:nvSpPr>
            <p:cNvPr id="34821" name="AutoShape 4"/>
            <p:cNvSpPr>
              <a:spLocks noChangeAspect="1" noChangeArrowheads="1" noTextEdit="1"/>
            </p:cNvSpPr>
            <p:nvPr/>
          </p:nvSpPr>
          <p:spPr bwMode="auto">
            <a:xfrm>
              <a:off x="340" y="1690"/>
              <a:ext cx="5068" cy="1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22" name="Rectangle 6"/>
            <p:cNvSpPr>
              <a:spLocks noChangeArrowheads="1"/>
            </p:cNvSpPr>
            <p:nvPr/>
          </p:nvSpPr>
          <p:spPr bwMode="auto">
            <a:xfrm>
              <a:off x="1084" y="2670"/>
              <a:ext cx="928" cy="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23" name="Rectangle 7"/>
            <p:cNvSpPr>
              <a:spLocks noChangeArrowheads="1"/>
            </p:cNvSpPr>
            <p:nvPr/>
          </p:nvSpPr>
          <p:spPr bwMode="auto">
            <a:xfrm>
              <a:off x="1084" y="2670"/>
              <a:ext cx="928" cy="58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1212" y="2708"/>
              <a:ext cx="1103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7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ใบสั่งซื้อ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25" name="Freeform 10"/>
            <p:cNvSpPr>
              <a:spLocks/>
            </p:cNvSpPr>
            <p:nvPr/>
          </p:nvSpPr>
          <p:spPr bwMode="auto">
            <a:xfrm>
              <a:off x="295" y="1616"/>
              <a:ext cx="758" cy="565"/>
            </a:xfrm>
            <a:custGeom>
              <a:avLst/>
              <a:gdLst>
                <a:gd name="T0" fmla="*/ 1427 w 614"/>
                <a:gd name="T1" fmla="*/ 1857 h 296"/>
                <a:gd name="T2" fmla="*/ 1417 w 614"/>
                <a:gd name="T3" fmla="*/ 1676 h 296"/>
                <a:gd name="T4" fmla="*/ 1399 w 614"/>
                <a:gd name="T5" fmla="*/ 1475 h 296"/>
                <a:gd name="T6" fmla="*/ 1383 w 614"/>
                <a:gd name="T7" fmla="*/ 1300 h 296"/>
                <a:gd name="T8" fmla="*/ 1351 w 614"/>
                <a:gd name="T9" fmla="*/ 1126 h 296"/>
                <a:gd name="T10" fmla="*/ 1318 w 614"/>
                <a:gd name="T11" fmla="*/ 954 h 296"/>
                <a:gd name="T12" fmla="*/ 1285 w 614"/>
                <a:gd name="T13" fmla="*/ 806 h 296"/>
                <a:gd name="T14" fmla="*/ 1241 w 614"/>
                <a:gd name="T15" fmla="*/ 659 h 296"/>
                <a:gd name="T16" fmla="*/ 1190 w 614"/>
                <a:gd name="T17" fmla="*/ 513 h 296"/>
                <a:gd name="T18" fmla="*/ 1138 w 614"/>
                <a:gd name="T19" fmla="*/ 382 h 296"/>
                <a:gd name="T20" fmla="*/ 1052 w 614"/>
                <a:gd name="T21" fmla="*/ 237 h 296"/>
                <a:gd name="T22" fmla="*/ 922 w 614"/>
                <a:gd name="T23" fmla="*/ 92 h 296"/>
                <a:gd name="T24" fmla="*/ 785 w 614"/>
                <a:gd name="T25" fmla="*/ 29 h 296"/>
                <a:gd name="T26" fmla="*/ 638 w 614"/>
                <a:gd name="T27" fmla="*/ 29 h 296"/>
                <a:gd name="T28" fmla="*/ 496 w 614"/>
                <a:gd name="T29" fmla="*/ 92 h 296"/>
                <a:gd name="T30" fmla="*/ 372 w 614"/>
                <a:gd name="T31" fmla="*/ 237 h 296"/>
                <a:gd name="T32" fmla="*/ 288 w 614"/>
                <a:gd name="T33" fmla="*/ 382 h 296"/>
                <a:gd name="T34" fmla="*/ 230 w 614"/>
                <a:gd name="T35" fmla="*/ 513 h 296"/>
                <a:gd name="T36" fmla="*/ 186 w 614"/>
                <a:gd name="T37" fmla="*/ 659 h 296"/>
                <a:gd name="T38" fmla="*/ 142 w 614"/>
                <a:gd name="T39" fmla="*/ 806 h 296"/>
                <a:gd name="T40" fmla="*/ 99 w 614"/>
                <a:gd name="T41" fmla="*/ 954 h 296"/>
                <a:gd name="T42" fmla="*/ 67 w 614"/>
                <a:gd name="T43" fmla="*/ 1126 h 296"/>
                <a:gd name="T44" fmla="*/ 43 w 614"/>
                <a:gd name="T45" fmla="*/ 1300 h 296"/>
                <a:gd name="T46" fmla="*/ 19 w 614"/>
                <a:gd name="T47" fmla="*/ 1475 h 296"/>
                <a:gd name="T48" fmla="*/ 7 w 614"/>
                <a:gd name="T49" fmla="*/ 1676 h 296"/>
                <a:gd name="T50" fmla="*/ 0 w 614"/>
                <a:gd name="T51" fmla="*/ 1857 h 296"/>
                <a:gd name="T52" fmla="*/ 0 w 614"/>
                <a:gd name="T53" fmla="*/ 2088 h 296"/>
                <a:gd name="T54" fmla="*/ 7 w 614"/>
                <a:gd name="T55" fmla="*/ 2281 h 296"/>
                <a:gd name="T56" fmla="*/ 19 w 614"/>
                <a:gd name="T57" fmla="*/ 2457 h 296"/>
                <a:gd name="T58" fmla="*/ 43 w 614"/>
                <a:gd name="T59" fmla="*/ 2657 h 296"/>
                <a:gd name="T60" fmla="*/ 67 w 614"/>
                <a:gd name="T61" fmla="*/ 2831 h 296"/>
                <a:gd name="T62" fmla="*/ 99 w 614"/>
                <a:gd name="T63" fmla="*/ 2983 h 296"/>
                <a:gd name="T64" fmla="*/ 142 w 614"/>
                <a:gd name="T65" fmla="*/ 3144 h 296"/>
                <a:gd name="T66" fmla="*/ 186 w 614"/>
                <a:gd name="T67" fmla="*/ 3291 h 296"/>
                <a:gd name="T68" fmla="*/ 230 w 614"/>
                <a:gd name="T69" fmla="*/ 3436 h 296"/>
                <a:gd name="T70" fmla="*/ 288 w 614"/>
                <a:gd name="T71" fmla="*/ 3560 h 296"/>
                <a:gd name="T72" fmla="*/ 372 w 614"/>
                <a:gd name="T73" fmla="*/ 3705 h 296"/>
                <a:gd name="T74" fmla="*/ 496 w 614"/>
                <a:gd name="T75" fmla="*/ 3852 h 296"/>
                <a:gd name="T76" fmla="*/ 638 w 614"/>
                <a:gd name="T77" fmla="*/ 3928 h 296"/>
                <a:gd name="T78" fmla="*/ 785 w 614"/>
                <a:gd name="T79" fmla="*/ 3928 h 296"/>
                <a:gd name="T80" fmla="*/ 922 w 614"/>
                <a:gd name="T81" fmla="*/ 3852 h 296"/>
                <a:gd name="T82" fmla="*/ 1052 w 614"/>
                <a:gd name="T83" fmla="*/ 3705 h 296"/>
                <a:gd name="T84" fmla="*/ 1138 w 614"/>
                <a:gd name="T85" fmla="*/ 3560 h 296"/>
                <a:gd name="T86" fmla="*/ 1190 w 614"/>
                <a:gd name="T87" fmla="*/ 3436 h 296"/>
                <a:gd name="T88" fmla="*/ 1241 w 614"/>
                <a:gd name="T89" fmla="*/ 3291 h 296"/>
                <a:gd name="T90" fmla="*/ 1285 w 614"/>
                <a:gd name="T91" fmla="*/ 3144 h 296"/>
                <a:gd name="T92" fmla="*/ 1318 w 614"/>
                <a:gd name="T93" fmla="*/ 2983 h 296"/>
                <a:gd name="T94" fmla="*/ 1351 w 614"/>
                <a:gd name="T95" fmla="*/ 2831 h 296"/>
                <a:gd name="T96" fmla="*/ 1383 w 614"/>
                <a:gd name="T97" fmla="*/ 2657 h 296"/>
                <a:gd name="T98" fmla="*/ 1399 w 614"/>
                <a:gd name="T99" fmla="*/ 2457 h 296"/>
                <a:gd name="T100" fmla="*/ 1417 w 614"/>
                <a:gd name="T101" fmla="*/ 2281 h 296"/>
                <a:gd name="T102" fmla="*/ 1427 w 614"/>
                <a:gd name="T103" fmla="*/ 2088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0"/>
                  </a:lnTo>
                  <a:lnTo>
                    <a:pt x="612" y="133"/>
                  </a:lnTo>
                  <a:lnTo>
                    <a:pt x="610" y="126"/>
                  </a:lnTo>
                  <a:lnTo>
                    <a:pt x="607" y="118"/>
                  </a:lnTo>
                  <a:lnTo>
                    <a:pt x="603" y="111"/>
                  </a:lnTo>
                  <a:lnTo>
                    <a:pt x="600" y="105"/>
                  </a:lnTo>
                  <a:lnTo>
                    <a:pt x="595" y="98"/>
                  </a:lnTo>
                  <a:lnTo>
                    <a:pt x="589" y="90"/>
                  </a:lnTo>
                  <a:lnTo>
                    <a:pt x="582" y="85"/>
                  </a:lnTo>
                  <a:lnTo>
                    <a:pt x="577" y="78"/>
                  </a:lnTo>
                  <a:lnTo>
                    <a:pt x="568" y="72"/>
                  </a:lnTo>
                  <a:lnTo>
                    <a:pt x="561" y="66"/>
                  </a:lnTo>
                  <a:lnTo>
                    <a:pt x="553" y="61"/>
                  </a:lnTo>
                  <a:lnTo>
                    <a:pt x="544" y="55"/>
                  </a:lnTo>
                  <a:lnTo>
                    <a:pt x="534" y="50"/>
                  </a:lnTo>
                  <a:lnTo>
                    <a:pt x="523" y="44"/>
                  </a:lnTo>
                  <a:lnTo>
                    <a:pt x="513" y="39"/>
                  </a:lnTo>
                  <a:lnTo>
                    <a:pt x="502" y="35"/>
                  </a:lnTo>
                  <a:lnTo>
                    <a:pt x="490" y="29"/>
                  </a:lnTo>
                  <a:lnTo>
                    <a:pt x="478" y="26"/>
                  </a:lnTo>
                  <a:lnTo>
                    <a:pt x="453" y="18"/>
                  </a:lnTo>
                  <a:lnTo>
                    <a:pt x="425" y="13"/>
                  </a:lnTo>
                  <a:lnTo>
                    <a:pt x="397" y="7"/>
                  </a:lnTo>
                  <a:lnTo>
                    <a:pt x="368" y="4"/>
                  </a:lnTo>
                  <a:lnTo>
                    <a:pt x="338" y="2"/>
                  </a:lnTo>
                  <a:lnTo>
                    <a:pt x="307" y="0"/>
                  </a:lnTo>
                  <a:lnTo>
                    <a:pt x="275" y="2"/>
                  </a:lnTo>
                  <a:lnTo>
                    <a:pt x="244" y="4"/>
                  </a:lnTo>
                  <a:lnTo>
                    <a:pt x="214" y="7"/>
                  </a:lnTo>
                  <a:lnTo>
                    <a:pt x="186" y="13"/>
                  </a:lnTo>
                  <a:lnTo>
                    <a:pt x="160" y="18"/>
                  </a:lnTo>
                  <a:lnTo>
                    <a:pt x="134" y="26"/>
                  </a:lnTo>
                  <a:lnTo>
                    <a:pt x="124" y="29"/>
                  </a:lnTo>
                  <a:lnTo>
                    <a:pt x="111" y="35"/>
                  </a:lnTo>
                  <a:lnTo>
                    <a:pt x="99" y="39"/>
                  </a:lnTo>
                  <a:lnTo>
                    <a:pt x="89" y="44"/>
                  </a:lnTo>
                  <a:lnTo>
                    <a:pt x="80" y="50"/>
                  </a:lnTo>
                  <a:lnTo>
                    <a:pt x="69" y="55"/>
                  </a:lnTo>
                  <a:lnTo>
                    <a:pt x="61" y="61"/>
                  </a:lnTo>
                  <a:lnTo>
                    <a:pt x="52" y="66"/>
                  </a:lnTo>
                  <a:lnTo>
                    <a:pt x="43" y="72"/>
                  </a:lnTo>
                  <a:lnTo>
                    <a:pt x="36" y="78"/>
                  </a:lnTo>
                  <a:lnTo>
                    <a:pt x="29" y="85"/>
                  </a:lnTo>
                  <a:lnTo>
                    <a:pt x="24" y="90"/>
                  </a:lnTo>
                  <a:lnTo>
                    <a:pt x="19" y="98"/>
                  </a:lnTo>
                  <a:lnTo>
                    <a:pt x="14" y="105"/>
                  </a:lnTo>
                  <a:lnTo>
                    <a:pt x="8" y="111"/>
                  </a:lnTo>
                  <a:lnTo>
                    <a:pt x="5" y="118"/>
                  </a:lnTo>
                  <a:lnTo>
                    <a:pt x="3" y="126"/>
                  </a:lnTo>
                  <a:lnTo>
                    <a:pt x="1" y="133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7"/>
                  </a:lnTo>
                  <a:lnTo>
                    <a:pt x="1" y="164"/>
                  </a:lnTo>
                  <a:lnTo>
                    <a:pt x="3" y="172"/>
                  </a:lnTo>
                  <a:lnTo>
                    <a:pt x="5" y="179"/>
                  </a:lnTo>
                  <a:lnTo>
                    <a:pt x="8" y="185"/>
                  </a:lnTo>
                  <a:lnTo>
                    <a:pt x="14" y="192"/>
                  </a:lnTo>
                  <a:lnTo>
                    <a:pt x="19" y="200"/>
                  </a:lnTo>
                  <a:lnTo>
                    <a:pt x="24" y="207"/>
                  </a:lnTo>
                  <a:lnTo>
                    <a:pt x="29" y="213"/>
                  </a:lnTo>
                  <a:lnTo>
                    <a:pt x="36" y="220"/>
                  </a:lnTo>
                  <a:lnTo>
                    <a:pt x="43" y="225"/>
                  </a:lnTo>
                  <a:lnTo>
                    <a:pt x="52" y="231"/>
                  </a:lnTo>
                  <a:lnTo>
                    <a:pt x="61" y="237"/>
                  </a:lnTo>
                  <a:lnTo>
                    <a:pt x="69" y="242"/>
                  </a:lnTo>
                  <a:lnTo>
                    <a:pt x="80" y="248"/>
                  </a:lnTo>
                  <a:lnTo>
                    <a:pt x="89" y="253"/>
                  </a:lnTo>
                  <a:lnTo>
                    <a:pt x="99" y="259"/>
                  </a:lnTo>
                  <a:lnTo>
                    <a:pt x="111" y="262"/>
                  </a:lnTo>
                  <a:lnTo>
                    <a:pt x="124" y="268"/>
                  </a:lnTo>
                  <a:lnTo>
                    <a:pt x="134" y="272"/>
                  </a:lnTo>
                  <a:lnTo>
                    <a:pt x="160" y="279"/>
                  </a:lnTo>
                  <a:lnTo>
                    <a:pt x="186" y="285"/>
                  </a:lnTo>
                  <a:lnTo>
                    <a:pt x="214" y="290"/>
                  </a:lnTo>
                  <a:lnTo>
                    <a:pt x="244" y="294"/>
                  </a:lnTo>
                  <a:lnTo>
                    <a:pt x="275" y="296"/>
                  </a:lnTo>
                  <a:lnTo>
                    <a:pt x="307" y="296"/>
                  </a:lnTo>
                  <a:lnTo>
                    <a:pt x="338" y="296"/>
                  </a:lnTo>
                  <a:lnTo>
                    <a:pt x="368" y="294"/>
                  </a:lnTo>
                  <a:lnTo>
                    <a:pt x="397" y="290"/>
                  </a:lnTo>
                  <a:lnTo>
                    <a:pt x="425" y="285"/>
                  </a:lnTo>
                  <a:lnTo>
                    <a:pt x="453" y="279"/>
                  </a:lnTo>
                  <a:lnTo>
                    <a:pt x="478" y="272"/>
                  </a:lnTo>
                  <a:lnTo>
                    <a:pt x="490" y="268"/>
                  </a:lnTo>
                  <a:lnTo>
                    <a:pt x="502" y="262"/>
                  </a:lnTo>
                  <a:lnTo>
                    <a:pt x="513" y="259"/>
                  </a:lnTo>
                  <a:lnTo>
                    <a:pt x="523" y="253"/>
                  </a:lnTo>
                  <a:lnTo>
                    <a:pt x="534" y="248"/>
                  </a:lnTo>
                  <a:lnTo>
                    <a:pt x="544" y="242"/>
                  </a:lnTo>
                  <a:lnTo>
                    <a:pt x="553" y="237"/>
                  </a:lnTo>
                  <a:lnTo>
                    <a:pt x="561" y="231"/>
                  </a:lnTo>
                  <a:lnTo>
                    <a:pt x="568" y="225"/>
                  </a:lnTo>
                  <a:lnTo>
                    <a:pt x="577" y="220"/>
                  </a:lnTo>
                  <a:lnTo>
                    <a:pt x="582" y="213"/>
                  </a:lnTo>
                  <a:lnTo>
                    <a:pt x="589" y="207"/>
                  </a:lnTo>
                  <a:lnTo>
                    <a:pt x="595" y="200"/>
                  </a:lnTo>
                  <a:lnTo>
                    <a:pt x="600" y="192"/>
                  </a:lnTo>
                  <a:lnTo>
                    <a:pt x="603" y="185"/>
                  </a:lnTo>
                  <a:lnTo>
                    <a:pt x="607" y="179"/>
                  </a:lnTo>
                  <a:lnTo>
                    <a:pt x="610" y="172"/>
                  </a:lnTo>
                  <a:lnTo>
                    <a:pt x="612" y="164"/>
                  </a:lnTo>
                  <a:lnTo>
                    <a:pt x="614" y="157"/>
                  </a:lnTo>
                  <a:lnTo>
                    <a:pt x="614" y="148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4826" name="Rectangle 11"/>
            <p:cNvSpPr>
              <a:spLocks noChangeArrowheads="1"/>
            </p:cNvSpPr>
            <p:nvPr/>
          </p:nvSpPr>
          <p:spPr bwMode="auto">
            <a:xfrm>
              <a:off x="385" y="1752"/>
              <a:ext cx="6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เลขที่ใบสั่ง</a:t>
              </a:r>
              <a:endParaRPr lang="en-US" altLang="th-TH" sz="1800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27" name="Freeform 13"/>
            <p:cNvSpPr>
              <a:spLocks/>
            </p:cNvSpPr>
            <p:nvPr/>
          </p:nvSpPr>
          <p:spPr bwMode="auto">
            <a:xfrm>
              <a:off x="1207" y="1790"/>
              <a:ext cx="681" cy="391"/>
            </a:xfrm>
            <a:custGeom>
              <a:avLst/>
              <a:gdLst>
                <a:gd name="T0" fmla="*/ 928 w 614"/>
                <a:gd name="T1" fmla="*/ 425 h 296"/>
                <a:gd name="T2" fmla="*/ 925 w 614"/>
                <a:gd name="T3" fmla="*/ 382 h 296"/>
                <a:gd name="T4" fmla="*/ 914 w 614"/>
                <a:gd name="T5" fmla="*/ 338 h 296"/>
                <a:gd name="T6" fmla="*/ 901 w 614"/>
                <a:gd name="T7" fmla="*/ 297 h 296"/>
                <a:gd name="T8" fmla="*/ 883 w 614"/>
                <a:gd name="T9" fmla="*/ 259 h 296"/>
                <a:gd name="T10" fmla="*/ 861 w 614"/>
                <a:gd name="T11" fmla="*/ 218 h 296"/>
                <a:gd name="T12" fmla="*/ 836 w 614"/>
                <a:gd name="T13" fmla="*/ 186 h 296"/>
                <a:gd name="T14" fmla="*/ 809 w 614"/>
                <a:gd name="T15" fmla="*/ 152 h 296"/>
                <a:gd name="T16" fmla="*/ 776 w 614"/>
                <a:gd name="T17" fmla="*/ 120 h 296"/>
                <a:gd name="T18" fmla="*/ 743 w 614"/>
                <a:gd name="T19" fmla="*/ 87 h 296"/>
                <a:gd name="T20" fmla="*/ 688 w 614"/>
                <a:gd name="T21" fmla="*/ 55 h 296"/>
                <a:gd name="T22" fmla="*/ 601 w 614"/>
                <a:gd name="T23" fmla="*/ 21 h 296"/>
                <a:gd name="T24" fmla="*/ 514 w 614"/>
                <a:gd name="T25" fmla="*/ 7 h 296"/>
                <a:gd name="T26" fmla="*/ 417 w 614"/>
                <a:gd name="T27" fmla="*/ 7 h 296"/>
                <a:gd name="T28" fmla="*/ 325 w 614"/>
                <a:gd name="T29" fmla="*/ 21 h 296"/>
                <a:gd name="T30" fmla="*/ 245 w 614"/>
                <a:gd name="T31" fmla="*/ 55 h 296"/>
                <a:gd name="T32" fmla="*/ 189 w 614"/>
                <a:gd name="T33" fmla="*/ 87 h 296"/>
                <a:gd name="T34" fmla="*/ 151 w 614"/>
                <a:gd name="T35" fmla="*/ 120 h 296"/>
                <a:gd name="T36" fmla="*/ 123 w 614"/>
                <a:gd name="T37" fmla="*/ 152 h 296"/>
                <a:gd name="T38" fmla="*/ 92 w 614"/>
                <a:gd name="T39" fmla="*/ 186 h 296"/>
                <a:gd name="T40" fmla="*/ 67 w 614"/>
                <a:gd name="T41" fmla="*/ 218 h 296"/>
                <a:gd name="T42" fmla="*/ 45 w 614"/>
                <a:gd name="T43" fmla="*/ 259 h 296"/>
                <a:gd name="T44" fmla="*/ 30 w 614"/>
                <a:gd name="T45" fmla="*/ 297 h 296"/>
                <a:gd name="T46" fmla="*/ 13 w 614"/>
                <a:gd name="T47" fmla="*/ 338 h 296"/>
                <a:gd name="T48" fmla="*/ 4 w 614"/>
                <a:gd name="T49" fmla="*/ 382 h 296"/>
                <a:gd name="T50" fmla="*/ 0 w 614"/>
                <a:gd name="T51" fmla="*/ 425 h 296"/>
                <a:gd name="T52" fmla="*/ 0 w 614"/>
                <a:gd name="T53" fmla="*/ 477 h 296"/>
                <a:gd name="T54" fmla="*/ 4 w 614"/>
                <a:gd name="T55" fmla="*/ 523 h 296"/>
                <a:gd name="T56" fmla="*/ 13 w 614"/>
                <a:gd name="T57" fmla="*/ 561 h 296"/>
                <a:gd name="T58" fmla="*/ 30 w 614"/>
                <a:gd name="T59" fmla="*/ 609 h 296"/>
                <a:gd name="T60" fmla="*/ 45 w 614"/>
                <a:gd name="T61" fmla="*/ 647 h 296"/>
                <a:gd name="T62" fmla="*/ 67 w 614"/>
                <a:gd name="T63" fmla="*/ 684 h 296"/>
                <a:gd name="T64" fmla="*/ 92 w 614"/>
                <a:gd name="T65" fmla="*/ 721 h 296"/>
                <a:gd name="T66" fmla="*/ 123 w 614"/>
                <a:gd name="T67" fmla="*/ 756 h 296"/>
                <a:gd name="T68" fmla="*/ 151 w 614"/>
                <a:gd name="T69" fmla="*/ 789 h 296"/>
                <a:gd name="T70" fmla="*/ 189 w 614"/>
                <a:gd name="T71" fmla="*/ 816 h 296"/>
                <a:gd name="T72" fmla="*/ 245 w 614"/>
                <a:gd name="T73" fmla="*/ 849 h 296"/>
                <a:gd name="T74" fmla="*/ 325 w 614"/>
                <a:gd name="T75" fmla="*/ 882 h 296"/>
                <a:gd name="T76" fmla="*/ 417 w 614"/>
                <a:gd name="T77" fmla="*/ 901 h 296"/>
                <a:gd name="T78" fmla="*/ 514 w 614"/>
                <a:gd name="T79" fmla="*/ 901 h 296"/>
                <a:gd name="T80" fmla="*/ 601 w 614"/>
                <a:gd name="T81" fmla="*/ 882 h 296"/>
                <a:gd name="T82" fmla="*/ 688 w 614"/>
                <a:gd name="T83" fmla="*/ 849 h 296"/>
                <a:gd name="T84" fmla="*/ 743 w 614"/>
                <a:gd name="T85" fmla="*/ 816 h 296"/>
                <a:gd name="T86" fmla="*/ 776 w 614"/>
                <a:gd name="T87" fmla="*/ 789 h 296"/>
                <a:gd name="T88" fmla="*/ 809 w 614"/>
                <a:gd name="T89" fmla="*/ 756 h 296"/>
                <a:gd name="T90" fmla="*/ 836 w 614"/>
                <a:gd name="T91" fmla="*/ 721 h 296"/>
                <a:gd name="T92" fmla="*/ 861 w 614"/>
                <a:gd name="T93" fmla="*/ 684 h 296"/>
                <a:gd name="T94" fmla="*/ 883 w 614"/>
                <a:gd name="T95" fmla="*/ 647 h 296"/>
                <a:gd name="T96" fmla="*/ 901 w 614"/>
                <a:gd name="T97" fmla="*/ 609 h 296"/>
                <a:gd name="T98" fmla="*/ 914 w 614"/>
                <a:gd name="T99" fmla="*/ 561 h 296"/>
                <a:gd name="T100" fmla="*/ 925 w 614"/>
                <a:gd name="T101" fmla="*/ 523 h 296"/>
                <a:gd name="T102" fmla="*/ 928 w 614"/>
                <a:gd name="T103" fmla="*/ 477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0"/>
                  </a:lnTo>
                  <a:lnTo>
                    <a:pt x="613" y="133"/>
                  </a:lnTo>
                  <a:lnTo>
                    <a:pt x="611" y="126"/>
                  </a:lnTo>
                  <a:lnTo>
                    <a:pt x="607" y="118"/>
                  </a:lnTo>
                  <a:lnTo>
                    <a:pt x="604" y="111"/>
                  </a:lnTo>
                  <a:lnTo>
                    <a:pt x="601" y="105"/>
                  </a:lnTo>
                  <a:lnTo>
                    <a:pt x="595" y="98"/>
                  </a:lnTo>
                  <a:lnTo>
                    <a:pt x="590" y="90"/>
                  </a:lnTo>
                  <a:lnTo>
                    <a:pt x="583" y="85"/>
                  </a:lnTo>
                  <a:lnTo>
                    <a:pt x="578" y="78"/>
                  </a:lnTo>
                  <a:lnTo>
                    <a:pt x="569" y="72"/>
                  </a:lnTo>
                  <a:lnTo>
                    <a:pt x="562" y="66"/>
                  </a:lnTo>
                  <a:lnTo>
                    <a:pt x="553" y="61"/>
                  </a:lnTo>
                  <a:lnTo>
                    <a:pt x="545" y="55"/>
                  </a:lnTo>
                  <a:lnTo>
                    <a:pt x="534" y="50"/>
                  </a:lnTo>
                  <a:lnTo>
                    <a:pt x="524" y="44"/>
                  </a:lnTo>
                  <a:lnTo>
                    <a:pt x="513" y="39"/>
                  </a:lnTo>
                  <a:lnTo>
                    <a:pt x="503" y="35"/>
                  </a:lnTo>
                  <a:lnTo>
                    <a:pt x="491" y="29"/>
                  </a:lnTo>
                  <a:lnTo>
                    <a:pt x="478" y="26"/>
                  </a:lnTo>
                  <a:lnTo>
                    <a:pt x="454" y="18"/>
                  </a:lnTo>
                  <a:lnTo>
                    <a:pt x="426" y="13"/>
                  </a:lnTo>
                  <a:lnTo>
                    <a:pt x="398" y="7"/>
                  </a:lnTo>
                  <a:lnTo>
                    <a:pt x="368" y="4"/>
                  </a:lnTo>
                  <a:lnTo>
                    <a:pt x="339" y="2"/>
                  </a:lnTo>
                  <a:lnTo>
                    <a:pt x="307" y="0"/>
                  </a:lnTo>
                  <a:lnTo>
                    <a:pt x="276" y="2"/>
                  </a:lnTo>
                  <a:lnTo>
                    <a:pt x="245" y="4"/>
                  </a:lnTo>
                  <a:lnTo>
                    <a:pt x="215" y="7"/>
                  </a:lnTo>
                  <a:lnTo>
                    <a:pt x="187" y="13"/>
                  </a:lnTo>
                  <a:lnTo>
                    <a:pt x="161" y="18"/>
                  </a:lnTo>
                  <a:lnTo>
                    <a:pt x="135" y="26"/>
                  </a:lnTo>
                  <a:lnTo>
                    <a:pt x="124" y="29"/>
                  </a:lnTo>
                  <a:lnTo>
                    <a:pt x="112" y="35"/>
                  </a:lnTo>
                  <a:lnTo>
                    <a:pt x="100" y="39"/>
                  </a:lnTo>
                  <a:lnTo>
                    <a:pt x="89" y="44"/>
                  </a:lnTo>
                  <a:lnTo>
                    <a:pt x="81" y="50"/>
                  </a:lnTo>
                  <a:lnTo>
                    <a:pt x="70" y="55"/>
                  </a:lnTo>
                  <a:lnTo>
                    <a:pt x="61" y="61"/>
                  </a:lnTo>
                  <a:lnTo>
                    <a:pt x="53" y="66"/>
                  </a:lnTo>
                  <a:lnTo>
                    <a:pt x="44" y="72"/>
                  </a:lnTo>
                  <a:lnTo>
                    <a:pt x="37" y="78"/>
                  </a:lnTo>
                  <a:lnTo>
                    <a:pt x="30" y="85"/>
                  </a:lnTo>
                  <a:lnTo>
                    <a:pt x="25" y="90"/>
                  </a:lnTo>
                  <a:lnTo>
                    <a:pt x="20" y="98"/>
                  </a:lnTo>
                  <a:lnTo>
                    <a:pt x="14" y="105"/>
                  </a:lnTo>
                  <a:lnTo>
                    <a:pt x="9" y="111"/>
                  </a:lnTo>
                  <a:lnTo>
                    <a:pt x="6" y="118"/>
                  </a:lnTo>
                  <a:lnTo>
                    <a:pt x="4" y="126"/>
                  </a:lnTo>
                  <a:lnTo>
                    <a:pt x="2" y="133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7"/>
                  </a:lnTo>
                  <a:lnTo>
                    <a:pt x="2" y="164"/>
                  </a:lnTo>
                  <a:lnTo>
                    <a:pt x="4" y="172"/>
                  </a:lnTo>
                  <a:lnTo>
                    <a:pt x="6" y="179"/>
                  </a:lnTo>
                  <a:lnTo>
                    <a:pt x="9" y="185"/>
                  </a:lnTo>
                  <a:lnTo>
                    <a:pt x="14" y="192"/>
                  </a:lnTo>
                  <a:lnTo>
                    <a:pt x="20" y="200"/>
                  </a:lnTo>
                  <a:lnTo>
                    <a:pt x="25" y="207"/>
                  </a:lnTo>
                  <a:lnTo>
                    <a:pt x="30" y="213"/>
                  </a:lnTo>
                  <a:lnTo>
                    <a:pt x="37" y="220"/>
                  </a:lnTo>
                  <a:lnTo>
                    <a:pt x="44" y="225"/>
                  </a:lnTo>
                  <a:lnTo>
                    <a:pt x="53" y="231"/>
                  </a:lnTo>
                  <a:lnTo>
                    <a:pt x="61" y="237"/>
                  </a:lnTo>
                  <a:lnTo>
                    <a:pt x="70" y="242"/>
                  </a:lnTo>
                  <a:lnTo>
                    <a:pt x="81" y="248"/>
                  </a:lnTo>
                  <a:lnTo>
                    <a:pt x="89" y="253"/>
                  </a:lnTo>
                  <a:lnTo>
                    <a:pt x="100" y="259"/>
                  </a:lnTo>
                  <a:lnTo>
                    <a:pt x="112" y="262"/>
                  </a:lnTo>
                  <a:lnTo>
                    <a:pt x="124" y="268"/>
                  </a:lnTo>
                  <a:lnTo>
                    <a:pt x="135" y="272"/>
                  </a:lnTo>
                  <a:lnTo>
                    <a:pt x="161" y="279"/>
                  </a:lnTo>
                  <a:lnTo>
                    <a:pt x="187" y="285"/>
                  </a:lnTo>
                  <a:lnTo>
                    <a:pt x="215" y="290"/>
                  </a:lnTo>
                  <a:lnTo>
                    <a:pt x="245" y="294"/>
                  </a:lnTo>
                  <a:lnTo>
                    <a:pt x="276" y="296"/>
                  </a:lnTo>
                  <a:lnTo>
                    <a:pt x="307" y="296"/>
                  </a:lnTo>
                  <a:lnTo>
                    <a:pt x="339" y="296"/>
                  </a:lnTo>
                  <a:lnTo>
                    <a:pt x="368" y="294"/>
                  </a:lnTo>
                  <a:lnTo>
                    <a:pt x="398" y="290"/>
                  </a:lnTo>
                  <a:lnTo>
                    <a:pt x="426" y="285"/>
                  </a:lnTo>
                  <a:lnTo>
                    <a:pt x="454" y="279"/>
                  </a:lnTo>
                  <a:lnTo>
                    <a:pt x="478" y="272"/>
                  </a:lnTo>
                  <a:lnTo>
                    <a:pt x="491" y="268"/>
                  </a:lnTo>
                  <a:lnTo>
                    <a:pt x="503" y="262"/>
                  </a:lnTo>
                  <a:lnTo>
                    <a:pt x="513" y="259"/>
                  </a:lnTo>
                  <a:lnTo>
                    <a:pt x="524" y="253"/>
                  </a:lnTo>
                  <a:lnTo>
                    <a:pt x="534" y="248"/>
                  </a:lnTo>
                  <a:lnTo>
                    <a:pt x="545" y="242"/>
                  </a:lnTo>
                  <a:lnTo>
                    <a:pt x="553" y="237"/>
                  </a:lnTo>
                  <a:lnTo>
                    <a:pt x="562" y="231"/>
                  </a:lnTo>
                  <a:lnTo>
                    <a:pt x="569" y="225"/>
                  </a:lnTo>
                  <a:lnTo>
                    <a:pt x="578" y="220"/>
                  </a:lnTo>
                  <a:lnTo>
                    <a:pt x="583" y="213"/>
                  </a:lnTo>
                  <a:lnTo>
                    <a:pt x="590" y="207"/>
                  </a:lnTo>
                  <a:lnTo>
                    <a:pt x="595" y="200"/>
                  </a:lnTo>
                  <a:lnTo>
                    <a:pt x="601" y="192"/>
                  </a:lnTo>
                  <a:lnTo>
                    <a:pt x="604" y="185"/>
                  </a:lnTo>
                  <a:lnTo>
                    <a:pt x="607" y="179"/>
                  </a:lnTo>
                  <a:lnTo>
                    <a:pt x="611" y="172"/>
                  </a:lnTo>
                  <a:lnTo>
                    <a:pt x="613" y="164"/>
                  </a:lnTo>
                  <a:lnTo>
                    <a:pt x="614" y="157"/>
                  </a:lnTo>
                  <a:lnTo>
                    <a:pt x="614" y="148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4828" name="Rectangle 14"/>
            <p:cNvSpPr>
              <a:spLocks noChangeArrowheads="1"/>
            </p:cNvSpPr>
            <p:nvPr/>
          </p:nvSpPr>
          <p:spPr bwMode="auto">
            <a:xfrm>
              <a:off x="1336" y="1807"/>
              <a:ext cx="39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วันที่สั่ง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29" name="Freeform 16"/>
            <p:cNvSpPr>
              <a:spLocks/>
            </p:cNvSpPr>
            <p:nvPr/>
          </p:nvSpPr>
          <p:spPr bwMode="auto">
            <a:xfrm>
              <a:off x="1973" y="1706"/>
              <a:ext cx="837" cy="506"/>
            </a:xfrm>
            <a:custGeom>
              <a:avLst/>
              <a:gdLst>
                <a:gd name="T0" fmla="*/ 2120 w 614"/>
                <a:gd name="T1" fmla="*/ 1195 h 296"/>
                <a:gd name="T2" fmla="*/ 2112 w 614"/>
                <a:gd name="T3" fmla="*/ 1075 h 296"/>
                <a:gd name="T4" fmla="*/ 2086 w 614"/>
                <a:gd name="T5" fmla="*/ 950 h 296"/>
                <a:gd name="T6" fmla="*/ 2056 w 614"/>
                <a:gd name="T7" fmla="*/ 839 h 296"/>
                <a:gd name="T8" fmla="*/ 2015 w 614"/>
                <a:gd name="T9" fmla="*/ 725 h 296"/>
                <a:gd name="T10" fmla="*/ 1966 w 614"/>
                <a:gd name="T11" fmla="*/ 614 h 296"/>
                <a:gd name="T12" fmla="*/ 1910 w 614"/>
                <a:gd name="T13" fmla="*/ 520 h 296"/>
                <a:gd name="T14" fmla="*/ 1843 w 614"/>
                <a:gd name="T15" fmla="*/ 424 h 296"/>
                <a:gd name="T16" fmla="*/ 1771 w 614"/>
                <a:gd name="T17" fmla="*/ 337 h 296"/>
                <a:gd name="T18" fmla="*/ 1693 w 614"/>
                <a:gd name="T19" fmla="*/ 248 h 296"/>
                <a:gd name="T20" fmla="*/ 1569 w 614"/>
                <a:gd name="T21" fmla="*/ 156 h 296"/>
                <a:gd name="T22" fmla="*/ 1375 w 614"/>
                <a:gd name="T23" fmla="*/ 62 h 296"/>
                <a:gd name="T24" fmla="*/ 1171 w 614"/>
                <a:gd name="T25" fmla="*/ 15 h 296"/>
                <a:gd name="T26" fmla="*/ 953 w 614"/>
                <a:gd name="T27" fmla="*/ 15 h 296"/>
                <a:gd name="T28" fmla="*/ 742 w 614"/>
                <a:gd name="T29" fmla="*/ 62 h 296"/>
                <a:gd name="T30" fmla="*/ 556 w 614"/>
                <a:gd name="T31" fmla="*/ 156 h 296"/>
                <a:gd name="T32" fmla="*/ 428 w 614"/>
                <a:gd name="T33" fmla="*/ 248 h 296"/>
                <a:gd name="T34" fmla="*/ 342 w 614"/>
                <a:gd name="T35" fmla="*/ 337 h 296"/>
                <a:gd name="T36" fmla="*/ 277 w 614"/>
                <a:gd name="T37" fmla="*/ 424 h 296"/>
                <a:gd name="T38" fmla="*/ 210 w 614"/>
                <a:gd name="T39" fmla="*/ 520 h 296"/>
                <a:gd name="T40" fmla="*/ 153 w 614"/>
                <a:gd name="T41" fmla="*/ 614 h 296"/>
                <a:gd name="T42" fmla="*/ 104 w 614"/>
                <a:gd name="T43" fmla="*/ 725 h 296"/>
                <a:gd name="T44" fmla="*/ 65 w 614"/>
                <a:gd name="T45" fmla="*/ 839 h 296"/>
                <a:gd name="T46" fmla="*/ 30 w 614"/>
                <a:gd name="T47" fmla="*/ 950 h 296"/>
                <a:gd name="T48" fmla="*/ 14 w 614"/>
                <a:gd name="T49" fmla="*/ 1075 h 296"/>
                <a:gd name="T50" fmla="*/ 0 w 614"/>
                <a:gd name="T51" fmla="*/ 1195 h 296"/>
                <a:gd name="T52" fmla="*/ 0 w 614"/>
                <a:gd name="T53" fmla="*/ 1339 h 296"/>
                <a:gd name="T54" fmla="*/ 14 w 614"/>
                <a:gd name="T55" fmla="*/ 1470 h 296"/>
                <a:gd name="T56" fmla="*/ 30 w 614"/>
                <a:gd name="T57" fmla="*/ 1578 h 296"/>
                <a:gd name="T58" fmla="*/ 65 w 614"/>
                <a:gd name="T59" fmla="*/ 1709 h 296"/>
                <a:gd name="T60" fmla="*/ 104 w 614"/>
                <a:gd name="T61" fmla="*/ 1817 h 296"/>
                <a:gd name="T62" fmla="*/ 153 w 614"/>
                <a:gd name="T63" fmla="*/ 1923 h 296"/>
                <a:gd name="T64" fmla="*/ 210 w 614"/>
                <a:gd name="T65" fmla="*/ 2022 h 296"/>
                <a:gd name="T66" fmla="*/ 277 w 614"/>
                <a:gd name="T67" fmla="*/ 2118 h 296"/>
                <a:gd name="T68" fmla="*/ 342 w 614"/>
                <a:gd name="T69" fmla="*/ 2212 h 296"/>
                <a:gd name="T70" fmla="*/ 428 w 614"/>
                <a:gd name="T71" fmla="*/ 2289 h 296"/>
                <a:gd name="T72" fmla="*/ 556 w 614"/>
                <a:gd name="T73" fmla="*/ 2381 h 296"/>
                <a:gd name="T74" fmla="*/ 742 w 614"/>
                <a:gd name="T75" fmla="*/ 2479 h 296"/>
                <a:gd name="T76" fmla="*/ 953 w 614"/>
                <a:gd name="T77" fmla="*/ 2528 h 296"/>
                <a:gd name="T78" fmla="*/ 1171 w 614"/>
                <a:gd name="T79" fmla="*/ 2528 h 296"/>
                <a:gd name="T80" fmla="*/ 1375 w 614"/>
                <a:gd name="T81" fmla="*/ 2479 h 296"/>
                <a:gd name="T82" fmla="*/ 1569 w 614"/>
                <a:gd name="T83" fmla="*/ 2381 h 296"/>
                <a:gd name="T84" fmla="*/ 1693 w 614"/>
                <a:gd name="T85" fmla="*/ 2289 h 296"/>
                <a:gd name="T86" fmla="*/ 1771 w 614"/>
                <a:gd name="T87" fmla="*/ 2212 h 296"/>
                <a:gd name="T88" fmla="*/ 1843 w 614"/>
                <a:gd name="T89" fmla="*/ 2118 h 296"/>
                <a:gd name="T90" fmla="*/ 1910 w 614"/>
                <a:gd name="T91" fmla="*/ 2022 h 296"/>
                <a:gd name="T92" fmla="*/ 1966 w 614"/>
                <a:gd name="T93" fmla="*/ 1923 h 296"/>
                <a:gd name="T94" fmla="*/ 2015 w 614"/>
                <a:gd name="T95" fmla="*/ 1817 h 296"/>
                <a:gd name="T96" fmla="*/ 2056 w 614"/>
                <a:gd name="T97" fmla="*/ 1709 h 296"/>
                <a:gd name="T98" fmla="*/ 2086 w 614"/>
                <a:gd name="T99" fmla="*/ 1578 h 296"/>
                <a:gd name="T100" fmla="*/ 2112 w 614"/>
                <a:gd name="T101" fmla="*/ 1470 h 296"/>
                <a:gd name="T102" fmla="*/ 2120 w 614"/>
                <a:gd name="T103" fmla="*/ 1339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0"/>
                  </a:lnTo>
                  <a:lnTo>
                    <a:pt x="612" y="133"/>
                  </a:lnTo>
                  <a:lnTo>
                    <a:pt x="611" y="126"/>
                  </a:lnTo>
                  <a:lnTo>
                    <a:pt x="607" y="118"/>
                  </a:lnTo>
                  <a:lnTo>
                    <a:pt x="604" y="111"/>
                  </a:lnTo>
                  <a:lnTo>
                    <a:pt x="600" y="105"/>
                  </a:lnTo>
                  <a:lnTo>
                    <a:pt x="595" y="98"/>
                  </a:lnTo>
                  <a:lnTo>
                    <a:pt x="590" y="90"/>
                  </a:lnTo>
                  <a:lnTo>
                    <a:pt x="583" y="85"/>
                  </a:lnTo>
                  <a:lnTo>
                    <a:pt x="578" y="78"/>
                  </a:lnTo>
                  <a:lnTo>
                    <a:pt x="569" y="72"/>
                  </a:lnTo>
                  <a:lnTo>
                    <a:pt x="562" y="66"/>
                  </a:lnTo>
                  <a:lnTo>
                    <a:pt x="553" y="61"/>
                  </a:lnTo>
                  <a:lnTo>
                    <a:pt x="544" y="55"/>
                  </a:lnTo>
                  <a:lnTo>
                    <a:pt x="534" y="50"/>
                  </a:lnTo>
                  <a:lnTo>
                    <a:pt x="523" y="44"/>
                  </a:lnTo>
                  <a:lnTo>
                    <a:pt x="513" y="39"/>
                  </a:lnTo>
                  <a:lnTo>
                    <a:pt x="503" y="35"/>
                  </a:lnTo>
                  <a:lnTo>
                    <a:pt x="490" y="29"/>
                  </a:lnTo>
                  <a:lnTo>
                    <a:pt x="478" y="26"/>
                  </a:lnTo>
                  <a:lnTo>
                    <a:pt x="454" y="18"/>
                  </a:lnTo>
                  <a:lnTo>
                    <a:pt x="426" y="13"/>
                  </a:lnTo>
                  <a:lnTo>
                    <a:pt x="398" y="7"/>
                  </a:lnTo>
                  <a:lnTo>
                    <a:pt x="368" y="4"/>
                  </a:lnTo>
                  <a:lnTo>
                    <a:pt x="339" y="2"/>
                  </a:lnTo>
                  <a:lnTo>
                    <a:pt x="307" y="0"/>
                  </a:lnTo>
                  <a:lnTo>
                    <a:pt x="276" y="2"/>
                  </a:lnTo>
                  <a:lnTo>
                    <a:pt x="244" y="4"/>
                  </a:lnTo>
                  <a:lnTo>
                    <a:pt x="215" y="7"/>
                  </a:lnTo>
                  <a:lnTo>
                    <a:pt x="187" y="13"/>
                  </a:lnTo>
                  <a:lnTo>
                    <a:pt x="161" y="18"/>
                  </a:lnTo>
                  <a:lnTo>
                    <a:pt x="134" y="26"/>
                  </a:lnTo>
                  <a:lnTo>
                    <a:pt x="124" y="29"/>
                  </a:lnTo>
                  <a:lnTo>
                    <a:pt x="112" y="35"/>
                  </a:lnTo>
                  <a:lnTo>
                    <a:pt x="99" y="39"/>
                  </a:lnTo>
                  <a:lnTo>
                    <a:pt x="89" y="44"/>
                  </a:lnTo>
                  <a:lnTo>
                    <a:pt x="80" y="50"/>
                  </a:lnTo>
                  <a:lnTo>
                    <a:pt x="70" y="55"/>
                  </a:lnTo>
                  <a:lnTo>
                    <a:pt x="61" y="61"/>
                  </a:lnTo>
                  <a:lnTo>
                    <a:pt x="52" y="66"/>
                  </a:lnTo>
                  <a:lnTo>
                    <a:pt x="44" y="72"/>
                  </a:lnTo>
                  <a:lnTo>
                    <a:pt x="37" y="78"/>
                  </a:lnTo>
                  <a:lnTo>
                    <a:pt x="30" y="85"/>
                  </a:lnTo>
                  <a:lnTo>
                    <a:pt x="24" y="90"/>
                  </a:lnTo>
                  <a:lnTo>
                    <a:pt x="19" y="98"/>
                  </a:lnTo>
                  <a:lnTo>
                    <a:pt x="14" y="105"/>
                  </a:lnTo>
                  <a:lnTo>
                    <a:pt x="9" y="111"/>
                  </a:lnTo>
                  <a:lnTo>
                    <a:pt x="5" y="118"/>
                  </a:lnTo>
                  <a:lnTo>
                    <a:pt x="4" y="126"/>
                  </a:lnTo>
                  <a:lnTo>
                    <a:pt x="2" y="133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7"/>
                  </a:lnTo>
                  <a:lnTo>
                    <a:pt x="2" y="164"/>
                  </a:lnTo>
                  <a:lnTo>
                    <a:pt x="4" y="172"/>
                  </a:lnTo>
                  <a:lnTo>
                    <a:pt x="5" y="179"/>
                  </a:lnTo>
                  <a:lnTo>
                    <a:pt x="9" y="185"/>
                  </a:lnTo>
                  <a:lnTo>
                    <a:pt x="14" y="192"/>
                  </a:lnTo>
                  <a:lnTo>
                    <a:pt x="19" y="200"/>
                  </a:lnTo>
                  <a:lnTo>
                    <a:pt x="24" y="207"/>
                  </a:lnTo>
                  <a:lnTo>
                    <a:pt x="30" y="213"/>
                  </a:lnTo>
                  <a:lnTo>
                    <a:pt x="37" y="220"/>
                  </a:lnTo>
                  <a:lnTo>
                    <a:pt x="44" y="225"/>
                  </a:lnTo>
                  <a:lnTo>
                    <a:pt x="52" y="231"/>
                  </a:lnTo>
                  <a:lnTo>
                    <a:pt x="61" y="237"/>
                  </a:lnTo>
                  <a:lnTo>
                    <a:pt x="70" y="242"/>
                  </a:lnTo>
                  <a:lnTo>
                    <a:pt x="80" y="248"/>
                  </a:lnTo>
                  <a:lnTo>
                    <a:pt x="89" y="253"/>
                  </a:lnTo>
                  <a:lnTo>
                    <a:pt x="99" y="259"/>
                  </a:lnTo>
                  <a:lnTo>
                    <a:pt x="112" y="262"/>
                  </a:lnTo>
                  <a:lnTo>
                    <a:pt x="124" y="268"/>
                  </a:lnTo>
                  <a:lnTo>
                    <a:pt x="134" y="272"/>
                  </a:lnTo>
                  <a:lnTo>
                    <a:pt x="161" y="279"/>
                  </a:lnTo>
                  <a:lnTo>
                    <a:pt x="187" y="285"/>
                  </a:lnTo>
                  <a:lnTo>
                    <a:pt x="215" y="290"/>
                  </a:lnTo>
                  <a:lnTo>
                    <a:pt x="244" y="294"/>
                  </a:lnTo>
                  <a:lnTo>
                    <a:pt x="276" y="296"/>
                  </a:lnTo>
                  <a:lnTo>
                    <a:pt x="307" y="296"/>
                  </a:lnTo>
                  <a:lnTo>
                    <a:pt x="339" y="296"/>
                  </a:lnTo>
                  <a:lnTo>
                    <a:pt x="368" y="294"/>
                  </a:lnTo>
                  <a:lnTo>
                    <a:pt x="398" y="290"/>
                  </a:lnTo>
                  <a:lnTo>
                    <a:pt x="426" y="285"/>
                  </a:lnTo>
                  <a:lnTo>
                    <a:pt x="454" y="279"/>
                  </a:lnTo>
                  <a:lnTo>
                    <a:pt x="478" y="272"/>
                  </a:lnTo>
                  <a:lnTo>
                    <a:pt x="490" y="268"/>
                  </a:lnTo>
                  <a:lnTo>
                    <a:pt x="503" y="262"/>
                  </a:lnTo>
                  <a:lnTo>
                    <a:pt x="513" y="259"/>
                  </a:lnTo>
                  <a:lnTo>
                    <a:pt x="523" y="253"/>
                  </a:lnTo>
                  <a:lnTo>
                    <a:pt x="534" y="248"/>
                  </a:lnTo>
                  <a:lnTo>
                    <a:pt x="544" y="242"/>
                  </a:lnTo>
                  <a:lnTo>
                    <a:pt x="553" y="237"/>
                  </a:lnTo>
                  <a:lnTo>
                    <a:pt x="562" y="231"/>
                  </a:lnTo>
                  <a:lnTo>
                    <a:pt x="569" y="225"/>
                  </a:lnTo>
                  <a:lnTo>
                    <a:pt x="578" y="220"/>
                  </a:lnTo>
                  <a:lnTo>
                    <a:pt x="583" y="213"/>
                  </a:lnTo>
                  <a:lnTo>
                    <a:pt x="590" y="207"/>
                  </a:lnTo>
                  <a:lnTo>
                    <a:pt x="595" y="200"/>
                  </a:lnTo>
                  <a:lnTo>
                    <a:pt x="600" y="192"/>
                  </a:lnTo>
                  <a:lnTo>
                    <a:pt x="604" y="185"/>
                  </a:lnTo>
                  <a:lnTo>
                    <a:pt x="607" y="179"/>
                  </a:lnTo>
                  <a:lnTo>
                    <a:pt x="611" y="172"/>
                  </a:lnTo>
                  <a:lnTo>
                    <a:pt x="612" y="164"/>
                  </a:lnTo>
                  <a:lnTo>
                    <a:pt x="614" y="157"/>
                  </a:lnTo>
                  <a:lnTo>
                    <a:pt x="614" y="148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4830" name="Rectangle 17"/>
            <p:cNvSpPr>
              <a:spLocks noChangeArrowheads="1"/>
            </p:cNvSpPr>
            <p:nvPr/>
          </p:nvSpPr>
          <p:spPr bwMode="auto">
            <a:xfrm>
              <a:off x="2064" y="1842"/>
              <a:ext cx="6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วันที่ส่งของ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31" name="Line 18"/>
            <p:cNvSpPr>
              <a:spLocks noChangeShapeType="1"/>
            </p:cNvSpPr>
            <p:nvPr/>
          </p:nvSpPr>
          <p:spPr bwMode="auto">
            <a:xfrm>
              <a:off x="744" y="2181"/>
              <a:ext cx="556" cy="46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32" name="Line 19"/>
            <p:cNvSpPr>
              <a:spLocks noChangeShapeType="1"/>
            </p:cNvSpPr>
            <p:nvPr/>
          </p:nvSpPr>
          <p:spPr bwMode="auto">
            <a:xfrm>
              <a:off x="1578" y="2181"/>
              <a:ext cx="2" cy="46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33" name="Line 20"/>
            <p:cNvSpPr>
              <a:spLocks noChangeShapeType="1"/>
            </p:cNvSpPr>
            <p:nvPr/>
          </p:nvSpPr>
          <p:spPr bwMode="auto">
            <a:xfrm flipV="1">
              <a:off x="1827" y="2190"/>
              <a:ext cx="494" cy="46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34" name="Freeform 21"/>
            <p:cNvSpPr>
              <a:spLocks/>
            </p:cNvSpPr>
            <p:nvPr/>
          </p:nvSpPr>
          <p:spPr bwMode="auto">
            <a:xfrm>
              <a:off x="2414" y="2670"/>
              <a:ext cx="927" cy="586"/>
            </a:xfrm>
            <a:custGeom>
              <a:avLst/>
              <a:gdLst>
                <a:gd name="T0" fmla="*/ 0 w 837"/>
                <a:gd name="T1" fmla="*/ 674 h 444"/>
                <a:gd name="T2" fmla="*/ 630 w 837"/>
                <a:gd name="T3" fmla="*/ 0 h 444"/>
                <a:gd name="T4" fmla="*/ 1259 w 837"/>
                <a:gd name="T5" fmla="*/ 674 h 444"/>
                <a:gd name="T6" fmla="*/ 630 w 837"/>
                <a:gd name="T7" fmla="*/ 1346 h 444"/>
                <a:gd name="T8" fmla="*/ 0 w 837"/>
                <a:gd name="T9" fmla="*/ 674 h 4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7" h="444">
                  <a:moveTo>
                    <a:pt x="0" y="222"/>
                  </a:moveTo>
                  <a:lnTo>
                    <a:pt x="419" y="0"/>
                  </a:lnTo>
                  <a:lnTo>
                    <a:pt x="837" y="222"/>
                  </a:lnTo>
                  <a:lnTo>
                    <a:pt x="419" y="444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35" name="Freeform 22"/>
            <p:cNvSpPr>
              <a:spLocks/>
            </p:cNvSpPr>
            <p:nvPr/>
          </p:nvSpPr>
          <p:spPr bwMode="auto">
            <a:xfrm>
              <a:off x="2414" y="2670"/>
              <a:ext cx="927" cy="586"/>
            </a:xfrm>
            <a:custGeom>
              <a:avLst/>
              <a:gdLst>
                <a:gd name="T0" fmla="*/ 0 w 837"/>
                <a:gd name="T1" fmla="*/ 674 h 444"/>
                <a:gd name="T2" fmla="*/ 630 w 837"/>
                <a:gd name="T3" fmla="*/ 0 h 444"/>
                <a:gd name="T4" fmla="*/ 1259 w 837"/>
                <a:gd name="T5" fmla="*/ 674 h 444"/>
                <a:gd name="T6" fmla="*/ 630 w 837"/>
                <a:gd name="T7" fmla="*/ 1346 h 444"/>
                <a:gd name="T8" fmla="*/ 0 w 837"/>
                <a:gd name="T9" fmla="*/ 674 h 4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7" h="444">
                  <a:moveTo>
                    <a:pt x="0" y="222"/>
                  </a:moveTo>
                  <a:lnTo>
                    <a:pt x="419" y="0"/>
                  </a:lnTo>
                  <a:lnTo>
                    <a:pt x="837" y="222"/>
                  </a:lnTo>
                  <a:lnTo>
                    <a:pt x="419" y="444"/>
                  </a:lnTo>
                  <a:lnTo>
                    <a:pt x="0" y="222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36" name="Rectangle 23"/>
            <p:cNvSpPr>
              <a:spLocks noChangeArrowheads="1"/>
            </p:cNvSpPr>
            <p:nvPr/>
          </p:nvSpPr>
          <p:spPr bwMode="auto">
            <a:xfrm>
              <a:off x="2608" y="2840"/>
              <a:ext cx="68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1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สั่งรายการ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37" name="Rectangle 24"/>
            <p:cNvSpPr>
              <a:spLocks noChangeArrowheads="1"/>
            </p:cNvSpPr>
            <p:nvPr/>
          </p:nvSpPr>
          <p:spPr bwMode="auto">
            <a:xfrm>
              <a:off x="3805" y="2650"/>
              <a:ext cx="928" cy="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38" name="Rectangle 25"/>
            <p:cNvSpPr>
              <a:spLocks noChangeArrowheads="1"/>
            </p:cNvSpPr>
            <p:nvPr/>
          </p:nvSpPr>
          <p:spPr bwMode="auto">
            <a:xfrm>
              <a:off x="3805" y="2650"/>
              <a:ext cx="928" cy="58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39" name="Rectangle 26"/>
            <p:cNvSpPr>
              <a:spLocks noChangeArrowheads="1"/>
            </p:cNvSpPr>
            <p:nvPr/>
          </p:nvSpPr>
          <p:spPr bwMode="auto">
            <a:xfrm>
              <a:off x="3969" y="2750"/>
              <a:ext cx="469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7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สินค้า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40" name="Freeform 28"/>
            <p:cNvSpPr>
              <a:spLocks/>
            </p:cNvSpPr>
            <p:nvPr/>
          </p:nvSpPr>
          <p:spPr bwMode="auto">
            <a:xfrm>
              <a:off x="2925" y="1661"/>
              <a:ext cx="818" cy="500"/>
            </a:xfrm>
            <a:custGeom>
              <a:avLst/>
              <a:gdLst>
                <a:gd name="T0" fmla="*/ 1934 w 614"/>
                <a:gd name="T1" fmla="*/ 1147 h 296"/>
                <a:gd name="T2" fmla="*/ 1924 w 614"/>
                <a:gd name="T3" fmla="*/ 1027 h 296"/>
                <a:gd name="T4" fmla="*/ 1902 w 614"/>
                <a:gd name="T5" fmla="*/ 907 h 296"/>
                <a:gd name="T6" fmla="*/ 1874 w 614"/>
                <a:gd name="T7" fmla="*/ 799 h 296"/>
                <a:gd name="T8" fmla="*/ 1837 w 614"/>
                <a:gd name="T9" fmla="*/ 693 h 296"/>
                <a:gd name="T10" fmla="*/ 1793 w 614"/>
                <a:gd name="T11" fmla="*/ 588 h 296"/>
                <a:gd name="T12" fmla="*/ 1743 w 614"/>
                <a:gd name="T13" fmla="*/ 497 h 296"/>
                <a:gd name="T14" fmla="*/ 1681 w 614"/>
                <a:gd name="T15" fmla="*/ 405 h 296"/>
                <a:gd name="T16" fmla="*/ 1615 w 614"/>
                <a:gd name="T17" fmla="*/ 318 h 296"/>
                <a:gd name="T18" fmla="*/ 1544 w 614"/>
                <a:gd name="T19" fmla="*/ 245 h 296"/>
                <a:gd name="T20" fmla="*/ 1431 w 614"/>
                <a:gd name="T21" fmla="*/ 154 h 296"/>
                <a:gd name="T22" fmla="*/ 1254 w 614"/>
                <a:gd name="T23" fmla="*/ 57 h 296"/>
                <a:gd name="T24" fmla="*/ 1068 w 614"/>
                <a:gd name="T25" fmla="*/ 14 h 296"/>
                <a:gd name="T26" fmla="*/ 870 w 614"/>
                <a:gd name="T27" fmla="*/ 14 h 296"/>
                <a:gd name="T28" fmla="*/ 677 w 614"/>
                <a:gd name="T29" fmla="*/ 57 h 296"/>
                <a:gd name="T30" fmla="*/ 506 w 614"/>
                <a:gd name="T31" fmla="*/ 154 h 296"/>
                <a:gd name="T32" fmla="*/ 390 w 614"/>
                <a:gd name="T33" fmla="*/ 245 h 296"/>
                <a:gd name="T34" fmla="*/ 314 w 614"/>
                <a:gd name="T35" fmla="*/ 318 h 296"/>
                <a:gd name="T36" fmla="*/ 254 w 614"/>
                <a:gd name="T37" fmla="*/ 405 h 296"/>
                <a:gd name="T38" fmla="*/ 192 w 614"/>
                <a:gd name="T39" fmla="*/ 497 h 296"/>
                <a:gd name="T40" fmla="*/ 140 w 614"/>
                <a:gd name="T41" fmla="*/ 588 h 296"/>
                <a:gd name="T42" fmla="*/ 95 w 614"/>
                <a:gd name="T43" fmla="*/ 693 h 296"/>
                <a:gd name="T44" fmla="*/ 59 w 614"/>
                <a:gd name="T45" fmla="*/ 799 h 296"/>
                <a:gd name="T46" fmla="*/ 28 w 614"/>
                <a:gd name="T47" fmla="*/ 907 h 296"/>
                <a:gd name="T48" fmla="*/ 12 w 614"/>
                <a:gd name="T49" fmla="*/ 1027 h 296"/>
                <a:gd name="T50" fmla="*/ 0 w 614"/>
                <a:gd name="T51" fmla="*/ 1147 h 296"/>
                <a:gd name="T52" fmla="*/ 0 w 614"/>
                <a:gd name="T53" fmla="*/ 1279 h 296"/>
                <a:gd name="T54" fmla="*/ 12 w 614"/>
                <a:gd name="T55" fmla="*/ 1404 h 296"/>
                <a:gd name="T56" fmla="*/ 28 w 614"/>
                <a:gd name="T57" fmla="*/ 1510 h 296"/>
                <a:gd name="T58" fmla="*/ 59 w 614"/>
                <a:gd name="T59" fmla="*/ 1630 h 296"/>
                <a:gd name="T60" fmla="*/ 95 w 614"/>
                <a:gd name="T61" fmla="*/ 1735 h 296"/>
                <a:gd name="T62" fmla="*/ 140 w 614"/>
                <a:gd name="T63" fmla="*/ 1841 h 296"/>
                <a:gd name="T64" fmla="*/ 192 w 614"/>
                <a:gd name="T65" fmla="*/ 1929 h 296"/>
                <a:gd name="T66" fmla="*/ 254 w 614"/>
                <a:gd name="T67" fmla="*/ 2020 h 296"/>
                <a:gd name="T68" fmla="*/ 314 w 614"/>
                <a:gd name="T69" fmla="*/ 2111 h 296"/>
                <a:gd name="T70" fmla="*/ 390 w 614"/>
                <a:gd name="T71" fmla="*/ 2182 h 296"/>
                <a:gd name="T72" fmla="*/ 506 w 614"/>
                <a:gd name="T73" fmla="*/ 2272 h 296"/>
                <a:gd name="T74" fmla="*/ 677 w 614"/>
                <a:gd name="T75" fmla="*/ 2363 h 296"/>
                <a:gd name="T76" fmla="*/ 870 w 614"/>
                <a:gd name="T77" fmla="*/ 2410 h 296"/>
                <a:gd name="T78" fmla="*/ 1068 w 614"/>
                <a:gd name="T79" fmla="*/ 2410 h 296"/>
                <a:gd name="T80" fmla="*/ 1254 w 614"/>
                <a:gd name="T81" fmla="*/ 2363 h 296"/>
                <a:gd name="T82" fmla="*/ 1431 w 614"/>
                <a:gd name="T83" fmla="*/ 2272 h 296"/>
                <a:gd name="T84" fmla="*/ 1544 w 614"/>
                <a:gd name="T85" fmla="*/ 2182 h 296"/>
                <a:gd name="T86" fmla="*/ 1615 w 614"/>
                <a:gd name="T87" fmla="*/ 2111 h 296"/>
                <a:gd name="T88" fmla="*/ 1681 w 614"/>
                <a:gd name="T89" fmla="*/ 2020 h 296"/>
                <a:gd name="T90" fmla="*/ 1743 w 614"/>
                <a:gd name="T91" fmla="*/ 1929 h 296"/>
                <a:gd name="T92" fmla="*/ 1793 w 614"/>
                <a:gd name="T93" fmla="*/ 1841 h 296"/>
                <a:gd name="T94" fmla="*/ 1837 w 614"/>
                <a:gd name="T95" fmla="*/ 1735 h 296"/>
                <a:gd name="T96" fmla="*/ 1874 w 614"/>
                <a:gd name="T97" fmla="*/ 1630 h 296"/>
                <a:gd name="T98" fmla="*/ 1902 w 614"/>
                <a:gd name="T99" fmla="*/ 1510 h 296"/>
                <a:gd name="T100" fmla="*/ 1924 w 614"/>
                <a:gd name="T101" fmla="*/ 1404 h 296"/>
                <a:gd name="T102" fmla="*/ 1934 w 614"/>
                <a:gd name="T103" fmla="*/ 1279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1"/>
                  </a:lnTo>
                  <a:lnTo>
                    <a:pt x="613" y="133"/>
                  </a:lnTo>
                  <a:lnTo>
                    <a:pt x="611" y="126"/>
                  </a:lnTo>
                  <a:lnTo>
                    <a:pt x="607" y="118"/>
                  </a:lnTo>
                  <a:lnTo>
                    <a:pt x="604" y="111"/>
                  </a:lnTo>
                  <a:lnTo>
                    <a:pt x="600" y="105"/>
                  </a:lnTo>
                  <a:lnTo>
                    <a:pt x="595" y="98"/>
                  </a:lnTo>
                  <a:lnTo>
                    <a:pt x="590" y="91"/>
                  </a:lnTo>
                  <a:lnTo>
                    <a:pt x="583" y="85"/>
                  </a:lnTo>
                  <a:lnTo>
                    <a:pt x="578" y="78"/>
                  </a:lnTo>
                  <a:lnTo>
                    <a:pt x="569" y="72"/>
                  </a:lnTo>
                  <a:lnTo>
                    <a:pt x="562" y="67"/>
                  </a:lnTo>
                  <a:lnTo>
                    <a:pt x="553" y="61"/>
                  </a:lnTo>
                  <a:lnTo>
                    <a:pt x="545" y="56"/>
                  </a:lnTo>
                  <a:lnTo>
                    <a:pt x="534" y="50"/>
                  </a:lnTo>
                  <a:lnTo>
                    <a:pt x="524" y="44"/>
                  </a:lnTo>
                  <a:lnTo>
                    <a:pt x="513" y="39"/>
                  </a:lnTo>
                  <a:lnTo>
                    <a:pt x="503" y="35"/>
                  </a:lnTo>
                  <a:lnTo>
                    <a:pt x="490" y="30"/>
                  </a:lnTo>
                  <a:lnTo>
                    <a:pt x="478" y="26"/>
                  </a:lnTo>
                  <a:lnTo>
                    <a:pt x="454" y="19"/>
                  </a:lnTo>
                  <a:lnTo>
                    <a:pt x="426" y="13"/>
                  </a:lnTo>
                  <a:lnTo>
                    <a:pt x="398" y="7"/>
                  </a:lnTo>
                  <a:lnTo>
                    <a:pt x="368" y="4"/>
                  </a:lnTo>
                  <a:lnTo>
                    <a:pt x="339" y="2"/>
                  </a:lnTo>
                  <a:lnTo>
                    <a:pt x="307" y="0"/>
                  </a:lnTo>
                  <a:lnTo>
                    <a:pt x="276" y="2"/>
                  </a:lnTo>
                  <a:lnTo>
                    <a:pt x="244" y="4"/>
                  </a:lnTo>
                  <a:lnTo>
                    <a:pt x="215" y="7"/>
                  </a:lnTo>
                  <a:lnTo>
                    <a:pt x="187" y="13"/>
                  </a:lnTo>
                  <a:lnTo>
                    <a:pt x="161" y="19"/>
                  </a:lnTo>
                  <a:lnTo>
                    <a:pt x="135" y="26"/>
                  </a:lnTo>
                  <a:lnTo>
                    <a:pt x="124" y="30"/>
                  </a:lnTo>
                  <a:lnTo>
                    <a:pt x="112" y="35"/>
                  </a:lnTo>
                  <a:lnTo>
                    <a:pt x="100" y="39"/>
                  </a:lnTo>
                  <a:lnTo>
                    <a:pt x="89" y="44"/>
                  </a:lnTo>
                  <a:lnTo>
                    <a:pt x="80" y="50"/>
                  </a:lnTo>
                  <a:lnTo>
                    <a:pt x="70" y="56"/>
                  </a:lnTo>
                  <a:lnTo>
                    <a:pt x="61" y="61"/>
                  </a:lnTo>
                  <a:lnTo>
                    <a:pt x="53" y="67"/>
                  </a:lnTo>
                  <a:lnTo>
                    <a:pt x="44" y="72"/>
                  </a:lnTo>
                  <a:lnTo>
                    <a:pt x="37" y="78"/>
                  </a:lnTo>
                  <a:lnTo>
                    <a:pt x="30" y="85"/>
                  </a:lnTo>
                  <a:lnTo>
                    <a:pt x="25" y="91"/>
                  </a:lnTo>
                  <a:lnTo>
                    <a:pt x="19" y="98"/>
                  </a:lnTo>
                  <a:lnTo>
                    <a:pt x="14" y="105"/>
                  </a:lnTo>
                  <a:lnTo>
                    <a:pt x="9" y="111"/>
                  </a:lnTo>
                  <a:lnTo>
                    <a:pt x="5" y="118"/>
                  </a:lnTo>
                  <a:lnTo>
                    <a:pt x="4" y="126"/>
                  </a:lnTo>
                  <a:lnTo>
                    <a:pt x="2" y="133"/>
                  </a:lnTo>
                  <a:lnTo>
                    <a:pt x="0" y="141"/>
                  </a:lnTo>
                  <a:lnTo>
                    <a:pt x="0" y="148"/>
                  </a:lnTo>
                  <a:lnTo>
                    <a:pt x="0" y="157"/>
                  </a:lnTo>
                  <a:lnTo>
                    <a:pt x="2" y="165"/>
                  </a:lnTo>
                  <a:lnTo>
                    <a:pt x="4" y="172"/>
                  </a:lnTo>
                  <a:lnTo>
                    <a:pt x="5" y="179"/>
                  </a:lnTo>
                  <a:lnTo>
                    <a:pt x="9" y="185"/>
                  </a:lnTo>
                  <a:lnTo>
                    <a:pt x="14" y="192"/>
                  </a:lnTo>
                  <a:lnTo>
                    <a:pt x="19" y="200"/>
                  </a:lnTo>
                  <a:lnTo>
                    <a:pt x="25" y="207"/>
                  </a:lnTo>
                  <a:lnTo>
                    <a:pt x="30" y="213"/>
                  </a:lnTo>
                  <a:lnTo>
                    <a:pt x="37" y="220"/>
                  </a:lnTo>
                  <a:lnTo>
                    <a:pt x="44" y="226"/>
                  </a:lnTo>
                  <a:lnTo>
                    <a:pt x="53" y="231"/>
                  </a:lnTo>
                  <a:lnTo>
                    <a:pt x="61" y="237"/>
                  </a:lnTo>
                  <a:lnTo>
                    <a:pt x="70" y="242"/>
                  </a:lnTo>
                  <a:lnTo>
                    <a:pt x="80" y="248"/>
                  </a:lnTo>
                  <a:lnTo>
                    <a:pt x="89" y="253"/>
                  </a:lnTo>
                  <a:lnTo>
                    <a:pt x="100" y="259"/>
                  </a:lnTo>
                  <a:lnTo>
                    <a:pt x="112" y="263"/>
                  </a:lnTo>
                  <a:lnTo>
                    <a:pt x="124" y="268"/>
                  </a:lnTo>
                  <a:lnTo>
                    <a:pt x="135" y="272"/>
                  </a:lnTo>
                  <a:lnTo>
                    <a:pt x="161" y="279"/>
                  </a:lnTo>
                  <a:lnTo>
                    <a:pt x="187" y="285"/>
                  </a:lnTo>
                  <a:lnTo>
                    <a:pt x="215" y="290"/>
                  </a:lnTo>
                  <a:lnTo>
                    <a:pt x="244" y="294"/>
                  </a:lnTo>
                  <a:lnTo>
                    <a:pt x="276" y="296"/>
                  </a:lnTo>
                  <a:lnTo>
                    <a:pt x="307" y="296"/>
                  </a:lnTo>
                  <a:lnTo>
                    <a:pt x="339" y="296"/>
                  </a:lnTo>
                  <a:lnTo>
                    <a:pt x="368" y="294"/>
                  </a:lnTo>
                  <a:lnTo>
                    <a:pt x="398" y="290"/>
                  </a:lnTo>
                  <a:lnTo>
                    <a:pt x="426" y="285"/>
                  </a:lnTo>
                  <a:lnTo>
                    <a:pt x="454" y="279"/>
                  </a:lnTo>
                  <a:lnTo>
                    <a:pt x="478" y="272"/>
                  </a:lnTo>
                  <a:lnTo>
                    <a:pt x="490" y="268"/>
                  </a:lnTo>
                  <a:lnTo>
                    <a:pt x="503" y="263"/>
                  </a:lnTo>
                  <a:lnTo>
                    <a:pt x="513" y="259"/>
                  </a:lnTo>
                  <a:lnTo>
                    <a:pt x="524" y="253"/>
                  </a:lnTo>
                  <a:lnTo>
                    <a:pt x="534" y="248"/>
                  </a:lnTo>
                  <a:lnTo>
                    <a:pt x="545" y="242"/>
                  </a:lnTo>
                  <a:lnTo>
                    <a:pt x="553" y="237"/>
                  </a:lnTo>
                  <a:lnTo>
                    <a:pt x="562" y="231"/>
                  </a:lnTo>
                  <a:lnTo>
                    <a:pt x="569" y="226"/>
                  </a:lnTo>
                  <a:lnTo>
                    <a:pt x="578" y="220"/>
                  </a:lnTo>
                  <a:lnTo>
                    <a:pt x="583" y="213"/>
                  </a:lnTo>
                  <a:lnTo>
                    <a:pt x="590" y="207"/>
                  </a:lnTo>
                  <a:lnTo>
                    <a:pt x="595" y="200"/>
                  </a:lnTo>
                  <a:lnTo>
                    <a:pt x="600" y="192"/>
                  </a:lnTo>
                  <a:lnTo>
                    <a:pt x="604" y="185"/>
                  </a:lnTo>
                  <a:lnTo>
                    <a:pt x="607" y="179"/>
                  </a:lnTo>
                  <a:lnTo>
                    <a:pt x="611" y="172"/>
                  </a:lnTo>
                  <a:lnTo>
                    <a:pt x="613" y="165"/>
                  </a:lnTo>
                  <a:lnTo>
                    <a:pt x="614" y="157"/>
                  </a:lnTo>
                  <a:lnTo>
                    <a:pt x="614" y="148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4841" name="Rectangle 29"/>
            <p:cNvSpPr>
              <a:spLocks noChangeArrowheads="1"/>
            </p:cNvSpPr>
            <p:nvPr/>
          </p:nvSpPr>
          <p:spPr bwMode="auto">
            <a:xfrm>
              <a:off x="3061" y="1752"/>
              <a:ext cx="5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รหัสสินค้า</a:t>
              </a:r>
              <a:endParaRPr lang="en-US" altLang="th-TH" sz="1800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42" name="Freeform 31"/>
            <p:cNvSpPr>
              <a:spLocks/>
            </p:cNvSpPr>
            <p:nvPr/>
          </p:nvSpPr>
          <p:spPr bwMode="auto">
            <a:xfrm>
              <a:off x="3898" y="1731"/>
              <a:ext cx="680" cy="391"/>
            </a:xfrm>
            <a:custGeom>
              <a:avLst/>
              <a:gdLst>
                <a:gd name="T0" fmla="*/ 924 w 614"/>
                <a:gd name="T1" fmla="*/ 429 h 296"/>
                <a:gd name="T2" fmla="*/ 920 w 614"/>
                <a:gd name="T3" fmla="*/ 382 h 296"/>
                <a:gd name="T4" fmla="*/ 909 w 614"/>
                <a:gd name="T5" fmla="*/ 338 h 296"/>
                <a:gd name="T6" fmla="*/ 895 w 614"/>
                <a:gd name="T7" fmla="*/ 297 h 296"/>
                <a:gd name="T8" fmla="*/ 879 w 614"/>
                <a:gd name="T9" fmla="*/ 263 h 296"/>
                <a:gd name="T10" fmla="*/ 856 w 614"/>
                <a:gd name="T11" fmla="*/ 222 h 296"/>
                <a:gd name="T12" fmla="*/ 832 w 614"/>
                <a:gd name="T13" fmla="*/ 186 h 296"/>
                <a:gd name="T14" fmla="*/ 803 w 614"/>
                <a:gd name="T15" fmla="*/ 152 h 296"/>
                <a:gd name="T16" fmla="*/ 772 w 614"/>
                <a:gd name="T17" fmla="*/ 120 h 296"/>
                <a:gd name="T18" fmla="*/ 738 w 614"/>
                <a:gd name="T19" fmla="*/ 92 h 296"/>
                <a:gd name="T20" fmla="*/ 683 w 614"/>
                <a:gd name="T21" fmla="*/ 58 h 296"/>
                <a:gd name="T22" fmla="*/ 598 w 614"/>
                <a:gd name="T23" fmla="*/ 26 h 296"/>
                <a:gd name="T24" fmla="*/ 508 w 614"/>
                <a:gd name="T25" fmla="*/ 7 h 296"/>
                <a:gd name="T26" fmla="*/ 415 w 614"/>
                <a:gd name="T27" fmla="*/ 7 h 296"/>
                <a:gd name="T28" fmla="*/ 324 w 614"/>
                <a:gd name="T29" fmla="*/ 26 h 296"/>
                <a:gd name="T30" fmla="*/ 240 w 614"/>
                <a:gd name="T31" fmla="*/ 58 h 296"/>
                <a:gd name="T32" fmla="*/ 186 w 614"/>
                <a:gd name="T33" fmla="*/ 92 h 296"/>
                <a:gd name="T34" fmla="*/ 152 w 614"/>
                <a:gd name="T35" fmla="*/ 120 h 296"/>
                <a:gd name="T36" fmla="*/ 122 w 614"/>
                <a:gd name="T37" fmla="*/ 152 h 296"/>
                <a:gd name="T38" fmla="*/ 92 w 614"/>
                <a:gd name="T39" fmla="*/ 186 h 296"/>
                <a:gd name="T40" fmla="*/ 66 w 614"/>
                <a:gd name="T41" fmla="*/ 222 h 296"/>
                <a:gd name="T42" fmla="*/ 45 w 614"/>
                <a:gd name="T43" fmla="*/ 263 h 296"/>
                <a:gd name="T44" fmla="*/ 28 w 614"/>
                <a:gd name="T45" fmla="*/ 297 h 296"/>
                <a:gd name="T46" fmla="*/ 13 w 614"/>
                <a:gd name="T47" fmla="*/ 338 h 296"/>
                <a:gd name="T48" fmla="*/ 3 w 614"/>
                <a:gd name="T49" fmla="*/ 382 h 296"/>
                <a:gd name="T50" fmla="*/ 0 w 614"/>
                <a:gd name="T51" fmla="*/ 429 h 296"/>
                <a:gd name="T52" fmla="*/ 0 w 614"/>
                <a:gd name="T53" fmla="*/ 482 h 296"/>
                <a:gd name="T54" fmla="*/ 3 w 614"/>
                <a:gd name="T55" fmla="*/ 523 h 296"/>
                <a:gd name="T56" fmla="*/ 13 w 614"/>
                <a:gd name="T57" fmla="*/ 561 h 296"/>
                <a:gd name="T58" fmla="*/ 28 w 614"/>
                <a:gd name="T59" fmla="*/ 609 h 296"/>
                <a:gd name="T60" fmla="*/ 45 w 614"/>
                <a:gd name="T61" fmla="*/ 647 h 296"/>
                <a:gd name="T62" fmla="*/ 66 w 614"/>
                <a:gd name="T63" fmla="*/ 690 h 296"/>
                <a:gd name="T64" fmla="*/ 92 w 614"/>
                <a:gd name="T65" fmla="*/ 721 h 296"/>
                <a:gd name="T66" fmla="*/ 122 w 614"/>
                <a:gd name="T67" fmla="*/ 756 h 296"/>
                <a:gd name="T68" fmla="*/ 152 w 614"/>
                <a:gd name="T69" fmla="*/ 789 h 296"/>
                <a:gd name="T70" fmla="*/ 186 w 614"/>
                <a:gd name="T71" fmla="*/ 819 h 296"/>
                <a:gd name="T72" fmla="*/ 240 w 614"/>
                <a:gd name="T73" fmla="*/ 853 h 296"/>
                <a:gd name="T74" fmla="*/ 324 w 614"/>
                <a:gd name="T75" fmla="*/ 885 h 296"/>
                <a:gd name="T76" fmla="*/ 415 w 614"/>
                <a:gd name="T77" fmla="*/ 901 h 296"/>
                <a:gd name="T78" fmla="*/ 508 w 614"/>
                <a:gd name="T79" fmla="*/ 901 h 296"/>
                <a:gd name="T80" fmla="*/ 598 w 614"/>
                <a:gd name="T81" fmla="*/ 885 h 296"/>
                <a:gd name="T82" fmla="*/ 683 w 614"/>
                <a:gd name="T83" fmla="*/ 853 h 296"/>
                <a:gd name="T84" fmla="*/ 738 w 614"/>
                <a:gd name="T85" fmla="*/ 819 h 296"/>
                <a:gd name="T86" fmla="*/ 772 w 614"/>
                <a:gd name="T87" fmla="*/ 789 h 296"/>
                <a:gd name="T88" fmla="*/ 803 w 614"/>
                <a:gd name="T89" fmla="*/ 756 h 296"/>
                <a:gd name="T90" fmla="*/ 832 w 614"/>
                <a:gd name="T91" fmla="*/ 721 h 296"/>
                <a:gd name="T92" fmla="*/ 856 w 614"/>
                <a:gd name="T93" fmla="*/ 690 h 296"/>
                <a:gd name="T94" fmla="*/ 879 w 614"/>
                <a:gd name="T95" fmla="*/ 647 h 296"/>
                <a:gd name="T96" fmla="*/ 895 w 614"/>
                <a:gd name="T97" fmla="*/ 609 h 296"/>
                <a:gd name="T98" fmla="*/ 909 w 614"/>
                <a:gd name="T99" fmla="*/ 561 h 296"/>
                <a:gd name="T100" fmla="*/ 920 w 614"/>
                <a:gd name="T101" fmla="*/ 523 h 296"/>
                <a:gd name="T102" fmla="*/ 924 w 614"/>
                <a:gd name="T103" fmla="*/ 482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1"/>
                  </a:lnTo>
                  <a:lnTo>
                    <a:pt x="612" y="134"/>
                  </a:lnTo>
                  <a:lnTo>
                    <a:pt x="611" y="126"/>
                  </a:lnTo>
                  <a:lnTo>
                    <a:pt x="607" y="119"/>
                  </a:lnTo>
                  <a:lnTo>
                    <a:pt x="604" y="111"/>
                  </a:lnTo>
                  <a:lnTo>
                    <a:pt x="600" y="106"/>
                  </a:lnTo>
                  <a:lnTo>
                    <a:pt x="595" y="98"/>
                  </a:lnTo>
                  <a:lnTo>
                    <a:pt x="590" y="91"/>
                  </a:lnTo>
                  <a:lnTo>
                    <a:pt x="584" y="86"/>
                  </a:lnTo>
                  <a:lnTo>
                    <a:pt x="577" y="78"/>
                  </a:lnTo>
                  <a:lnTo>
                    <a:pt x="569" y="73"/>
                  </a:lnTo>
                  <a:lnTo>
                    <a:pt x="562" y="67"/>
                  </a:lnTo>
                  <a:lnTo>
                    <a:pt x="553" y="61"/>
                  </a:lnTo>
                  <a:lnTo>
                    <a:pt x="544" y="56"/>
                  </a:lnTo>
                  <a:lnTo>
                    <a:pt x="534" y="50"/>
                  </a:lnTo>
                  <a:lnTo>
                    <a:pt x="523" y="45"/>
                  </a:lnTo>
                  <a:lnTo>
                    <a:pt x="513" y="39"/>
                  </a:lnTo>
                  <a:lnTo>
                    <a:pt x="502" y="36"/>
                  </a:lnTo>
                  <a:lnTo>
                    <a:pt x="490" y="30"/>
                  </a:lnTo>
                  <a:lnTo>
                    <a:pt x="478" y="26"/>
                  </a:lnTo>
                  <a:lnTo>
                    <a:pt x="454" y="19"/>
                  </a:lnTo>
                  <a:lnTo>
                    <a:pt x="426" y="13"/>
                  </a:lnTo>
                  <a:lnTo>
                    <a:pt x="398" y="8"/>
                  </a:lnTo>
                  <a:lnTo>
                    <a:pt x="368" y="4"/>
                  </a:lnTo>
                  <a:lnTo>
                    <a:pt x="338" y="2"/>
                  </a:lnTo>
                  <a:lnTo>
                    <a:pt x="307" y="0"/>
                  </a:lnTo>
                  <a:lnTo>
                    <a:pt x="276" y="2"/>
                  </a:lnTo>
                  <a:lnTo>
                    <a:pt x="244" y="4"/>
                  </a:lnTo>
                  <a:lnTo>
                    <a:pt x="216" y="8"/>
                  </a:lnTo>
                  <a:lnTo>
                    <a:pt x="187" y="13"/>
                  </a:lnTo>
                  <a:lnTo>
                    <a:pt x="160" y="19"/>
                  </a:lnTo>
                  <a:lnTo>
                    <a:pt x="134" y="26"/>
                  </a:lnTo>
                  <a:lnTo>
                    <a:pt x="124" y="30"/>
                  </a:lnTo>
                  <a:lnTo>
                    <a:pt x="112" y="36"/>
                  </a:lnTo>
                  <a:lnTo>
                    <a:pt x="101" y="39"/>
                  </a:lnTo>
                  <a:lnTo>
                    <a:pt x="89" y="45"/>
                  </a:lnTo>
                  <a:lnTo>
                    <a:pt x="80" y="50"/>
                  </a:lnTo>
                  <a:lnTo>
                    <a:pt x="70" y="56"/>
                  </a:lnTo>
                  <a:lnTo>
                    <a:pt x="61" y="61"/>
                  </a:lnTo>
                  <a:lnTo>
                    <a:pt x="52" y="67"/>
                  </a:lnTo>
                  <a:lnTo>
                    <a:pt x="44" y="73"/>
                  </a:lnTo>
                  <a:lnTo>
                    <a:pt x="37" y="78"/>
                  </a:lnTo>
                  <a:lnTo>
                    <a:pt x="30" y="86"/>
                  </a:lnTo>
                  <a:lnTo>
                    <a:pt x="24" y="91"/>
                  </a:lnTo>
                  <a:lnTo>
                    <a:pt x="19" y="98"/>
                  </a:lnTo>
                  <a:lnTo>
                    <a:pt x="14" y="106"/>
                  </a:lnTo>
                  <a:lnTo>
                    <a:pt x="9" y="111"/>
                  </a:lnTo>
                  <a:lnTo>
                    <a:pt x="5" y="119"/>
                  </a:lnTo>
                  <a:lnTo>
                    <a:pt x="3" y="126"/>
                  </a:lnTo>
                  <a:lnTo>
                    <a:pt x="2" y="134"/>
                  </a:lnTo>
                  <a:lnTo>
                    <a:pt x="0" y="141"/>
                  </a:lnTo>
                  <a:lnTo>
                    <a:pt x="0" y="148"/>
                  </a:lnTo>
                  <a:lnTo>
                    <a:pt x="0" y="158"/>
                  </a:lnTo>
                  <a:lnTo>
                    <a:pt x="2" y="165"/>
                  </a:lnTo>
                  <a:lnTo>
                    <a:pt x="3" y="172"/>
                  </a:lnTo>
                  <a:lnTo>
                    <a:pt x="5" y="180"/>
                  </a:lnTo>
                  <a:lnTo>
                    <a:pt x="9" y="185"/>
                  </a:lnTo>
                  <a:lnTo>
                    <a:pt x="14" y="193"/>
                  </a:lnTo>
                  <a:lnTo>
                    <a:pt x="19" y="200"/>
                  </a:lnTo>
                  <a:lnTo>
                    <a:pt x="24" y="208"/>
                  </a:lnTo>
                  <a:lnTo>
                    <a:pt x="30" y="213"/>
                  </a:lnTo>
                  <a:lnTo>
                    <a:pt x="37" y="221"/>
                  </a:lnTo>
                  <a:lnTo>
                    <a:pt x="44" y="226"/>
                  </a:lnTo>
                  <a:lnTo>
                    <a:pt x="52" y="232"/>
                  </a:lnTo>
                  <a:lnTo>
                    <a:pt x="61" y="237"/>
                  </a:lnTo>
                  <a:lnTo>
                    <a:pt x="70" y="243"/>
                  </a:lnTo>
                  <a:lnTo>
                    <a:pt x="80" y="248"/>
                  </a:lnTo>
                  <a:lnTo>
                    <a:pt x="89" y="254"/>
                  </a:lnTo>
                  <a:lnTo>
                    <a:pt x="101" y="259"/>
                  </a:lnTo>
                  <a:lnTo>
                    <a:pt x="112" y="263"/>
                  </a:lnTo>
                  <a:lnTo>
                    <a:pt x="124" y="269"/>
                  </a:lnTo>
                  <a:lnTo>
                    <a:pt x="134" y="272"/>
                  </a:lnTo>
                  <a:lnTo>
                    <a:pt x="160" y="280"/>
                  </a:lnTo>
                  <a:lnTo>
                    <a:pt x="187" y="285"/>
                  </a:lnTo>
                  <a:lnTo>
                    <a:pt x="216" y="291"/>
                  </a:lnTo>
                  <a:lnTo>
                    <a:pt x="244" y="295"/>
                  </a:lnTo>
                  <a:lnTo>
                    <a:pt x="276" y="296"/>
                  </a:lnTo>
                  <a:lnTo>
                    <a:pt x="307" y="296"/>
                  </a:lnTo>
                  <a:lnTo>
                    <a:pt x="338" y="296"/>
                  </a:lnTo>
                  <a:lnTo>
                    <a:pt x="368" y="295"/>
                  </a:lnTo>
                  <a:lnTo>
                    <a:pt x="398" y="291"/>
                  </a:lnTo>
                  <a:lnTo>
                    <a:pt x="426" y="285"/>
                  </a:lnTo>
                  <a:lnTo>
                    <a:pt x="454" y="280"/>
                  </a:lnTo>
                  <a:lnTo>
                    <a:pt x="478" y="272"/>
                  </a:lnTo>
                  <a:lnTo>
                    <a:pt x="490" y="269"/>
                  </a:lnTo>
                  <a:lnTo>
                    <a:pt x="502" y="263"/>
                  </a:lnTo>
                  <a:lnTo>
                    <a:pt x="513" y="259"/>
                  </a:lnTo>
                  <a:lnTo>
                    <a:pt x="523" y="254"/>
                  </a:lnTo>
                  <a:lnTo>
                    <a:pt x="534" y="248"/>
                  </a:lnTo>
                  <a:lnTo>
                    <a:pt x="544" y="243"/>
                  </a:lnTo>
                  <a:lnTo>
                    <a:pt x="553" y="237"/>
                  </a:lnTo>
                  <a:lnTo>
                    <a:pt x="562" y="232"/>
                  </a:lnTo>
                  <a:lnTo>
                    <a:pt x="569" y="226"/>
                  </a:lnTo>
                  <a:lnTo>
                    <a:pt x="577" y="221"/>
                  </a:lnTo>
                  <a:lnTo>
                    <a:pt x="584" y="213"/>
                  </a:lnTo>
                  <a:lnTo>
                    <a:pt x="590" y="208"/>
                  </a:lnTo>
                  <a:lnTo>
                    <a:pt x="595" y="200"/>
                  </a:lnTo>
                  <a:lnTo>
                    <a:pt x="600" y="193"/>
                  </a:lnTo>
                  <a:lnTo>
                    <a:pt x="604" y="185"/>
                  </a:lnTo>
                  <a:lnTo>
                    <a:pt x="607" y="180"/>
                  </a:lnTo>
                  <a:lnTo>
                    <a:pt x="611" y="172"/>
                  </a:lnTo>
                  <a:lnTo>
                    <a:pt x="612" y="165"/>
                  </a:lnTo>
                  <a:lnTo>
                    <a:pt x="614" y="158"/>
                  </a:lnTo>
                  <a:lnTo>
                    <a:pt x="614" y="148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4843" name="Rectangle 32"/>
            <p:cNvSpPr>
              <a:spLocks noChangeArrowheads="1"/>
            </p:cNvSpPr>
            <p:nvPr/>
          </p:nvSpPr>
          <p:spPr bwMode="auto">
            <a:xfrm>
              <a:off x="4018" y="1748"/>
              <a:ext cx="4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ชื่อสินค้า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44" name="Line 33"/>
            <p:cNvSpPr>
              <a:spLocks noChangeShapeType="1"/>
            </p:cNvSpPr>
            <p:nvPr/>
          </p:nvSpPr>
          <p:spPr bwMode="auto">
            <a:xfrm>
              <a:off x="3440" y="2171"/>
              <a:ext cx="520" cy="46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45" name="Line 34"/>
            <p:cNvSpPr>
              <a:spLocks noChangeShapeType="1"/>
            </p:cNvSpPr>
            <p:nvPr/>
          </p:nvSpPr>
          <p:spPr bwMode="auto">
            <a:xfrm>
              <a:off x="4269" y="2122"/>
              <a:ext cx="1" cy="51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46" name="Line 37"/>
            <p:cNvSpPr>
              <a:spLocks noChangeShapeType="1"/>
            </p:cNvSpPr>
            <p:nvPr/>
          </p:nvSpPr>
          <p:spPr bwMode="auto">
            <a:xfrm flipH="1">
              <a:off x="2012" y="2963"/>
              <a:ext cx="40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47" name="Line 38"/>
            <p:cNvSpPr>
              <a:spLocks noChangeShapeType="1"/>
            </p:cNvSpPr>
            <p:nvPr/>
          </p:nvSpPr>
          <p:spPr bwMode="auto">
            <a:xfrm>
              <a:off x="3353" y="2960"/>
              <a:ext cx="43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848" name="Rectangle 39"/>
            <p:cNvSpPr>
              <a:spLocks noChangeArrowheads="1"/>
            </p:cNvSpPr>
            <p:nvPr/>
          </p:nvSpPr>
          <p:spPr bwMode="auto">
            <a:xfrm>
              <a:off x="2160" y="2417"/>
              <a:ext cx="218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7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49" name="Rectangle 40"/>
            <p:cNvSpPr>
              <a:spLocks noChangeArrowheads="1"/>
            </p:cNvSpPr>
            <p:nvPr/>
          </p:nvSpPr>
          <p:spPr bwMode="auto">
            <a:xfrm>
              <a:off x="3459" y="2417"/>
              <a:ext cx="183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N</a:t>
              </a:r>
            </a:p>
          </p:txBody>
        </p:sp>
        <p:sp>
          <p:nvSpPr>
            <p:cNvPr id="34850" name="Freeform 42"/>
            <p:cNvSpPr>
              <a:spLocks/>
            </p:cNvSpPr>
            <p:nvPr/>
          </p:nvSpPr>
          <p:spPr bwMode="auto">
            <a:xfrm>
              <a:off x="4702" y="1731"/>
              <a:ext cx="681" cy="391"/>
            </a:xfrm>
            <a:custGeom>
              <a:avLst/>
              <a:gdLst>
                <a:gd name="T0" fmla="*/ 928 w 614"/>
                <a:gd name="T1" fmla="*/ 429 h 296"/>
                <a:gd name="T2" fmla="*/ 924 w 614"/>
                <a:gd name="T3" fmla="*/ 382 h 296"/>
                <a:gd name="T4" fmla="*/ 913 w 614"/>
                <a:gd name="T5" fmla="*/ 338 h 296"/>
                <a:gd name="T6" fmla="*/ 901 w 614"/>
                <a:gd name="T7" fmla="*/ 297 h 296"/>
                <a:gd name="T8" fmla="*/ 884 w 614"/>
                <a:gd name="T9" fmla="*/ 263 h 296"/>
                <a:gd name="T10" fmla="*/ 860 w 614"/>
                <a:gd name="T11" fmla="*/ 222 h 296"/>
                <a:gd name="T12" fmla="*/ 836 w 614"/>
                <a:gd name="T13" fmla="*/ 186 h 296"/>
                <a:gd name="T14" fmla="*/ 809 w 614"/>
                <a:gd name="T15" fmla="*/ 152 h 296"/>
                <a:gd name="T16" fmla="*/ 776 w 614"/>
                <a:gd name="T17" fmla="*/ 120 h 296"/>
                <a:gd name="T18" fmla="*/ 741 w 614"/>
                <a:gd name="T19" fmla="*/ 92 h 296"/>
                <a:gd name="T20" fmla="*/ 685 w 614"/>
                <a:gd name="T21" fmla="*/ 58 h 296"/>
                <a:gd name="T22" fmla="*/ 600 w 614"/>
                <a:gd name="T23" fmla="*/ 26 h 296"/>
                <a:gd name="T24" fmla="*/ 511 w 614"/>
                <a:gd name="T25" fmla="*/ 7 h 296"/>
                <a:gd name="T26" fmla="*/ 416 w 614"/>
                <a:gd name="T27" fmla="*/ 7 h 296"/>
                <a:gd name="T28" fmla="*/ 327 w 614"/>
                <a:gd name="T29" fmla="*/ 26 h 296"/>
                <a:gd name="T30" fmla="*/ 241 w 614"/>
                <a:gd name="T31" fmla="*/ 58 h 296"/>
                <a:gd name="T32" fmla="*/ 189 w 614"/>
                <a:gd name="T33" fmla="*/ 92 h 296"/>
                <a:gd name="T34" fmla="*/ 153 w 614"/>
                <a:gd name="T35" fmla="*/ 120 h 296"/>
                <a:gd name="T36" fmla="*/ 122 w 614"/>
                <a:gd name="T37" fmla="*/ 152 h 296"/>
                <a:gd name="T38" fmla="*/ 92 w 614"/>
                <a:gd name="T39" fmla="*/ 186 h 296"/>
                <a:gd name="T40" fmla="*/ 65 w 614"/>
                <a:gd name="T41" fmla="*/ 222 h 296"/>
                <a:gd name="T42" fmla="*/ 43 w 614"/>
                <a:gd name="T43" fmla="*/ 263 h 296"/>
                <a:gd name="T44" fmla="*/ 29 w 614"/>
                <a:gd name="T45" fmla="*/ 297 h 296"/>
                <a:gd name="T46" fmla="*/ 12 w 614"/>
                <a:gd name="T47" fmla="*/ 338 h 296"/>
                <a:gd name="T48" fmla="*/ 3 w 614"/>
                <a:gd name="T49" fmla="*/ 382 h 296"/>
                <a:gd name="T50" fmla="*/ 0 w 614"/>
                <a:gd name="T51" fmla="*/ 429 h 296"/>
                <a:gd name="T52" fmla="*/ 0 w 614"/>
                <a:gd name="T53" fmla="*/ 482 h 296"/>
                <a:gd name="T54" fmla="*/ 3 w 614"/>
                <a:gd name="T55" fmla="*/ 523 h 296"/>
                <a:gd name="T56" fmla="*/ 12 w 614"/>
                <a:gd name="T57" fmla="*/ 561 h 296"/>
                <a:gd name="T58" fmla="*/ 29 w 614"/>
                <a:gd name="T59" fmla="*/ 609 h 296"/>
                <a:gd name="T60" fmla="*/ 43 w 614"/>
                <a:gd name="T61" fmla="*/ 647 h 296"/>
                <a:gd name="T62" fmla="*/ 65 w 614"/>
                <a:gd name="T63" fmla="*/ 690 h 296"/>
                <a:gd name="T64" fmla="*/ 92 w 614"/>
                <a:gd name="T65" fmla="*/ 721 h 296"/>
                <a:gd name="T66" fmla="*/ 122 w 614"/>
                <a:gd name="T67" fmla="*/ 756 h 296"/>
                <a:gd name="T68" fmla="*/ 153 w 614"/>
                <a:gd name="T69" fmla="*/ 789 h 296"/>
                <a:gd name="T70" fmla="*/ 189 w 614"/>
                <a:gd name="T71" fmla="*/ 819 h 296"/>
                <a:gd name="T72" fmla="*/ 241 w 614"/>
                <a:gd name="T73" fmla="*/ 853 h 296"/>
                <a:gd name="T74" fmla="*/ 327 w 614"/>
                <a:gd name="T75" fmla="*/ 885 h 296"/>
                <a:gd name="T76" fmla="*/ 416 w 614"/>
                <a:gd name="T77" fmla="*/ 901 h 296"/>
                <a:gd name="T78" fmla="*/ 511 w 614"/>
                <a:gd name="T79" fmla="*/ 901 h 296"/>
                <a:gd name="T80" fmla="*/ 600 w 614"/>
                <a:gd name="T81" fmla="*/ 885 h 296"/>
                <a:gd name="T82" fmla="*/ 685 w 614"/>
                <a:gd name="T83" fmla="*/ 853 h 296"/>
                <a:gd name="T84" fmla="*/ 741 w 614"/>
                <a:gd name="T85" fmla="*/ 819 h 296"/>
                <a:gd name="T86" fmla="*/ 776 w 614"/>
                <a:gd name="T87" fmla="*/ 789 h 296"/>
                <a:gd name="T88" fmla="*/ 809 w 614"/>
                <a:gd name="T89" fmla="*/ 756 h 296"/>
                <a:gd name="T90" fmla="*/ 836 w 614"/>
                <a:gd name="T91" fmla="*/ 721 h 296"/>
                <a:gd name="T92" fmla="*/ 860 w 614"/>
                <a:gd name="T93" fmla="*/ 690 h 296"/>
                <a:gd name="T94" fmla="*/ 884 w 614"/>
                <a:gd name="T95" fmla="*/ 647 h 296"/>
                <a:gd name="T96" fmla="*/ 901 w 614"/>
                <a:gd name="T97" fmla="*/ 609 h 296"/>
                <a:gd name="T98" fmla="*/ 913 w 614"/>
                <a:gd name="T99" fmla="*/ 561 h 296"/>
                <a:gd name="T100" fmla="*/ 924 w 614"/>
                <a:gd name="T101" fmla="*/ 523 h 296"/>
                <a:gd name="T102" fmla="*/ 928 w 614"/>
                <a:gd name="T103" fmla="*/ 482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1"/>
                  </a:lnTo>
                  <a:lnTo>
                    <a:pt x="612" y="134"/>
                  </a:lnTo>
                  <a:lnTo>
                    <a:pt x="610" y="126"/>
                  </a:lnTo>
                  <a:lnTo>
                    <a:pt x="607" y="119"/>
                  </a:lnTo>
                  <a:lnTo>
                    <a:pt x="603" y="111"/>
                  </a:lnTo>
                  <a:lnTo>
                    <a:pt x="600" y="106"/>
                  </a:lnTo>
                  <a:lnTo>
                    <a:pt x="595" y="98"/>
                  </a:lnTo>
                  <a:lnTo>
                    <a:pt x="589" y="91"/>
                  </a:lnTo>
                  <a:lnTo>
                    <a:pt x="584" y="86"/>
                  </a:lnTo>
                  <a:lnTo>
                    <a:pt x="577" y="78"/>
                  </a:lnTo>
                  <a:lnTo>
                    <a:pt x="568" y="73"/>
                  </a:lnTo>
                  <a:lnTo>
                    <a:pt x="561" y="67"/>
                  </a:lnTo>
                  <a:lnTo>
                    <a:pt x="553" y="61"/>
                  </a:lnTo>
                  <a:lnTo>
                    <a:pt x="544" y="56"/>
                  </a:lnTo>
                  <a:lnTo>
                    <a:pt x="534" y="50"/>
                  </a:lnTo>
                  <a:lnTo>
                    <a:pt x="523" y="45"/>
                  </a:lnTo>
                  <a:lnTo>
                    <a:pt x="513" y="39"/>
                  </a:lnTo>
                  <a:lnTo>
                    <a:pt x="502" y="36"/>
                  </a:lnTo>
                  <a:lnTo>
                    <a:pt x="490" y="30"/>
                  </a:lnTo>
                  <a:lnTo>
                    <a:pt x="478" y="26"/>
                  </a:lnTo>
                  <a:lnTo>
                    <a:pt x="453" y="19"/>
                  </a:lnTo>
                  <a:lnTo>
                    <a:pt x="425" y="13"/>
                  </a:lnTo>
                  <a:lnTo>
                    <a:pt x="397" y="8"/>
                  </a:lnTo>
                  <a:lnTo>
                    <a:pt x="368" y="4"/>
                  </a:lnTo>
                  <a:lnTo>
                    <a:pt x="338" y="2"/>
                  </a:lnTo>
                  <a:lnTo>
                    <a:pt x="307" y="0"/>
                  </a:lnTo>
                  <a:lnTo>
                    <a:pt x="275" y="2"/>
                  </a:lnTo>
                  <a:lnTo>
                    <a:pt x="244" y="4"/>
                  </a:lnTo>
                  <a:lnTo>
                    <a:pt x="216" y="8"/>
                  </a:lnTo>
                  <a:lnTo>
                    <a:pt x="186" y="13"/>
                  </a:lnTo>
                  <a:lnTo>
                    <a:pt x="160" y="19"/>
                  </a:lnTo>
                  <a:lnTo>
                    <a:pt x="134" y="26"/>
                  </a:lnTo>
                  <a:lnTo>
                    <a:pt x="124" y="30"/>
                  </a:lnTo>
                  <a:lnTo>
                    <a:pt x="111" y="36"/>
                  </a:lnTo>
                  <a:lnTo>
                    <a:pt x="101" y="39"/>
                  </a:lnTo>
                  <a:lnTo>
                    <a:pt x="89" y="45"/>
                  </a:lnTo>
                  <a:lnTo>
                    <a:pt x="80" y="50"/>
                  </a:lnTo>
                  <a:lnTo>
                    <a:pt x="69" y="56"/>
                  </a:lnTo>
                  <a:lnTo>
                    <a:pt x="61" y="61"/>
                  </a:lnTo>
                  <a:lnTo>
                    <a:pt x="52" y="67"/>
                  </a:lnTo>
                  <a:lnTo>
                    <a:pt x="43" y="73"/>
                  </a:lnTo>
                  <a:lnTo>
                    <a:pt x="36" y="78"/>
                  </a:lnTo>
                  <a:lnTo>
                    <a:pt x="29" y="86"/>
                  </a:lnTo>
                  <a:lnTo>
                    <a:pt x="24" y="91"/>
                  </a:lnTo>
                  <a:lnTo>
                    <a:pt x="19" y="98"/>
                  </a:lnTo>
                  <a:lnTo>
                    <a:pt x="14" y="106"/>
                  </a:lnTo>
                  <a:lnTo>
                    <a:pt x="8" y="111"/>
                  </a:lnTo>
                  <a:lnTo>
                    <a:pt x="5" y="119"/>
                  </a:lnTo>
                  <a:lnTo>
                    <a:pt x="3" y="126"/>
                  </a:lnTo>
                  <a:lnTo>
                    <a:pt x="1" y="134"/>
                  </a:lnTo>
                  <a:lnTo>
                    <a:pt x="0" y="141"/>
                  </a:lnTo>
                  <a:lnTo>
                    <a:pt x="0" y="148"/>
                  </a:lnTo>
                  <a:lnTo>
                    <a:pt x="0" y="158"/>
                  </a:lnTo>
                  <a:lnTo>
                    <a:pt x="1" y="165"/>
                  </a:lnTo>
                  <a:lnTo>
                    <a:pt x="3" y="172"/>
                  </a:lnTo>
                  <a:lnTo>
                    <a:pt x="5" y="180"/>
                  </a:lnTo>
                  <a:lnTo>
                    <a:pt x="8" y="185"/>
                  </a:lnTo>
                  <a:lnTo>
                    <a:pt x="14" y="193"/>
                  </a:lnTo>
                  <a:lnTo>
                    <a:pt x="19" y="200"/>
                  </a:lnTo>
                  <a:lnTo>
                    <a:pt x="24" y="208"/>
                  </a:lnTo>
                  <a:lnTo>
                    <a:pt x="29" y="213"/>
                  </a:lnTo>
                  <a:lnTo>
                    <a:pt x="36" y="221"/>
                  </a:lnTo>
                  <a:lnTo>
                    <a:pt x="43" y="226"/>
                  </a:lnTo>
                  <a:lnTo>
                    <a:pt x="52" y="232"/>
                  </a:lnTo>
                  <a:lnTo>
                    <a:pt x="61" y="237"/>
                  </a:lnTo>
                  <a:lnTo>
                    <a:pt x="69" y="243"/>
                  </a:lnTo>
                  <a:lnTo>
                    <a:pt x="80" y="248"/>
                  </a:lnTo>
                  <a:lnTo>
                    <a:pt x="89" y="254"/>
                  </a:lnTo>
                  <a:lnTo>
                    <a:pt x="101" y="259"/>
                  </a:lnTo>
                  <a:lnTo>
                    <a:pt x="111" y="263"/>
                  </a:lnTo>
                  <a:lnTo>
                    <a:pt x="124" y="269"/>
                  </a:lnTo>
                  <a:lnTo>
                    <a:pt x="134" y="272"/>
                  </a:lnTo>
                  <a:lnTo>
                    <a:pt x="160" y="280"/>
                  </a:lnTo>
                  <a:lnTo>
                    <a:pt x="186" y="285"/>
                  </a:lnTo>
                  <a:lnTo>
                    <a:pt x="216" y="291"/>
                  </a:lnTo>
                  <a:lnTo>
                    <a:pt x="244" y="295"/>
                  </a:lnTo>
                  <a:lnTo>
                    <a:pt x="275" y="296"/>
                  </a:lnTo>
                  <a:lnTo>
                    <a:pt x="307" y="296"/>
                  </a:lnTo>
                  <a:lnTo>
                    <a:pt x="338" y="296"/>
                  </a:lnTo>
                  <a:lnTo>
                    <a:pt x="368" y="295"/>
                  </a:lnTo>
                  <a:lnTo>
                    <a:pt x="397" y="291"/>
                  </a:lnTo>
                  <a:lnTo>
                    <a:pt x="425" y="285"/>
                  </a:lnTo>
                  <a:lnTo>
                    <a:pt x="453" y="280"/>
                  </a:lnTo>
                  <a:lnTo>
                    <a:pt x="478" y="272"/>
                  </a:lnTo>
                  <a:lnTo>
                    <a:pt x="490" y="269"/>
                  </a:lnTo>
                  <a:lnTo>
                    <a:pt x="502" y="263"/>
                  </a:lnTo>
                  <a:lnTo>
                    <a:pt x="513" y="259"/>
                  </a:lnTo>
                  <a:lnTo>
                    <a:pt x="523" y="254"/>
                  </a:lnTo>
                  <a:lnTo>
                    <a:pt x="534" y="248"/>
                  </a:lnTo>
                  <a:lnTo>
                    <a:pt x="544" y="243"/>
                  </a:lnTo>
                  <a:lnTo>
                    <a:pt x="553" y="237"/>
                  </a:lnTo>
                  <a:lnTo>
                    <a:pt x="561" y="232"/>
                  </a:lnTo>
                  <a:lnTo>
                    <a:pt x="568" y="226"/>
                  </a:lnTo>
                  <a:lnTo>
                    <a:pt x="577" y="221"/>
                  </a:lnTo>
                  <a:lnTo>
                    <a:pt x="584" y="213"/>
                  </a:lnTo>
                  <a:lnTo>
                    <a:pt x="589" y="208"/>
                  </a:lnTo>
                  <a:lnTo>
                    <a:pt x="595" y="200"/>
                  </a:lnTo>
                  <a:lnTo>
                    <a:pt x="600" y="193"/>
                  </a:lnTo>
                  <a:lnTo>
                    <a:pt x="603" y="185"/>
                  </a:lnTo>
                  <a:lnTo>
                    <a:pt x="607" y="180"/>
                  </a:lnTo>
                  <a:lnTo>
                    <a:pt x="610" y="172"/>
                  </a:lnTo>
                  <a:lnTo>
                    <a:pt x="612" y="165"/>
                  </a:lnTo>
                  <a:lnTo>
                    <a:pt x="614" y="158"/>
                  </a:lnTo>
                  <a:lnTo>
                    <a:pt x="614" y="148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4851" name="Rectangle 43"/>
            <p:cNvSpPr>
              <a:spLocks noChangeArrowheads="1"/>
            </p:cNvSpPr>
            <p:nvPr/>
          </p:nvSpPr>
          <p:spPr bwMode="auto">
            <a:xfrm>
              <a:off x="4863" y="1748"/>
              <a:ext cx="2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ราคา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852" name="Line 44"/>
            <p:cNvSpPr>
              <a:spLocks noChangeShapeType="1"/>
            </p:cNvSpPr>
            <p:nvPr/>
          </p:nvSpPr>
          <p:spPr bwMode="auto">
            <a:xfrm flipV="1">
              <a:off x="4542" y="2122"/>
              <a:ext cx="407" cy="51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781800" y="5995988"/>
            <a:ext cx="1905000" cy="457200"/>
          </a:xfrm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8CEB66E-8FFD-4497-9FF9-0FD4A401B4ED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33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77813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การเปลี่ยน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diagram </a:t>
            </a: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เป็น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Table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3814763" cy="4530725"/>
          </a:xfrm>
        </p:spPr>
        <p:txBody>
          <a:bodyPr/>
          <a:lstStyle/>
          <a:p>
            <a:pPr eaLnBrk="1" hangingPunct="1"/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 Strong Entity</a:t>
            </a:r>
            <a:endParaRPr lang="th-TH" altLang="th-TH" sz="36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5845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22600" y="2168525"/>
            <a:ext cx="3568700" cy="1914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3625850" y="4652963"/>
            <a:ext cx="20986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085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zh-CN" sz="2000" b="1">
                <a:solidFill>
                  <a:srgbClr val="000000"/>
                </a:solidFill>
                <a:latin typeface="TH SarabunPSK" panose="020B0500040200020003" pitchFamily="34" charset="-34"/>
                <a:ea typeface="SimSun" panose="02010600030101010101" pitchFamily="2" charset="-122"/>
                <a:cs typeface="TH SarabunPSK" panose="020B0500040200020003" pitchFamily="34" charset="-34"/>
              </a:rPr>
              <a:t>ตาราง Student</a:t>
            </a:r>
            <a:endParaRPr lang="th-TH" altLang="zh-CN" sz="4000" b="1">
              <a:latin typeface="TH SarabunPSK" panose="020B0500040200020003" pitchFamily="34" charset="-34"/>
              <a:ea typeface="SimSun" panose="02010600030101010101" pitchFamily="2" charset="-122"/>
              <a:cs typeface="TH SarabunPSK" panose="020B0500040200020003" pitchFamily="34" charset="-34"/>
            </a:endParaRPr>
          </a:p>
        </p:txBody>
      </p:sp>
      <p:pic>
        <p:nvPicPr>
          <p:cNvPr id="3584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38" y="5053013"/>
            <a:ext cx="3527425" cy="114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8" name="Rectangle 7"/>
          <p:cNvSpPr>
            <a:spLocks noChangeArrowheads="1"/>
          </p:cNvSpPr>
          <p:nvPr/>
        </p:nvSpPr>
        <p:spPr bwMode="auto">
          <a:xfrm>
            <a:off x="0" y="3822700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849" name="AutoShape 8"/>
          <p:cNvSpPr>
            <a:spLocks noChangeArrowheads="1"/>
          </p:cNvSpPr>
          <p:nvPr/>
        </p:nvSpPr>
        <p:spPr bwMode="auto">
          <a:xfrm>
            <a:off x="4343400" y="4197350"/>
            <a:ext cx="593725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781800" y="6067425"/>
            <a:ext cx="1905000" cy="457200"/>
          </a:xfrm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CE72CA1-3666-46C4-BE92-47C1AC921C17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34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การเปลี่ยน </a:t>
            </a:r>
            <a:r>
              <a:rPr lang="en-US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diagram </a:t>
            </a:r>
            <a:r>
              <a:rPr lang="th-TH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เป็น </a:t>
            </a:r>
            <a:r>
              <a:rPr lang="en-US" sz="5700" b="1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Table</a:t>
            </a:r>
            <a:endParaRPr lang="th-TH" sz="5700" b="1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419225"/>
            <a:ext cx="7167563" cy="1147763"/>
          </a:xfrm>
        </p:spPr>
        <p:txBody>
          <a:bodyPr/>
          <a:lstStyle/>
          <a:p>
            <a:pPr eaLnBrk="1" hangingPunct="1"/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 Entity </a:t>
            </a:r>
            <a:r>
              <a:rPr lang="th-TH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 </a:t>
            </a: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Composite Attribute</a:t>
            </a:r>
            <a:endParaRPr lang="th-TH" altLang="th-TH" sz="36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6869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67100" y="2074863"/>
            <a:ext cx="2995613" cy="24193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70" name="Rectangle 5"/>
          <p:cNvSpPr>
            <a:spLocks noChangeArrowheads="1"/>
          </p:cNvSpPr>
          <p:nvPr/>
        </p:nvSpPr>
        <p:spPr bwMode="auto">
          <a:xfrm>
            <a:off x="3711575" y="5172075"/>
            <a:ext cx="22288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085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zh-CN" sz="2000" b="1">
                <a:solidFill>
                  <a:srgbClr val="000000"/>
                </a:solidFill>
                <a:latin typeface="TH SarabunPSK" panose="020B0500040200020003" pitchFamily="34" charset="-34"/>
                <a:ea typeface="SimSun" panose="02010600030101010101" pitchFamily="2" charset="-122"/>
                <a:cs typeface="TH SarabunPSK" panose="020B0500040200020003" pitchFamily="34" charset="-34"/>
              </a:rPr>
              <a:t>ตาราง Student</a:t>
            </a:r>
            <a:endParaRPr lang="th-TH" altLang="zh-CN" sz="4000" b="1">
              <a:latin typeface="TH SarabunPSK" panose="020B0500040200020003" pitchFamily="34" charset="-34"/>
              <a:ea typeface="SimSun" panose="02010600030101010101" pitchFamily="2" charset="-122"/>
              <a:cs typeface="TH SarabunPSK" panose="020B0500040200020003" pitchFamily="34" charset="-34"/>
            </a:endParaRP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0" y="3641725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6872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74938" y="5510213"/>
            <a:ext cx="4140200" cy="884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73" name="AutoShape 8"/>
          <p:cNvSpPr>
            <a:spLocks noChangeArrowheads="1"/>
          </p:cNvSpPr>
          <p:nvPr/>
        </p:nvSpPr>
        <p:spPr bwMode="auto">
          <a:xfrm>
            <a:off x="4476750" y="4649788"/>
            <a:ext cx="563563" cy="42703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781800" y="5995988"/>
            <a:ext cx="1905000" cy="457200"/>
          </a:xfrm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CD2F491-3795-496A-B710-06772DDDD3F3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35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การเปลี่ยน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diagram </a:t>
            </a: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เป็น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Table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347788"/>
            <a:ext cx="7672388" cy="4530725"/>
          </a:xfrm>
        </p:spPr>
        <p:txBody>
          <a:bodyPr/>
          <a:lstStyle/>
          <a:p>
            <a:pPr eaLnBrk="1" hangingPunct="1"/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 Entity </a:t>
            </a:r>
            <a:r>
              <a:rPr lang="th-TH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 </a:t>
            </a: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Multi-value Attribute</a:t>
            </a:r>
            <a:endParaRPr lang="th-TH" altLang="th-TH" sz="36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3789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468688" y="1914525"/>
          <a:ext cx="3235325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495238" imgH="1838095" progId="Paint.Picture">
                  <p:embed/>
                </p:oleObj>
              </mc:Choice>
              <mc:Fallback>
                <p:oleObj name="Bitmap Image" r:id="rId2" imgW="2495238" imgH="183809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8846"/>
                      <a:stretch>
                        <a:fillRect/>
                      </a:stretch>
                    </p:blipFill>
                    <p:spPr bwMode="auto">
                      <a:xfrm>
                        <a:off x="3468688" y="1914525"/>
                        <a:ext cx="3235325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381000" y="4856163"/>
            <a:ext cx="25606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085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zh-CN" b="1">
                <a:solidFill>
                  <a:srgbClr val="000000"/>
                </a:solidFill>
                <a:latin typeface="TH SarabunPSK" panose="020B0500040200020003" pitchFamily="34" charset="-34"/>
                <a:ea typeface="SimSun" panose="02010600030101010101" pitchFamily="2" charset="-122"/>
                <a:cs typeface="TH SarabunPSK" panose="020B0500040200020003" pitchFamily="34" charset="-34"/>
              </a:rPr>
              <a:t>ตาราง  Student</a:t>
            </a:r>
            <a:endParaRPr lang="th-TH" altLang="zh-CN" sz="4800" b="1">
              <a:latin typeface="TH SarabunPSK" panose="020B0500040200020003" pitchFamily="34" charset="-34"/>
              <a:ea typeface="SimSun" panose="02010600030101010101" pitchFamily="2" charset="-122"/>
              <a:cs typeface="TH SarabunPSK" panose="020B0500040200020003" pitchFamily="34" charset="-34"/>
            </a:endParaRPr>
          </a:p>
        </p:txBody>
      </p:sp>
      <p:sp>
        <p:nvSpPr>
          <p:cNvPr id="37895" name="AutoShape 6"/>
          <p:cNvSpPr>
            <a:spLocks noChangeArrowheads="1"/>
          </p:cNvSpPr>
          <p:nvPr/>
        </p:nvSpPr>
        <p:spPr bwMode="auto">
          <a:xfrm>
            <a:off x="4476750" y="4578350"/>
            <a:ext cx="563563" cy="42703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7896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188" y="5316538"/>
            <a:ext cx="4440237" cy="947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7897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475" y="5356225"/>
            <a:ext cx="20335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8" name="Text Box 9"/>
          <p:cNvSpPr txBox="1">
            <a:spLocks noChangeArrowheads="1"/>
          </p:cNvSpPr>
          <p:nvPr/>
        </p:nvSpPr>
        <p:spPr bwMode="auto">
          <a:xfrm>
            <a:off x="6384925" y="4398963"/>
            <a:ext cx="2209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แยกเป็นตาราง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Tel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อีก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1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ตาราง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การเปลี่ยน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diagram </a:t>
            </a:r>
            <a:r>
              <a:rPr lang="th-TH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เป็น </a:t>
            </a:r>
            <a:r>
              <a:rPr lang="en-US" sz="57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Table</a:t>
            </a:r>
            <a:endParaRPr lang="th-TH" sz="57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167563" cy="6000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 Weak Entity</a:t>
            </a:r>
            <a:endParaRPr lang="th-TH" altLang="th-TH" sz="36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891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9188" y="2392363"/>
            <a:ext cx="6251575" cy="1739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4810125" y="4797425"/>
            <a:ext cx="2116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085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09600" algn="l"/>
                <a:tab pos="685800" algn="l"/>
                <a:tab pos="838200" algn="l"/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zh-CN" sz="2000" b="1">
                <a:solidFill>
                  <a:srgbClr val="000000"/>
                </a:solidFill>
                <a:latin typeface="TH SarabunPSK" panose="020B0500040200020003" pitchFamily="34" charset="-34"/>
                <a:ea typeface="SimSun" panose="02010600030101010101" pitchFamily="2" charset="-122"/>
                <a:cs typeface="TH SarabunPSK" panose="020B0500040200020003" pitchFamily="34" charset="-34"/>
              </a:rPr>
              <a:t>ตาราง </a:t>
            </a:r>
            <a:r>
              <a:rPr lang="en-US" altLang="zh-CN" sz="2000" b="1">
                <a:solidFill>
                  <a:srgbClr val="000000"/>
                </a:solidFill>
                <a:latin typeface="TH SarabunPSK" panose="020B0500040200020003" pitchFamily="34" charset="-34"/>
                <a:ea typeface="SimSun" panose="02010600030101010101" pitchFamily="2" charset="-122"/>
                <a:cs typeface="TH SarabunPSK" panose="020B0500040200020003" pitchFamily="34" charset="-34"/>
              </a:rPr>
              <a:t>Timestamp</a:t>
            </a:r>
            <a:endParaRPr lang="th-TH" altLang="zh-CN" sz="4000" b="1">
              <a:latin typeface="TH SarabunPSK" panose="020B0500040200020003" pitchFamily="34" charset="-34"/>
              <a:ea typeface="SimSun" panose="02010600030101010101" pitchFamily="2" charset="-122"/>
              <a:cs typeface="TH SarabunPSK" panose="020B0500040200020003" pitchFamily="34" charset="-34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0" y="3822700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5572125" y="4211638"/>
            <a:ext cx="563563" cy="42703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8920" name="Picture 8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08450" y="5313363"/>
            <a:ext cx="3540125" cy="735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6D17CC-4286-4856-961E-F24BF90834AE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37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  <a:defRPr/>
            </a:pP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การเปลี่ยน </a:t>
            </a:r>
            <a:r>
              <a:rPr lang="en-US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diagram </a:t>
            </a: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เป็น </a:t>
            </a:r>
            <a:r>
              <a:rPr lang="en-US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Table</a:t>
            </a: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b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แบบมีความสัมพันธ์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0113" y="1484313"/>
            <a:ext cx="7545387" cy="53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 ความสัมพันธ์แบบหนึ่งต่อหนึ่ง (</a:t>
            </a:r>
            <a:r>
              <a: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One to One, 1:1)</a:t>
            </a:r>
            <a:endParaRPr lang="th-TH" altLang="th-TH" sz="32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66372" name="Group 132"/>
          <p:cNvGraphicFramePr>
            <a:graphicFrameLocks noGrp="1"/>
          </p:cNvGraphicFramePr>
          <p:nvPr>
            <p:ph sz="quarter" idx="2"/>
          </p:nvPr>
        </p:nvGraphicFramePr>
        <p:xfrm>
          <a:off x="1116013" y="5445125"/>
          <a:ext cx="1906587" cy="655638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รหัสลูกค้า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ชื่อลูกค้า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952" name="AutoShape 5"/>
          <p:cNvSpPr>
            <a:spLocks noChangeArrowheads="1"/>
          </p:cNvSpPr>
          <p:nvPr/>
        </p:nvSpPr>
        <p:spPr bwMode="auto">
          <a:xfrm>
            <a:off x="3851275" y="3933825"/>
            <a:ext cx="563563" cy="42703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953" name="Text Box 8"/>
          <p:cNvSpPr txBox="1">
            <a:spLocks noChangeArrowheads="1"/>
          </p:cNvSpPr>
          <p:nvPr/>
        </p:nvSpPr>
        <p:spPr bwMode="auto">
          <a:xfrm>
            <a:off x="3419475" y="5300663"/>
            <a:ext cx="730250" cy="64135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</a:t>
            </a:r>
          </a:p>
        </p:txBody>
      </p:sp>
      <p:grpSp>
        <p:nvGrpSpPr>
          <p:cNvPr id="39954" name="Group 10"/>
          <p:cNvGrpSpPr>
            <a:grpSpLocks/>
          </p:cNvGrpSpPr>
          <p:nvPr/>
        </p:nvGrpSpPr>
        <p:grpSpPr bwMode="auto">
          <a:xfrm>
            <a:off x="179388" y="2133600"/>
            <a:ext cx="8497887" cy="1800225"/>
            <a:chOff x="204" y="1480"/>
            <a:chExt cx="5312" cy="1529"/>
          </a:xfrm>
        </p:grpSpPr>
        <p:sp>
          <p:nvSpPr>
            <p:cNvPr id="40004" name="AutoShape 11"/>
            <p:cNvSpPr>
              <a:spLocks noChangeAspect="1" noChangeArrowheads="1" noTextEdit="1"/>
            </p:cNvSpPr>
            <p:nvPr/>
          </p:nvSpPr>
          <p:spPr bwMode="auto">
            <a:xfrm>
              <a:off x="295" y="1570"/>
              <a:ext cx="5221" cy="1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05" name="Rectangle 12"/>
            <p:cNvSpPr>
              <a:spLocks noChangeArrowheads="1"/>
            </p:cNvSpPr>
            <p:nvPr/>
          </p:nvSpPr>
          <p:spPr bwMode="auto">
            <a:xfrm>
              <a:off x="1111" y="2429"/>
              <a:ext cx="1018" cy="5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06" name="Rectangle 13"/>
            <p:cNvSpPr>
              <a:spLocks noChangeArrowheads="1"/>
            </p:cNvSpPr>
            <p:nvPr/>
          </p:nvSpPr>
          <p:spPr bwMode="auto">
            <a:xfrm>
              <a:off x="1111" y="2429"/>
              <a:ext cx="1018" cy="535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07" name="Rectangle 14"/>
            <p:cNvSpPr>
              <a:spLocks noChangeArrowheads="1"/>
            </p:cNvSpPr>
            <p:nvPr/>
          </p:nvSpPr>
          <p:spPr bwMode="auto">
            <a:xfrm>
              <a:off x="1251" y="2467"/>
              <a:ext cx="575" cy="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ตัวแทน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08" name="Freeform 15"/>
            <p:cNvSpPr>
              <a:spLocks/>
            </p:cNvSpPr>
            <p:nvPr/>
          </p:nvSpPr>
          <p:spPr bwMode="auto">
            <a:xfrm>
              <a:off x="204" y="1480"/>
              <a:ext cx="874" cy="503"/>
            </a:xfrm>
            <a:custGeom>
              <a:avLst/>
              <a:gdLst>
                <a:gd name="T0" fmla="*/ 2727 w 598"/>
                <a:gd name="T1" fmla="*/ 1300 h 286"/>
                <a:gd name="T2" fmla="*/ 2711 w 598"/>
                <a:gd name="T3" fmla="*/ 1161 h 286"/>
                <a:gd name="T4" fmla="*/ 2680 w 598"/>
                <a:gd name="T5" fmla="*/ 1024 h 286"/>
                <a:gd name="T6" fmla="*/ 2640 w 598"/>
                <a:gd name="T7" fmla="*/ 897 h 286"/>
                <a:gd name="T8" fmla="*/ 2588 w 598"/>
                <a:gd name="T9" fmla="*/ 783 h 286"/>
                <a:gd name="T10" fmla="*/ 2528 w 598"/>
                <a:gd name="T11" fmla="*/ 660 h 286"/>
                <a:gd name="T12" fmla="*/ 2454 w 598"/>
                <a:gd name="T13" fmla="*/ 566 h 286"/>
                <a:gd name="T14" fmla="*/ 2374 w 598"/>
                <a:gd name="T15" fmla="*/ 457 h 286"/>
                <a:gd name="T16" fmla="*/ 2276 w 598"/>
                <a:gd name="T17" fmla="*/ 352 h 286"/>
                <a:gd name="T18" fmla="*/ 2176 w 598"/>
                <a:gd name="T19" fmla="*/ 266 h 286"/>
                <a:gd name="T20" fmla="*/ 2017 w 598"/>
                <a:gd name="T21" fmla="*/ 172 h 286"/>
                <a:gd name="T22" fmla="*/ 1767 w 598"/>
                <a:gd name="T23" fmla="*/ 65 h 286"/>
                <a:gd name="T24" fmla="*/ 1501 w 598"/>
                <a:gd name="T25" fmla="*/ 12 h 286"/>
                <a:gd name="T26" fmla="*/ 1223 w 598"/>
                <a:gd name="T27" fmla="*/ 12 h 286"/>
                <a:gd name="T28" fmla="*/ 953 w 598"/>
                <a:gd name="T29" fmla="*/ 65 h 286"/>
                <a:gd name="T30" fmla="*/ 712 w 598"/>
                <a:gd name="T31" fmla="*/ 172 h 286"/>
                <a:gd name="T32" fmla="*/ 547 w 598"/>
                <a:gd name="T33" fmla="*/ 266 h 286"/>
                <a:gd name="T34" fmla="*/ 444 w 598"/>
                <a:gd name="T35" fmla="*/ 352 h 286"/>
                <a:gd name="T36" fmla="*/ 357 w 598"/>
                <a:gd name="T37" fmla="*/ 457 h 286"/>
                <a:gd name="T38" fmla="*/ 269 w 598"/>
                <a:gd name="T39" fmla="*/ 566 h 286"/>
                <a:gd name="T40" fmla="*/ 190 w 598"/>
                <a:gd name="T41" fmla="*/ 660 h 286"/>
                <a:gd name="T42" fmla="*/ 130 w 598"/>
                <a:gd name="T43" fmla="*/ 783 h 286"/>
                <a:gd name="T44" fmla="*/ 88 w 598"/>
                <a:gd name="T45" fmla="*/ 897 h 286"/>
                <a:gd name="T46" fmla="*/ 38 w 598"/>
                <a:gd name="T47" fmla="*/ 1024 h 286"/>
                <a:gd name="T48" fmla="*/ 13 w 598"/>
                <a:gd name="T49" fmla="*/ 1161 h 286"/>
                <a:gd name="T50" fmla="*/ 0 w 598"/>
                <a:gd name="T51" fmla="*/ 1300 h 286"/>
                <a:gd name="T52" fmla="*/ 0 w 598"/>
                <a:gd name="T53" fmla="*/ 1454 h 286"/>
                <a:gd name="T54" fmla="*/ 13 w 598"/>
                <a:gd name="T55" fmla="*/ 1590 h 286"/>
                <a:gd name="T56" fmla="*/ 38 w 598"/>
                <a:gd name="T57" fmla="*/ 1701 h 286"/>
                <a:gd name="T58" fmla="*/ 88 w 598"/>
                <a:gd name="T59" fmla="*/ 1843 h 286"/>
                <a:gd name="T60" fmla="*/ 130 w 598"/>
                <a:gd name="T61" fmla="*/ 1965 h 286"/>
                <a:gd name="T62" fmla="*/ 190 w 598"/>
                <a:gd name="T63" fmla="*/ 2084 h 286"/>
                <a:gd name="T64" fmla="*/ 269 w 598"/>
                <a:gd name="T65" fmla="*/ 2193 h 286"/>
                <a:gd name="T66" fmla="*/ 357 w 598"/>
                <a:gd name="T67" fmla="*/ 2286 h 286"/>
                <a:gd name="T68" fmla="*/ 444 w 598"/>
                <a:gd name="T69" fmla="*/ 2394 h 286"/>
                <a:gd name="T70" fmla="*/ 547 w 598"/>
                <a:gd name="T71" fmla="*/ 2482 h 286"/>
                <a:gd name="T72" fmla="*/ 712 w 598"/>
                <a:gd name="T73" fmla="*/ 2584 h 286"/>
                <a:gd name="T74" fmla="*/ 953 w 598"/>
                <a:gd name="T75" fmla="*/ 2675 h 286"/>
                <a:gd name="T76" fmla="*/ 1223 w 598"/>
                <a:gd name="T77" fmla="*/ 2737 h 286"/>
                <a:gd name="T78" fmla="*/ 1501 w 598"/>
                <a:gd name="T79" fmla="*/ 2737 h 286"/>
                <a:gd name="T80" fmla="*/ 1767 w 598"/>
                <a:gd name="T81" fmla="*/ 2675 h 286"/>
                <a:gd name="T82" fmla="*/ 2017 w 598"/>
                <a:gd name="T83" fmla="*/ 2584 h 286"/>
                <a:gd name="T84" fmla="*/ 2176 w 598"/>
                <a:gd name="T85" fmla="*/ 2482 h 286"/>
                <a:gd name="T86" fmla="*/ 2276 w 598"/>
                <a:gd name="T87" fmla="*/ 2394 h 286"/>
                <a:gd name="T88" fmla="*/ 2374 w 598"/>
                <a:gd name="T89" fmla="*/ 2286 h 286"/>
                <a:gd name="T90" fmla="*/ 2454 w 598"/>
                <a:gd name="T91" fmla="*/ 2193 h 286"/>
                <a:gd name="T92" fmla="*/ 2528 w 598"/>
                <a:gd name="T93" fmla="*/ 2084 h 286"/>
                <a:gd name="T94" fmla="*/ 2588 w 598"/>
                <a:gd name="T95" fmla="*/ 1965 h 286"/>
                <a:gd name="T96" fmla="*/ 2640 w 598"/>
                <a:gd name="T97" fmla="*/ 1843 h 286"/>
                <a:gd name="T98" fmla="*/ 2680 w 598"/>
                <a:gd name="T99" fmla="*/ 1701 h 286"/>
                <a:gd name="T100" fmla="*/ 2711 w 598"/>
                <a:gd name="T101" fmla="*/ 1590 h 286"/>
                <a:gd name="T102" fmla="*/ 2727 w 598"/>
                <a:gd name="T103" fmla="*/ 1454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8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4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10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2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2" y="12"/>
                  </a:lnTo>
                  <a:lnTo>
                    <a:pt x="156" y="18"/>
                  </a:lnTo>
                  <a:lnTo>
                    <a:pt x="131" y="25"/>
                  </a:lnTo>
                  <a:lnTo>
                    <a:pt x="120" y="28"/>
                  </a:lnTo>
                  <a:lnTo>
                    <a:pt x="109" y="34"/>
                  </a:lnTo>
                  <a:lnTo>
                    <a:pt x="97" y="37"/>
                  </a:lnTo>
                  <a:lnTo>
                    <a:pt x="87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6" y="75"/>
                  </a:lnTo>
                  <a:lnTo>
                    <a:pt x="29" y="82"/>
                  </a:lnTo>
                  <a:lnTo>
                    <a:pt x="24" y="87"/>
                  </a:lnTo>
                  <a:lnTo>
                    <a:pt x="19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2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9" y="193"/>
                  </a:lnTo>
                  <a:lnTo>
                    <a:pt x="24" y="200"/>
                  </a:lnTo>
                  <a:lnTo>
                    <a:pt x="29" y="205"/>
                  </a:lnTo>
                  <a:lnTo>
                    <a:pt x="36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7" y="245"/>
                  </a:lnTo>
                  <a:lnTo>
                    <a:pt x="97" y="250"/>
                  </a:lnTo>
                  <a:lnTo>
                    <a:pt x="109" y="254"/>
                  </a:lnTo>
                  <a:lnTo>
                    <a:pt x="120" y="259"/>
                  </a:lnTo>
                  <a:lnTo>
                    <a:pt x="131" y="263"/>
                  </a:lnTo>
                  <a:lnTo>
                    <a:pt x="156" y="270"/>
                  </a:lnTo>
                  <a:lnTo>
                    <a:pt x="182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2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10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4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8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0009" name="Rectangle 16"/>
            <p:cNvSpPr>
              <a:spLocks noChangeArrowheads="1"/>
            </p:cNvSpPr>
            <p:nvPr/>
          </p:nvSpPr>
          <p:spPr bwMode="auto">
            <a:xfrm>
              <a:off x="249" y="1616"/>
              <a:ext cx="771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รหัสตัวแทน</a:t>
              </a:r>
              <a:endParaRPr lang="en-US" altLang="th-TH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10" name="Freeform 17"/>
            <p:cNvSpPr>
              <a:spLocks/>
            </p:cNvSpPr>
            <p:nvPr/>
          </p:nvSpPr>
          <p:spPr bwMode="auto">
            <a:xfrm>
              <a:off x="1111" y="1525"/>
              <a:ext cx="1043" cy="458"/>
            </a:xfrm>
            <a:custGeom>
              <a:avLst/>
              <a:gdLst>
                <a:gd name="T0" fmla="*/ 5534 w 598"/>
                <a:gd name="T1" fmla="*/ 895 h 286"/>
                <a:gd name="T2" fmla="*/ 5498 w 598"/>
                <a:gd name="T3" fmla="*/ 797 h 286"/>
                <a:gd name="T4" fmla="*/ 5442 w 598"/>
                <a:gd name="T5" fmla="*/ 703 h 286"/>
                <a:gd name="T6" fmla="*/ 5360 w 598"/>
                <a:gd name="T7" fmla="*/ 621 h 286"/>
                <a:gd name="T8" fmla="*/ 5248 w 598"/>
                <a:gd name="T9" fmla="*/ 538 h 286"/>
                <a:gd name="T10" fmla="*/ 5126 w 598"/>
                <a:gd name="T11" fmla="*/ 452 h 286"/>
                <a:gd name="T12" fmla="*/ 4976 w 598"/>
                <a:gd name="T13" fmla="*/ 388 h 286"/>
                <a:gd name="T14" fmla="*/ 4812 w 598"/>
                <a:gd name="T15" fmla="*/ 315 h 286"/>
                <a:gd name="T16" fmla="*/ 4615 w 598"/>
                <a:gd name="T17" fmla="*/ 242 h 286"/>
                <a:gd name="T18" fmla="*/ 4414 w 598"/>
                <a:gd name="T19" fmla="*/ 184 h 286"/>
                <a:gd name="T20" fmla="*/ 4080 w 598"/>
                <a:gd name="T21" fmla="*/ 119 h 286"/>
                <a:gd name="T22" fmla="*/ 3581 w 598"/>
                <a:gd name="T23" fmla="*/ 46 h 286"/>
                <a:gd name="T24" fmla="*/ 3045 w 598"/>
                <a:gd name="T25" fmla="*/ 8 h 286"/>
                <a:gd name="T26" fmla="*/ 2478 w 598"/>
                <a:gd name="T27" fmla="*/ 8 h 286"/>
                <a:gd name="T28" fmla="*/ 1938 w 598"/>
                <a:gd name="T29" fmla="*/ 46 h 286"/>
                <a:gd name="T30" fmla="*/ 1442 w 598"/>
                <a:gd name="T31" fmla="*/ 119 h 286"/>
                <a:gd name="T32" fmla="*/ 1111 w 598"/>
                <a:gd name="T33" fmla="*/ 184 h 286"/>
                <a:gd name="T34" fmla="*/ 898 w 598"/>
                <a:gd name="T35" fmla="*/ 242 h 286"/>
                <a:gd name="T36" fmla="*/ 720 w 598"/>
                <a:gd name="T37" fmla="*/ 315 h 286"/>
                <a:gd name="T38" fmla="*/ 548 w 598"/>
                <a:gd name="T39" fmla="*/ 388 h 286"/>
                <a:gd name="T40" fmla="*/ 387 w 598"/>
                <a:gd name="T41" fmla="*/ 452 h 286"/>
                <a:gd name="T42" fmla="*/ 270 w 598"/>
                <a:gd name="T43" fmla="*/ 538 h 286"/>
                <a:gd name="T44" fmla="*/ 164 w 598"/>
                <a:gd name="T45" fmla="*/ 621 h 286"/>
                <a:gd name="T46" fmla="*/ 73 w 598"/>
                <a:gd name="T47" fmla="*/ 703 h 286"/>
                <a:gd name="T48" fmla="*/ 28 w 598"/>
                <a:gd name="T49" fmla="*/ 797 h 286"/>
                <a:gd name="T50" fmla="*/ 0 w 598"/>
                <a:gd name="T51" fmla="*/ 895 h 286"/>
                <a:gd name="T52" fmla="*/ 0 w 598"/>
                <a:gd name="T53" fmla="*/ 998 h 286"/>
                <a:gd name="T54" fmla="*/ 28 w 598"/>
                <a:gd name="T55" fmla="*/ 1092 h 286"/>
                <a:gd name="T56" fmla="*/ 73 w 598"/>
                <a:gd name="T57" fmla="*/ 1169 h 286"/>
                <a:gd name="T58" fmla="*/ 164 w 598"/>
                <a:gd name="T59" fmla="*/ 1270 h 286"/>
                <a:gd name="T60" fmla="*/ 270 w 598"/>
                <a:gd name="T61" fmla="*/ 1347 h 286"/>
                <a:gd name="T62" fmla="*/ 387 w 598"/>
                <a:gd name="T63" fmla="*/ 1433 h 286"/>
                <a:gd name="T64" fmla="*/ 548 w 598"/>
                <a:gd name="T65" fmla="*/ 1509 h 286"/>
                <a:gd name="T66" fmla="*/ 720 w 598"/>
                <a:gd name="T67" fmla="*/ 1573 h 286"/>
                <a:gd name="T68" fmla="*/ 898 w 598"/>
                <a:gd name="T69" fmla="*/ 1643 h 286"/>
                <a:gd name="T70" fmla="*/ 1111 w 598"/>
                <a:gd name="T71" fmla="*/ 1705 h 286"/>
                <a:gd name="T72" fmla="*/ 1442 w 598"/>
                <a:gd name="T73" fmla="*/ 1774 h 286"/>
                <a:gd name="T74" fmla="*/ 1938 w 598"/>
                <a:gd name="T75" fmla="*/ 1838 h 286"/>
                <a:gd name="T76" fmla="*/ 2478 w 598"/>
                <a:gd name="T77" fmla="*/ 1880 h 286"/>
                <a:gd name="T78" fmla="*/ 3045 w 598"/>
                <a:gd name="T79" fmla="*/ 1880 h 286"/>
                <a:gd name="T80" fmla="*/ 3581 w 598"/>
                <a:gd name="T81" fmla="*/ 1838 h 286"/>
                <a:gd name="T82" fmla="*/ 4080 w 598"/>
                <a:gd name="T83" fmla="*/ 1774 h 286"/>
                <a:gd name="T84" fmla="*/ 4414 w 598"/>
                <a:gd name="T85" fmla="*/ 1705 h 286"/>
                <a:gd name="T86" fmla="*/ 4615 w 598"/>
                <a:gd name="T87" fmla="*/ 1643 h 286"/>
                <a:gd name="T88" fmla="*/ 4812 w 598"/>
                <a:gd name="T89" fmla="*/ 1573 h 286"/>
                <a:gd name="T90" fmla="*/ 4976 w 598"/>
                <a:gd name="T91" fmla="*/ 1509 h 286"/>
                <a:gd name="T92" fmla="*/ 5126 w 598"/>
                <a:gd name="T93" fmla="*/ 1433 h 286"/>
                <a:gd name="T94" fmla="*/ 5248 w 598"/>
                <a:gd name="T95" fmla="*/ 1347 h 286"/>
                <a:gd name="T96" fmla="*/ 5360 w 598"/>
                <a:gd name="T97" fmla="*/ 1270 h 286"/>
                <a:gd name="T98" fmla="*/ 5442 w 598"/>
                <a:gd name="T99" fmla="*/ 1169 h 286"/>
                <a:gd name="T100" fmla="*/ 5498 w 598"/>
                <a:gd name="T101" fmla="*/ 1092 h 286"/>
                <a:gd name="T102" fmla="*/ 5534 w 598"/>
                <a:gd name="T103" fmla="*/ 998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8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4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09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1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2" y="12"/>
                  </a:lnTo>
                  <a:lnTo>
                    <a:pt x="156" y="18"/>
                  </a:lnTo>
                  <a:lnTo>
                    <a:pt x="131" y="25"/>
                  </a:lnTo>
                  <a:lnTo>
                    <a:pt x="120" y="28"/>
                  </a:lnTo>
                  <a:lnTo>
                    <a:pt x="108" y="34"/>
                  </a:lnTo>
                  <a:lnTo>
                    <a:pt x="97" y="37"/>
                  </a:lnTo>
                  <a:lnTo>
                    <a:pt x="86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5" y="75"/>
                  </a:lnTo>
                  <a:lnTo>
                    <a:pt x="29" y="82"/>
                  </a:lnTo>
                  <a:lnTo>
                    <a:pt x="24" y="87"/>
                  </a:lnTo>
                  <a:lnTo>
                    <a:pt x="18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1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1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8" y="193"/>
                  </a:lnTo>
                  <a:lnTo>
                    <a:pt x="24" y="200"/>
                  </a:lnTo>
                  <a:lnTo>
                    <a:pt x="29" y="205"/>
                  </a:lnTo>
                  <a:lnTo>
                    <a:pt x="35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6" y="245"/>
                  </a:lnTo>
                  <a:lnTo>
                    <a:pt x="97" y="250"/>
                  </a:lnTo>
                  <a:lnTo>
                    <a:pt x="108" y="254"/>
                  </a:lnTo>
                  <a:lnTo>
                    <a:pt x="120" y="259"/>
                  </a:lnTo>
                  <a:lnTo>
                    <a:pt x="131" y="263"/>
                  </a:lnTo>
                  <a:lnTo>
                    <a:pt x="156" y="270"/>
                  </a:lnTo>
                  <a:lnTo>
                    <a:pt x="182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1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09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4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8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0011" name="Rectangle 18"/>
            <p:cNvSpPr>
              <a:spLocks noChangeArrowheads="1"/>
            </p:cNvSpPr>
            <p:nvPr/>
          </p:nvSpPr>
          <p:spPr bwMode="auto">
            <a:xfrm>
              <a:off x="1292" y="1644"/>
              <a:ext cx="72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ชื่อตัวแทน</a:t>
              </a:r>
              <a:endPara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12" name="Freeform 19"/>
            <p:cNvSpPr>
              <a:spLocks/>
            </p:cNvSpPr>
            <p:nvPr/>
          </p:nvSpPr>
          <p:spPr bwMode="auto">
            <a:xfrm>
              <a:off x="2163" y="1626"/>
              <a:ext cx="989" cy="357"/>
            </a:xfrm>
            <a:custGeom>
              <a:avLst/>
              <a:gdLst>
                <a:gd name="T0" fmla="*/ 4475 w 598"/>
                <a:gd name="T1" fmla="*/ 331 h 286"/>
                <a:gd name="T2" fmla="*/ 4442 w 598"/>
                <a:gd name="T3" fmla="*/ 293 h 286"/>
                <a:gd name="T4" fmla="*/ 4393 w 598"/>
                <a:gd name="T5" fmla="*/ 260 h 286"/>
                <a:gd name="T6" fmla="*/ 4333 w 598"/>
                <a:gd name="T7" fmla="*/ 227 h 286"/>
                <a:gd name="T8" fmla="*/ 4242 w 598"/>
                <a:gd name="T9" fmla="*/ 198 h 286"/>
                <a:gd name="T10" fmla="*/ 4138 w 598"/>
                <a:gd name="T11" fmla="*/ 167 h 286"/>
                <a:gd name="T12" fmla="*/ 4025 w 598"/>
                <a:gd name="T13" fmla="*/ 144 h 286"/>
                <a:gd name="T14" fmla="*/ 3890 w 598"/>
                <a:gd name="T15" fmla="*/ 117 h 286"/>
                <a:gd name="T16" fmla="*/ 3731 w 598"/>
                <a:gd name="T17" fmla="*/ 89 h 286"/>
                <a:gd name="T18" fmla="*/ 3569 w 598"/>
                <a:gd name="T19" fmla="*/ 69 h 286"/>
                <a:gd name="T20" fmla="*/ 3299 w 598"/>
                <a:gd name="T21" fmla="*/ 42 h 286"/>
                <a:gd name="T22" fmla="*/ 2894 w 598"/>
                <a:gd name="T23" fmla="*/ 17 h 286"/>
                <a:gd name="T24" fmla="*/ 2461 w 598"/>
                <a:gd name="T25" fmla="*/ 1 h 286"/>
                <a:gd name="T26" fmla="*/ 2004 w 598"/>
                <a:gd name="T27" fmla="*/ 1 h 286"/>
                <a:gd name="T28" fmla="*/ 1565 w 598"/>
                <a:gd name="T29" fmla="*/ 17 h 286"/>
                <a:gd name="T30" fmla="*/ 1168 w 598"/>
                <a:gd name="T31" fmla="*/ 42 h 286"/>
                <a:gd name="T32" fmla="*/ 895 w 598"/>
                <a:gd name="T33" fmla="*/ 69 h 286"/>
                <a:gd name="T34" fmla="*/ 724 w 598"/>
                <a:gd name="T35" fmla="*/ 89 h 286"/>
                <a:gd name="T36" fmla="*/ 582 w 598"/>
                <a:gd name="T37" fmla="*/ 117 h 286"/>
                <a:gd name="T38" fmla="*/ 443 w 598"/>
                <a:gd name="T39" fmla="*/ 144 h 286"/>
                <a:gd name="T40" fmla="*/ 313 w 598"/>
                <a:gd name="T41" fmla="*/ 167 h 286"/>
                <a:gd name="T42" fmla="*/ 217 w 598"/>
                <a:gd name="T43" fmla="*/ 198 h 286"/>
                <a:gd name="T44" fmla="*/ 137 w 598"/>
                <a:gd name="T45" fmla="*/ 227 h 286"/>
                <a:gd name="T46" fmla="*/ 60 w 598"/>
                <a:gd name="T47" fmla="*/ 260 h 286"/>
                <a:gd name="T48" fmla="*/ 22 w 598"/>
                <a:gd name="T49" fmla="*/ 293 h 286"/>
                <a:gd name="T50" fmla="*/ 0 w 598"/>
                <a:gd name="T51" fmla="*/ 331 h 286"/>
                <a:gd name="T52" fmla="*/ 0 w 598"/>
                <a:gd name="T53" fmla="*/ 369 h 286"/>
                <a:gd name="T54" fmla="*/ 22 w 598"/>
                <a:gd name="T55" fmla="*/ 402 h 286"/>
                <a:gd name="T56" fmla="*/ 60 w 598"/>
                <a:gd name="T57" fmla="*/ 432 h 286"/>
                <a:gd name="T58" fmla="*/ 137 w 598"/>
                <a:gd name="T59" fmla="*/ 469 h 286"/>
                <a:gd name="T60" fmla="*/ 217 w 598"/>
                <a:gd name="T61" fmla="*/ 498 h 286"/>
                <a:gd name="T62" fmla="*/ 313 w 598"/>
                <a:gd name="T63" fmla="*/ 529 h 286"/>
                <a:gd name="T64" fmla="*/ 443 w 598"/>
                <a:gd name="T65" fmla="*/ 557 h 286"/>
                <a:gd name="T66" fmla="*/ 582 w 598"/>
                <a:gd name="T67" fmla="*/ 579 h 286"/>
                <a:gd name="T68" fmla="*/ 724 w 598"/>
                <a:gd name="T69" fmla="*/ 607 h 286"/>
                <a:gd name="T70" fmla="*/ 895 w 598"/>
                <a:gd name="T71" fmla="*/ 628 h 286"/>
                <a:gd name="T72" fmla="*/ 1168 w 598"/>
                <a:gd name="T73" fmla="*/ 657 h 286"/>
                <a:gd name="T74" fmla="*/ 1565 w 598"/>
                <a:gd name="T75" fmla="*/ 680 h 286"/>
                <a:gd name="T76" fmla="*/ 2004 w 598"/>
                <a:gd name="T77" fmla="*/ 695 h 286"/>
                <a:gd name="T78" fmla="*/ 2461 w 598"/>
                <a:gd name="T79" fmla="*/ 695 h 286"/>
                <a:gd name="T80" fmla="*/ 2894 w 598"/>
                <a:gd name="T81" fmla="*/ 680 h 286"/>
                <a:gd name="T82" fmla="*/ 3299 w 598"/>
                <a:gd name="T83" fmla="*/ 657 h 286"/>
                <a:gd name="T84" fmla="*/ 3569 w 598"/>
                <a:gd name="T85" fmla="*/ 628 h 286"/>
                <a:gd name="T86" fmla="*/ 3731 w 598"/>
                <a:gd name="T87" fmla="*/ 607 h 286"/>
                <a:gd name="T88" fmla="*/ 3890 w 598"/>
                <a:gd name="T89" fmla="*/ 579 h 286"/>
                <a:gd name="T90" fmla="*/ 4025 w 598"/>
                <a:gd name="T91" fmla="*/ 557 h 286"/>
                <a:gd name="T92" fmla="*/ 4138 w 598"/>
                <a:gd name="T93" fmla="*/ 529 h 286"/>
                <a:gd name="T94" fmla="*/ 4242 w 598"/>
                <a:gd name="T95" fmla="*/ 498 h 286"/>
                <a:gd name="T96" fmla="*/ 4333 w 598"/>
                <a:gd name="T97" fmla="*/ 469 h 286"/>
                <a:gd name="T98" fmla="*/ 4393 w 598"/>
                <a:gd name="T99" fmla="*/ 432 h 286"/>
                <a:gd name="T100" fmla="*/ 4442 w 598"/>
                <a:gd name="T101" fmla="*/ 402 h 286"/>
                <a:gd name="T102" fmla="*/ 4475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7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3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09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1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1" y="12"/>
                  </a:lnTo>
                  <a:lnTo>
                    <a:pt x="156" y="18"/>
                  </a:lnTo>
                  <a:lnTo>
                    <a:pt x="130" y="25"/>
                  </a:lnTo>
                  <a:lnTo>
                    <a:pt x="120" y="28"/>
                  </a:lnTo>
                  <a:lnTo>
                    <a:pt x="108" y="34"/>
                  </a:lnTo>
                  <a:lnTo>
                    <a:pt x="97" y="37"/>
                  </a:lnTo>
                  <a:lnTo>
                    <a:pt x="86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5" y="75"/>
                  </a:lnTo>
                  <a:lnTo>
                    <a:pt x="29" y="82"/>
                  </a:lnTo>
                  <a:lnTo>
                    <a:pt x="23" y="87"/>
                  </a:lnTo>
                  <a:lnTo>
                    <a:pt x="18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1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1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8" y="193"/>
                  </a:lnTo>
                  <a:lnTo>
                    <a:pt x="23" y="200"/>
                  </a:lnTo>
                  <a:lnTo>
                    <a:pt x="29" y="205"/>
                  </a:lnTo>
                  <a:lnTo>
                    <a:pt x="35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6" y="245"/>
                  </a:lnTo>
                  <a:lnTo>
                    <a:pt x="97" y="250"/>
                  </a:lnTo>
                  <a:lnTo>
                    <a:pt x="108" y="254"/>
                  </a:lnTo>
                  <a:lnTo>
                    <a:pt x="120" y="259"/>
                  </a:lnTo>
                  <a:lnTo>
                    <a:pt x="130" y="263"/>
                  </a:lnTo>
                  <a:lnTo>
                    <a:pt x="156" y="270"/>
                  </a:lnTo>
                  <a:lnTo>
                    <a:pt x="181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1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09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3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7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13" name="Rectangle 20"/>
            <p:cNvSpPr>
              <a:spLocks noChangeArrowheads="1"/>
            </p:cNvSpPr>
            <p:nvPr/>
          </p:nvSpPr>
          <p:spPr bwMode="auto">
            <a:xfrm>
              <a:off x="2377" y="1644"/>
              <a:ext cx="594" cy="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2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ที่อยู่</a:t>
              </a:r>
              <a:endPara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14" name="Line 21"/>
            <p:cNvSpPr>
              <a:spLocks noChangeShapeType="1"/>
            </p:cNvSpPr>
            <p:nvPr/>
          </p:nvSpPr>
          <p:spPr bwMode="auto">
            <a:xfrm>
              <a:off x="738" y="1983"/>
              <a:ext cx="610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15" name="Line 22"/>
            <p:cNvSpPr>
              <a:spLocks noChangeShapeType="1"/>
            </p:cNvSpPr>
            <p:nvPr/>
          </p:nvSpPr>
          <p:spPr bwMode="auto">
            <a:xfrm>
              <a:off x="1654" y="1983"/>
              <a:ext cx="1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16" name="Line 23"/>
            <p:cNvSpPr>
              <a:spLocks noChangeShapeType="1"/>
            </p:cNvSpPr>
            <p:nvPr/>
          </p:nvSpPr>
          <p:spPr bwMode="auto">
            <a:xfrm flipV="1">
              <a:off x="1925" y="1992"/>
              <a:ext cx="543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17" name="Freeform 24"/>
            <p:cNvSpPr>
              <a:spLocks/>
            </p:cNvSpPr>
            <p:nvPr/>
          </p:nvSpPr>
          <p:spPr bwMode="auto">
            <a:xfrm>
              <a:off x="2570" y="2429"/>
              <a:ext cx="1018" cy="535"/>
            </a:xfrm>
            <a:custGeom>
              <a:avLst/>
              <a:gdLst>
                <a:gd name="T0" fmla="*/ 0 w 815"/>
                <a:gd name="T1" fmla="*/ 520 h 429"/>
                <a:gd name="T2" fmla="*/ 994 w 815"/>
                <a:gd name="T3" fmla="*/ 0 h 429"/>
                <a:gd name="T4" fmla="*/ 1985 w 815"/>
                <a:gd name="T5" fmla="*/ 520 h 429"/>
                <a:gd name="T6" fmla="*/ 994 w 815"/>
                <a:gd name="T7" fmla="*/ 1038 h 429"/>
                <a:gd name="T8" fmla="*/ 0 w 815"/>
                <a:gd name="T9" fmla="*/ 52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5" h="429">
                  <a:moveTo>
                    <a:pt x="0" y="215"/>
                  </a:moveTo>
                  <a:lnTo>
                    <a:pt x="408" y="0"/>
                  </a:lnTo>
                  <a:lnTo>
                    <a:pt x="815" y="215"/>
                  </a:lnTo>
                  <a:lnTo>
                    <a:pt x="408" y="429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18" name="Freeform 25"/>
            <p:cNvSpPr>
              <a:spLocks/>
            </p:cNvSpPr>
            <p:nvPr/>
          </p:nvSpPr>
          <p:spPr bwMode="auto">
            <a:xfrm>
              <a:off x="2570" y="2429"/>
              <a:ext cx="1018" cy="535"/>
            </a:xfrm>
            <a:custGeom>
              <a:avLst/>
              <a:gdLst>
                <a:gd name="T0" fmla="*/ 0 w 815"/>
                <a:gd name="T1" fmla="*/ 520 h 429"/>
                <a:gd name="T2" fmla="*/ 994 w 815"/>
                <a:gd name="T3" fmla="*/ 0 h 429"/>
                <a:gd name="T4" fmla="*/ 1985 w 815"/>
                <a:gd name="T5" fmla="*/ 520 h 429"/>
                <a:gd name="T6" fmla="*/ 994 w 815"/>
                <a:gd name="T7" fmla="*/ 1038 h 429"/>
                <a:gd name="T8" fmla="*/ 0 w 815"/>
                <a:gd name="T9" fmla="*/ 52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5" h="429">
                  <a:moveTo>
                    <a:pt x="0" y="215"/>
                  </a:moveTo>
                  <a:lnTo>
                    <a:pt x="408" y="0"/>
                  </a:lnTo>
                  <a:lnTo>
                    <a:pt x="815" y="215"/>
                  </a:lnTo>
                  <a:lnTo>
                    <a:pt x="408" y="429"/>
                  </a:lnTo>
                  <a:lnTo>
                    <a:pt x="0" y="215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19" name="Rectangle 26"/>
            <p:cNvSpPr>
              <a:spLocks noChangeArrowheads="1"/>
            </p:cNvSpPr>
            <p:nvPr/>
          </p:nvSpPr>
          <p:spPr bwMode="auto">
            <a:xfrm>
              <a:off x="2816" y="2503"/>
              <a:ext cx="380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0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  ดูแล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20" name="Rectangle 27"/>
            <p:cNvSpPr>
              <a:spLocks noChangeArrowheads="1"/>
            </p:cNvSpPr>
            <p:nvPr/>
          </p:nvSpPr>
          <p:spPr bwMode="auto">
            <a:xfrm>
              <a:off x="4097" y="2411"/>
              <a:ext cx="1017" cy="5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21" name="Rectangle 28"/>
            <p:cNvSpPr>
              <a:spLocks noChangeArrowheads="1"/>
            </p:cNvSpPr>
            <p:nvPr/>
          </p:nvSpPr>
          <p:spPr bwMode="auto">
            <a:xfrm>
              <a:off x="4097" y="2411"/>
              <a:ext cx="1017" cy="53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22" name="Rectangle 29"/>
            <p:cNvSpPr>
              <a:spLocks noChangeArrowheads="1"/>
            </p:cNvSpPr>
            <p:nvPr/>
          </p:nvSpPr>
          <p:spPr bwMode="auto">
            <a:xfrm>
              <a:off x="4304" y="2445"/>
              <a:ext cx="429" cy="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ลูกค้า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23" name="Freeform 30"/>
            <p:cNvSpPr>
              <a:spLocks/>
            </p:cNvSpPr>
            <p:nvPr/>
          </p:nvSpPr>
          <p:spPr bwMode="auto">
            <a:xfrm>
              <a:off x="3424" y="1607"/>
              <a:ext cx="944" cy="357"/>
            </a:xfrm>
            <a:custGeom>
              <a:avLst/>
              <a:gdLst>
                <a:gd name="T0" fmla="*/ 3713 w 598"/>
                <a:gd name="T1" fmla="*/ 331 h 286"/>
                <a:gd name="T2" fmla="*/ 3692 w 598"/>
                <a:gd name="T3" fmla="*/ 296 h 286"/>
                <a:gd name="T4" fmla="*/ 3651 w 598"/>
                <a:gd name="T5" fmla="*/ 263 h 286"/>
                <a:gd name="T6" fmla="*/ 3604 w 598"/>
                <a:gd name="T7" fmla="*/ 232 h 286"/>
                <a:gd name="T8" fmla="*/ 3528 w 598"/>
                <a:gd name="T9" fmla="*/ 202 h 286"/>
                <a:gd name="T10" fmla="*/ 3441 w 598"/>
                <a:gd name="T11" fmla="*/ 170 h 286"/>
                <a:gd name="T12" fmla="*/ 3347 w 598"/>
                <a:gd name="T13" fmla="*/ 144 h 286"/>
                <a:gd name="T14" fmla="*/ 3230 w 598"/>
                <a:gd name="T15" fmla="*/ 119 h 286"/>
                <a:gd name="T16" fmla="*/ 3105 w 598"/>
                <a:gd name="T17" fmla="*/ 92 h 286"/>
                <a:gd name="T18" fmla="*/ 2971 w 598"/>
                <a:gd name="T19" fmla="*/ 70 h 286"/>
                <a:gd name="T20" fmla="*/ 2747 w 598"/>
                <a:gd name="T21" fmla="*/ 42 h 286"/>
                <a:gd name="T22" fmla="*/ 2407 w 598"/>
                <a:gd name="T23" fmla="*/ 19 h 286"/>
                <a:gd name="T24" fmla="*/ 2049 w 598"/>
                <a:gd name="T25" fmla="*/ 2 h 286"/>
                <a:gd name="T26" fmla="*/ 1672 w 598"/>
                <a:gd name="T27" fmla="*/ 2 h 286"/>
                <a:gd name="T28" fmla="*/ 1298 w 598"/>
                <a:gd name="T29" fmla="*/ 19 h 286"/>
                <a:gd name="T30" fmla="*/ 974 w 598"/>
                <a:gd name="T31" fmla="*/ 42 h 286"/>
                <a:gd name="T32" fmla="*/ 753 w 598"/>
                <a:gd name="T33" fmla="*/ 70 h 286"/>
                <a:gd name="T34" fmla="*/ 603 w 598"/>
                <a:gd name="T35" fmla="*/ 92 h 286"/>
                <a:gd name="T36" fmla="*/ 491 w 598"/>
                <a:gd name="T37" fmla="*/ 119 h 286"/>
                <a:gd name="T38" fmla="*/ 374 w 598"/>
                <a:gd name="T39" fmla="*/ 144 h 286"/>
                <a:gd name="T40" fmla="*/ 267 w 598"/>
                <a:gd name="T41" fmla="*/ 170 h 286"/>
                <a:gd name="T42" fmla="*/ 182 w 598"/>
                <a:gd name="T43" fmla="*/ 202 h 286"/>
                <a:gd name="T44" fmla="*/ 117 w 598"/>
                <a:gd name="T45" fmla="*/ 232 h 286"/>
                <a:gd name="T46" fmla="*/ 55 w 598"/>
                <a:gd name="T47" fmla="*/ 263 h 286"/>
                <a:gd name="T48" fmla="*/ 22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22 w 598"/>
                <a:gd name="T55" fmla="*/ 406 h 286"/>
                <a:gd name="T56" fmla="*/ 55 w 598"/>
                <a:gd name="T57" fmla="*/ 433 h 286"/>
                <a:gd name="T58" fmla="*/ 117 w 598"/>
                <a:gd name="T59" fmla="*/ 469 h 286"/>
                <a:gd name="T60" fmla="*/ 182 w 598"/>
                <a:gd name="T61" fmla="*/ 501 h 286"/>
                <a:gd name="T62" fmla="*/ 267 w 598"/>
                <a:gd name="T63" fmla="*/ 532 h 286"/>
                <a:gd name="T64" fmla="*/ 374 w 598"/>
                <a:gd name="T65" fmla="*/ 557 h 286"/>
                <a:gd name="T66" fmla="*/ 491 w 598"/>
                <a:gd name="T67" fmla="*/ 583 h 286"/>
                <a:gd name="T68" fmla="*/ 603 w 598"/>
                <a:gd name="T69" fmla="*/ 609 h 286"/>
                <a:gd name="T70" fmla="*/ 753 w 598"/>
                <a:gd name="T71" fmla="*/ 633 h 286"/>
                <a:gd name="T72" fmla="*/ 974 w 598"/>
                <a:gd name="T73" fmla="*/ 657 h 286"/>
                <a:gd name="T74" fmla="*/ 1298 w 598"/>
                <a:gd name="T75" fmla="*/ 683 h 286"/>
                <a:gd name="T76" fmla="*/ 1672 w 598"/>
                <a:gd name="T77" fmla="*/ 695 h 286"/>
                <a:gd name="T78" fmla="*/ 2049 w 598"/>
                <a:gd name="T79" fmla="*/ 695 h 286"/>
                <a:gd name="T80" fmla="*/ 2407 w 598"/>
                <a:gd name="T81" fmla="*/ 683 h 286"/>
                <a:gd name="T82" fmla="*/ 2747 w 598"/>
                <a:gd name="T83" fmla="*/ 657 h 286"/>
                <a:gd name="T84" fmla="*/ 2971 w 598"/>
                <a:gd name="T85" fmla="*/ 633 h 286"/>
                <a:gd name="T86" fmla="*/ 3105 w 598"/>
                <a:gd name="T87" fmla="*/ 609 h 286"/>
                <a:gd name="T88" fmla="*/ 3230 w 598"/>
                <a:gd name="T89" fmla="*/ 583 h 286"/>
                <a:gd name="T90" fmla="*/ 3347 w 598"/>
                <a:gd name="T91" fmla="*/ 557 h 286"/>
                <a:gd name="T92" fmla="*/ 3441 w 598"/>
                <a:gd name="T93" fmla="*/ 532 h 286"/>
                <a:gd name="T94" fmla="*/ 3528 w 598"/>
                <a:gd name="T95" fmla="*/ 501 h 286"/>
                <a:gd name="T96" fmla="*/ 3604 w 598"/>
                <a:gd name="T97" fmla="*/ 469 h 286"/>
                <a:gd name="T98" fmla="*/ 3651 w 598"/>
                <a:gd name="T99" fmla="*/ 433 h 286"/>
                <a:gd name="T100" fmla="*/ 3692 w 598"/>
                <a:gd name="T101" fmla="*/ 406 h 286"/>
                <a:gd name="T102" fmla="*/ 3713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68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09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7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7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09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68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0024" name="Rectangle 31"/>
            <p:cNvSpPr>
              <a:spLocks noChangeArrowheads="1"/>
            </p:cNvSpPr>
            <p:nvPr/>
          </p:nvSpPr>
          <p:spPr bwMode="auto">
            <a:xfrm>
              <a:off x="3651" y="1661"/>
              <a:ext cx="7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รหัสลูกค้า</a:t>
              </a:r>
              <a:endParaRPr lang="en-US" altLang="th-TH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25" name="Freeform 32"/>
            <p:cNvSpPr>
              <a:spLocks/>
            </p:cNvSpPr>
            <p:nvPr/>
          </p:nvSpPr>
          <p:spPr bwMode="auto">
            <a:xfrm>
              <a:off x="4741" y="1607"/>
              <a:ext cx="746" cy="357"/>
            </a:xfrm>
            <a:custGeom>
              <a:avLst/>
              <a:gdLst>
                <a:gd name="T0" fmla="*/ 1448 w 598"/>
                <a:gd name="T1" fmla="*/ 331 h 286"/>
                <a:gd name="T2" fmla="*/ 1441 w 598"/>
                <a:gd name="T3" fmla="*/ 296 h 286"/>
                <a:gd name="T4" fmla="*/ 1426 w 598"/>
                <a:gd name="T5" fmla="*/ 263 h 286"/>
                <a:gd name="T6" fmla="*/ 1405 w 598"/>
                <a:gd name="T7" fmla="*/ 232 h 286"/>
                <a:gd name="T8" fmla="*/ 1381 w 598"/>
                <a:gd name="T9" fmla="*/ 202 h 286"/>
                <a:gd name="T10" fmla="*/ 1341 w 598"/>
                <a:gd name="T11" fmla="*/ 170 h 286"/>
                <a:gd name="T12" fmla="*/ 1304 w 598"/>
                <a:gd name="T13" fmla="*/ 144 h 286"/>
                <a:gd name="T14" fmla="*/ 1260 w 598"/>
                <a:gd name="T15" fmla="*/ 119 h 286"/>
                <a:gd name="T16" fmla="*/ 1211 w 598"/>
                <a:gd name="T17" fmla="*/ 92 h 286"/>
                <a:gd name="T18" fmla="*/ 1158 w 598"/>
                <a:gd name="T19" fmla="*/ 70 h 286"/>
                <a:gd name="T20" fmla="*/ 1069 w 598"/>
                <a:gd name="T21" fmla="*/ 42 h 286"/>
                <a:gd name="T22" fmla="*/ 939 w 598"/>
                <a:gd name="T23" fmla="*/ 19 h 286"/>
                <a:gd name="T24" fmla="*/ 800 w 598"/>
                <a:gd name="T25" fmla="*/ 2 h 286"/>
                <a:gd name="T26" fmla="*/ 652 w 598"/>
                <a:gd name="T27" fmla="*/ 2 h 286"/>
                <a:gd name="T28" fmla="*/ 510 w 598"/>
                <a:gd name="T29" fmla="*/ 19 h 286"/>
                <a:gd name="T30" fmla="*/ 382 w 598"/>
                <a:gd name="T31" fmla="*/ 42 h 286"/>
                <a:gd name="T32" fmla="*/ 293 w 598"/>
                <a:gd name="T33" fmla="*/ 70 h 286"/>
                <a:gd name="T34" fmla="*/ 241 w 598"/>
                <a:gd name="T35" fmla="*/ 92 h 286"/>
                <a:gd name="T36" fmla="*/ 193 w 598"/>
                <a:gd name="T37" fmla="*/ 119 h 286"/>
                <a:gd name="T38" fmla="*/ 146 w 598"/>
                <a:gd name="T39" fmla="*/ 144 h 286"/>
                <a:gd name="T40" fmla="*/ 105 w 598"/>
                <a:gd name="T41" fmla="*/ 170 h 286"/>
                <a:gd name="T42" fmla="*/ 70 w 598"/>
                <a:gd name="T43" fmla="*/ 202 h 286"/>
                <a:gd name="T44" fmla="*/ 46 w 598"/>
                <a:gd name="T45" fmla="*/ 232 h 286"/>
                <a:gd name="T46" fmla="*/ 21 w 598"/>
                <a:gd name="T47" fmla="*/ 263 h 286"/>
                <a:gd name="T48" fmla="*/ 9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9 w 598"/>
                <a:gd name="T55" fmla="*/ 406 h 286"/>
                <a:gd name="T56" fmla="*/ 21 w 598"/>
                <a:gd name="T57" fmla="*/ 433 h 286"/>
                <a:gd name="T58" fmla="*/ 46 w 598"/>
                <a:gd name="T59" fmla="*/ 469 h 286"/>
                <a:gd name="T60" fmla="*/ 70 w 598"/>
                <a:gd name="T61" fmla="*/ 501 h 286"/>
                <a:gd name="T62" fmla="*/ 105 w 598"/>
                <a:gd name="T63" fmla="*/ 532 h 286"/>
                <a:gd name="T64" fmla="*/ 146 w 598"/>
                <a:gd name="T65" fmla="*/ 557 h 286"/>
                <a:gd name="T66" fmla="*/ 193 w 598"/>
                <a:gd name="T67" fmla="*/ 583 h 286"/>
                <a:gd name="T68" fmla="*/ 241 w 598"/>
                <a:gd name="T69" fmla="*/ 609 h 286"/>
                <a:gd name="T70" fmla="*/ 293 w 598"/>
                <a:gd name="T71" fmla="*/ 633 h 286"/>
                <a:gd name="T72" fmla="*/ 382 w 598"/>
                <a:gd name="T73" fmla="*/ 657 h 286"/>
                <a:gd name="T74" fmla="*/ 510 w 598"/>
                <a:gd name="T75" fmla="*/ 683 h 286"/>
                <a:gd name="T76" fmla="*/ 652 w 598"/>
                <a:gd name="T77" fmla="*/ 695 h 286"/>
                <a:gd name="T78" fmla="*/ 800 w 598"/>
                <a:gd name="T79" fmla="*/ 695 h 286"/>
                <a:gd name="T80" fmla="*/ 939 w 598"/>
                <a:gd name="T81" fmla="*/ 683 h 286"/>
                <a:gd name="T82" fmla="*/ 1069 w 598"/>
                <a:gd name="T83" fmla="*/ 657 h 286"/>
                <a:gd name="T84" fmla="*/ 1158 w 598"/>
                <a:gd name="T85" fmla="*/ 633 h 286"/>
                <a:gd name="T86" fmla="*/ 1211 w 598"/>
                <a:gd name="T87" fmla="*/ 609 h 286"/>
                <a:gd name="T88" fmla="*/ 1260 w 598"/>
                <a:gd name="T89" fmla="*/ 583 h 286"/>
                <a:gd name="T90" fmla="*/ 1304 w 598"/>
                <a:gd name="T91" fmla="*/ 557 h 286"/>
                <a:gd name="T92" fmla="*/ 1341 w 598"/>
                <a:gd name="T93" fmla="*/ 532 h 286"/>
                <a:gd name="T94" fmla="*/ 1381 w 598"/>
                <a:gd name="T95" fmla="*/ 501 h 286"/>
                <a:gd name="T96" fmla="*/ 1405 w 598"/>
                <a:gd name="T97" fmla="*/ 469 h 286"/>
                <a:gd name="T98" fmla="*/ 1426 w 598"/>
                <a:gd name="T99" fmla="*/ 433 h 286"/>
                <a:gd name="T100" fmla="*/ 1441 w 598"/>
                <a:gd name="T101" fmla="*/ 406 h 286"/>
                <a:gd name="T102" fmla="*/ 1448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70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11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9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9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11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70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26" name="Freeform 33"/>
            <p:cNvSpPr>
              <a:spLocks/>
            </p:cNvSpPr>
            <p:nvPr/>
          </p:nvSpPr>
          <p:spPr bwMode="auto">
            <a:xfrm>
              <a:off x="4741" y="1607"/>
              <a:ext cx="746" cy="357"/>
            </a:xfrm>
            <a:custGeom>
              <a:avLst/>
              <a:gdLst>
                <a:gd name="T0" fmla="*/ 1448 w 598"/>
                <a:gd name="T1" fmla="*/ 331 h 286"/>
                <a:gd name="T2" fmla="*/ 1441 w 598"/>
                <a:gd name="T3" fmla="*/ 296 h 286"/>
                <a:gd name="T4" fmla="*/ 1426 w 598"/>
                <a:gd name="T5" fmla="*/ 263 h 286"/>
                <a:gd name="T6" fmla="*/ 1405 w 598"/>
                <a:gd name="T7" fmla="*/ 232 h 286"/>
                <a:gd name="T8" fmla="*/ 1381 w 598"/>
                <a:gd name="T9" fmla="*/ 202 h 286"/>
                <a:gd name="T10" fmla="*/ 1341 w 598"/>
                <a:gd name="T11" fmla="*/ 170 h 286"/>
                <a:gd name="T12" fmla="*/ 1304 w 598"/>
                <a:gd name="T13" fmla="*/ 144 h 286"/>
                <a:gd name="T14" fmla="*/ 1260 w 598"/>
                <a:gd name="T15" fmla="*/ 119 h 286"/>
                <a:gd name="T16" fmla="*/ 1211 w 598"/>
                <a:gd name="T17" fmla="*/ 92 h 286"/>
                <a:gd name="T18" fmla="*/ 1158 w 598"/>
                <a:gd name="T19" fmla="*/ 70 h 286"/>
                <a:gd name="T20" fmla="*/ 1069 w 598"/>
                <a:gd name="T21" fmla="*/ 42 h 286"/>
                <a:gd name="T22" fmla="*/ 939 w 598"/>
                <a:gd name="T23" fmla="*/ 19 h 286"/>
                <a:gd name="T24" fmla="*/ 800 w 598"/>
                <a:gd name="T25" fmla="*/ 2 h 286"/>
                <a:gd name="T26" fmla="*/ 652 w 598"/>
                <a:gd name="T27" fmla="*/ 2 h 286"/>
                <a:gd name="T28" fmla="*/ 510 w 598"/>
                <a:gd name="T29" fmla="*/ 19 h 286"/>
                <a:gd name="T30" fmla="*/ 382 w 598"/>
                <a:gd name="T31" fmla="*/ 42 h 286"/>
                <a:gd name="T32" fmla="*/ 293 w 598"/>
                <a:gd name="T33" fmla="*/ 70 h 286"/>
                <a:gd name="T34" fmla="*/ 241 w 598"/>
                <a:gd name="T35" fmla="*/ 92 h 286"/>
                <a:gd name="T36" fmla="*/ 193 w 598"/>
                <a:gd name="T37" fmla="*/ 119 h 286"/>
                <a:gd name="T38" fmla="*/ 146 w 598"/>
                <a:gd name="T39" fmla="*/ 144 h 286"/>
                <a:gd name="T40" fmla="*/ 105 w 598"/>
                <a:gd name="T41" fmla="*/ 170 h 286"/>
                <a:gd name="T42" fmla="*/ 70 w 598"/>
                <a:gd name="T43" fmla="*/ 202 h 286"/>
                <a:gd name="T44" fmla="*/ 46 w 598"/>
                <a:gd name="T45" fmla="*/ 232 h 286"/>
                <a:gd name="T46" fmla="*/ 21 w 598"/>
                <a:gd name="T47" fmla="*/ 263 h 286"/>
                <a:gd name="T48" fmla="*/ 9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9 w 598"/>
                <a:gd name="T55" fmla="*/ 406 h 286"/>
                <a:gd name="T56" fmla="*/ 21 w 598"/>
                <a:gd name="T57" fmla="*/ 433 h 286"/>
                <a:gd name="T58" fmla="*/ 46 w 598"/>
                <a:gd name="T59" fmla="*/ 469 h 286"/>
                <a:gd name="T60" fmla="*/ 70 w 598"/>
                <a:gd name="T61" fmla="*/ 501 h 286"/>
                <a:gd name="T62" fmla="*/ 105 w 598"/>
                <a:gd name="T63" fmla="*/ 532 h 286"/>
                <a:gd name="T64" fmla="*/ 146 w 598"/>
                <a:gd name="T65" fmla="*/ 557 h 286"/>
                <a:gd name="T66" fmla="*/ 193 w 598"/>
                <a:gd name="T67" fmla="*/ 583 h 286"/>
                <a:gd name="T68" fmla="*/ 241 w 598"/>
                <a:gd name="T69" fmla="*/ 609 h 286"/>
                <a:gd name="T70" fmla="*/ 293 w 598"/>
                <a:gd name="T71" fmla="*/ 633 h 286"/>
                <a:gd name="T72" fmla="*/ 382 w 598"/>
                <a:gd name="T73" fmla="*/ 657 h 286"/>
                <a:gd name="T74" fmla="*/ 510 w 598"/>
                <a:gd name="T75" fmla="*/ 683 h 286"/>
                <a:gd name="T76" fmla="*/ 652 w 598"/>
                <a:gd name="T77" fmla="*/ 695 h 286"/>
                <a:gd name="T78" fmla="*/ 800 w 598"/>
                <a:gd name="T79" fmla="*/ 695 h 286"/>
                <a:gd name="T80" fmla="*/ 939 w 598"/>
                <a:gd name="T81" fmla="*/ 683 h 286"/>
                <a:gd name="T82" fmla="*/ 1069 w 598"/>
                <a:gd name="T83" fmla="*/ 657 h 286"/>
                <a:gd name="T84" fmla="*/ 1158 w 598"/>
                <a:gd name="T85" fmla="*/ 633 h 286"/>
                <a:gd name="T86" fmla="*/ 1211 w 598"/>
                <a:gd name="T87" fmla="*/ 609 h 286"/>
                <a:gd name="T88" fmla="*/ 1260 w 598"/>
                <a:gd name="T89" fmla="*/ 583 h 286"/>
                <a:gd name="T90" fmla="*/ 1304 w 598"/>
                <a:gd name="T91" fmla="*/ 557 h 286"/>
                <a:gd name="T92" fmla="*/ 1341 w 598"/>
                <a:gd name="T93" fmla="*/ 532 h 286"/>
                <a:gd name="T94" fmla="*/ 1381 w 598"/>
                <a:gd name="T95" fmla="*/ 501 h 286"/>
                <a:gd name="T96" fmla="*/ 1405 w 598"/>
                <a:gd name="T97" fmla="*/ 469 h 286"/>
                <a:gd name="T98" fmla="*/ 1426 w 598"/>
                <a:gd name="T99" fmla="*/ 433 h 286"/>
                <a:gd name="T100" fmla="*/ 1441 w 598"/>
                <a:gd name="T101" fmla="*/ 406 h 286"/>
                <a:gd name="T102" fmla="*/ 1448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70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11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9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9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11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70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27" name="Rectangle 34"/>
            <p:cNvSpPr>
              <a:spLocks noChangeArrowheads="1"/>
            </p:cNvSpPr>
            <p:nvPr/>
          </p:nvSpPr>
          <p:spPr bwMode="auto">
            <a:xfrm>
              <a:off x="4856" y="1626"/>
              <a:ext cx="503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ชื่อลูกค้า</a:t>
              </a:r>
              <a:endParaRPr lang="en-US" altLang="th-TH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28" name="Line 35"/>
            <p:cNvSpPr>
              <a:spLocks noChangeShapeType="1"/>
            </p:cNvSpPr>
            <p:nvPr/>
          </p:nvSpPr>
          <p:spPr bwMode="auto">
            <a:xfrm>
              <a:off x="4023" y="1964"/>
              <a:ext cx="413" cy="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29" name="Line 36"/>
            <p:cNvSpPr>
              <a:spLocks noChangeShapeType="1"/>
            </p:cNvSpPr>
            <p:nvPr/>
          </p:nvSpPr>
          <p:spPr bwMode="auto">
            <a:xfrm flipH="1">
              <a:off x="4741" y="1964"/>
              <a:ext cx="408" cy="43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30" name="Line 37"/>
            <p:cNvSpPr>
              <a:spLocks noChangeShapeType="1"/>
            </p:cNvSpPr>
            <p:nvPr/>
          </p:nvSpPr>
          <p:spPr bwMode="auto">
            <a:xfrm flipH="1">
              <a:off x="2129" y="2697"/>
              <a:ext cx="44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31" name="Line 38"/>
            <p:cNvSpPr>
              <a:spLocks noChangeShapeType="1"/>
            </p:cNvSpPr>
            <p:nvPr/>
          </p:nvSpPr>
          <p:spPr bwMode="auto">
            <a:xfrm>
              <a:off x="3600" y="2694"/>
              <a:ext cx="476" cy="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032" name="Rectangle 39"/>
            <p:cNvSpPr>
              <a:spLocks noChangeArrowheads="1"/>
            </p:cNvSpPr>
            <p:nvPr/>
          </p:nvSpPr>
          <p:spPr bwMode="auto">
            <a:xfrm>
              <a:off x="2326" y="2200"/>
              <a:ext cx="85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033" name="Rectangle 40"/>
            <p:cNvSpPr>
              <a:spLocks noChangeArrowheads="1"/>
            </p:cNvSpPr>
            <p:nvPr/>
          </p:nvSpPr>
          <p:spPr bwMode="auto">
            <a:xfrm>
              <a:off x="3717" y="2200"/>
              <a:ext cx="85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39955" name="Rectangle 55"/>
          <p:cNvSpPr>
            <a:spLocks noChangeArrowheads="1"/>
          </p:cNvSpPr>
          <p:nvPr/>
        </p:nvSpPr>
        <p:spPr bwMode="auto">
          <a:xfrm>
            <a:off x="323850" y="4437063"/>
            <a:ext cx="608013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2300" b="1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ตัวแทน</a:t>
            </a:r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956" name="Rectangle 56"/>
          <p:cNvSpPr>
            <a:spLocks noChangeArrowheads="1"/>
          </p:cNvSpPr>
          <p:nvPr/>
        </p:nvSpPr>
        <p:spPr bwMode="auto">
          <a:xfrm>
            <a:off x="250825" y="5445125"/>
            <a:ext cx="45085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2300" b="1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ลูกค้า</a:t>
            </a:r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66371" name="Group 131"/>
          <p:cNvGraphicFramePr>
            <a:graphicFrameLocks noGrp="1"/>
          </p:cNvGraphicFramePr>
          <p:nvPr>
            <p:ph sz="quarter" idx="3"/>
          </p:nvPr>
        </p:nvGraphicFramePr>
        <p:xfrm>
          <a:off x="1187450" y="4508500"/>
          <a:ext cx="3671888" cy="639763"/>
        </p:xfrm>
        <a:graphic>
          <a:graphicData uri="http://schemas.openxmlformats.org/drawingml/2006/table">
            <a:tbl>
              <a:tblPr/>
              <a:tblGrid>
                <a:gridCol w="91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1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รหัสตัวแทน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ชื่อตัวแทน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ที่อยู่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รหัสลูกค้า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6391" name="Group 151"/>
          <p:cNvGraphicFramePr>
            <a:graphicFrameLocks noGrp="1"/>
          </p:cNvGraphicFramePr>
          <p:nvPr/>
        </p:nvGraphicFramePr>
        <p:xfrm>
          <a:off x="5940425" y="4716463"/>
          <a:ext cx="2754313" cy="639762"/>
        </p:xfrm>
        <a:graphic>
          <a:graphicData uri="http://schemas.openxmlformats.org/drawingml/2006/table">
            <a:tbl>
              <a:tblPr/>
              <a:tblGrid>
                <a:gridCol w="91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รหัสตัวแทน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1" marB="456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ชื่อตัวแทน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ที่อยู่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1" marB="456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988" name="Rectangle 152"/>
          <p:cNvSpPr>
            <a:spLocks noChangeArrowheads="1"/>
          </p:cNvSpPr>
          <p:nvPr/>
        </p:nvSpPr>
        <p:spPr bwMode="auto">
          <a:xfrm>
            <a:off x="5003800" y="5003800"/>
            <a:ext cx="608013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2300" b="1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ตัวแทน</a:t>
            </a:r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989" name="Rectangle 153"/>
          <p:cNvSpPr>
            <a:spLocks noChangeArrowheads="1"/>
          </p:cNvSpPr>
          <p:nvPr/>
        </p:nvSpPr>
        <p:spPr bwMode="auto">
          <a:xfrm>
            <a:off x="4859338" y="5508625"/>
            <a:ext cx="45085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2300" b="1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ลูกค้า</a:t>
            </a:r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66409" name="Group 169"/>
          <p:cNvGraphicFramePr>
            <a:graphicFrameLocks noGrp="1"/>
          </p:cNvGraphicFramePr>
          <p:nvPr/>
        </p:nvGraphicFramePr>
        <p:xfrm>
          <a:off x="5724525" y="5435600"/>
          <a:ext cx="3095625" cy="657225"/>
        </p:xfrm>
        <a:graphic>
          <a:graphicData uri="http://schemas.openxmlformats.org/drawingml/2006/table">
            <a:tbl>
              <a:tblPr/>
              <a:tblGrid>
                <a:gridCol w="10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รหัสลูกค้า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ชื่อลูกค้า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รหัสตัวแทน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629B01-6957-4E5B-A0F3-714DF638CA10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38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63575" y="414338"/>
            <a:ext cx="8229600" cy="1139825"/>
          </a:xfrm>
        </p:spPr>
        <p:txBody>
          <a:bodyPr/>
          <a:lstStyle/>
          <a:p>
            <a:pPr eaLnBrk="1" hangingPunct="1">
              <a:lnSpc>
                <a:spcPct val="85000"/>
              </a:lnSpc>
              <a:defRPr/>
            </a:pP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การเปลี่ยน </a:t>
            </a:r>
            <a:r>
              <a:rPr lang="en-US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diagram </a:t>
            </a: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เป็น </a:t>
            </a:r>
            <a:r>
              <a:rPr lang="en-US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Table</a:t>
            </a: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b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แบบมีความสัมพันธ์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556500" cy="919163"/>
          </a:xfrm>
        </p:spPr>
        <p:txBody>
          <a:bodyPr/>
          <a:lstStyle/>
          <a:p>
            <a:pPr eaLnBrk="1" hangingPunct="1"/>
            <a:r>
              <a:rPr lang="th-TH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 ความสัมพันธ์แบบหนึ่งต่อกลุ่ม (</a:t>
            </a: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One to Many, 1:M)</a:t>
            </a:r>
            <a:endParaRPr lang="th-TH" altLang="th-TH" sz="36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0965" name="AutoShape 4"/>
          <p:cNvSpPr>
            <a:spLocks noChangeArrowheads="1"/>
          </p:cNvSpPr>
          <p:nvPr/>
        </p:nvSpPr>
        <p:spPr bwMode="auto">
          <a:xfrm>
            <a:off x="4002088" y="4167188"/>
            <a:ext cx="563562" cy="42703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0966" name="Group 8"/>
          <p:cNvGrpSpPr>
            <a:grpSpLocks/>
          </p:cNvGrpSpPr>
          <p:nvPr/>
        </p:nvGrpSpPr>
        <p:grpSpPr bwMode="auto">
          <a:xfrm>
            <a:off x="323850" y="2133600"/>
            <a:ext cx="8424863" cy="2232025"/>
            <a:chOff x="204" y="1480"/>
            <a:chExt cx="5312" cy="1529"/>
          </a:xfrm>
        </p:grpSpPr>
        <p:sp>
          <p:nvSpPr>
            <p:cNvPr id="40997" name="AutoShape 9"/>
            <p:cNvSpPr>
              <a:spLocks noChangeAspect="1" noChangeArrowheads="1" noTextEdit="1"/>
            </p:cNvSpPr>
            <p:nvPr/>
          </p:nvSpPr>
          <p:spPr bwMode="auto">
            <a:xfrm>
              <a:off x="295" y="1570"/>
              <a:ext cx="5221" cy="1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998" name="Rectangle 10"/>
            <p:cNvSpPr>
              <a:spLocks noChangeArrowheads="1"/>
            </p:cNvSpPr>
            <p:nvPr/>
          </p:nvSpPr>
          <p:spPr bwMode="auto">
            <a:xfrm>
              <a:off x="1111" y="2429"/>
              <a:ext cx="1018" cy="5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999" name="Rectangle 11"/>
            <p:cNvSpPr>
              <a:spLocks noChangeArrowheads="1"/>
            </p:cNvSpPr>
            <p:nvPr/>
          </p:nvSpPr>
          <p:spPr bwMode="auto">
            <a:xfrm>
              <a:off x="1111" y="2429"/>
              <a:ext cx="1018" cy="535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00" name="Rectangle 12"/>
            <p:cNvSpPr>
              <a:spLocks noChangeArrowheads="1"/>
            </p:cNvSpPr>
            <p:nvPr/>
          </p:nvSpPr>
          <p:spPr bwMode="auto">
            <a:xfrm>
              <a:off x="1251" y="2465"/>
              <a:ext cx="580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ตัวแทน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01" name="Freeform 13"/>
            <p:cNvSpPr>
              <a:spLocks/>
            </p:cNvSpPr>
            <p:nvPr/>
          </p:nvSpPr>
          <p:spPr bwMode="auto">
            <a:xfrm>
              <a:off x="204" y="1480"/>
              <a:ext cx="874" cy="503"/>
            </a:xfrm>
            <a:custGeom>
              <a:avLst/>
              <a:gdLst>
                <a:gd name="T0" fmla="*/ 2727 w 598"/>
                <a:gd name="T1" fmla="*/ 1300 h 286"/>
                <a:gd name="T2" fmla="*/ 2711 w 598"/>
                <a:gd name="T3" fmla="*/ 1161 h 286"/>
                <a:gd name="T4" fmla="*/ 2680 w 598"/>
                <a:gd name="T5" fmla="*/ 1024 h 286"/>
                <a:gd name="T6" fmla="*/ 2640 w 598"/>
                <a:gd name="T7" fmla="*/ 897 h 286"/>
                <a:gd name="T8" fmla="*/ 2588 w 598"/>
                <a:gd name="T9" fmla="*/ 783 h 286"/>
                <a:gd name="T10" fmla="*/ 2528 w 598"/>
                <a:gd name="T11" fmla="*/ 660 h 286"/>
                <a:gd name="T12" fmla="*/ 2454 w 598"/>
                <a:gd name="T13" fmla="*/ 566 h 286"/>
                <a:gd name="T14" fmla="*/ 2374 w 598"/>
                <a:gd name="T15" fmla="*/ 457 h 286"/>
                <a:gd name="T16" fmla="*/ 2276 w 598"/>
                <a:gd name="T17" fmla="*/ 352 h 286"/>
                <a:gd name="T18" fmla="*/ 2176 w 598"/>
                <a:gd name="T19" fmla="*/ 266 h 286"/>
                <a:gd name="T20" fmla="*/ 2017 w 598"/>
                <a:gd name="T21" fmla="*/ 172 h 286"/>
                <a:gd name="T22" fmla="*/ 1767 w 598"/>
                <a:gd name="T23" fmla="*/ 65 h 286"/>
                <a:gd name="T24" fmla="*/ 1501 w 598"/>
                <a:gd name="T25" fmla="*/ 12 h 286"/>
                <a:gd name="T26" fmla="*/ 1223 w 598"/>
                <a:gd name="T27" fmla="*/ 12 h 286"/>
                <a:gd name="T28" fmla="*/ 953 w 598"/>
                <a:gd name="T29" fmla="*/ 65 h 286"/>
                <a:gd name="T30" fmla="*/ 712 w 598"/>
                <a:gd name="T31" fmla="*/ 172 h 286"/>
                <a:gd name="T32" fmla="*/ 547 w 598"/>
                <a:gd name="T33" fmla="*/ 266 h 286"/>
                <a:gd name="T34" fmla="*/ 444 w 598"/>
                <a:gd name="T35" fmla="*/ 352 h 286"/>
                <a:gd name="T36" fmla="*/ 357 w 598"/>
                <a:gd name="T37" fmla="*/ 457 h 286"/>
                <a:gd name="T38" fmla="*/ 269 w 598"/>
                <a:gd name="T39" fmla="*/ 566 h 286"/>
                <a:gd name="T40" fmla="*/ 190 w 598"/>
                <a:gd name="T41" fmla="*/ 660 h 286"/>
                <a:gd name="T42" fmla="*/ 130 w 598"/>
                <a:gd name="T43" fmla="*/ 783 h 286"/>
                <a:gd name="T44" fmla="*/ 88 w 598"/>
                <a:gd name="T45" fmla="*/ 897 h 286"/>
                <a:gd name="T46" fmla="*/ 38 w 598"/>
                <a:gd name="T47" fmla="*/ 1024 h 286"/>
                <a:gd name="T48" fmla="*/ 13 w 598"/>
                <a:gd name="T49" fmla="*/ 1161 h 286"/>
                <a:gd name="T50" fmla="*/ 0 w 598"/>
                <a:gd name="T51" fmla="*/ 1300 h 286"/>
                <a:gd name="T52" fmla="*/ 0 w 598"/>
                <a:gd name="T53" fmla="*/ 1454 h 286"/>
                <a:gd name="T54" fmla="*/ 13 w 598"/>
                <a:gd name="T55" fmla="*/ 1590 h 286"/>
                <a:gd name="T56" fmla="*/ 38 w 598"/>
                <a:gd name="T57" fmla="*/ 1701 h 286"/>
                <a:gd name="T58" fmla="*/ 88 w 598"/>
                <a:gd name="T59" fmla="*/ 1843 h 286"/>
                <a:gd name="T60" fmla="*/ 130 w 598"/>
                <a:gd name="T61" fmla="*/ 1965 h 286"/>
                <a:gd name="T62" fmla="*/ 190 w 598"/>
                <a:gd name="T63" fmla="*/ 2084 h 286"/>
                <a:gd name="T64" fmla="*/ 269 w 598"/>
                <a:gd name="T65" fmla="*/ 2193 h 286"/>
                <a:gd name="T66" fmla="*/ 357 w 598"/>
                <a:gd name="T67" fmla="*/ 2286 h 286"/>
                <a:gd name="T68" fmla="*/ 444 w 598"/>
                <a:gd name="T69" fmla="*/ 2394 h 286"/>
                <a:gd name="T70" fmla="*/ 547 w 598"/>
                <a:gd name="T71" fmla="*/ 2482 h 286"/>
                <a:gd name="T72" fmla="*/ 712 w 598"/>
                <a:gd name="T73" fmla="*/ 2584 h 286"/>
                <a:gd name="T74" fmla="*/ 953 w 598"/>
                <a:gd name="T75" fmla="*/ 2675 h 286"/>
                <a:gd name="T76" fmla="*/ 1223 w 598"/>
                <a:gd name="T77" fmla="*/ 2737 h 286"/>
                <a:gd name="T78" fmla="*/ 1501 w 598"/>
                <a:gd name="T79" fmla="*/ 2737 h 286"/>
                <a:gd name="T80" fmla="*/ 1767 w 598"/>
                <a:gd name="T81" fmla="*/ 2675 h 286"/>
                <a:gd name="T82" fmla="*/ 2017 w 598"/>
                <a:gd name="T83" fmla="*/ 2584 h 286"/>
                <a:gd name="T84" fmla="*/ 2176 w 598"/>
                <a:gd name="T85" fmla="*/ 2482 h 286"/>
                <a:gd name="T86" fmla="*/ 2276 w 598"/>
                <a:gd name="T87" fmla="*/ 2394 h 286"/>
                <a:gd name="T88" fmla="*/ 2374 w 598"/>
                <a:gd name="T89" fmla="*/ 2286 h 286"/>
                <a:gd name="T90" fmla="*/ 2454 w 598"/>
                <a:gd name="T91" fmla="*/ 2193 h 286"/>
                <a:gd name="T92" fmla="*/ 2528 w 598"/>
                <a:gd name="T93" fmla="*/ 2084 h 286"/>
                <a:gd name="T94" fmla="*/ 2588 w 598"/>
                <a:gd name="T95" fmla="*/ 1965 h 286"/>
                <a:gd name="T96" fmla="*/ 2640 w 598"/>
                <a:gd name="T97" fmla="*/ 1843 h 286"/>
                <a:gd name="T98" fmla="*/ 2680 w 598"/>
                <a:gd name="T99" fmla="*/ 1701 h 286"/>
                <a:gd name="T100" fmla="*/ 2711 w 598"/>
                <a:gd name="T101" fmla="*/ 1590 h 286"/>
                <a:gd name="T102" fmla="*/ 2727 w 598"/>
                <a:gd name="T103" fmla="*/ 1454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8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4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10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2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2" y="12"/>
                  </a:lnTo>
                  <a:lnTo>
                    <a:pt x="156" y="18"/>
                  </a:lnTo>
                  <a:lnTo>
                    <a:pt x="131" y="25"/>
                  </a:lnTo>
                  <a:lnTo>
                    <a:pt x="120" y="28"/>
                  </a:lnTo>
                  <a:lnTo>
                    <a:pt x="109" y="34"/>
                  </a:lnTo>
                  <a:lnTo>
                    <a:pt x="97" y="37"/>
                  </a:lnTo>
                  <a:lnTo>
                    <a:pt x="87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6" y="75"/>
                  </a:lnTo>
                  <a:lnTo>
                    <a:pt x="29" y="82"/>
                  </a:lnTo>
                  <a:lnTo>
                    <a:pt x="24" y="87"/>
                  </a:lnTo>
                  <a:lnTo>
                    <a:pt x="19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2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9" y="193"/>
                  </a:lnTo>
                  <a:lnTo>
                    <a:pt x="24" y="200"/>
                  </a:lnTo>
                  <a:lnTo>
                    <a:pt x="29" y="205"/>
                  </a:lnTo>
                  <a:lnTo>
                    <a:pt x="36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7" y="245"/>
                  </a:lnTo>
                  <a:lnTo>
                    <a:pt x="97" y="250"/>
                  </a:lnTo>
                  <a:lnTo>
                    <a:pt x="109" y="254"/>
                  </a:lnTo>
                  <a:lnTo>
                    <a:pt x="120" y="259"/>
                  </a:lnTo>
                  <a:lnTo>
                    <a:pt x="131" y="263"/>
                  </a:lnTo>
                  <a:lnTo>
                    <a:pt x="156" y="270"/>
                  </a:lnTo>
                  <a:lnTo>
                    <a:pt x="182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2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10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4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8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1002" name="Rectangle 14"/>
            <p:cNvSpPr>
              <a:spLocks noChangeArrowheads="1"/>
            </p:cNvSpPr>
            <p:nvPr/>
          </p:nvSpPr>
          <p:spPr bwMode="auto">
            <a:xfrm>
              <a:off x="249" y="1616"/>
              <a:ext cx="771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th-TH" altLang="th-TH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รหัสตัวแทน</a:t>
              </a:r>
              <a:endParaRPr lang="en-US" altLang="th-TH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03" name="Freeform 15"/>
            <p:cNvSpPr>
              <a:spLocks/>
            </p:cNvSpPr>
            <p:nvPr/>
          </p:nvSpPr>
          <p:spPr bwMode="auto">
            <a:xfrm>
              <a:off x="1111" y="1525"/>
              <a:ext cx="1043" cy="458"/>
            </a:xfrm>
            <a:custGeom>
              <a:avLst/>
              <a:gdLst>
                <a:gd name="T0" fmla="*/ 5534 w 598"/>
                <a:gd name="T1" fmla="*/ 895 h 286"/>
                <a:gd name="T2" fmla="*/ 5498 w 598"/>
                <a:gd name="T3" fmla="*/ 797 h 286"/>
                <a:gd name="T4" fmla="*/ 5442 w 598"/>
                <a:gd name="T5" fmla="*/ 703 h 286"/>
                <a:gd name="T6" fmla="*/ 5360 w 598"/>
                <a:gd name="T7" fmla="*/ 621 h 286"/>
                <a:gd name="T8" fmla="*/ 5248 w 598"/>
                <a:gd name="T9" fmla="*/ 538 h 286"/>
                <a:gd name="T10" fmla="*/ 5126 w 598"/>
                <a:gd name="T11" fmla="*/ 452 h 286"/>
                <a:gd name="T12" fmla="*/ 4976 w 598"/>
                <a:gd name="T13" fmla="*/ 388 h 286"/>
                <a:gd name="T14" fmla="*/ 4812 w 598"/>
                <a:gd name="T15" fmla="*/ 315 h 286"/>
                <a:gd name="T16" fmla="*/ 4615 w 598"/>
                <a:gd name="T17" fmla="*/ 242 h 286"/>
                <a:gd name="T18" fmla="*/ 4414 w 598"/>
                <a:gd name="T19" fmla="*/ 184 h 286"/>
                <a:gd name="T20" fmla="*/ 4080 w 598"/>
                <a:gd name="T21" fmla="*/ 119 h 286"/>
                <a:gd name="T22" fmla="*/ 3581 w 598"/>
                <a:gd name="T23" fmla="*/ 46 h 286"/>
                <a:gd name="T24" fmla="*/ 3045 w 598"/>
                <a:gd name="T25" fmla="*/ 8 h 286"/>
                <a:gd name="T26" fmla="*/ 2478 w 598"/>
                <a:gd name="T27" fmla="*/ 8 h 286"/>
                <a:gd name="T28" fmla="*/ 1938 w 598"/>
                <a:gd name="T29" fmla="*/ 46 h 286"/>
                <a:gd name="T30" fmla="*/ 1442 w 598"/>
                <a:gd name="T31" fmla="*/ 119 h 286"/>
                <a:gd name="T32" fmla="*/ 1111 w 598"/>
                <a:gd name="T33" fmla="*/ 184 h 286"/>
                <a:gd name="T34" fmla="*/ 898 w 598"/>
                <a:gd name="T35" fmla="*/ 242 h 286"/>
                <a:gd name="T36" fmla="*/ 720 w 598"/>
                <a:gd name="T37" fmla="*/ 315 h 286"/>
                <a:gd name="T38" fmla="*/ 548 w 598"/>
                <a:gd name="T39" fmla="*/ 388 h 286"/>
                <a:gd name="T40" fmla="*/ 387 w 598"/>
                <a:gd name="T41" fmla="*/ 452 h 286"/>
                <a:gd name="T42" fmla="*/ 270 w 598"/>
                <a:gd name="T43" fmla="*/ 538 h 286"/>
                <a:gd name="T44" fmla="*/ 164 w 598"/>
                <a:gd name="T45" fmla="*/ 621 h 286"/>
                <a:gd name="T46" fmla="*/ 73 w 598"/>
                <a:gd name="T47" fmla="*/ 703 h 286"/>
                <a:gd name="T48" fmla="*/ 28 w 598"/>
                <a:gd name="T49" fmla="*/ 797 h 286"/>
                <a:gd name="T50" fmla="*/ 0 w 598"/>
                <a:gd name="T51" fmla="*/ 895 h 286"/>
                <a:gd name="T52" fmla="*/ 0 w 598"/>
                <a:gd name="T53" fmla="*/ 998 h 286"/>
                <a:gd name="T54" fmla="*/ 28 w 598"/>
                <a:gd name="T55" fmla="*/ 1092 h 286"/>
                <a:gd name="T56" fmla="*/ 73 w 598"/>
                <a:gd name="T57" fmla="*/ 1169 h 286"/>
                <a:gd name="T58" fmla="*/ 164 w 598"/>
                <a:gd name="T59" fmla="*/ 1270 h 286"/>
                <a:gd name="T60" fmla="*/ 270 w 598"/>
                <a:gd name="T61" fmla="*/ 1347 h 286"/>
                <a:gd name="T62" fmla="*/ 387 w 598"/>
                <a:gd name="T63" fmla="*/ 1433 h 286"/>
                <a:gd name="T64" fmla="*/ 548 w 598"/>
                <a:gd name="T65" fmla="*/ 1509 h 286"/>
                <a:gd name="T66" fmla="*/ 720 w 598"/>
                <a:gd name="T67" fmla="*/ 1573 h 286"/>
                <a:gd name="T68" fmla="*/ 898 w 598"/>
                <a:gd name="T69" fmla="*/ 1643 h 286"/>
                <a:gd name="T70" fmla="*/ 1111 w 598"/>
                <a:gd name="T71" fmla="*/ 1705 h 286"/>
                <a:gd name="T72" fmla="*/ 1442 w 598"/>
                <a:gd name="T73" fmla="*/ 1774 h 286"/>
                <a:gd name="T74" fmla="*/ 1938 w 598"/>
                <a:gd name="T75" fmla="*/ 1838 h 286"/>
                <a:gd name="T76" fmla="*/ 2478 w 598"/>
                <a:gd name="T77" fmla="*/ 1880 h 286"/>
                <a:gd name="T78" fmla="*/ 3045 w 598"/>
                <a:gd name="T79" fmla="*/ 1880 h 286"/>
                <a:gd name="T80" fmla="*/ 3581 w 598"/>
                <a:gd name="T81" fmla="*/ 1838 h 286"/>
                <a:gd name="T82" fmla="*/ 4080 w 598"/>
                <a:gd name="T83" fmla="*/ 1774 h 286"/>
                <a:gd name="T84" fmla="*/ 4414 w 598"/>
                <a:gd name="T85" fmla="*/ 1705 h 286"/>
                <a:gd name="T86" fmla="*/ 4615 w 598"/>
                <a:gd name="T87" fmla="*/ 1643 h 286"/>
                <a:gd name="T88" fmla="*/ 4812 w 598"/>
                <a:gd name="T89" fmla="*/ 1573 h 286"/>
                <a:gd name="T90" fmla="*/ 4976 w 598"/>
                <a:gd name="T91" fmla="*/ 1509 h 286"/>
                <a:gd name="T92" fmla="*/ 5126 w 598"/>
                <a:gd name="T93" fmla="*/ 1433 h 286"/>
                <a:gd name="T94" fmla="*/ 5248 w 598"/>
                <a:gd name="T95" fmla="*/ 1347 h 286"/>
                <a:gd name="T96" fmla="*/ 5360 w 598"/>
                <a:gd name="T97" fmla="*/ 1270 h 286"/>
                <a:gd name="T98" fmla="*/ 5442 w 598"/>
                <a:gd name="T99" fmla="*/ 1169 h 286"/>
                <a:gd name="T100" fmla="*/ 5498 w 598"/>
                <a:gd name="T101" fmla="*/ 1092 h 286"/>
                <a:gd name="T102" fmla="*/ 5534 w 598"/>
                <a:gd name="T103" fmla="*/ 998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8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4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09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1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2" y="12"/>
                  </a:lnTo>
                  <a:lnTo>
                    <a:pt x="156" y="18"/>
                  </a:lnTo>
                  <a:lnTo>
                    <a:pt x="131" y="25"/>
                  </a:lnTo>
                  <a:lnTo>
                    <a:pt x="120" y="28"/>
                  </a:lnTo>
                  <a:lnTo>
                    <a:pt x="108" y="34"/>
                  </a:lnTo>
                  <a:lnTo>
                    <a:pt x="97" y="37"/>
                  </a:lnTo>
                  <a:lnTo>
                    <a:pt x="86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5" y="75"/>
                  </a:lnTo>
                  <a:lnTo>
                    <a:pt x="29" y="82"/>
                  </a:lnTo>
                  <a:lnTo>
                    <a:pt x="24" y="87"/>
                  </a:lnTo>
                  <a:lnTo>
                    <a:pt x="18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1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1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8" y="193"/>
                  </a:lnTo>
                  <a:lnTo>
                    <a:pt x="24" y="200"/>
                  </a:lnTo>
                  <a:lnTo>
                    <a:pt x="29" y="205"/>
                  </a:lnTo>
                  <a:lnTo>
                    <a:pt x="35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6" y="245"/>
                  </a:lnTo>
                  <a:lnTo>
                    <a:pt x="97" y="250"/>
                  </a:lnTo>
                  <a:lnTo>
                    <a:pt x="108" y="254"/>
                  </a:lnTo>
                  <a:lnTo>
                    <a:pt x="120" y="259"/>
                  </a:lnTo>
                  <a:lnTo>
                    <a:pt x="131" y="263"/>
                  </a:lnTo>
                  <a:lnTo>
                    <a:pt x="156" y="270"/>
                  </a:lnTo>
                  <a:lnTo>
                    <a:pt x="182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1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09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4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8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1004" name="Rectangle 16"/>
            <p:cNvSpPr>
              <a:spLocks noChangeArrowheads="1"/>
            </p:cNvSpPr>
            <p:nvPr/>
          </p:nvSpPr>
          <p:spPr bwMode="auto">
            <a:xfrm>
              <a:off x="1292" y="1644"/>
              <a:ext cx="726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ชื่อตัวแทน</a:t>
              </a:r>
              <a:endPara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05" name="Freeform 17"/>
            <p:cNvSpPr>
              <a:spLocks/>
            </p:cNvSpPr>
            <p:nvPr/>
          </p:nvSpPr>
          <p:spPr bwMode="auto">
            <a:xfrm>
              <a:off x="2163" y="1626"/>
              <a:ext cx="989" cy="357"/>
            </a:xfrm>
            <a:custGeom>
              <a:avLst/>
              <a:gdLst>
                <a:gd name="T0" fmla="*/ 4475 w 598"/>
                <a:gd name="T1" fmla="*/ 331 h 286"/>
                <a:gd name="T2" fmla="*/ 4442 w 598"/>
                <a:gd name="T3" fmla="*/ 293 h 286"/>
                <a:gd name="T4" fmla="*/ 4393 w 598"/>
                <a:gd name="T5" fmla="*/ 260 h 286"/>
                <a:gd name="T6" fmla="*/ 4333 w 598"/>
                <a:gd name="T7" fmla="*/ 227 h 286"/>
                <a:gd name="T8" fmla="*/ 4242 w 598"/>
                <a:gd name="T9" fmla="*/ 198 h 286"/>
                <a:gd name="T10" fmla="*/ 4138 w 598"/>
                <a:gd name="T11" fmla="*/ 167 h 286"/>
                <a:gd name="T12" fmla="*/ 4025 w 598"/>
                <a:gd name="T13" fmla="*/ 144 h 286"/>
                <a:gd name="T14" fmla="*/ 3890 w 598"/>
                <a:gd name="T15" fmla="*/ 117 h 286"/>
                <a:gd name="T16" fmla="*/ 3731 w 598"/>
                <a:gd name="T17" fmla="*/ 89 h 286"/>
                <a:gd name="T18" fmla="*/ 3569 w 598"/>
                <a:gd name="T19" fmla="*/ 69 h 286"/>
                <a:gd name="T20" fmla="*/ 3299 w 598"/>
                <a:gd name="T21" fmla="*/ 42 h 286"/>
                <a:gd name="T22" fmla="*/ 2894 w 598"/>
                <a:gd name="T23" fmla="*/ 17 h 286"/>
                <a:gd name="T24" fmla="*/ 2461 w 598"/>
                <a:gd name="T25" fmla="*/ 1 h 286"/>
                <a:gd name="T26" fmla="*/ 2004 w 598"/>
                <a:gd name="T27" fmla="*/ 1 h 286"/>
                <a:gd name="T28" fmla="*/ 1565 w 598"/>
                <a:gd name="T29" fmla="*/ 17 h 286"/>
                <a:gd name="T30" fmla="*/ 1168 w 598"/>
                <a:gd name="T31" fmla="*/ 42 h 286"/>
                <a:gd name="T32" fmla="*/ 895 w 598"/>
                <a:gd name="T33" fmla="*/ 69 h 286"/>
                <a:gd name="T34" fmla="*/ 724 w 598"/>
                <a:gd name="T35" fmla="*/ 89 h 286"/>
                <a:gd name="T36" fmla="*/ 582 w 598"/>
                <a:gd name="T37" fmla="*/ 117 h 286"/>
                <a:gd name="T38" fmla="*/ 443 w 598"/>
                <a:gd name="T39" fmla="*/ 144 h 286"/>
                <a:gd name="T40" fmla="*/ 313 w 598"/>
                <a:gd name="T41" fmla="*/ 167 h 286"/>
                <a:gd name="T42" fmla="*/ 217 w 598"/>
                <a:gd name="T43" fmla="*/ 198 h 286"/>
                <a:gd name="T44" fmla="*/ 137 w 598"/>
                <a:gd name="T45" fmla="*/ 227 h 286"/>
                <a:gd name="T46" fmla="*/ 60 w 598"/>
                <a:gd name="T47" fmla="*/ 260 h 286"/>
                <a:gd name="T48" fmla="*/ 22 w 598"/>
                <a:gd name="T49" fmla="*/ 293 h 286"/>
                <a:gd name="T50" fmla="*/ 0 w 598"/>
                <a:gd name="T51" fmla="*/ 331 h 286"/>
                <a:gd name="T52" fmla="*/ 0 w 598"/>
                <a:gd name="T53" fmla="*/ 369 h 286"/>
                <a:gd name="T54" fmla="*/ 22 w 598"/>
                <a:gd name="T55" fmla="*/ 402 h 286"/>
                <a:gd name="T56" fmla="*/ 60 w 598"/>
                <a:gd name="T57" fmla="*/ 432 h 286"/>
                <a:gd name="T58" fmla="*/ 137 w 598"/>
                <a:gd name="T59" fmla="*/ 469 h 286"/>
                <a:gd name="T60" fmla="*/ 217 w 598"/>
                <a:gd name="T61" fmla="*/ 498 h 286"/>
                <a:gd name="T62" fmla="*/ 313 w 598"/>
                <a:gd name="T63" fmla="*/ 529 h 286"/>
                <a:gd name="T64" fmla="*/ 443 w 598"/>
                <a:gd name="T65" fmla="*/ 557 h 286"/>
                <a:gd name="T66" fmla="*/ 582 w 598"/>
                <a:gd name="T67" fmla="*/ 579 h 286"/>
                <a:gd name="T68" fmla="*/ 724 w 598"/>
                <a:gd name="T69" fmla="*/ 607 h 286"/>
                <a:gd name="T70" fmla="*/ 895 w 598"/>
                <a:gd name="T71" fmla="*/ 628 h 286"/>
                <a:gd name="T72" fmla="*/ 1168 w 598"/>
                <a:gd name="T73" fmla="*/ 657 h 286"/>
                <a:gd name="T74" fmla="*/ 1565 w 598"/>
                <a:gd name="T75" fmla="*/ 680 h 286"/>
                <a:gd name="T76" fmla="*/ 2004 w 598"/>
                <a:gd name="T77" fmla="*/ 695 h 286"/>
                <a:gd name="T78" fmla="*/ 2461 w 598"/>
                <a:gd name="T79" fmla="*/ 695 h 286"/>
                <a:gd name="T80" fmla="*/ 2894 w 598"/>
                <a:gd name="T81" fmla="*/ 680 h 286"/>
                <a:gd name="T82" fmla="*/ 3299 w 598"/>
                <a:gd name="T83" fmla="*/ 657 h 286"/>
                <a:gd name="T84" fmla="*/ 3569 w 598"/>
                <a:gd name="T85" fmla="*/ 628 h 286"/>
                <a:gd name="T86" fmla="*/ 3731 w 598"/>
                <a:gd name="T87" fmla="*/ 607 h 286"/>
                <a:gd name="T88" fmla="*/ 3890 w 598"/>
                <a:gd name="T89" fmla="*/ 579 h 286"/>
                <a:gd name="T90" fmla="*/ 4025 w 598"/>
                <a:gd name="T91" fmla="*/ 557 h 286"/>
                <a:gd name="T92" fmla="*/ 4138 w 598"/>
                <a:gd name="T93" fmla="*/ 529 h 286"/>
                <a:gd name="T94" fmla="*/ 4242 w 598"/>
                <a:gd name="T95" fmla="*/ 498 h 286"/>
                <a:gd name="T96" fmla="*/ 4333 w 598"/>
                <a:gd name="T97" fmla="*/ 469 h 286"/>
                <a:gd name="T98" fmla="*/ 4393 w 598"/>
                <a:gd name="T99" fmla="*/ 432 h 286"/>
                <a:gd name="T100" fmla="*/ 4442 w 598"/>
                <a:gd name="T101" fmla="*/ 402 h 286"/>
                <a:gd name="T102" fmla="*/ 4475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6" y="128"/>
                  </a:lnTo>
                  <a:lnTo>
                    <a:pt x="594" y="121"/>
                  </a:lnTo>
                  <a:lnTo>
                    <a:pt x="591" y="114"/>
                  </a:lnTo>
                  <a:lnTo>
                    <a:pt x="587" y="107"/>
                  </a:lnTo>
                  <a:lnTo>
                    <a:pt x="584" y="102"/>
                  </a:lnTo>
                  <a:lnTo>
                    <a:pt x="579" y="94"/>
                  </a:lnTo>
                  <a:lnTo>
                    <a:pt x="574" y="87"/>
                  </a:lnTo>
                  <a:lnTo>
                    <a:pt x="567" y="82"/>
                  </a:lnTo>
                  <a:lnTo>
                    <a:pt x="562" y="75"/>
                  </a:lnTo>
                  <a:lnTo>
                    <a:pt x="553" y="69"/>
                  </a:lnTo>
                  <a:lnTo>
                    <a:pt x="547" y="64"/>
                  </a:lnTo>
                  <a:lnTo>
                    <a:pt x="538" y="59"/>
                  </a:lnTo>
                  <a:lnTo>
                    <a:pt x="530" y="53"/>
                  </a:lnTo>
                  <a:lnTo>
                    <a:pt x="520" y="48"/>
                  </a:lnTo>
                  <a:lnTo>
                    <a:pt x="509" y="43"/>
                  </a:lnTo>
                  <a:lnTo>
                    <a:pt x="499" y="37"/>
                  </a:lnTo>
                  <a:lnTo>
                    <a:pt x="489" y="34"/>
                  </a:lnTo>
                  <a:lnTo>
                    <a:pt x="477" y="28"/>
                  </a:lnTo>
                  <a:lnTo>
                    <a:pt x="465" y="25"/>
                  </a:lnTo>
                  <a:lnTo>
                    <a:pt x="441" y="18"/>
                  </a:lnTo>
                  <a:lnTo>
                    <a:pt x="414" y="12"/>
                  </a:lnTo>
                  <a:lnTo>
                    <a:pt x="387" y="7"/>
                  </a:lnTo>
                  <a:lnTo>
                    <a:pt x="358" y="3"/>
                  </a:lnTo>
                  <a:lnTo>
                    <a:pt x="329" y="1"/>
                  </a:lnTo>
                  <a:lnTo>
                    <a:pt x="299" y="0"/>
                  </a:lnTo>
                  <a:lnTo>
                    <a:pt x="268" y="1"/>
                  </a:lnTo>
                  <a:lnTo>
                    <a:pt x="238" y="3"/>
                  </a:lnTo>
                  <a:lnTo>
                    <a:pt x="209" y="7"/>
                  </a:lnTo>
                  <a:lnTo>
                    <a:pt x="181" y="12"/>
                  </a:lnTo>
                  <a:lnTo>
                    <a:pt x="156" y="18"/>
                  </a:lnTo>
                  <a:lnTo>
                    <a:pt x="130" y="25"/>
                  </a:lnTo>
                  <a:lnTo>
                    <a:pt x="120" y="28"/>
                  </a:lnTo>
                  <a:lnTo>
                    <a:pt x="108" y="34"/>
                  </a:lnTo>
                  <a:lnTo>
                    <a:pt x="97" y="37"/>
                  </a:lnTo>
                  <a:lnTo>
                    <a:pt x="86" y="43"/>
                  </a:lnTo>
                  <a:lnTo>
                    <a:pt x="78" y="48"/>
                  </a:lnTo>
                  <a:lnTo>
                    <a:pt x="68" y="53"/>
                  </a:lnTo>
                  <a:lnTo>
                    <a:pt x="59" y="59"/>
                  </a:lnTo>
                  <a:lnTo>
                    <a:pt x="51" y="64"/>
                  </a:lnTo>
                  <a:lnTo>
                    <a:pt x="42" y="69"/>
                  </a:lnTo>
                  <a:lnTo>
                    <a:pt x="35" y="75"/>
                  </a:lnTo>
                  <a:lnTo>
                    <a:pt x="29" y="82"/>
                  </a:lnTo>
                  <a:lnTo>
                    <a:pt x="23" y="87"/>
                  </a:lnTo>
                  <a:lnTo>
                    <a:pt x="18" y="94"/>
                  </a:lnTo>
                  <a:lnTo>
                    <a:pt x="13" y="102"/>
                  </a:lnTo>
                  <a:lnTo>
                    <a:pt x="8" y="107"/>
                  </a:lnTo>
                  <a:lnTo>
                    <a:pt x="5" y="114"/>
                  </a:lnTo>
                  <a:lnTo>
                    <a:pt x="3" y="121"/>
                  </a:lnTo>
                  <a:lnTo>
                    <a:pt x="1" y="128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1" y="159"/>
                  </a:lnTo>
                  <a:lnTo>
                    <a:pt x="3" y="166"/>
                  </a:lnTo>
                  <a:lnTo>
                    <a:pt x="5" y="173"/>
                  </a:lnTo>
                  <a:lnTo>
                    <a:pt x="8" y="178"/>
                  </a:lnTo>
                  <a:lnTo>
                    <a:pt x="13" y="186"/>
                  </a:lnTo>
                  <a:lnTo>
                    <a:pt x="18" y="193"/>
                  </a:lnTo>
                  <a:lnTo>
                    <a:pt x="23" y="200"/>
                  </a:lnTo>
                  <a:lnTo>
                    <a:pt x="29" y="205"/>
                  </a:lnTo>
                  <a:lnTo>
                    <a:pt x="35" y="212"/>
                  </a:lnTo>
                  <a:lnTo>
                    <a:pt x="42" y="218"/>
                  </a:lnTo>
                  <a:lnTo>
                    <a:pt x="51" y="223"/>
                  </a:lnTo>
                  <a:lnTo>
                    <a:pt x="59" y="229"/>
                  </a:lnTo>
                  <a:lnTo>
                    <a:pt x="68" y="234"/>
                  </a:lnTo>
                  <a:lnTo>
                    <a:pt x="78" y="239"/>
                  </a:lnTo>
                  <a:lnTo>
                    <a:pt x="86" y="245"/>
                  </a:lnTo>
                  <a:lnTo>
                    <a:pt x="97" y="250"/>
                  </a:lnTo>
                  <a:lnTo>
                    <a:pt x="108" y="254"/>
                  </a:lnTo>
                  <a:lnTo>
                    <a:pt x="120" y="259"/>
                  </a:lnTo>
                  <a:lnTo>
                    <a:pt x="130" y="263"/>
                  </a:lnTo>
                  <a:lnTo>
                    <a:pt x="156" y="270"/>
                  </a:lnTo>
                  <a:lnTo>
                    <a:pt x="181" y="275"/>
                  </a:lnTo>
                  <a:lnTo>
                    <a:pt x="209" y="280"/>
                  </a:lnTo>
                  <a:lnTo>
                    <a:pt x="238" y="284"/>
                  </a:lnTo>
                  <a:lnTo>
                    <a:pt x="268" y="286"/>
                  </a:lnTo>
                  <a:lnTo>
                    <a:pt x="299" y="286"/>
                  </a:lnTo>
                  <a:lnTo>
                    <a:pt x="329" y="286"/>
                  </a:lnTo>
                  <a:lnTo>
                    <a:pt x="358" y="284"/>
                  </a:lnTo>
                  <a:lnTo>
                    <a:pt x="387" y="280"/>
                  </a:lnTo>
                  <a:lnTo>
                    <a:pt x="414" y="275"/>
                  </a:lnTo>
                  <a:lnTo>
                    <a:pt x="441" y="270"/>
                  </a:lnTo>
                  <a:lnTo>
                    <a:pt x="465" y="263"/>
                  </a:lnTo>
                  <a:lnTo>
                    <a:pt x="477" y="259"/>
                  </a:lnTo>
                  <a:lnTo>
                    <a:pt x="489" y="254"/>
                  </a:lnTo>
                  <a:lnTo>
                    <a:pt x="499" y="250"/>
                  </a:lnTo>
                  <a:lnTo>
                    <a:pt x="509" y="245"/>
                  </a:lnTo>
                  <a:lnTo>
                    <a:pt x="520" y="239"/>
                  </a:lnTo>
                  <a:lnTo>
                    <a:pt x="530" y="234"/>
                  </a:lnTo>
                  <a:lnTo>
                    <a:pt x="538" y="229"/>
                  </a:lnTo>
                  <a:lnTo>
                    <a:pt x="547" y="223"/>
                  </a:lnTo>
                  <a:lnTo>
                    <a:pt x="553" y="218"/>
                  </a:lnTo>
                  <a:lnTo>
                    <a:pt x="562" y="212"/>
                  </a:lnTo>
                  <a:lnTo>
                    <a:pt x="567" y="205"/>
                  </a:lnTo>
                  <a:lnTo>
                    <a:pt x="574" y="200"/>
                  </a:lnTo>
                  <a:lnTo>
                    <a:pt x="579" y="193"/>
                  </a:lnTo>
                  <a:lnTo>
                    <a:pt x="584" y="186"/>
                  </a:lnTo>
                  <a:lnTo>
                    <a:pt x="587" y="178"/>
                  </a:lnTo>
                  <a:lnTo>
                    <a:pt x="591" y="173"/>
                  </a:lnTo>
                  <a:lnTo>
                    <a:pt x="594" y="166"/>
                  </a:lnTo>
                  <a:lnTo>
                    <a:pt x="596" y="159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06" name="Rectangle 18"/>
            <p:cNvSpPr>
              <a:spLocks noChangeArrowheads="1"/>
            </p:cNvSpPr>
            <p:nvPr/>
          </p:nvSpPr>
          <p:spPr bwMode="auto">
            <a:xfrm>
              <a:off x="2377" y="1644"/>
              <a:ext cx="594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2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ที่อยู่</a:t>
              </a:r>
              <a:endParaRPr lang="en-US" altLang="th-TH" sz="32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07" name="Line 19"/>
            <p:cNvSpPr>
              <a:spLocks noChangeShapeType="1"/>
            </p:cNvSpPr>
            <p:nvPr/>
          </p:nvSpPr>
          <p:spPr bwMode="auto">
            <a:xfrm>
              <a:off x="738" y="1983"/>
              <a:ext cx="610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08" name="Line 20"/>
            <p:cNvSpPr>
              <a:spLocks noChangeShapeType="1"/>
            </p:cNvSpPr>
            <p:nvPr/>
          </p:nvSpPr>
          <p:spPr bwMode="auto">
            <a:xfrm>
              <a:off x="1654" y="1983"/>
              <a:ext cx="1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09" name="Line 21"/>
            <p:cNvSpPr>
              <a:spLocks noChangeShapeType="1"/>
            </p:cNvSpPr>
            <p:nvPr/>
          </p:nvSpPr>
          <p:spPr bwMode="auto">
            <a:xfrm flipV="1">
              <a:off x="1925" y="1992"/>
              <a:ext cx="543" cy="4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10" name="Freeform 22"/>
            <p:cNvSpPr>
              <a:spLocks/>
            </p:cNvSpPr>
            <p:nvPr/>
          </p:nvSpPr>
          <p:spPr bwMode="auto">
            <a:xfrm>
              <a:off x="2570" y="2429"/>
              <a:ext cx="1018" cy="535"/>
            </a:xfrm>
            <a:custGeom>
              <a:avLst/>
              <a:gdLst>
                <a:gd name="T0" fmla="*/ 0 w 815"/>
                <a:gd name="T1" fmla="*/ 520 h 429"/>
                <a:gd name="T2" fmla="*/ 994 w 815"/>
                <a:gd name="T3" fmla="*/ 0 h 429"/>
                <a:gd name="T4" fmla="*/ 1985 w 815"/>
                <a:gd name="T5" fmla="*/ 520 h 429"/>
                <a:gd name="T6" fmla="*/ 994 w 815"/>
                <a:gd name="T7" fmla="*/ 1038 h 429"/>
                <a:gd name="T8" fmla="*/ 0 w 815"/>
                <a:gd name="T9" fmla="*/ 52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5" h="429">
                  <a:moveTo>
                    <a:pt x="0" y="215"/>
                  </a:moveTo>
                  <a:lnTo>
                    <a:pt x="408" y="0"/>
                  </a:lnTo>
                  <a:lnTo>
                    <a:pt x="815" y="215"/>
                  </a:lnTo>
                  <a:lnTo>
                    <a:pt x="408" y="429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11" name="Freeform 23"/>
            <p:cNvSpPr>
              <a:spLocks/>
            </p:cNvSpPr>
            <p:nvPr/>
          </p:nvSpPr>
          <p:spPr bwMode="auto">
            <a:xfrm>
              <a:off x="2570" y="2429"/>
              <a:ext cx="1018" cy="535"/>
            </a:xfrm>
            <a:custGeom>
              <a:avLst/>
              <a:gdLst>
                <a:gd name="T0" fmla="*/ 0 w 815"/>
                <a:gd name="T1" fmla="*/ 520 h 429"/>
                <a:gd name="T2" fmla="*/ 994 w 815"/>
                <a:gd name="T3" fmla="*/ 0 h 429"/>
                <a:gd name="T4" fmla="*/ 1985 w 815"/>
                <a:gd name="T5" fmla="*/ 520 h 429"/>
                <a:gd name="T6" fmla="*/ 994 w 815"/>
                <a:gd name="T7" fmla="*/ 1038 h 429"/>
                <a:gd name="T8" fmla="*/ 0 w 815"/>
                <a:gd name="T9" fmla="*/ 52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5" h="429">
                  <a:moveTo>
                    <a:pt x="0" y="215"/>
                  </a:moveTo>
                  <a:lnTo>
                    <a:pt x="408" y="0"/>
                  </a:lnTo>
                  <a:lnTo>
                    <a:pt x="815" y="215"/>
                  </a:lnTo>
                  <a:lnTo>
                    <a:pt x="408" y="429"/>
                  </a:lnTo>
                  <a:lnTo>
                    <a:pt x="0" y="215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12" name="Rectangle 24"/>
            <p:cNvSpPr>
              <a:spLocks noChangeArrowheads="1"/>
            </p:cNvSpPr>
            <p:nvPr/>
          </p:nvSpPr>
          <p:spPr bwMode="auto">
            <a:xfrm>
              <a:off x="2816" y="2505"/>
              <a:ext cx="383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0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  ดูแล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13" name="Rectangle 25"/>
            <p:cNvSpPr>
              <a:spLocks noChangeArrowheads="1"/>
            </p:cNvSpPr>
            <p:nvPr/>
          </p:nvSpPr>
          <p:spPr bwMode="auto">
            <a:xfrm>
              <a:off x="4097" y="2411"/>
              <a:ext cx="1017" cy="5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14" name="Rectangle 26"/>
            <p:cNvSpPr>
              <a:spLocks noChangeArrowheads="1"/>
            </p:cNvSpPr>
            <p:nvPr/>
          </p:nvSpPr>
          <p:spPr bwMode="auto">
            <a:xfrm>
              <a:off x="4097" y="2411"/>
              <a:ext cx="1017" cy="53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15" name="Rectangle 27"/>
            <p:cNvSpPr>
              <a:spLocks noChangeArrowheads="1"/>
            </p:cNvSpPr>
            <p:nvPr/>
          </p:nvSpPr>
          <p:spPr bwMode="auto">
            <a:xfrm>
              <a:off x="4304" y="2446"/>
              <a:ext cx="433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ลูกค้า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16" name="Freeform 28"/>
            <p:cNvSpPr>
              <a:spLocks/>
            </p:cNvSpPr>
            <p:nvPr/>
          </p:nvSpPr>
          <p:spPr bwMode="auto">
            <a:xfrm>
              <a:off x="3424" y="1607"/>
              <a:ext cx="944" cy="357"/>
            </a:xfrm>
            <a:custGeom>
              <a:avLst/>
              <a:gdLst>
                <a:gd name="T0" fmla="*/ 3713 w 598"/>
                <a:gd name="T1" fmla="*/ 331 h 286"/>
                <a:gd name="T2" fmla="*/ 3692 w 598"/>
                <a:gd name="T3" fmla="*/ 296 h 286"/>
                <a:gd name="T4" fmla="*/ 3651 w 598"/>
                <a:gd name="T5" fmla="*/ 263 h 286"/>
                <a:gd name="T6" fmla="*/ 3604 w 598"/>
                <a:gd name="T7" fmla="*/ 232 h 286"/>
                <a:gd name="T8" fmla="*/ 3528 w 598"/>
                <a:gd name="T9" fmla="*/ 202 h 286"/>
                <a:gd name="T10" fmla="*/ 3441 w 598"/>
                <a:gd name="T11" fmla="*/ 170 h 286"/>
                <a:gd name="T12" fmla="*/ 3347 w 598"/>
                <a:gd name="T13" fmla="*/ 144 h 286"/>
                <a:gd name="T14" fmla="*/ 3230 w 598"/>
                <a:gd name="T15" fmla="*/ 119 h 286"/>
                <a:gd name="T16" fmla="*/ 3105 w 598"/>
                <a:gd name="T17" fmla="*/ 92 h 286"/>
                <a:gd name="T18" fmla="*/ 2971 w 598"/>
                <a:gd name="T19" fmla="*/ 70 h 286"/>
                <a:gd name="T20" fmla="*/ 2747 w 598"/>
                <a:gd name="T21" fmla="*/ 42 h 286"/>
                <a:gd name="T22" fmla="*/ 2407 w 598"/>
                <a:gd name="T23" fmla="*/ 19 h 286"/>
                <a:gd name="T24" fmla="*/ 2049 w 598"/>
                <a:gd name="T25" fmla="*/ 2 h 286"/>
                <a:gd name="T26" fmla="*/ 1672 w 598"/>
                <a:gd name="T27" fmla="*/ 2 h 286"/>
                <a:gd name="T28" fmla="*/ 1298 w 598"/>
                <a:gd name="T29" fmla="*/ 19 h 286"/>
                <a:gd name="T30" fmla="*/ 974 w 598"/>
                <a:gd name="T31" fmla="*/ 42 h 286"/>
                <a:gd name="T32" fmla="*/ 753 w 598"/>
                <a:gd name="T33" fmla="*/ 70 h 286"/>
                <a:gd name="T34" fmla="*/ 603 w 598"/>
                <a:gd name="T35" fmla="*/ 92 h 286"/>
                <a:gd name="T36" fmla="*/ 491 w 598"/>
                <a:gd name="T37" fmla="*/ 119 h 286"/>
                <a:gd name="T38" fmla="*/ 374 w 598"/>
                <a:gd name="T39" fmla="*/ 144 h 286"/>
                <a:gd name="T40" fmla="*/ 267 w 598"/>
                <a:gd name="T41" fmla="*/ 170 h 286"/>
                <a:gd name="T42" fmla="*/ 182 w 598"/>
                <a:gd name="T43" fmla="*/ 202 h 286"/>
                <a:gd name="T44" fmla="*/ 117 w 598"/>
                <a:gd name="T45" fmla="*/ 232 h 286"/>
                <a:gd name="T46" fmla="*/ 55 w 598"/>
                <a:gd name="T47" fmla="*/ 263 h 286"/>
                <a:gd name="T48" fmla="*/ 22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22 w 598"/>
                <a:gd name="T55" fmla="*/ 406 h 286"/>
                <a:gd name="T56" fmla="*/ 55 w 598"/>
                <a:gd name="T57" fmla="*/ 433 h 286"/>
                <a:gd name="T58" fmla="*/ 117 w 598"/>
                <a:gd name="T59" fmla="*/ 469 h 286"/>
                <a:gd name="T60" fmla="*/ 182 w 598"/>
                <a:gd name="T61" fmla="*/ 501 h 286"/>
                <a:gd name="T62" fmla="*/ 267 w 598"/>
                <a:gd name="T63" fmla="*/ 532 h 286"/>
                <a:gd name="T64" fmla="*/ 374 w 598"/>
                <a:gd name="T65" fmla="*/ 557 h 286"/>
                <a:gd name="T66" fmla="*/ 491 w 598"/>
                <a:gd name="T67" fmla="*/ 583 h 286"/>
                <a:gd name="T68" fmla="*/ 603 w 598"/>
                <a:gd name="T69" fmla="*/ 609 h 286"/>
                <a:gd name="T70" fmla="*/ 753 w 598"/>
                <a:gd name="T71" fmla="*/ 633 h 286"/>
                <a:gd name="T72" fmla="*/ 974 w 598"/>
                <a:gd name="T73" fmla="*/ 657 h 286"/>
                <a:gd name="T74" fmla="*/ 1298 w 598"/>
                <a:gd name="T75" fmla="*/ 683 h 286"/>
                <a:gd name="T76" fmla="*/ 1672 w 598"/>
                <a:gd name="T77" fmla="*/ 695 h 286"/>
                <a:gd name="T78" fmla="*/ 2049 w 598"/>
                <a:gd name="T79" fmla="*/ 695 h 286"/>
                <a:gd name="T80" fmla="*/ 2407 w 598"/>
                <a:gd name="T81" fmla="*/ 683 h 286"/>
                <a:gd name="T82" fmla="*/ 2747 w 598"/>
                <a:gd name="T83" fmla="*/ 657 h 286"/>
                <a:gd name="T84" fmla="*/ 2971 w 598"/>
                <a:gd name="T85" fmla="*/ 633 h 286"/>
                <a:gd name="T86" fmla="*/ 3105 w 598"/>
                <a:gd name="T87" fmla="*/ 609 h 286"/>
                <a:gd name="T88" fmla="*/ 3230 w 598"/>
                <a:gd name="T89" fmla="*/ 583 h 286"/>
                <a:gd name="T90" fmla="*/ 3347 w 598"/>
                <a:gd name="T91" fmla="*/ 557 h 286"/>
                <a:gd name="T92" fmla="*/ 3441 w 598"/>
                <a:gd name="T93" fmla="*/ 532 h 286"/>
                <a:gd name="T94" fmla="*/ 3528 w 598"/>
                <a:gd name="T95" fmla="*/ 501 h 286"/>
                <a:gd name="T96" fmla="*/ 3604 w 598"/>
                <a:gd name="T97" fmla="*/ 469 h 286"/>
                <a:gd name="T98" fmla="*/ 3651 w 598"/>
                <a:gd name="T99" fmla="*/ 433 h 286"/>
                <a:gd name="T100" fmla="*/ 3692 w 598"/>
                <a:gd name="T101" fmla="*/ 406 h 286"/>
                <a:gd name="T102" fmla="*/ 3713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68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09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7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7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09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68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1017" name="Rectangle 29"/>
            <p:cNvSpPr>
              <a:spLocks noChangeArrowheads="1"/>
            </p:cNvSpPr>
            <p:nvPr/>
          </p:nvSpPr>
          <p:spPr bwMode="auto">
            <a:xfrm>
              <a:off x="3651" y="1661"/>
              <a:ext cx="726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รหัสลูกค้า</a:t>
              </a:r>
              <a:endParaRPr lang="en-US" altLang="th-TH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18" name="Freeform 30"/>
            <p:cNvSpPr>
              <a:spLocks/>
            </p:cNvSpPr>
            <p:nvPr/>
          </p:nvSpPr>
          <p:spPr bwMode="auto">
            <a:xfrm>
              <a:off x="4741" y="1607"/>
              <a:ext cx="746" cy="357"/>
            </a:xfrm>
            <a:custGeom>
              <a:avLst/>
              <a:gdLst>
                <a:gd name="T0" fmla="*/ 1448 w 598"/>
                <a:gd name="T1" fmla="*/ 331 h 286"/>
                <a:gd name="T2" fmla="*/ 1441 w 598"/>
                <a:gd name="T3" fmla="*/ 296 h 286"/>
                <a:gd name="T4" fmla="*/ 1426 w 598"/>
                <a:gd name="T5" fmla="*/ 263 h 286"/>
                <a:gd name="T6" fmla="*/ 1405 w 598"/>
                <a:gd name="T7" fmla="*/ 232 h 286"/>
                <a:gd name="T8" fmla="*/ 1381 w 598"/>
                <a:gd name="T9" fmla="*/ 202 h 286"/>
                <a:gd name="T10" fmla="*/ 1341 w 598"/>
                <a:gd name="T11" fmla="*/ 170 h 286"/>
                <a:gd name="T12" fmla="*/ 1304 w 598"/>
                <a:gd name="T13" fmla="*/ 144 h 286"/>
                <a:gd name="T14" fmla="*/ 1260 w 598"/>
                <a:gd name="T15" fmla="*/ 119 h 286"/>
                <a:gd name="T16" fmla="*/ 1211 w 598"/>
                <a:gd name="T17" fmla="*/ 92 h 286"/>
                <a:gd name="T18" fmla="*/ 1158 w 598"/>
                <a:gd name="T19" fmla="*/ 70 h 286"/>
                <a:gd name="T20" fmla="*/ 1069 w 598"/>
                <a:gd name="T21" fmla="*/ 42 h 286"/>
                <a:gd name="T22" fmla="*/ 939 w 598"/>
                <a:gd name="T23" fmla="*/ 19 h 286"/>
                <a:gd name="T24" fmla="*/ 800 w 598"/>
                <a:gd name="T25" fmla="*/ 2 h 286"/>
                <a:gd name="T26" fmla="*/ 652 w 598"/>
                <a:gd name="T27" fmla="*/ 2 h 286"/>
                <a:gd name="T28" fmla="*/ 510 w 598"/>
                <a:gd name="T29" fmla="*/ 19 h 286"/>
                <a:gd name="T30" fmla="*/ 382 w 598"/>
                <a:gd name="T31" fmla="*/ 42 h 286"/>
                <a:gd name="T32" fmla="*/ 293 w 598"/>
                <a:gd name="T33" fmla="*/ 70 h 286"/>
                <a:gd name="T34" fmla="*/ 241 w 598"/>
                <a:gd name="T35" fmla="*/ 92 h 286"/>
                <a:gd name="T36" fmla="*/ 193 w 598"/>
                <a:gd name="T37" fmla="*/ 119 h 286"/>
                <a:gd name="T38" fmla="*/ 146 w 598"/>
                <a:gd name="T39" fmla="*/ 144 h 286"/>
                <a:gd name="T40" fmla="*/ 105 w 598"/>
                <a:gd name="T41" fmla="*/ 170 h 286"/>
                <a:gd name="T42" fmla="*/ 70 w 598"/>
                <a:gd name="T43" fmla="*/ 202 h 286"/>
                <a:gd name="T44" fmla="*/ 46 w 598"/>
                <a:gd name="T45" fmla="*/ 232 h 286"/>
                <a:gd name="T46" fmla="*/ 21 w 598"/>
                <a:gd name="T47" fmla="*/ 263 h 286"/>
                <a:gd name="T48" fmla="*/ 9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9 w 598"/>
                <a:gd name="T55" fmla="*/ 406 h 286"/>
                <a:gd name="T56" fmla="*/ 21 w 598"/>
                <a:gd name="T57" fmla="*/ 433 h 286"/>
                <a:gd name="T58" fmla="*/ 46 w 598"/>
                <a:gd name="T59" fmla="*/ 469 h 286"/>
                <a:gd name="T60" fmla="*/ 70 w 598"/>
                <a:gd name="T61" fmla="*/ 501 h 286"/>
                <a:gd name="T62" fmla="*/ 105 w 598"/>
                <a:gd name="T63" fmla="*/ 532 h 286"/>
                <a:gd name="T64" fmla="*/ 146 w 598"/>
                <a:gd name="T65" fmla="*/ 557 h 286"/>
                <a:gd name="T66" fmla="*/ 193 w 598"/>
                <a:gd name="T67" fmla="*/ 583 h 286"/>
                <a:gd name="T68" fmla="*/ 241 w 598"/>
                <a:gd name="T69" fmla="*/ 609 h 286"/>
                <a:gd name="T70" fmla="*/ 293 w 598"/>
                <a:gd name="T71" fmla="*/ 633 h 286"/>
                <a:gd name="T72" fmla="*/ 382 w 598"/>
                <a:gd name="T73" fmla="*/ 657 h 286"/>
                <a:gd name="T74" fmla="*/ 510 w 598"/>
                <a:gd name="T75" fmla="*/ 683 h 286"/>
                <a:gd name="T76" fmla="*/ 652 w 598"/>
                <a:gd name="T77" fmla="*/ 695 h 286"/>
                <a:gd name="T78" fmla="*/ 800 w 598"/>
                <a:gd name="T79" fmla="*/ 695 h 286"/>
                <a:gd name="T80" fmla="*/ 939 w 598"/>
                <a:gd name="T81" fmla="*/ 683 h 286"/>
                <a:gd name="T82" fmla="*/ 1069 w 598"/>
                <a:gd name="T83" fmla="*/ 657 h 286"/>
                <a:gd name="T84" fmla="*/ 1158 w 598"/>
                <a:gd name="T85" fmla="*/ 633 h 286"/>
                <a:gd name="T86" fmla="*/ 1211 w 598"/>
                <a:gd name="T87" fmla="*/ 609 h 286"/>
                <a:gd name="T88" fmla="*/ 1260 w 598"/>
                <a:gd name="T89" fmla="*/ 583 h 286"/>
                <a:gd name="T90" fmla="*/ 1304 w 598"/>
                <a:gd name="T91" fmla="*/ 557 h 286"/>
                <a:gd name="T92" fmla="*/ 1341 w 598"/>
                <a:gd name="T93" fmla="*/ 532 h 286"/>
                <a:gd name="T94" fmla="*/ 1381 w 598"/>
                <a:gd name="T95" fmla="*/ 501 h 286"/>
                <a:gd name="T96" fmla="*/ 1405 w 598"/>
                <a:gd name="T97" fmla="*/ 469 h 286"/>
                <a:gd name="T98" fmla="*/ 1426 w 598"/>
                <a:gd name="T99" fmla="*/ 433 h 286"/>
                <a:gd name="T100" fmla="*/ 1441 w 598"/>
                <a:gd name="T101" fmla="*/ 406 h 286"/>
                <a:gd name="T102" fmla="*/ 1448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70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11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9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9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11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70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19" name="Freeform 31"/>
            <p:cNvSpPr>
              <a:spLocks/>
            </p:cNvSpPr>
            <p:nvPr/>
          </p:nvSpPr>
          <p:spPr bwMode="auto">
            <a:xfrm>
              <a:off x="4741" y="1607"/>
              <a:ext cx="746" cy="357"/>
            </a:xfrm>
            <a:custGeom>
              <a:avLst/>
              <a:gdLst>
                <a:gd name="T0" fmla="*/ 1448 w 598"/>
                <a:gd name="T1" fmla="*/ 331 h 286"/>
                <a:gd name="T2" fmla="*/ 1441 w 598"/>
                <a:gd name="T3" fmla="*/ 296 h 286"/>
                <a:gd name="T4" fmla="*/ 1426 w 598"/>
                <a:gd name="T5" fmla="*/ 263 h 286"/>
                <a:gd name="T6" fmla="*/ 1405 w 598"/>
                <a:gd name="T7" fmla="*/ 232 h 286"/>
                <a:gd name="T8" fmla="*/ 1381 w 598"/>
                <a:gd name="T9" fmla="*/ 202 h 286"/>
                <a:gd name="T10" fmla="*/ 1341 w 598"/>
                <a:gd name="T11" fmla="*/ 170 h 286"/>
                <a:gd name="T12" fmla="*/ 1304 w 598"/>
                <a:gd name="T13" fmla="*/ 144 h 286"/>
                <a:gd name="T14" fmla="*/ 1260 w 598"/>
                <a:gd name="T15" fmla="*/ 119 h 286"/>
                <a:gd name="T16" fmla="*/ 1211 w 598"/>
                <a:gd name="T17" fmla="*/ 92 h 286"/>
                <a:gd name="T18" fmla="*/ 1158 w 598"/>
                <a:gd name="T19" fmla="*/ 70 h 286"/>
                <a:gd name="T20" fmla="*/ 1069 w 598"/>
                <a:gd name="T21" fmla="*/ 42 h 286"/>
                <a:gd name="T22" fmla="*/ 939 w 598"/>
                <a:gd name="T23" fmla="*/ 19 h 286"/>
                <a:gd name="T24" fmla="*/ 800 w 598"/>
                <a:gd name="T25" fmla="*/ 2 h 286"/>
                <a:gd name="T26" fmla="*/ 652 w 598"/>
                <a:gd name="T27" fmla="*/ 2 h 286"/>
                <a:gd name="T28" fmla="*/ 510 w 598"/>
                <a:gd name="T29" fmla="*/ 19 h 286"/>
                <a:gd name="T30" fmla="*/ 382 w 598"/>
                <a:gd name="T31" fmla="*/ 42 h 286"/>
                <a:gd name="T32" fmla="*/ 293 w 598"/>
                <a:gd name="T33" fmla="*/ 70 h 286"/>
                <a:gd name="T34" fmla="*/ 241 w 598"/>
                <a:gd name="T35" fmla="*/ 92 h 286"/>
                <a:gd name="T36" fmla="*/ 193 w 598"/>
                <a:gd name="T37" fmla="*/ 119 h 286"/>
                <a:gd name="T38" fmla="*/ 146 w 598"/>
                <a:gd name="T39" fmla="*/ 144 h 286"/>
                <a:gd name="T40" fmla="*/ 105 w 598"/>
                <a:gd name="T41" fmla="*/ 170 h 286"/>
                <a:gd name="T42" fmla="*/ 70 w 598"/>
                <a:gd name="T43" fmla="*/ 202 h 286"/>
                <a:gd name="T44" fmla="*/ 46 w 598"/>
                <a:gd name="T45" fmla="*/ 232 h 286"/>
                <a:gd name="T46" fmla="*/ 21 w 598"/>
                <a:gd name="T47" fmla="*/ 263 h 286"/>
                <a:gd name="T48" fmla="*/ 9 w 598"/>
                <a:gd name="T49" fmla="*/ 296 h 286"/>
                <a:gd name="T50" fmla="*/ 0 w 598"/>
                <a:gd name="T51" fmla="*/ 331 h 286"/>
                <a:gd name="T52" fmla="*/ 0 w 598"/>
                <a:gd name="T53" fmla="*/ 369 h 286"/>
                <a:gd name="T54" fmla="*/ 9 w 598"/>
                <a:gd name="T55" fmla="*/ 406 h 286"/>
                <a:gd name="T56" fmla="*/ 21 w 598"/>
                <a:gd name="T57" fmla="*/ 433 h 286"/>
                <a:gd name="T58" fmla="*/ 46 w 598"/>
                <a:gd name="T59" fmla="*/ 469 h 286"/>
                <a:gd name="T60" fmla="*/ 70 w 598"/>
                <a:gd name="T61" fmla="*/ 501 h 286"/>
                <a:gd name="T62" fmla="*/ 105 w 598"/>
                <a:gd name="T63" fmla="*/ 532 h 286"/>
                <a:gd name="T64" fmla="*/ 146 w 598"/>
                <a:gd name="T65" fmla="*/ 557 h 286"/>
                <a:gd name="T66" fmla="*/ 193 w 598"/>
                <a:gd name="T67" fmla="*/ 583 h 286"/>
                <a:gd name="T68" fmla="*/ 241 w 598"/>
                <a:gd name="T69" fmla="*/ 609 h 286"/>
                <a:gd name="T70" fmla="*/ 293 w 598"/>
                <a:gd name="T71" fmla="*/ 633 h 286"/>
                <a:gd name="T72" fmla="*/ 382 w 598"/>
                <a:gd name="T73" fmla="*/ 657 h 286"/>
                <a:gd name="T74" fmla="*/ 510 w 598"/>
                <a:gd name="T75" fmla="*/ 683 h 286"/>
                <a:gd name="T76" fmla="*/ 652 w 598"/>
                <a:gd name="T77" fmla="*/ 695 h 286"/>
                <a:gd name="T78" fmla="*/ 800 w 598"/>
                <a:gd name="T79" fmla="*/ 695 h 286"/>
                <a:gd name="T80" fmla="*/ 939 w 598"/>
                <a:gd name="T81" fmla="*/ 683 h 286"/>
                <a:gd name="T82" fmla="*/ 1069 w 598"/>
                <a:gd name="T83" fmla="*/ 657 h 286"/>
                <a:gd name="T84" fmla="*/ 1158 w 598"/>
                <a:gd name="T85" fmla="*/ 633 h 286"/>
                <a:gd name="T86" fmla="*/ 1211 w 598"/>
                <a:gd name="T87" fmla="*/ 609 h 286"/>
                <a:gd name="T88" fmla="*/ 1260 w 598"/>
                <a:gd name="T89" fmla="*/ 583 h 286"/>
                <a:gd name="T90" fmla="*/ 1304 w 598"/>
                <a:gd name="T91" fmla="*/ 557 h 286"/>
                <a:gd name="T92" fmla="*/ 1341 w 598"/>
                <a:gd name="T93" fmla="*/ 532 h 286"/>
                <a:gd name="T94" fmla="*/ 1381 w 598"/>
                <a:gd name="T95" fmla="*/ 501 h 286"/>
                <a:gd name="T96" fmla="*/ 1405 w 598"/>
                <a:gd name="T97" fmla="*/ 469 h 286"/>
                <a:gd name="T98" fmla="*/ 1426 w 598"/>
                <a:gd name="T99" fmla="*/ 433 h 286"/>
                <a:gd name="T100" fmla="*/ 1441 w 598"/>
                <a:gd name="T101" fmla="*/ 406 h 286"/>
                <a:gd name="T102" fmla="*/ 1448 w 598"/>
                <a:gd name="T103" fmla="*/ 369 h 2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8" h="286">
                  <a:moveTo>
                    <a:pt x="598" y="143"/>
                  </a:moveTo>
                  <a:lnTo>
                    <a:pt x="598" y="136"/>
                  </a:lnTo>
                  <a:lnTo>
                    <a:pt x="597" y="129"/>
                  </a:lnTo>
                  <a:lnTo>
                    <a:pt x="595" y="122"/>
                  </a:lnTo>
                  <a:lnTo>
                    <a:pt x="592" y="115"/>
                  </a:lnTo>
                  <a:lnTo>
                    <a:pt x="588" y="108"/>
                  </a:lnTo>
                  <a:lnTo>
                    <a:pt x="585" y="102"/>
                  </a:lnTo>
                  <a:lnTo>
                    <a:pt x="580" y="95"/>
                  </a:lnTo>
                  <a:lnTo>
                    <a:pt x="575" y="88"/>
                  </a:lnTo>
                  <a:lnTo>
                    <a:pt x="570" y="83"/>
                  </a:lnTo>
                  <a:lnTo>
                    <a:pt x="563" y="75"/>
                  </a:lnTo>
                  <a:lnTo>
                    <a:pt x="554" y="70"/>
                  </a:lnTo>
                  <a:lnTo>
                    <a:pt x="547" y="65"/>
                  </a:lnTo>
                  <a:lnTo>
                    <a:pt x="539" y="59"/>
                  </a:lnTo>
                  <a:lnTo>
                    <a:pt x="530" y="54"/>
                  </a:lnTo>
                  <a:lnTo>
                    <a:pt x="520" y="49"/>
                  </a:lnTo>
                  <a:lnTo>
                    <a:pt x="510" y="43"/>
                  </a:lnTo>
                  <a:lnTo>
                    <a:pt x="500" y="38"/>
                  </a:lnTo>
                  <a:lnTo>
                    <a:pt x="490" y="34"/>
                  </a:lnTo>
                  <a:lnTo>
                    <a:pt x="478" y="29"/>
                  </a:lnTo>
                  <a:lnTo>
                    <a:pt x="466" y="25"/>
                  </a:lnTo>
                  <a:lnTo>
                    <a:pt x="442" y="18"/>
                  </a:lnTo>
                  <a:lnTo>
                    <a:pt x="415" y="13"/>
                  </a:lnTo>
                  <a:lnTo>
                    <a:pt x="388" y="8"/>
                  </a:lnTo>
                  <a:lnTo>
                    <a:pt x="359" y="4"/>
                  </a:lnTo>
                  <a:lnTo>
                    <a:pt x="330" y="2"/>
                  </a:lnTo>
                  <a:lnTo>
                    <a:pt x="299" y="0"/>
                  </a:lnTo>
                  <a:lnTo>
                    <a:pt x="269" y="2"/>
                  </a:lnTo>
                  <a:lnTo>
                    <a:pt x="238" y="4"/>
                  </a:lnTo>
                  <a:lnTo>
                    <a:pt x="211" y="8"/>
                  </a:lnTo>
                  <a:lnTo>
                    <a:pt x="182" y="13"/>
                  </a:lnTo>
                  <a:lnTo>
                    <a:pt x="157" y="18"/>
                  </a:lnTo>
                  <a:lnTo>
                    <a:pt x="131" y="25"/>
                  </a:lnTo>
                  <a:lnTo>
                    <a:pt x="121" y="29"/>
                  </a:lnTo>
                  <a:lnTo>
                    <a:pt x="109" y="34"/>
                  </a:lnTo>
                  <a:lnTo>
                    <a:pt x="99" y="38"/>
                  </a:lnTo>
                  <a:lnTo>
                    <a:pt x="87" y="43"/>
                  </a:lnTo>
                  <a:lnTo>
                    <a:pt x="79" y="49"/>
                  </a:lnTo>
                  <a:lnTo>
                    <a:pt x="68" y="54"/>
                  </a:lnTo>
                  <a:lnTo>
                    <a:pt x="60" y="59"/>
                  </a:lnTo>
                  <a:lnTo>
                    <a:pt x="51" y="65"/>
                  </a:lnTo>
                  <a:lnTo>
                    <a:pt x="43" y="70"/>
                  </a:lnTo>
                  <a:lnTo>
                    <a:pt x="36" y="75"/>
                  </a:lnTo>
                  <a:lnTo>
                    <a:pt x="29" y="83"/>
                  </a:lnTo>
                  <a:lnTo>
                    <a:pt x="24" y="88"/>
                  </a:lnTo>
                  <a:lnTo>
                    <a:pt x="19" y="95"/>
                  </a:lnTo>
                  <a:lnTo>
                    <a:pt x="14" y="102"/>
                  </a:lnTo>
                  <a:lnTo>
                    <a:pt x="9" y="108"/>
                  </a:lnTo>
                  <a:lnTo>
                    <a:pt x="6" y="115"/>
                  </a:lnTo>
                  <a:lnTo>
                    <a:pt x="4" y="122"/>
                  </a:lnTo>
                  <a:lnTo>
                    <a:pt x="2" y="129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2"/>
                  </a:lnTo>
                  <a:lnTo>
                    <a:pt x="2" y="160"/>
                  </a:lnTo>
                  <a:lnTo>
                    <a:pt x="4" y="167"/>
                  </a:lnTo>
                  <a:lnTo>
                    <a:pt x="6" y="174"/>
                  </a:lnTo>
                  <a:lnTo>
                    <a:pt x="9" y="179"/>
                  </a:lnTo>
                  <a:lnTo>
                    <a:pt x="14" y="186"/>
                  </a:lnTo>
                  <a:lnTo>
                    <a:pt x="19" y="193"/>
                  </a:lnTo>
                  <a:lnTo>
                    <a:pt x="24" y="201"/>
                  </a:lnTo>
                  <a:lnTo>
                    <a:pt x="29" y="206"/>
                  </a:lnTo>
                  <a:lnTo>
                    <a:pt x="36" y="213"/>
                  </a:lnTo>
                  <a:lnTo>
                    <a:pt x="43" y="219"/>
                  </a:lnTo>
                  <a:lnTo>
                    <a:pt x="51" y="224"/>
                  </a:lnTo>
                  <a:lnTo>
                    <a:pt x="60" y="229"/>
                  </a:lnTo>
                  <a:lnTo>
                    <a:pt x="68" y="235"/>
                  </a:lnTo>
                  <a:lnTo>
                    <a:pt x="79" y="240"/>
                  </a:lnTo>
                  <a:lnTo>
                    <a:pt x="87" y="245"/>
                  </a:lnTo>
                  <a:lnTo>
                    <a:pt x="99" y="251"/>
                  </a:lnTo>
                  <a:lnTo>
                    <a:pt x="109" y="254"/>
                  </a:lnTo>
                  <a:lnTo>
                    <a:pt x="121" y="260"/>
                  </a:lnTo>
                  <a:lnTo>
                    <a:pt x="131" y="263"/>
                  </a:lnTo>
                  <a:lnTo>
                    <a:pt x="157" y="270"/>
                  </a:lnTo>
                  <a:lnTo>
                    <a:pt x="182" y="276"/>
                  </a:lnTo>
                  <a:lnTo>
                    <a:pt x="211" y="281"/>
                  </a:lnTo>
                  <a:lnTo>
                    <a:pt x="238" y="285"/>
                  </a:lnTo>
                  <a:lnTo>
                    <a:pt x="269" y="286"/>
                  </a:lnTo>
                  <a:lnTo>
                    <a:pt x="299" y="286"/>
                  </a:lnTo>
                  <a:lnTo>
                    <a:pt x="330" y="286"/>
                  </a:lnTo>
                  <a:lnTo>
                    <a:pt x="359" y="285"/>
                  </a:lnTo>
                  <a:lnTo>
                    <a:pt x="388" y="281"/>
                  </a:lnTo>
                  <a:lnTo>
                    <a:pt x="415" y="276"/>
                  </a:lnTo>
                  <a:lnTo>
                    <a:pt x="442" y="270"/>
                  </a:lnTo>
                  <a:lnTo>
                    <a:pt x="466" y="263"/>
                  </a:lnTo>
                  <a:lnTo>
                    <a:pt x="478" y="260"/>
                  </a:lnTo>
                  <a:lnTo>
                    <a:pt x="490" y="254"/>
                  </a:lnTo>
                  <a:lnTo>
                    <a:pt x="500" y="251"/>
                  </a:lnTo>
                  <a:lnTo>
                    <a:pt x="510" y="245"/>
                  </a:lnTo>
                  <a:lnTo>
                    <a:pt x="520" y="240"/>
                  </a:lnTo>
                  <a:lnTo>
                    <a:pt x="530" y="235"/>
                  </a:lnTo>
                  <a:lnTo>
                    <a:pt x="539" y="229"/>
                  </a:lnTo>
                  <a:lnTo>
                    <a:pt x="547" y="224"/>
                  </a:lnTo>
                  <a:lnTo>
                    <a:pt x="554" y="219"/>
                  </a:lnTo>
                  <a:lnTo>
                    <a:pt x="563" y="213"/>
                  </a:lnTo>
                  <a:lnTo>
                    <a:pt x="570" y="206"/>
                  </a:lnTo>
                  <a:lnTo>
                    <a:pt x="575" y="201"/>
                  </a:lnTo>
                  <a:lnTo>
                    <a:pt x="580" y="193"/>
                  </a:lnTo>
                  <a:lnTo>
                    <a:pt x="585" y="186"/>
                  </a:lnTo>
                  <a:lnTo>
                    <a:pt x="588" y="179"/>
                  </a:lnTo>
                  <a:lnTo>
                    <a:pt x="592" y="174"/>
                  </a:lnTo>
                  <a:lnTo>
                    <a:pt x="595" y="167"/>
                  </a:lnTo>
                  <a:lnTo>
                    <a:pt x="597" y="160"/>
                  </a:lnTo>
                  <a:lnTo>
                    <a:pt x="598" y="152"/>
                  </a:lnTo>
                  <a:lnTo>
                    <a:pt x="598" y="1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20" name="Rectangle 32"/>
            <p:cNvSpPr>
              <a:spLocks noChangeArrowheads="1"/>
            </p:cNvSpPr>
            <p:nvPr/>
          </p:nvSpPr>
          <p:spPr bwMode="auto">
            <a:xfrm>
              <a:off x="4856" y="1625"/>
              <a:ext cx="507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ชื่อลูกค้า</a:t>
              </a:r>
              <a:endParaRPr lang="en-US" altLang="th-TH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21" name="Line 33"/>
            <p:cNvSpPr>
              <a:spLocks noChangeShapeType="1"/>
            </p:cNvSpPr>
            <p:nvPr/>
          </p:nvSpPr>
          <p:spPr bwMode="auto">
            <a:xfrm>
              <a:off x="4023" y="1964"/>
              <a:ext cx="413" cy="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22" name="Line 34"/>
            <p:cNvSpPr>
              <a:spLocks noChangeShapeType="1"/>
            </p:cNvSpPr>
            <p:nvPr/>
          </p:nvSpPr>
          <p:spPr bwMode="auto">
            <a:xfrm flipH="1">
              <a:off x="4741" y="1964"/>
              <a:ext cx="408" cy="43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23" name="Line 35"/>
            <p:cNvSpPr>
              <a:spLocks noChangeShapeType="1"/>
            </p:cNvSpPr>
            <p:nvPr/>
          </p:nvSpPr>
          <p:spPr bwMode="auto">
            <a:xfrm flipH="1">
              <a:off x="2129" y="2697"/>
              <a:ext cx="44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24" name="Line 36"/>
            <p:cNvSpPr>
              <a:spLocks noChangeShapeType="1"/>
            </p:cNvSpPr>
            <p:nvPr/>
          </p:nvSpPr>
          <p:spPr bwMode="auto">
            <a:xfrm>
              <a:off x="3600" y="2694"/>
              <a:ext cx="476" cy="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025" name="Rectangle 37"/>
            <p:cNvSpPr>
              <a:spLocks noChangeArrowheads="1"/>
            </p:cNvSpPr>
            <p:nvPr/>
          </p:nvSpPr>
          <p:spPr bwMode="auto">
            <a:xfrm>
              <a:off x="2326" y="2200"/>
              <a:ext cx="137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026" name="Rectangle 38"/>
            <p:cNvSpPr>
              <a:spLocks noChangeArrowheads="1"/>
            </p:cNvSpPr>
            <p:nvPr/>
          </p:nvSpPr>
          <p:spPr bwMode="auto">
            <a:xfrm>
              <a:off x="3717" y="2200"/>
              <a:ext cx="209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5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40967" name="Rectangle 39"/>
          <p:cNvSpPr>
            <a:spLocks noChangeArrowheads="1"/>
          </p:cNvSpPr>
          <p:nvPr/>
        </p:nvSpPr>
        <p:spPr bwMode="auto">
          <a:xfrm>
            <a:off x="1476375" y="4724400"/>
            <a:ext cx="608013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2300" b="1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ตัวแทน</a:t>
            </a:r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65256" name="Group 40"/>
          <p:cNvGraphicFramePr>
            <a:graphicFrameLocks noGrp="1"/>
          </p:cNvGraphicFramePr>
          <p:nvPr>
            <p:ph sz="quarter" idx="3"/>
          </p:nvPr>
        </p:nvGraphicFramePr>
        <p:xfrm>
          <a:off x="2411413" y="4724400"/>
          <a:ext cx="3671887" cy="639763"/>
        </p:xfrm>
        <a:graphic>
          <a:graphicData uri="http://schemas.openxmlformats.org/drawingml/2006/table">
            <a:tbl>
              <a:tblPr/>
              <a:tblGrid>
                <a:gridCol w="91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1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รหัสตัวแทน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ชื่อตัวแทน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ที่อยู่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รหัสลูกค้า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5273" name="Group 57"/>
          <p:cNvGraphicFramePr>
            <a:graphicFrameLocks noGrp="1"/>
          </p:cNvGraphicFramePr>
          <p:nvPr>
            <p:ph sz="quarter" idx="2"/>
          </p:nvPr>
        </p:nvGraphicFramePr>
        <p:xfrm>
          <a:off x="2411413" y="5516563"/>
          <a:ext cx="1906587" cy="655637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8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รหัสลูกค้า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ชื่อลูกค้า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996" name="Rectangle 68"/>
          <p:cNvSpPr>
            <a:spLocks noChangeArrowheads="1"/>
          </p:cNvSpPr>
          <p:nvPr/>
        </p:nvSpPr>
        <p:spPr bwMode="auto">
          <a:xfrm>
            <a:off x="1619250" y="5445125"/>
            <a:ext cx="45085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2300" b="1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ลูกค้า</a:t>
            </a:r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412CC1-98A6-4EF7-AD10-A93F9797182C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39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79438" y="390525"/>
            <a:ext cx="8229600" cy="1139825"/>
          </a:xfrm>
        </p:spPr>
        <p:txBody>
          <a:bodyPr/>
          <a:lstStyle/>
          <a:p>
            <a:pPr eaLnBrk="1" hangingPunct="1">
              <a:lnSpc>
                <a:spcPct val="85000"/>
              </a:lnSpc>
              <a:defRPr/>
            </a:pP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การเปลี่ยน </a:t>
            </a:r>
            <a:r>
              <a:rPr lang="en-US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diagram </a:t>
            </a: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เป็น </a:t>
            </a:r>
            <a:r>
              <a:rPr lang="en-US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Table</a:t>
            </a: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b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5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แบบมีความสัมพันธ์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556500" cy="919163"/>
          </a:xfrm>
        </p:spPr>
        <p:txBody>
          <a:bodyPr/>
          <a:lstStyle/>
          <a:p>
            <a:pPr eaLnBrk="1" hangingPunct="1"/>
            <a:r>
              <a:rPr lang="th-TH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 ความสัมพันธ์แบบกลุ่มต่อกลุ่ม (</a:t>
            </a: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Many to Many, M:N)</a:t>
            </a:r>
            <a:endParaRPr lang="th-TH" altLang="th-TH" sz="36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989" name="AutoShape 6"/>
          <p:cNvSpPr>
            <a:spLocks noChangeArrowheads="1"/>
          </p:cNvSpPr>
          <p:nvPr/>
        </p:nvSpPr>
        <p:spPr bwMode="auto">
          <a:xfrm>
            <a:off x="3492500" y="3933825"/>
            <a:ext cx="563563" cy="42703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1990" name="Group 8"/>
          <p:cNvGrpSpPr>
            <a:grpSpLocks/>
          </p:cNvGrpSpPr>
          <p:nvPr/>
        </p:nvGrpSpPr>
        <p:grpSpPr bwMode="auto">
          <a:xfrm>
            <a:off x="395288" y="2060575"/>
            <a:ext cx="8351837" cy="2014538"/>
            <a:chOff x="295" y="1616"/>
            <a:chExt cx="5113" cy="1678"/>
          </a:xfrm>
        </p:grpSpPr>
        <p:sp>
          <p:nvSpPr>
            <p:cNvPr id="42033" name="AutoShape 9"/>
            <p:cNvSpPr>
              <a:spLocks noChangeAspect="1" noChangeArrowheads="1" noTextEdit="1"/>
            </p:cNvSpPr>
            <p:nvPr/>
          </p:nvSpPr>
          <p:spPr bwMode="auto">
            <a:xfrm>
              <a:off x="340" y="1690"/>
              <a:ext cx="5068" cy="1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34" name="Rectangle 10"/>
            <p:cNvSpPr>
              <a:spLocks noChangeArrowheads="1"/>
            </p:cNvSpPr>
            <p:nvPr/>
          </p:nvSpPr>
          <p:spPr bwMode="auto">
            <a:xfrm>
              <a:off x="1084" y="2670"/>
              <a:ext cx="928" cy="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35" name="Rectangle 11"/>
            <p:cNvSpPr>
              <a:spLocks noChangeArrowheads="1"/>
            </p:cNvSpPr>
            <p:nvPr/>
          </p:nvSpPr>
          <p:spPr bwMode="auto">
            <a:xfrm>
              <a:off x="1084" y="2670"/>
              <a:ext cx="928" cy="58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36" name="Rectangle 12"/>
            <p:cNvSpPr>
              <a:spLocks noChangeArrowheads="1"/>
            </p:cNvSpPr>
            <p:nvPr/>
          </p:nvSpPr>
          <p:spPr bwMode="auto">
            <a:xfrm>
              <a:off x="1212" y="2708"/>
              <a:ext cx="1103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7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ใบสั่งซื้อ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37" name="Freeform 13"/>
            <p:cNvSpPr>
              <a:spLocks/>
            </p:cNvSpPr>
            <p:nvPr/>
          </p:nvSpPr>
          <p:spPr bwMode="auto">
            <a:xfrm>
              <a:off x="295" y="1616"/>
              <a:ext cx="758" cy="565"/>
            </a:xfrm>
            <a:custGeom>
              <a:avLst/>
              <a:gdLst>
                <a:gd name="T0" fmla="*/ 1427 w 614"/>
                <a:gd name="T1" fmla="*/ 1857 h 296"/>
                <a:gd name="T2" fmla="*/ 1417 w 614"/>
                <a:gd name="T3" fmla="*/ 1676 h 296"/>
                <a:gd name="T4" fmla="*/ 1399 w 614"/>
                <a:gd name="T5" fmla="*/ 1475 h 296"/>
                <a:gd name="T6" fmla="*/ 1383 w 614"/>
                <a:gd name="T7" fmla="*/ 1300 h 296"/>
                <a:gd name="T8" fmla="*/ 1351 w 614"/>
                <a:gd name="T9" fmla="*/ 1126 h 296"/>
                <a:gd name="T10" fmla="*/ 1318 w 614"/>
                <a:gd name="T11" fmla="*/ 954 h 296"/>
                <a:gd name="T12" fmla="*/ 1285 w 614"/>
                <a:gd name="T13" fmla="*/ 806 h 296"/>
                <a:gd name="T14" fmla="*/ 1241 w 614"/>
                <a:gd name="T15" fmla="*/ 659 h 296"/>
                <a:gd name="T16" fmla="*/ 1190 w 614"/>
                <a:gd name="T17" fmla="*/ 513 h 296"/>
                <a:gd name="T18" fmla="*/ 1138 w 614"/>
                <a:gd name="T19" fmla="*/ 382 h 296"/>
                <a:gd name="T20" fmla="*/ 1052 w 614"/>
                <a:gd name="T21" fmla="*/ 237 h 296"/>
                <a:gd name="T22" fmla="*/ 922 w 614"/>
                <a:gd name="T23" fmla="*/ 92 h 296"/>
                <a:gd name="T24" fmla="*/ 785 w 614"/>
                <a:gd name="T25" fmla="*/ 29 h 296"/>
                <a:gd name="T26" fmla="*/ 638 w 614"/>
                <a:gd name="T27" fmla="*/ 29 h 296"/>
                <a:gd name="T28" fmla="*/ 496 w 614"/>
                <a:gd name="T29" fmla="*/ 92 h 296"/>
                <a:gd name="T30" fmla="*/ 372 w 614"/>
                <a:gd name="T31" fmla="*/ 237 h 296"/>
                <a:gd name="T32" fmla="*/ 288 w 614"/>
                <a:gd name="T33" fmla="*/ 382 h 296"/>
                <a:gd name="T34" fmla="*/ 230 w 614"/>
                <a:gd name="T35" fmla="*/ 513 h 296"/>
                <a:gd name="T36" fmla="*/ 186 w 614"/>
                <a:gd name="T37" fmla="*/ 659 h 296"/>
                <a:gd name="T38" fmla="*/ 142 w 614"/>
                <a:gd name="T39" fmla="*/ 806 h 296"/>
                <a:gd name="T40" fmla="*/ 99 w 614"/>
                <a:gd name="T41" fmla="*/ 954 h 296"/>
                <a:gd name="T42" fmla="*/ 67 w 614"/>
                <a:gd name="T43" fmla="*/ 1126 h 296"/>
                <a:gd name="T44" fmla="*/ 43 w 614"/>
                <a:gd name="T45" fmla="*/ 1300 h 296"/>
                <a:gd name="T46" fmla="*/ 19 w 614"/>
                <a:gd name="T47" fmla="*/ 1475 h 296"/>
                <a:gd name="T48" fmla="*/ 7 w 614"/>
                <a:gd name="T49" fmla="*/ 1676 h 296"/>
                <a:gd name="T50" fmla="*/ 0 w 614"/>
                <a:gd name="T51" fmla="*/ 1857 h 296"/>
                <a:gd name="T52" fmla="*/ 0 w 614"/>
                <a:gd name="T53" fmla="*/ 2088 h 296"/>
                <a:gd name="T54" fmla="*/ 7 w 614"/>
                <a:gd name="T55" fmla="*/ 2281 h 296"/>
                <a:gd name="T56" fmla="*/ 19 w 614"/>
                <a:gd name="T57" fmla="*/ 2457 h 296"/>
                <a:gd name="T58" fmla="*/ 43 w 614"/>
                <a:gd name="T59" fmla="*/ 2657 h 296"/>
                <a:gd name="T60" fmla="*/ 67 w 614"/>
                <a:gd name="T61" fmla="*/ 2831 h 296"/>
                <a:gd name="T62" fmla="*/ 99 w 614"/>
                <a:gd name="T63" fmla="*/ 2983 h 296"/>
                <a:gd name="T64" fmla="*/ 142 w 614"/>
                <a:gd name="T65" fmla="*/ 3144 h 296"/>
                <a:gd name="T66" fmla="*/ 186 w 614"/>
                <a:gd name="T67" fmla="*/ 3291 h 296"/>
                <a:gd name="T68" fmla="*/ 230 w 614"/>
                <a:gd name="T69" fmla="*/ 3436 h 296"/>
                <a:gd name="T70" fmla="*/ 288 w 614"/>
                <a:gd name="T71" fmla="*/ 3560 h 296"/>
                <a:gd name="T72" fmla="*/ 372 w 614"/>
                <a:gd name="T73" fmla="*/ 3705 h 296"/>
                <a:gd name="T74" fmla="*/ 496 w 614"/>
                <a:gd name="T75" fmla="*/ 3852 h 296"/>
                <a:gd name="T76" fmla="*/ 638 w 614"/>
                <a:gd name="T77" fmla="*/ 3928 h 296"/>
                <a:gd name="T78" fmla="*/ 785 w 614"/>
                <a:gd name="T79" fmla="*/ 3928 h 296"/>
                <a:gd name="T80" fmla="*/ 922 w 614"/>
                <a:gd name="T81" fmla="*/ 3852 h 296"/>
                <a:gd name="T82" fmla="*/ 1052 w 614"/>
                <a:gd name="T83" fmla="*/ 3705 h 296"/>
                <a:gd name="T84" fmla="*/ 1138 w 614"/>
                <a:gd name="T85" fmla="*/ 3560 h 296"/>
                <a:gd name="T86" fmla="*/ 1190 w 614"/>
                <a:gd name="T87" fmla="*/ 3436 h 296"/>
                <a:gd name="T88" fmla="*/ 1241 w 614"/>
                <a:gd name="T89" fmla="*/ 3291 h 296"/>
                <a:gd name="T90" fmla="*/ 1285 w 614"/>
                <a:gd name="T91" fmla="*/ 3144 h 296"/>
                <a:gd name="T92" fmla="*/ 1318 w 614"/>
                <a:gd name="T93" fmla="*/ 2983 h 296"/>
                <a:gd name="T94" fmla="*/ 1351 w 614"/>
                <a:gd name="T95" fmla="*/ 2831 h 296"/>
                <a:gd name="T96" fmla="*/ 1383 w 614"/>
                <a:gd name="T97" fmla="*/ 2657 h 296"/>
                <a:gd name="T98" fmla="*/ 1399 w 614"/>
                <a:gd name="T99" fmla="*/ 2457 h 296"/>
                <a:gd name="T100" fmla="*/ 1417 w 614"/>
                <a:gd name="T101" fmla="*/ 2281 h 296"/>
                <a:gd name="T102" fmla="*/ 1427 w 614"/>
                <a:gd name="T103" fmla="*/ 2088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0"/>
                  </a:lnTo>
                  <a:lnTo>
                    <a:pt x="612" y="133"/>
                  </a:lnTo>
                  <a:lnTo>
                    <a:pt x="610" y="126"/>
                  </a:lnTo>
                  <a:lnTo>
                    <a:pt x="607" y="118"/>
                  </a:lnTo>
                  <a:lnTo>
                    <a:pt x="603" y="111"/>
                  </a:lnTo>
                  <a:lnTo>
                    <a:pt x="600" y="105"/>
                  </a:lnTo>
                  <a:lnTo>
                    <a:pt x="595" y="98"/>
                  </a:lnTo>
                  <a:lnTo>
                    <a:pt x="589" y="90"/>
                  </a:lnTo>
                  <a:lnTo>
                    <a:pt x="582" y="85"/>
                  </a:lnTo>
                  <a:lnTo>
                    <a:pt x="577" y="78"/>
                  </a:lnTo>
                  <a:lnTo>
                    <a:pt x="568" y="72"/>
                  </a:lnTo>
                  <a:lnTo>
                    <a:pt x="561" y="66"/>
                  </a:lnTo>
                  <a:lnTo>
                    <a:pt x="553" y="61"/>
                  </a:lnTo>
                  <a:lnTo>
                    <a:pt x="544" y="55"/>
                  </a:lnTo>
                  <a:lnTo>
                    <a:pt x="534" y="50"/>
                  </a:lnTo>
                  <a:lnTo>
                    <a:pt x="523" y="44"/>
                  </a:lnTo>
                  <a:lnTo>
                    <a:pt x="513" y="39"/>
                  </a:lnTo>
                  <a:lnTo>
                    <a:pt x="502" y="35"/>
                  </a:lnTo>
                  <a:lnTo>
                    <a:pt x="490" y="29"/>
                  </a:lnTo>
                  <a:lnTo>
                    <a:pt x="478" y="26"/>
                  </a:lnTo>
                  <a:lnTo>
                    <a:pt x="453" y="18"/>
                  </a:lnTo>
                  <a:lnTo>
                    <a:pt x="425" y="13"/>
                  </a:lnTo>
                  <a:lnTo>
                    <a:pt x="397" y="7"/>
                  </a:lnTo>
                  <a:lnTo>
                    <a:pt x="368" y="4"/>
                  </a:lnTo>
                  <a:lnTo>
                    <a:pt x="338" y="2"/>
                  </a:lnTo>
                  <a:lnTo>
                    <a:pt x="307" y="0"/>
                  </a:lnTo>
                  <a:lnTo>
                    <a:pt x="275" y="2"/>
                  </a:lnTo>
                  <a:lnTo>
                    <a:pt x="244" y="4"/>
                  </a:lnTo>
                  <a:lnTo>
                    <a:pt x="214" y="7"/>
                  </a:lnTo>
                  <a:lnTo>
                    <a:pt x="186" y="13"/>
                  </a:lnTo>
                  <a:lnTo>
                    <a:pt x="160" y="18"/>
                  </a:lnTo>
                  <a:lnTo>
                    <a:pt x="134" y="26"/>
                  </a:lnTo>
                  <a:lnTo>
                    <a:pt x="124" y="29"/>
                  </a:lnTo>
                  <a:lnTo>
                    <a:pt x="111" y="35"/>
                  </a:lnTo>
                  <a:lnTo>
                    <a:pt x="99" y="39"/>
                  </a:lnTo>
                  <a:lnTo>
                    <a:pt x="89" y="44"/>
                  </a:lnTo>
                  <a:lnTo>
                    <a:pt x="80" y="50"/>
                  </a:lnTo>
                  <a:lnTo>
                    <a:pt x="69" y="55"/>
                  </a:lnTo>
                  <a:lnTo>
                    <a:pt x="61" y="61"/>
                  </a:lnTo>
                  <a:lnTo>
                    <a:pt x="52" y="66"/>
                  </a:lnTo>
                  <a:lnTo>
                    <a:pt x="43" y="72"/>
                  </a:lnTo>
                  <a:lnTo>
                    <a:pt x="36" y="78"/>
                  </a:lnTo>
                  <a:lnTo>
                    <a:pt x="29" y="85"/>
                  </a:lnTo>
                  <a:lnTo>
                    <a:pt x="24" y="90"/>
                  </a:lnTo>
                  <a:lnTo>
                    <a:pt x="19" y="98"/>
                  </a:lnTo>
                  <a:lnTo>
                    <a:pt x="14" y="105"/>
                  </a:lnTo>
                  <a:lnTo>
                    <a:pt x="8" y="111"/>
                  </a:lnTo>
                  <a:lnTo>
                    <a:pt x="5" y="118"/>
                  </a:lnTo>
                  <a:lnTo>
                    <a:pt x="3" y="126"/>
                  </a:lnTo>
                  <a:lnTo>
                    <a:pt x="1" y="133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7"/>
                  </a:lnTo>
                  <a:lnTo>
                    <a:pt x="1" y="164"/>
                  </a:lnTo>
                  <a:lnTo>
                    <a:pt x="3" y="172"/>
                  </a:lnTo>
                  <a:lnTo>
                    <a:pt x="5" y="179"/>
                  </a:lnTo>
                  <a:lnTo>
                    <a:pt x="8" y="185"/>
                  </a:lnTo>
                  <a:lnTo>
                    <a:pt x="14" y="192"/>
                  </a:lnTo>
                  <a:lnTo>
                    <a:pt x="19" y="200"/>
                  </a:lnTo>
                  <a:lnTo>
                    <a:pt x="24" y="207"/>
                  </a:lnTo>
                  <a:lnTo>
                    <a:pt x="29" y="213"/>
                  </a:lnTo>
                  <a:lnTo>
                    <a:pt x="36" y="220"/>
                  </a:lnTo>
                  <a:lnTo>
                    <a:pt x="43" y="225"/>
                  </a:lnTo>
                  <a:lnTo>
                    <a:pt x="52" y="231"/>
                  </a:lnTo>
                  <a:lnTo>
                    <a:pt x="61" y="237"/>
                  </a:lnTo>
                  <a:lnTo>
                    <a:pt x="69" y="242"/>
                  </a:lnTo>
                  <a:lnTo>
                    <a:pt x="80" y="248"/>
                  </a:lnTo>
                  <a:lnTo>
                    <a:pt x="89" y="253"/>
                  </a:lnTo>
                  <a:lnTo>
                    <a:pt x="99" y="259"/>
                  </a:lnTo>
                  <a:lnTo>
                    <a:pt x="111" y="262"/>
                  </a:lnTo>
                  <a:lnTo>
                    <a:pt x="124" y="268"/>
                  </a:lnTo>
                  <a:lnTo>
                    <a:pt x="134" y="272"/>
                  </a:lnTo>
                  <a:lnTo>
                    <a:pt x="160" y="279"/>
                  </a:lnTo>
                  <a:lnTo>
                    <a:pt x="186" y="285"/>
                  </a:lnTo>
                  <a:lnTo>
                    <a:pt x="214" y="290"/>
                  </a:lnTo>
                  <a:lnTo>
                    <a:pt x="244" y="294"/>
                  </a:lnTo>
                  <a:lnTo>
                    <a:pt x="275" y="296"/>
                  </a:lnTo>
                  <a:lnTo>
                    <a:pt x="307" y="296"/>
                  </a:lnTo>
                  <a:lnTo>
                    <a:pt x="338" y="296"/>
                  </a:lnTo>
                  <a:lnTo>
                    <a:pt x="368" y="294"/>
                  </a:lnTo>
                  <a:lnTo>
                    <a:pt x="397" y="290"/>
                  </a:lnTo>
                  <a:lnTo>
                    <a:pt x="425" y="285"/>
                  </a:lnTo>
                  <a:lnTo>
                    <a:pt x="453" y="279"/>
                  </a:lnTo>
                  <a:lnTo>
                    <a:pt x="478" y="272"/>
                  </a:lnTo>
                  <a:lnTo>
                    <a:pt x="490" y="268"/>
                  </a:lnTo>
                  <a:lnTo>
                    <a:pt x="502" y="262"/>
                  </a:lnTo>
                  <a:lnTo>
                    <a:pt x="513" y="259"/>
                  </a:lnTo>
                  <a:lnTo>
                    <a:pt x="523" y="253"/>
                  </a:lnTo>
                  <a:lnTo>
                    <a:pt x="534" y="248"/>
                  </a:lnTo>
                  <a:lnTo>
                    <a:pt x="544" y="242"/>
                  </a:lnTo>
                  <a:lnTo>
                    <a:pt x="553" y="237"/>
                  </a:lnTo>
                  <a:lnTo>
                    <a:pt x="561" y="231"/>
                  </a:lnTo>
                  <a:lnTo>
                    <a:pt x="568" y="225"/>
                  </a:lnTo>
                  <a:lnTo>
                    <a:pt x="577" y="220"/>
                  </a:lnTo>
                  <a:lnTo>
                    <a:pt x="582" y="213"/>
                  </a:lnTo>
                  <a:lnTo>
                    <a:pt x="589" y="207"/>
                  </a:lnTo>
                  <a:lnTo>
                    <a:pt x="595" y="200"/>
                  </a:lnTo>
                  <a:lnTo>
                    <a:pt x="600" y="192"/>
                  </a:lnTo>
                  <a:lnTo>
                    <a:pt x="603" y="185"/>
                  </a:lnTo>
                  <a:lnTo>
                    <a:pt x="607" y="179"/>
                  </a:lnTo>
                  <a:lnTo>
                    <a:pt x="610" y="172"/>
                  </a:lnTo>
                  <a:lnTo>
                    <a:pt x="612" y="164"/>
                  </a:lnTo>
                  <a:lnTo>
                    <a:pt x="614" y="157"/>
                  </a:lnTo>
                  <a:lnTo>
                    <a:pt x="614" y="148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2038" name="Rectangle 14"/>
            <p:cNvSpPr>
              <a:spLocks noChangeArrowheads="1"/>
            </p:cNvSpPr>
            <p:nvPr/>
          </p:nvSpPr>
          <p:spPr bwMode="auto">
            <a:xfrm>
              <a:off x="385" y="1754"/>
              <a:ext cx="590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เลขที่ใบสั่ง</a:t>
              </a:r>
              <a:endParaRPr lang="en-US" altLang="th-TH" sz="1800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39" name="Freeform 15"/>
            <p:cNvSpPr>
              <a:spLocks/>
            </p:cNvSpPr>
            <p:nvPr/>
          </p:nvSpPr>
          <p:spPr bwMode="auto">
            <a:xfrm>
              <a:off x="1207" y="1790"/>
              <a:ext cx="681" cy="391"/>
            </a:xfrm>
            <a:custGeom>
              <a:avLst/>
              <a:gdLst>
                <a:gd name="T0" fmla="*/ 928 w 614"/>
                <a:gd name="T1" fmla="*/ 425 h 296"/>
                <a:gd name="T2" fmla="*/ 925 w 614"/>
                <a:gd name="T3" fmla="*/ 382 h 296"/>
                <a:gd name="T4" fmla="*/ 914 w 614"/>
                <a:gd name="T5" fmla="*/ 338 h 296"/>
                <a:gd name="T6" fmla="*/ 901 w 614"/>
                <a:gd name="T7" fmla="*/ 297 h 296"/>
                <a:gd name="T8" fmla="*/ 883 w 614"/>
                <a:gd name="T9" fmla="*/ 259 h 296"/>
                <a:gd name="T10" fmla="*/ 861 w 614"/>
                <a:gd name="T11" fmla="*/ 218 h 296"/>
                <a:gd name="T12" fmla="*/ 836 w 614"/>
                <a:gd name="T13" fmla="*/ 186 h 296"/>
                <a:gd name="T14" fmla="*/ 809 w 614"/>
                <a:gd name="T15" fmla="*/ 152 h 296"/>
                <a:gd name="T16" fmla="*/ 776 w 614"/>
                <a:gd name="T17" fmla="*/ 120 h 296"/>
                <a:gd name="T18" fmla="*/ 743 w 614"/>
                <a:gd name="T19" fmla="*/ 87 h 296"/>
                <a:gd name="T20" fmla="*/ 688 w 614"/>
                <a:gd name="T21" fmla="*/ 55 h 296"/>
                <a:gd name="T22" fmla="*/ 601 w 614"/>
                <a:gd name="T23" fmla="*/ 21 h 296"/>
                <a:gd name="T24" fmla="*/ 514 w 614"/>
                <a:gd name="T25" fmla="*/ 7 h 296"/>
                <a:gd name="T26" fmla="*/ 417 w 614"/>
                <a:gd name="T27" fmla="*/ 7 h 296"/>
                <a:gd name="T28" fmla="*/ 325 w 614"/>
                <a:gd name="T29" fmla="*/ 21 h 296"/>
                <a:gd name="T30" fmla="*/ 245 w 614"/>
                <a:gd name="T31" fmla="*/ 55 h 296"/>
                <a:gd name="T32" fmla="*/ 189 w 614"/>
                <a:gd name="T33" fmla="*/ 87 h 296"/>
                <a:gd name="T34" fmla="*/ 151 w 614"/>
                <a:gd name="T35" fmla="*/ 120 h 296"/>
                <a:gd name="T36" fmla="*/ 123 w 614"/>
                <a:gd name="T37" fmla="*/ 152 h 296"/>
                <a:gd name="T38" fmla="*/ 92 w 614"/>
                <a:gd name="T39" fmla="*/ 186 h 296"/>
                <a:gd name="T40" fmla="*/ 67 w 614"/>
                <a:gd name="T41" fmla="*/ 218 h 296"/>
                <a:gd name="T42" fmla="*/ 45 w 614"/>
                <a:gd name="T43" fmla="*/ 259 h 296"/>
                <a:gd name="T44" fmla="*/ 30 w 614"/>
                <a:gd name="T45" fmla="*/ 297 h 296"/>
                <a:gd name="T46" fmla="*/ 13 w 614"/>
                <a:gd name="T47" fmla="*/ 338 h 296"/>
                <a:gd name="T48" fmla="*/ 4 w 614"/>
                <a:gd name="T49" fmla="*/ 382 h 296"/>
                <a:gd name="T50" fmla="*/ 0 w 614"/>
                <a:gd name="T51" fmla="*/ 425 h 296"/>
                <a:gd name="T52" fmla="*/ 0 w 614"/>
                <a:gd name="T53" fmla="*/ 477 h 296"/>
                <a:gd name="T54" fmla="*/ 4 w 614"/>
                <a:gd name="T55" fmla="*/ 523 h 296"/>
                <a:gd name="T56" fmla="*/ 13 w 614"/>
                <a:gd name="T57" fmla="*/ 561 h 296"/>
                <a:gd name="T58" fmla="*/ 30 w 614"/>
                <a:gd name="T59" fmla="*/ 609 h 296"/>
                <a:gd name="T60" fmla="*/ 45 w 614"/>
                <a:gd name="T61" fmla="*/ 647 h 296"/>
                <a:gd name="T62" fmla="*/ 67 w 614"/>
                <a:gd name="T63" fmla="*/ 684 h 296"/>
                <a:gd name="T64" fmla="*/ 92 w 614"/>
                <a:gd name="T65" fmla="*/ 721 h 296"/>
                <a:gd name="T66" fmla="*/ 123 w 614"/>
                <a:gd name="T67" fmla="*/ 756 h 296"/>
                <a:gd name="T68" fmla="*/ 151 w 614"/>
                <a:gd name="T69" fmla="*/ 789 h 296"/>
                <a:gd name="T70" fmla="*/ 189 w 614"/>
                <a:gd name="T71" fmla="*/ 816 h 296"/>
                <a:gd name="T72" fmla="*/ 245 w 614"/>
                <a:gd name="T73" fmla="*/ 849 h 296"/>
                <a:gd name="T74" fmla="*/ 325 w 614"/>
                <a:gd name="T75" fmla="*/ 882 h 296"/>
                <a:gd name="T76" fmla="*/ 417 w 614"/>
                <a:gd name="T77" fmla="*/ 901 h 296"/>
                <a:gd name="T78" fmla="*/ 514 w 614"/>
                <a:gd name="T79" fmla="*/ 901 h 296"/>
                <a:gd name="T80" fmla="*/ 601 w 614"/>
                <a:gd name="T81" fmla="*/ 882 h 296"/>
                <a:gd name="T82" fmla="*/ 688 w 614"/>
                <a:gd name="T83" fmla="*/ 849 h 296"/>
                <a:gd name="T84" fmla="*/ 743 w 614"/>
                <a:gd name="T85" fmla="*/ 816 h 296"/>
                <a:gd name="T86" fmla="*/ 776 w 614"/>
                <a:gd name="T87" fmla="*/ 789 h 296"/>
                <a:gd name="T88" fmla="*/ 809 w 614"/>
                <a:gd name="T89" fmla="*/ 756 h 296"/>
                <a:gd name="T90" fmla="*/ 836 w 614"/>
                <a:gd name="T91" fmla="*/ 721 h 296"/>
                <a:gd name="T92" fmla="*/ 861 w 614"/>
                <a:gd name="T93" fmla="*/ 684 h 296"/>
                <a:gd name="T94" fmla="*/ 883 w 614"/>
                <a:gd name="T95" fmla="*/ 647 h 296"/>
                <a:gd name="T96" fmla="*/ 901 w 614"/>
                <a:gd name="T97" fmla="*/ 609 h 296"/>
                <a:gd name="T98" fmla="*/ 914 w 614"/>
                <a:gd name="T99" fmla="*/ 561 h 296"/>
                <a:gd name="T100" fmla="*/ 925 w 614"/>
                <a:gd name="T101" fmla="*/ 523 h 296"/>
                <a:gd name="T102" fmla="*/ 928 w 614"/>
                <a:gd name="T103" fmla="*/ 477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0"/>
                  </a:lnTo>
                  <a:lnTo>
                    <a:pt x="613" y="133"/>
                  </a:lnTo>
                  <a:lnTo>
                    <a:pt x="611" y="126"/>
                  </a:lnTo>
                  <a:lnTo>
                    <a:pt x="607" y="118"/>
                  </a:lnTo>
                  <a:lnTo>
                    <a:pt x="604" y="111"/>
                  </a:lnTo>
                  <a:lnTo>
                    <a:pt x="601" y="105"/>
                  </a:lnTo>
                  <a:lnTo>
                    <a:pt x="595" y="98"/>
                  </a:lnTo>
                  <a:lnTo>
                    <a:pt x="590" y="90"/>
                  </a:lnTo>
                  <a:lnTo>
                    <a:pt x="583" y="85"/>
                  </a:lnTo>
                  <a:lnTo>
                    <a:pt x="578" y="78"/>
                  </a:lnTo>
                  <a:lnTo>
                    <a:pt x="569" y="72"/>
                  </a:lnTo>
                  <a:lnTo>
                    <a:pt x="562" y="66"/>
                  </a:lnTo>
                  <a:lnTo>
                    <a:pt x="553" y="61"/>
                  </a:lnTo>
                  <a:lnTo>
                    <a:pt x="545" y="55"/>
                  </a:lnTo>
                  <a:lnTo>
                    <a:pt x="534" y="50"/>
                  </a:lnTo>
                  <a:lnTo>
                    <a:pt x="524" y="44"/>
                  </a:lnTo>
                  <a:lnTo>
                    <a:pt x="513" y="39"/>
                  </a:lnTo>
                  <a:lnTo>
                    <a:pt x="503" y="35"/>
                  </a:lnTo>
                  <a:lnTo>
                    <a:pt x="491" y="29"/>
                  </a:lnTo>
                  <a:lnTo>
                    <a:pt x="478" y="26"/>
                  </a:lnTo>
                  <a:lnTo>
                    <a:pt x="454" y="18"/>
                  </a:lnTo>
                  <a:lnTo>
                    <a:pt x="426" y="13"/>
                  </a:lnTo>
                  <a:lnTo>
                    <a:pt x="398" y="7"/>
                  </a:lnTo>
                  <a:lnTo>
                    <a:pt x="368" y="4"/>
                  </a:lnTo>
                  <a:lnTo>
                    <a:pt x="339" y="2"/>
                  </a:lnTo>
                  <a:lnTo>
                    <a:pt x="307" y="0"/>
                  </a:lnTo>
                  <a:lnTo>
                    <a:pt x="276" y="2"/>
                  </a:lnTo>
                  <a:lnTo>
                    <a:pt x="245" y="4"/>
                  </a:lnTo>
                  <a:lnTo>
                    <a:pt x="215" y="7"/>
                  </a:lnTo>
                  <a:lnTo>
                    <a:pt x="187" y="13"/>
                  </a:lnTo>
                  <a:lnTo>
                    <a:pt x="161" y="18"/>
                  </a:lnTo>
                  <a:lnTo>
                    <a:pt x="135" y="26"/>
                  </a:lnTo>
                  <a:lnTo>
                    <a:pt x="124" y="29"/>
                  </a:lnTo>
                  <a:lnTo>
                    <a:pt x="112" y="35"/>
                  </a:lnTo>
                  <a:lnTo>
                    <a:pt x="100" y="39"/>
                  </a:lnTo>
                  <a:lnTo>
                    <a:pt x="89" y="44"/>
                  </a:lnTo>
                  <a:lnTo>
                    <a:pt x="81" y="50"/>
                  </a:lnTo>
                  <a:lnTo>
                    <a:pt x="70" y="55"/>
                  </a:lnTo>
                  <a:lnTo>
                    <a:pt x="61" y="61"/>
                  </a:lnTo>
                  <a:lnTo>
                    <a:pt x="53" y="66"/>
                  </a:lnTo>
                  <a:lnTo>
                    <a:pt x="44" y="72"/>
                  </a:lnTo>
                  <a:lnTo>
                    <a:pt x="37" y="78"/>
                  </a:lnTo>
                  <a:lnTo>
                    <a:pt x="30" y="85"/>
                  </a:lnTo>
                  <a:lnTo>
                    <a:pt x="25" y="90"/>
                  </a:lnTo>
                  <a:lnTo>
                    <a:pt x="20" y="98"/>
                  </a:lnTo>
                  <a:lnTo>
                    <a:pt x="14" y="105"/>
                  </a:lnTo>
                  <a:lnTo>
                    <a:pt x="9" y="111"/>
                  </a:lnTo>
                  <a:lnTo>
                    <a:pt x="6" y="118"/>
                  </a:lnTo>
                  <a:lnTo>
                    <a:pt x="4" y="126"/>
                  </a:lnTo>
                  <a:lnTo>
                    <a:pt x="2" y="133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7"/>
                  </a:lnTo>
                  <a:lnTo>
                    <a:pt x="2" y="164"/>
                  </a:lnTo>
                  <a:lnTo>
                    <a:pt x="4" y="172"/>
                  </a:lnTo>
                  <a:lnTo>
                    <a:pt x="6" y="179"/>
                  </a:lnTo>
                  <a:lnTo>
                    <a:pt x="9" y="185"/>
                  </a:lnTo>
                  <a:lnTo>
                    <a:pt x="14" y="192"/>
                  </a:lnTo>
                  <a:lnTo>
                    <a:pt x="20" y="200"/>
                  </a:lnTo>
                  <a:lnTo>
                    <a:pt x="25" y="207"/>
                  </a:lnTo>
                  <a:lnTo>
                    <a:pt x="30" y="213"/>
                  </a:lnTo>
                  <a:lnTo>
                    <a:pt x="37" y="220"/>
                  </a:lnTo>
                  <a:lnTo>
                    <a:pt x="44" y="225"/>
                  </a:lnTo>
                  <a:lnTo>
                    <a:pt x="53" y="231"/>
                  </a:lnTo>
                  <a:lnTo>
                    <a:pt x="61" y="237"/>
                  </a:lnTo>
                  <a:lnTo>
                    <a:pt x="70" y="242"/>
                  </a:lnTo>
                  <a:lnTo>
                    <a:pt x="81" y="248"/>
                  </a:lnTo>
                  <a:lnTo>
                    <a:pt x="89" y="253"/>
                  </a:lnTo>
                  <a:lnTo>
                    <a:pt x="100" y="259"/>
                  </a:lnTo>
                  <a:lnTo>
                    <a:pt x="112" y="262"/>
                  </a:lnTo>
                  <a:lnTo>
                    <a:pt x="124" y="268"/>
                  </a:lnTo>
                  <a:lnTo>
                    <a:pt x="135" y="272"/>
                  </a:lnTo>
                  <a:lnTo>
                    <a:pt x="161" y="279"/>
                  </a:lnTo>
                  <a:lnTo>
                    <a:pt x="187" y="285"/>
                  </a:lnTo>
                  <a:lnTo>
                    <a:pt x="215" y="290"/>
                  </a:lnTo>
                  <a:lnTo>
                    <a:pt x="245" y="294"/>
                  </a:lnTo>
                  <a:lnTo>
                    <a:pt x="276" y="296"/>
                  </a:lnTo>
                  <a:lnTo>
                    <a:pt x="307" y="296"/>
                  </a:lnTo>
                  <a:lnTo>
                    <a:pt x="339" y="296"/>
                  </a:lnTo>
                  <a:lnTo>
                    <a:pt x="368" y="294"/>
                  </a:lnTo>
                  <a:lnTo>
                    <a:pt x="398" y="290"/>
                  </a:lnTo>
                  <a:lnTo>
                    <a:pt x="426" y="285"/>
                  </a:lnTo>
                  <a:lnTo>
                    <a:pt x="454" y="279"/>
                  </a:lnTo>
                  <a:lnTo>
                    <a:pt x="478" y="272"/>
                  </a:lnTo>
                  <a:lnTo>
                    <a:pt x="491" y="268"/>
                  </a:lnTo>
                  <a:lnTo>
                    <a:pt x="503" y="262"/>
                  </a:lnTo>
                  <a:lnTo>
                    <a:pt x="513" y="259"/>
                  </a:lnTo>
                  <a:lnTo>
                    <a:pt x="524" y="253"/>
                  </a:lnTo>
                  <a:lnTo>
                    <a:pt x="534" y="248"/>
                  </a:lnTo>
                  <a:lnTo>
                    <a:pt x="545" y="242"/>
                  </a:lnTo>
                  <a:lnTo>
                    <a:pt x="553" y="237"/>
                  </a:lnTo>
                  <a:lnTo>
                    <a:pt x="562" y="231"/>
                  </a:lnTo>
                  <a:lnTo>
                    <a:pt x="569" y="225"/>
                  </a:lnTo>
                  <a:lnTo>
                    <a:pt x="578" y="220"/>
                  </a:lnTo>
                  <a:lnTo>
                    <a:pt x="583" y="213"/>
                  </a:lnTo>
                  <a:lnTo>
                    <a:pt x="590" y="207"/>
                  </a:lnTo>
                  <a:lnTo>
                    <a:pt x="595" y="200"/>
                  </a:lnTo>
                  <a:lnTo>
                    <a:pt x="601" y="192"/>
                  </a:lnTo>
                  <a:lnTo>
                    <a:pt x="604" y="185"/>
                  </a:lnTo>
                  <a:lnTo>
                    <a:pt x="607" y="179"/>
                  </a:lnTo>
                  <a:lnTo>
                    <a:pt x="611" y="172"/>
                  </a:lnTo>
                  <a:lnTo>
                    <a:pt x="613" y="164"/>
                  </a:lnTo>
                  <a:lnTo>
                    <a:pt x="614" y="157"/>
                  </a:lnTo>
                  <a:lnTo>
                    <a:pt x="614" y="148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2040" name="Rectangle 16"/>
            <p:cNvSpPr>
              <a:spLocks noChangeArrowheads="1"/>
            </p:cNvSpPr>
            <p:nvPr/>
          </p:nvSpPr>
          <p:spPr bwMode="auto">
            <a:xfrm>
              <a:off x="1336" y="1806"/>
              <a:ext cx="421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วันที่สั่ง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41" name="Freeform 17"/>
            <p:cNvSpPr>
              <a:spLocks/>
            </p:cNvSpPr>
            <p:nvPr/>
          </p:nvSpPr>
          <p:spPr bwMode="auto">
            <a:xfrm>
              <a:off x="1973" y="1706"/>
              <a:ext cx="837" cy="506"/>
            </a:xfrm>
            <a:custGeom>
              <a:avLst/>
              <a:gdLst>
                <a:gd name="T0" fmla="*/ 2120 w 614"/>
                <a:gd name="T1" fmla="*/ 1195 h 296"/>
                <a:gd name="T2" fmla="*/ 2112 w 614"/>
                <a:gd name="T3" fmla="*/ 1075 h 296"/>
                <a:gd name="T4" fmla="*/ 2086 w 614"/>
                <a:gd name="T5" fmla="*/ 950 h 296"/>
                <a:gd name="T6" fmla="*/ 2056 w 614"/>
                <a:gd name="T7" fmla="*/ 839 h 296"/>
                <a:gd name="T8" fmla="*/ 2015 w 614"/>
                <a:gd name="T9" fmla="*/ 725 h 296"/>
                <a:gd name="T10" fmla="*/ 1966 w 614"/>
                <a:gd name="T11" fmla="*/ 614 h 296"/>
                <a:gd name="T12" fmla="*/ 1910 w 614"/>
                <a:gd name="T13" fmla="*/ 520 h 296"/>
                <a:gd name="T14" fmla="*/ 1843 w 614"/>
                <a:gd name="T15" fmla="*/ 424 h 296"/>
                <a:gd name="T16" fmla="*/ 1771 w 614"/>
                <a:gd name="T17" fmla="*/ 337 h 296"/>
                <a:gd name="T18" fmla="*/ 1693 w 614"/>
                <a:gd name="T19" fmla="*/ 248 h 296"/>
                <a:gd name="T20" fmla="*/ 1569 w 614"/>
                <a:gd name="T21" fmla="*/ 156 h 296"/>
                <a:gd name="T22" fmla="*/ 1375 w 614"/>
                <a:gd name="T23" fmla="*/ 62 h 296"/>
                <a:gd name="T24" fmla="*/ 1171 w 614"/>
                <a:gd name="T25" fmla="*/ 15 h 296"/>
                <a:gd name="T26" fmla="*/ 953 w 614"/>
                <a:gd name="T27" fmla="*/ 15 h 296"/>
                <a:gd name="T28" fmla="*/ 742 w 614"/>
                <a:gd name="T29" fmla="*/ 62 h 296"/>
                <a:gd name="T30" fmla="*/ 556 w 614"/>
                <a:gd name="T31" fmla="*/ 156 h 296"/>
                <a:gd name="T32" fmla="*/ 428 w 614"/>
                <a:gd name="T33" fmla="*/ 248 h 296"/>
                <a:gd name="T34" fmla="*/ 342 w 614"/>
                <a:gd name="T35" fmla="*/ 337 h 296"/>
                <a:gd name="T36" fmla="*/ 277 w 614"/>
                <a:gd name="T37" fmla="*/ 424 h 296"/>
                <a:gd name="T38" fmla="*/ 210 w 614"/>
                <a:gd name="T39" fmla="*/ 520 h 296"/>
                <a:gd name="T40" fmla="*/ 153 w 614"/>
                <a:gd name="T41" fmla="*/ 614 h 296"/>
                <a:gd name="T42" fmla="*/ 104 w 614"/>
                <a:gd name="T43" fmla="*/ 725 h 296"/>
                <a:gd name="T44" fmla="*/ 65 w 614"/>
                <a:gd name="T45" fmla="*/ 839 h 296"/>
                <a:gd name="T46" fmla="*/ 30 w 614"/>
                <a:gd name="T47" fmla="*/ 950 h 296"/>
                <a:gd name="T48" fmla="*/ 14 w 614"/>
                <a:gd name="T49" fmla="*/ 1075 h 296"/>
                <a:gd name="T50" fmla="*/ 0 w 614"/>
                <a:gd name="T51" fmla="*/ 1195 h 296"/>
                <a:gd name="T52" fmla="*/ 0 w 614"/>
                <a:gd name="T53" fmla="*/ 1339 h 296"/>
                <a:gd name="T54" fmla="*/ 14 w 614"/>
                <a:gd name="T55" fmla="*/ 1470 h 296"/>
                <a:gd name="T56" fmla="*/ 30 w 614"/>
                <a:gd name="T57" fmla="*/ 1578 h 296"/>
                <a:gd name="T58" fmla="*/ 65 w 614"/>
                <a:gd name="T59" fmla="*/ 1709 h 296"/>
                <a:gd name="T60" fmla="*/ 104 w 614"/>
                <a:gd name="T61" fmla="*/ 1817 h 296"/>
                <a:gd name="T62" fmla="*/ 153 w 614"/>
                <a:gd name="T63" fmla="*/ 1923 h 296"/>
                <a:gd name="T64" fmla="*/ 210 w 614"/>
                <a:gd name="T65" fmla="*/ 2022 h 296"/>
                <a:gd name="T66" fmla="*/ 277 w 614"/>
                <a:gd name="T67" fmla="*/ 2118 h 296"/>
                <a:gd name="T68" fmla="*/ 342 w 614"/>
                <a:gd name="T69" fmla="*/ 2212 h 296"/>
                <a:gd name="T70" fmla="*/ 428 w 614"/>
                <a:gd name="T71" fmla="*/ 2289 h 296"/>
                <a:gd name="T72" fmla="*/ 556 w 614"/>
                <a:gd name="T73" fmla="*/ 2381 h 296"/>
                <a:gd name="T74" fmla="*/ 742 w 614"/>
                <a:gd name="T75" fmla="*/ 2479 h 296"/>
                <a:gd name="T76" fmla="*/ 953 w 614"/>
                <a:gd name="T77" fmla="*/ 2528 h 296"/>
                <a:gd name="T78" fmla="*/ 1171 w 614"/>
                <a:gd name="T79" fmla="*/ 2528 h 296"/>
                <a:gd name="T80" fmla="*/ 1375 w 614"/>
                <a:gd name="T81" fmla="*/ 2479 h 296"/>
                <a:gd name="T82" fmla="*/ 1569 w 614"/>
                <a:gd name="T83" fmla="*/ 2381 h 296"/>
                <a:gd name="T84" fmla="*/ 1693 w 614"/>
                <a:gd name="T85" fmla="*/ 2289 h 296"/>
                <a:gd name="T86" fmla="*/ 1771 w 614"/>
                <a:gd name="T87" fmla="*/ 2212 h 296"/>
                <a:gd name="T88" fmla="*/ 1843 w 614"/>
                <a:gd name="T89" fmla="*/ 2118 h 296"/>
                <a:gd name="T90" fmla="*/ 1910 w 614"/>
                <a:gd name="T91" fmla="*/ 2022 h 296"/>
                <a:gd name="T92" fmla="*/ 1966 w 614"/>
                <a:gd name="T93" fmla="*/ 1923 h 296"/>
                <a:gd name="T94" fmla="*/ 2015 w 614"/>
                <a:gd name="T95" fmla="*/ 1817 h 296"/>
                <a:gd name="T96" fmla="*/ 2056 w 614"/>
                <a:gd name="T97" fmla="*/ 1709 h 296"/>
                <a:gd name="T98" fmla="*/ 2086 w 614"/>
                <a:gd name="T99" fmla="*/ 1578 h 296"/>
                <a:gd name="T100" fmla="*/ 2112 w 614"/>
                <a:gd name="T101" fmla="*/ 1470 h 296"/>
                <a:gd name="T102" fmla="*/ 2120 w 614"/>
                <a:gd name="T103" fmla="*/ 1339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0"/>
                  </a:lnTo>
                  <a:lnTo>
                    <a:pt x="612" y="133"/>
                  </a:lnTo>
                  <a:lnTo>
                    <a:pt x="611" y="126"/>
                  </a:lnTo>
                  <a:lnTo>
                    <a:pt x="607" y="118"/>
                  </a:lnTo>
                  <a:lnTo>
                    <a:pt x="604" y="111"/>
                  </a:lnTo>
                  <a:lnTo>
                    <a:pt x="600" y="105"/>
                  </a:lnTo>
                  <a:lnTo>
                    <a:pt x="595" y="98"/>
                  </a:lnTo>
                  <a:lnTo>
                    <a:pt x="590" y="90"/>
                  </a:lnTo>
                  <a:lnTo>
                    <a:pt x="583" y="85"/>
                  </a:lnTo>
                  <a:lnTo>
                    <a:pt x="578" y="78"/>
                  </a:lnTo>
                  <a:lnTo>
                    <a:pt x="569" y="72"/>
                  </a:lnTo>
                  <a:lnTo>
                    <a:pt x="562" y="66"/>
                  </a:lnTo>
                  <a:lnTo>
                    <a:pt x="553" y="61"/>
                  </a:lnTo>
                  <a:lnTo>
                    <a:pt x="544" y="55"/>
                  </a:lnTo>
                  <a:lnTo>
                    <a:pt x="534" y="50"/>
                  </a:lnTo>
                  <a:lnTo>
                    <a:pt x="523" y="44"/>
                  </a:lnTo>
                  <a:lnTo>
                    <a:pt x="513" y="39"/>
                  </a:lnTo>
                  <a:lnTo>
                    <a:pt x="503" y="35"/>
                  </a:lnTo>
                  <a:lnTo>
                    <a:pt x="490" y="29"/>
                  </a:lnTo>
                  <a:lnTo>
                    <a:pt x="478" y="26"/>
                  </a:lnTo>
                  <a:lnTo>
                    <a:pt x="454" y="18"/>
                  </a:lnTo>
                  <a:lnTo>
                    <a:pt x="426" y="13"/>
                  </a:lnTo>
                  <a:lnTo>
                    <a:pt x="398" y="7"/>
                  </a:lnTo>
                  <a:lnTo>
                    <a:pt x="368" y="4"/>
                  </a:lnTo>
                  <a:lnTo>
                    <a:pt x="339" y="2"/>
                  </a:lnTo>
                  <a:lnTo>
                    <a:pt x="307" y="0"/>
                  </a:lnTo>
                  <a:lnTo>
                    <a:pt x="276" y="2"/>
                  </a:lnTo>
                  <a:lnTo>
                    <a:pt x="244" y="4"/>
                  </a:lnTo>
                  <a:lnTo>
                    <a:pt x="215" y="7"/>
                  </a:lnTo>
                  <a:lnTo>
                    <a:pt x="187" y="13"/>
                  </a:lnTo>
                  <a:lnTo>
                    <a:pt x="161" y="18"/>
                  </a:lnTo>
                  <a:lnTo>
                    <a:pt x="134" y="26"/>
                  </a:lnTo>
                  <a:lnTo>
                    <a:pt x="124" y="29"/>
                  </a:lnTo>
                  <a:lnTo>
                    <a:pt x="112" y="35"/>
                  </a:lnTo>
                  <a:lnTo>
                    <a:pt x="99" y="39"/>
                  </a:lnTo>
                  <a:lnTo>
                    <a:pt x="89" y="44"/>
                  </a:lnTo>
                  <a:lnTo>
                    <a:pt x="80" y="50"/>
                  </a:lnTo>
                  <a:lnTo>
                    <a:pt x="70" y="55"/>
                  </a:lnTo>
                  <a:lnTo>
                    <a:pt x="61" y="61"/>
                  </a:lnTo>
                  <a:lnTo>
                    <a:pt x="52" y="66"/>
                  </a:lnTo>
                  <a:lnTo>
                    <a:pt x="44" y="72"/>
                  </a:lnTo>
                  <a:lnTo>
                    <a:pt x="37" y="78"/>
                  </a:lnTo>
                  <a:lnTo>
                    <a:pt x="30" y="85"/>
                  </a:lnTo>
                  <a:lnTo>
                    <a:pt x="24" y="90"/>
                  </a:lnTo>
                  <a:lnTo>
                    <a:pt x="19" y="98"/>
                  </a:lnTo>
                  <a:lnTo>
                    <a:pt x="14" y="105"/>
                  </a:lnTo>
                  <a:lnTo>
                    <a:pt x="9" y="111"/>
                  </a:lnTo>
                  <a:lnTo>
                    <a:pt x="5" y="118"/>
                  </a:lnTo>
                  <a:lnTo>
                    <a:pt x="4" y="126"/>
                  </a:lnTo>
                  <a:lnTo>
                    <a:pt x="2" y="133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7"/>
                  </a:lnTo>
                  <a:lnTo>
                    <a:pt x="2" y="164"/>
                  </a:lnTo>
                  <a:lnTo>
                    <a:pt x="4" y="172"/>
                  </a:lnTo>
                  <a:lnTo>
                    <a:pt x="5" y="179"/>
                  </a:lnTo>
                  <a:lnTo>
                    <a:pt x="9" y="185"/>
                  </a:lnTo>
                  <a:lnTo>
                    <a:pt x="14" y="192"/>
                  </a:lnTo>
                  <a:lnTo>
                    <a:pt x="19" y="200"/>
                  </a:lnTo>
                  <a:lnTo>
                    <a:pt x="24" y="207"/>
                  </a:lnTo>
                  <a:lnTo>
                    <a:pt x="30" y="213"/>
                  </a:lnTo>
                  <a:lnTo>
                    <a:pt x="37" y="220"/>
                  </a:lnTo>
                  <a:lnTo>
                    <a:pt x="44" y="225"/>
                  </a:lnTo>
                  <a:lnTo>
                    <a:pt x="52" y="231"/>
                  </a:lnTo>
                  <a:lnTo>
                    <a:pt x="61" y="237"/>
                  </a:lnTo>
                  <a:lnTo>
                    <a:pt x="70" y="242"/>
                  </a:lnTo>
                  <a:lnTo>
                    <a:pt x="80" y="248"/>
                  </a:lnTo>
                  <a:lnTo>
                    <a:pt x="89" y="253"/>
                  </a:lnTo>
                  <a:lnTo>
                    <a:pt x="99" y="259"/>
                  </a:lnTo>
                  <a:lnTo>
                    <a:pt x="112" y="262"/>
                  </a:lnTo>
                  <a:lnTo>
                    <a:pt x="124" y="268"/>
                  </a:lnTo>
                  <a:lnTo>
                    <a:pt x="134" y="272"/>
                  </a:lnTo>
                  <a:lnTo>
                    <a:pt x="161" y="279"/>
                  </a:lnTo>
                  <a:lnTo>
                    <a:pt x="187" y="285"/>
                  </a:lnTo>
                  <a:lnTo>
                    <a:pt x="215" y="290"/>
                  </a:lnTo>
                  <a:lnTo>
                    <a:pt x="244" y="294"/>
                  </a:lnTo>
                  <a:lnTo>
                    <a:pt x="276" y="296"/>
                  </a:lnTo>
                  <a:lnTo>
                    <a:pt x="307" y="296"/>
                  </a:lnTo>
                  <a:lnTo>
                    <a:pt x="339" y="296"/>
                  </a:lnTo>
                  <a:lnTo>
                    <a:pt x="368" y="294"/>
                  </a:lnTo>
                  <a:lnTo>
                    <a:pt x="398" y="290"/>
                  </a:lnTo>
                  <a:lnTo>
                    <a:pt x="426" y="285"/>
                  </a:lnTo>
                  <a:lnTo>
                    <a:pt x="454" y="279"/>
                  </a:lnTo>
                  <a:lnTo>
                    <a:pt x="478" y="272"/>
                  </a:lnTo>
                  <a:lnTo>
                    <a:pt x="490" y="268"/>
                  </a:lnTo>
                  <a:lnTo>
                    <a:pt x="503" y="262"/>
                  </a:lnTo>
                  <a:lnTo>
                    <a:pt x="513" y="259"/>
                  </a:lnTo>
                  <a:lnTo>
                    <a:pt x="523" y="253"/>
                  </a:lnTo>
                  <a:lnTo>
                    <a:pt x="534" y="248"/>
                  </a:lnTo>
                  <a:lnTo>
                    <a:pt x="544" y="242"/>
                  </a:lnTo>
                  <a:lnTo>
                    <a:pt x="553" y="237"/>
                  </a:lnTo>
                  <a:lnTo>
                    <a:pt x="562" y="231"/>
                  </a:lnTo>
                  <a:lnTo>
                    <a:pt x="569" y="225"/>
                  </a:lnTo>
                  <a:lnTo>
                    <a:pt x="578" y="220"/>
                  </a:lnTo>
                  <a:lnTo>
                    <a:pt x="583" y="213"/>
                  </a:lnTo>
                  <a:lnTo>
                    <a:pt x="590" y="207"/>
                  </a:lnTo>
                  <a:lnTo>
                    <a:pt x="595" y="200"/>
                  </a:lnTo>
                  <a:lnTo>
                    <a:pt x="600" y="192"/>
                  </a:lnTo>
                  <a:lnTo>
                    <a:pt x="604" y="185"/>
                  </a:lnTo>
                  <a:lnTo>
                    <a:pt x="607" y="179"/>
                  </a:lnTo>
                  <a:lnTo>
                    <a:pt x="611" y="172"/>
                  </a:lnTo>
                  <a:lnTo>
                    <a:pt x="612" y="164"/>
                  </a:lnTo>
                  <a:lnTo>
                    <a:pt x="614" y="157"/>
                  </a:lnTo>
                  <a:lnTo>
                    <a:pt x="614" y="148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2042" name="Rectangle 18"/>
            <p:cNvSpPr>
              <a:spLocks noChangeArrowheads="1"/>
            </p:cNvSpPr>
            <p:nvPr/>
          </p:nvSpPr>
          <p:spPr bwMode="auto">
            <a:xfrm>
              <a:off x="2064" y="1842"/>
              <a:ext cx="595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วันที่ส่งของ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43" name="Line 19"/>
            <p:cNvSpPr>
              <a:spLocks noChangeShapeType="1"/>
            </p:cNvSpPr>
            <p:nvPr/>
          </p:nvSpPr>
          <p:spPr bwMode="auto">
            <a:xfrm>
              <a:off x="744" y="2181"/>
              <a:ext cx="556" cy="46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44" name="Line 20"/>
            <p:cNvSpPr>
              <a:spLocks noChangeShapeType="1"/>
            </p:cNvSpPr>
            <p:nvPr/>
          </p:nvSpPr>
          <p:spPr bwMode="auto">
            <a:xfrm>
              <a:off x="1578" y="2181"/>
              <a:ext cx="2" cy="46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45" name="Line 21"/>
            <p:cNvSpPr>
              <a:spLocks noChangeShapeType="1"/>
            </p:cNvSpPr>
            <p:nvPr/>
          </p:nvSpPr>
          <p:spPr bwMode="auto">
            <a:xfrm flipV="1">
              <a:off x="1827" y="2190"/>
              <a:ext cx="494" cy="46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46" name="Freeform 22"/>
            <p:cNvSpPr>
              <a:spLocks/>
            </p:cNvSpPr>
            <p:nvPr/>
          </p:nvSpPr>
          <p:spPr bwMode="auto">
            <a:xfrm>
              <a:off x="2414" y="2670"/>
              <a:ext cx="927" cy="586"/>
            </a:xfrm>
            <a:custGeom>
              <a:avLst/>
              <a:gdLst>
                <a:gd name="T0" fmla="*/ 0 w 837"/>
                <a:gd name="T1" fmla="*/ 674 h 444"/>
                <a:gd name="T2" fmla="*/ 630 w 837"/>
                <a:gd name="T3" fmla="*/ 0 h 444"/>
                <a:gd name="T4" fmla="*/ 1259 w 837"/>
                <a:gd name="T5" fmla="*/ 674 h 444"/>
                <a:gd name="T6" fmla="*/ 630 w 837"/>
                <a:gd name="T7" fmla="*/ 1346 h 444"/>
                <a:gd name="T8" fmla="*/ 0 w 837"/>
                <a:gd name="T9" fmla="*/ 674 h 4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7" h="444">
                  <a:moveTo>
                    <a:pt x="0" y="222"/>
                  </a:moveTo>
                  <a:lnTo>
                    <a:pt x="419" y="0"/>
                  </a:lnTo>
                  <a:lnTo>
                    <a:pt x="837" y="222"/>
                  </a:lnTo>
                  <a:lnTo>
                    <a:pt x="419" y="444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47" name="Freeform 23"/>
            <p:cNvSpPr>
              <a:spLocks/>
            </p:cNvSpPr>
            <p:nvPr/>
          </p:nvSpPr>
          <p:spPr bwMode="auto">
            <a:xfrm>
              <a:off x="2414" y="2670"/>
              <a:ext cx="927" cy="586"/>
            </a:xfrm>
            <a:custGeom>
              <a:avLst/>
              <a:gdLst>
                <a:gd name="T0" fmla="*/ 0 w 837"/>
                <a:gd name="T1" fmla="*/ 674 h 444"/>
                <a:gd name="T2" fmla="*/ 630 w 837"/>
                <a:gd name="T3" fmla="*/ 0 h 444"/>
                <a:gd name="T4" fmla="*/ 1259 w 837"/>
                <a:gd name="T5" fmla="*/ 674 h 444"/>
                <a:gd name="T6" fmla="*/ 630 w 837"/>
                <a:gd name="T7" fmla="*/ 1346 h 444"/>
                <a:gd name="T8" fmla="*/ 0 w 837"/>
                <a:gd name="T9" fmla="*/ 674 h 4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7" h="444">
                  <a:moveTo>
                    <a:pt x="0" y="222"/>
                  </a:moveTo>
                  <a:lnTo>
                    <a:pt x="419" y="0"/>
                  </a:lnTo>
                  <a:lnTo>
                    <a:pt x="837" y="222"/>
                  </a:lnTo>
                  <a:lnTo>
                    <a:pt x="419" y="444"/>
                  </a:lnTo>
                  <a:lnTo>
                    <a:pt x="0" y="222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48" name="Rectangle 24"/>
            <p:cNvSpPr>
              <a:spLocks noChangeArrowheads="1"/>
            </p:cNvSpPr>
            <p:nvPr/>
          </p:nvSpPr>
          <p:spPr bwMode="auto">
            <a:xfrm>
              <a:off x="2608" y="2840"/>
              <a:ext cx="663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1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สั่งรายการ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49" name="Rectangle 25"/>
            <p:cNvSpPr>
              <a:spLocks noChangeArrowheads="1"/>
            </p:cNvSpPr>
            <p:nvPr/>
          </p:nvSpPr>
          <p:spPr bwMode="auto">
            <a:xfrm>
              <a:off x="3805" y="2650"/>
              <a:ext cx="928" cy="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50" name="Rectangle 26"/>
            <p:cNvSpPr>
              <a:spLocks noChangeArrowheads="1"/>
            </p:cNvSpPr>
            <p:nvPr/>
          </p:nvSpPr>
          <p:spPr bwMode="auto">
            <a:xfrm>
              <a:off x="3805" y="2650"/>
              <a:ext cx="928" cy="58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51" name="Rectangle 27"/>
            <p:cNvSpPr>
              <a:spLocks noChangeArrowheads="1"/>
            </p:cNvSpPr>
            <p:nvPr/>
          </p:nvSpPr>
          <p:spPr bwMode="auto">
            <a:xfrm>
              <a:off x="3970" y="2751"/>
              <a:ext cx="455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7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สินค้า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52" name="Freeform 28"/>
            <p:cNvSpPr>
              <a:spLocks/>
            </p:cNvSpPr>
            <p:nvPr/>
          </p:nvSpPr>
          <p:spPr bwMode="auto">
            <a:xfrm>
              <a:off x="2925" y="1661"/>
              <a:ext cx="818" cy="500"/>
            </a:xfrm>
            <a:custGeom>
              <a:avLst/>
              <a:gdLst>
                <a:gd name="T0" fmla="*/ 1934 w 614"/>
                <a:gd name="T1" fmla="*/ 1147 h 296"/>
                <a:gd name="T2" fmla="*/ 1924 w 614"/>
                <a:gd name="T3" fmla="*/ 1027 h 296"/>
                <a:gd name="T4" fmla="*/ 1902 w 614"/>
                <a:gd name="T5" fmla="*/ 907 h 296"/>
                <a:gd name="T6" fmla="*/ 1874 w 614"/>
                <a:gd name="T7" fmla="*/ 799 h 296"/>
                <a:gd name="T8" fmla="*/ 1837 w 614"/>
                <a:gd name="T9" fmla="*/ 693 h 296"/>
                <a:gd name="T10" fmla="*/ 1793 w 614"/>
                <a:gd name="T11" fmla="*/ 588 h 296"/>
                <a:gd name="T12" fmla="*/ 1743 w 614"/>
                <a:gd name="T13" fmla="*/ 497 h 296"/>
                <a:gd name="T14" fmla="*/ 1681 w 614"/>
                <a:gd name="T15" fmla="*/ 405 h 296"/>
                <a:gd name="T16" fmla="*/ 1615 w 614"/>
                <a:gd name="T17" fmla="*/ 318 h 296"/>
                <a:gd name="T18" fmla="*/ 1544 w 614"/>
                <a:gd name="T19" fmla="*/ 245 h 296"/>
                <a:gd name="T20" fmla="*/ 1431 w 614"/>
                <a:gd name="T21" fmla="*/ 154 h 296"/>
                <a:gd name="T22" fmla="*/ 1254 w 614"/>
                <a:gd name="T23" fmla="*/ 57 h 296"/>
                <a:gd name="T24" fmla="*/ 1068 w 614"/>
                <a:gd name="T25" fmla="*/ 14 h 296"/>
                <a:gd name="T26" fmla="*/ 870 w 614"/>
                <a:gd name="T27" fmla="*/ 14 h 296"/>
                <a:gd name="T28" fmla="*/ 677 w 614"/>
                <a:gd name="T29" fmla="*/ 57 h 296"/>
                <a:gd name="T30" fmla="*/ 506 w 614"/>
                <a:gd name="T31" fmla="*/ 154 h 296"/>
                <a:gd name="T32" fmla="*/ 390 w 614"/>
                <a:gd name="T33" fmla="*/ 245 h 296"/>
                <a:gd name="T34" fmla="*/ 314 w 614"/>
                <a:gd name="T35" fmla="*/ 318 h 296"/>
                <a:gd name="T36" fmla="*/ 254 w 614"/>
                <a:gd name="T37" fmla="*/ 405 h 296"/>
                <a:gd name="T38" fmla="*/ 192 w 614"/>
                <a:gd name="T39" fmla="*/ 497 h 296"/>
                <a:gd name="T40" fmla="*/ 140 w 614"/>
                <a:gd name="T41" fmla="*/ 588 h 296"/>
                <a:gd name="T42" fmla="*/ 95 w 614"/>
                <a:gd name="T43" fmla="*/ 693 h 296"/>
                <a:gd name="T44" fmla="*/ 59 w 614"/>
                <a:gd name="T45" fmla="*/ 799 h 296"/>
                <a:gd name="T46" fmla="*/ 28 w 614"/>
                <a:gd name="T47" fmla="*/ 907 h 296"/>
                <a:gd name="T48" fmla="*/ 12 w 614"/>
                <a:gd name="T49" fmla="*/ 1027 h 296"/>
                <a:gd name="T50" fmla="*/ 0 w 614"/>
                <a:gd name="T51" fmla="*/ 1147 h 296"/>
                <a:gd name="T52" fmla="*/ 0 w 614"/>
                <a:gd name="T53" fmla="*/ 1279 h 296"/>
                <a:gd name="T54" fmla="*/ 12 w 614"/>
                <a:gd name="T55" fmla="*/ 1404 h 296"/>
                <a:gd name="T56" fmla="*/ 28 w 614"/>
                <a:gd name="T57" fmla="*/ 1510 h 296"/>
                <a:gd name="T58" fmla="*/ 59 w 614"/>
                <a:gd name="T59" fmla="*/ 1630 h 296"/>
                <a:gd name="T60" fmla="*/ 95 w 614"/>
                <a:gd name="T61" fmla="*/ 1735 h 296"/>
                <a:gd name="T62" fmla="*/ 140 w 614"/>
                <a:gd name="T63" fmla="*/ 1841 h 296"/>
                <a:gd name="T64" fmla="*/ 192 w 614"/>
                <a:gd name="T65" fmla="*/ 1929 h 296"/>
                <a:gd name="T66" fmla="*/ 254 w 614"/>
                <a:gd name="T67" fmla="*/ 2020 h 296"/>
                <a:gd name="T68" fmla="*/ 314 w 614"/>
                <a:gd name="T69" fmla="*/ 2111 h 296"/>
                <a:gd name="T70" fmla="*/ 390 w 614"/>
                <a:gd name="T71" fmla="*/ 2182 h 296"/>
                <a:gd name="T72" fmla="*/ 506 w 614"/>
                <a:gd name="T73" fmla="*/ 2272 h 296"/>
                <a:gd name="T74" fmla="*/ 677 w 614"/>
                <a:gd name="T75" fmla="*/ 2363 h 296"/>
                <a:gd name="T76" fmla="*/ 870 w 614"/>
                <a:gd name="T77" fmla="*/ 2410 h 296"/>
                <a:gd name="T78" fmla="*/ 1068 w 614"/>
                <a:gd name="T79" fmla="*/ 2410 h 296"/>
                <a:gd name="T80" fmla="*/ 1254 w 614"/>
                <a:gd name="T81" fmla="*/ 2363 h 296"/>
                <a:gd name="T82" fmla="*/ 1431 w 614"/>
                <a:gd name="T83" fmla="*/ 2272 h 296"/>
                <a:gd name="T84" fmla="*/ 1544 w 614"/>
                <a:gd name="T85" fmla="*/ 2182 h 296"/>
                <a:gd name="T86" fmla="*/ 1615 w 614"/>
                <a:gd name="T87" fmla="*/ 2111 h 296"/>
                <a:gd name="T88" fmla="*/ 1681 w 614"/>
                <a:gd name="T89" fmla="*/ 2020 h 296"/>
                <a:gd name="T90" fmla="*/ 1743 w 614"/>
                <a:gd name="T91" fmla="*/ 1929 h 296"/>
                <a:gd name="T92" fmla="*/ 1793 w 614"/>
                <a:gd name="T93" fmla="*/ 1841 h 296"/>
                <a:gd name="T94" fmla="*/ 1837 w 614"/>
                <a:gd name="T95" fmla="*/ 1735 h 296"/>
                <a:gd name="T96" fmla="*/ 1874 w 614"/>
                <a:gd name="T97" fmla="*/ 1630 h 296"/>
                <a:gd name="T98" fmla="*/ 1902 w 614"/>
                <a:gd name="T99" fmla="*/ 1510 h 296"/>
                <a:gd name="T100" fmla="*/ 1924 w 614"/>
                <a:gd name="T101" fmla="*/ 1404 h 296"/>
                <a:gd name="T102" fmla="*/ 1934 w 614"/>
                <a:gd name="T103" fmla="*/ 1279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1"/>
                  </a:lnTo>
                  <a:lnTo>
                    <a:pt x="613" y="133"/>
                  </a:lnTo>
                  <a:lnTo>
                    <a:pt x="611" y="126"/>
                  </a:lnTo>
                  <a:lnTo>
                    <a:pt x="607" y="118"/>
                  </a:lnTo>
                  <a:lnTo>
                    <a:pt x="604" y="111"/>
                  </a:lnTo>
                  <a:lnTo>
                    <a:pt x="600" y="105"/>
                  </a:lnTo>
                  <a:lnTo>
                    <a:pt x="595" y="98"/>
                  </a:lnTo>
                  <a:lnTo>
                    <a:pt x="590" y="91"/>
                  </a:lnTo>
                  <a:lnTo>
                    <a:pt x="583" y="85"/>
                  </a:lnTo>
                  <a:lnTo>
                    <a:pt x="578" y="78"/>
                  </a:lnTo>
                  <a:lnTo>
                    <a:pt x="569" y="72"/>
                  </a:lnTo>
                  <a:lnTo>
                    <a:pt x="562" y="67"/>
                  </a:lnTo>
                  <a:lnTo>
                    <a:pt x="553" y="61"/>
                  </a:lnTo>
                  <a:lnTo>
                    <a:pt x="545" y="56"/>
                  </a:lnTo>
                  <a:lnTo>
                    <a:pt x="534" y="50"/>
                  </a:lnTo>
                  <a:lnTo>
                    <a:pt x="524" y="44"/>
                  </a:lnTo>
                  <a:lnTo>
                    <a:pt x="513" y="39"/>
                  </a:lnTo>
                  <a:lnTo>
                    <a:pt x="503" y="35"/>
                  </a:lnTo>
                  <a:lnTo>
                    <a:pt x="490" y="30"/>
                  </a:lnTo>
                  <a:lnTo>
                    <a:pt x="478" y="26"/>
                  </a:lnTo>
                  <a:lnTo>
                    <a:pt x="454" y="19"/>
                  </a:lnTo>
                  <a:lnTo>
                    <a:pt x="426" y="13"/>
                  </a:lnTo>
                  <a:lnTo>
                    <a:pt x="398" y="7"/>
                  </a:lnTo>
                  <a:lnTo>
                    <a:pt x="368" y="4"/>
                  </a:lnTo>
                  <a:lnTo>
                    <a:pt x="339" y="2"/>
                  </a:lnTo>
                  <a:lnTo>
                    <a:pt x="307" y="0"/>
                  </a:lnTo>
                  <a:lnTo>
                    <a:pt x="276" y="2"/>
                  </a:lnTo>
                  <a:lnTo>
                    <a:pt x="244" y="4"/>
                  </a:lnTo>
                  <a:lnTo>
                    <a:pt x="215" y="7"/>
                  </a:lnTo>
                  <a:lnTo>
                    <a:pt x="187" y="13"/>
                  </a:lnTo>
                  <a:lnTo>
                    <a:pt x="161" y="19"/>
                  </a:lnTo>
                  <a:lnTo>
                    <a:pt x="135" y="26"/>
                  </a:lnTo>
                  <a:lnTo>
                    <a:pt x="124" y="30"/>
                  </a:lnTo>
                  <a:lnTo>
                    <a:pt x="112" y="35"/>
                  </a:lnTo>
                  <a:lnTo>
                    <a:pt x="100" y="39"/>
                  </a:lnTo>
                  <a:lnTo>
                    <a:pt x="89" y="44"/>
                  </a:lnTo>
                  <a:lnTo>
                    <a:pt x="80" y="50"/>
                  </a:lnTo>
                  <a:lnTo>
                    <a:pt x="70" y="56"/>
                  </a:lnTo>
                  <a:lnTo>
                    <a:pt x="61" y="61"/>
                  </a:lnTo>
                  <a:lnTo>
                    <a:pt x="53" y="67"/>
                  </a:lnTo>
                  <a:lnTo>
                    <a:pt x="44" y="72"/>
                  </a:lnTo>
                  <a:lnTo>
                    <a:pt x="37" y="78"/>
                  </a:lnTo>
                  <a:lnTo>
                    <a:pt x="30" y="85"/>
                  </a:lnTo>
                  <a:lnTo>
                    <a:pt x="25" y="91"/>
                  </a:lnTo>
                  <a:lnTo>
                    <a:pt x="19" y="98"/>
                  </a:lnTo>
                  <a:lnTo>
                    <a:pt x="14" y="105"/>
                  </a:lnTo>
                  <a:lnTo>
                    <a:pt x="9" y="111"/>
                  </a:lnTo>
                  <a:lnTo>
                    <a:pt x="5" y="118"/>
                  </a:lnTo>
                  <a:lnTo>
                    <a:pt x="4" y="126"/>
                  </a:lnTo>
                  <a:lnTo>
                    <a:pt x="2" y="133"/>
                  </a:lnTo>
                  <a:lnTo>
                    <a:pt x="0" y="141"/>
                  </a:lnTo>
                  <a:lnTo>
                    <a:pt x="0" y="148"/>
                  </a:lnTo>
                  <a:lnTo>
                    <a:pt x="0" y="157"/>
                  </a:lnTo>
                  <a:lnTo>
                    <a:pt x="2" y="165"/>
                  </a:lnTo>
                  <a:lnTo>
                    <a:pt x="4" y="172"/>
                  </a:lnTo>
                  <a:lnTo>
                    <a:pt x="5" y="179"/>
                  </a:lnTo>
                  <a:lnTo>
                    <a:pt x="9" y="185"/>
                  </a:lnTo>
                  <a:lnTo>
                    <a:pt x="14" y="192"/>
                  </a:lnTo>
                  <a:lnTo>
                    <a:pt x="19" y="200"/>
                  </a:lnTo>
                  <a:lnTo>
                    <a:pt x="25" y="207"/>
                  </a:lnTo>
                  <a:lnTo>
                    <a:pt x="30" y="213"/>
                  </a:lnTo>
                  <a:lnTo>
                    <a:pt x="37" y="220"/>
                  </a:lnTo>
                  <a:lnTo>
                    <a:pt x="44" y="226"/>
                  </a:lnTo>
                  <a:lnTo>
                    <a:pt x="53" y="231"/>
                  </a:lnTo>
                  <a:lnTo>
                    <a:pt x="61" y="237"/>
                  </a:lnTo>
                  <a:lnTo>
                    <a:pt x="70" y="242"/>
                  </a:lnTo>
                  <a:lnTo>
                    <a:pt x="80" y="248"/>
                  </a:lnTo>
                  <a:lnTo>
                    <a:pt x="89" y="253"/>
                  </a:lnTo>
                  <a:lnTo>
                    <a:pt x="100" y="259"/>
                  </a:lnTo>
                  <a:lnTo>
                    <a:pt x="112" y="263"/>
                  </a:lnTo>
                  <a:lnTo>
                    <a:pt x="124" y="268"/>
                  </a:lnTo>
                  <a:lnTo>
                    <a:pt x="135" y="272"/>
                  </a:lnTo>
                  <a:lnTo>
                    <a:pt x="161" y="279"/>
                  </a:lnTo>
                  <a:lnTo>
                    <a:pt x="187" y="285"/>
                  </a:lnTo>
                  <a:lnTo>
                    <a:pt x="215" y="290"/>
                  </a:lnTo>
                  <a:lnTo>
                    <a:pt x="244" y="294"/>
                  </a:lnTo>
                  <a:lnTo>
                    <a:pt x="276" y="296"/>
                  </a:lnTo>
                  <a:lnTo>
                    <a:pt x="307" y="296"/>
                  </a:lnTo>
                  <a:lnTo>
                    <a:pt x="339" y="296"/>
                  </a:lnTo>
                  <a:lnTo>
                    <a:pt x="368" y="294"/>
                  </a:lnTo>
                  <a:lnTo>
                    <a:pt x="398" y="290"/>
                  </a:lnTo>
                  <a:lnTo>
                    <a:pt x="426" y="285"/>
                  </a:lnTo>
                  <a:lnTo>
                    <a:pt x="454" y="279"/>
                  </a:lnTo>
                  <a:lnTo>
                    <a:pt x="478" y="272"/>
                  </a:lnTo>
                  <a:lnTo>
                    <a:pt x="490" y="268"/>
                  </a:lnTo>
                  <a:lnTo>
                    <a:pt x="503" y="263"/>
                  </a:lnTo>
                  <a:lnTo>
                    <a:pt x="513" y="259"/>
                  </a:lnTo>
                  <a:lnTo>
                    <a:pt x="524" y="253"/>
                  </a:lnTo>
                  <a:lnTo>
                    <a:pt x="534" y="248"/>
                  </a:lnTo>
                  <a:lnTo>
                    <a:pt x="545" y="242"/>
                  </a:lnTo>
                  <a:lnTo>
                    <a:pt x="553" y="237"/>
                  </a:lnTo>
                  <a:lnTo>
                    <a:pt x="562" y="231"/>
                  </a:lnTo>
                  <a:lnTo>
                    <a:pt x="569" y="226"/>
                  </a:lnTo>
                  <a:lnTo>
                    <a:pt x="578" y="220"/>
                  </a:lnTo>
                  <a:lnTo>
                    <a:pt x="583" y="213"/>
                  </a:lnTo>
                  <a:lnTo>
                    <a:pt x="590" y="207"/>
                  </a:lnTo>
                  <a:lnTo>
                    <a:pt x="595" y="200"/>
                  </a:lnTo>
                  <a:lnTo>
                    <a:pt x="600" y="192"/>
                  </a:lnTo>
                  <a:lnTo>
                    <a:pt x="604" y="185"/>
                  </a:lnTo>
                  <a:lnTo>
                    <a:pt x="607" y="179"/>
                  </a:lnTo>
                  <a:lnTo>
                    <a:pt x="611" y="172"/>
                  </a:lnTo>
                  <a:lnTo>
                    <a:pt x="613" y="165"/>
                  </a:lnTo>
                  <a:lnTo>
                    <a:pt x="614" y="157"/>
                  </a:lnTo>
                  <a:lnTo>
                    <a:pt x="614" y="148"/>
                  </a:lnTo>
                </a:path>
              </a:pathLst>
            </a:custGeom>
            <a:solidFill>
              <a:srgbClr val="66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2053" name="Rectangle 29"/>
            <p:cNvSpPr>
              <a:spLocks noChangeArrowheads="1"/>
            </p:cNvSpPr>
            <p:nvPr/>
          </p:nvSpPr>
          <p:spPr bwMode="auto">
            <a:xfrm>
              <a:off x="3061" y="1754"/>
              <a:ext cx="55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 b="1" u="sng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รหัสสินค้า</a:t>
              </a:r>
              <a:endParaRPr lang="en-US" altLang="th-TH" sz="1800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54" name="Freeform 30"/>
            <p:cNvSpPr>
              <a:spLocks/>
            </p:cNvSpPr>
            <p:nvPr/>
          </p:nvSpPr>
          <p:spPr bwMode="auto">
            <a:xfrm>
              <a:off x="3898" y="1731"/>
              <a:ext cx="680" cy="391"/>
            </a:xfrm>
            <a:custGeom>
              <a:avLst/>
              <a:gdLst>
                <a:gd name="T0" fmla="*/ 924 w 614"/>
                <a:gd name="T1" fmla="*/ 429 h 296"/>
                <a:gd name="T2" fmla="*/ 920 w 614"/>
                <a:gd name="T3" fmla="*/ 382 h 296"/>
                <a:gd name="T4" fmla="*/ 909 w 614"/>
                <a:gd name="T5" fmla="*/ 338 h 296"/>
                <a:gd name="T6" fmla="*/ 895 w 614"/>
                <a:gd name="T7" fmla="*/ 297 h 296"/>
                <a:gd name="T8" fmla="*/ 879 w 614"/>
                <a:gd name="T9" fmla="*/ 263 h 296"/>
                <a:gd name="T10" fmla="*/ 856 w 614"/>
                <a:gd name="T11" fmla="*/ 222 h 296"/>
                <a:gd name="T12" fmla="*/ 832 w 614"/>
                <a:gd name="T13" fmla="*/ 186 h 296"/>
                <a:gd name="T14" fmla="*/ 803 w 614"/>
                <a:gd name="T15" fmla="*/ 152 h 296"/>
                <a:gd name="T16" fmla="*/ 772 w 614"/>
                <a:gd name="T17" fmla="*/ 120 h 296"/>
                <a:gd name="T18" fmla="*/ 738 w 614"/>
                <a:gd name="T19" fmla="*/ 92 h 296"/>
                <a:gd name="T20" fmla="*/ 683 w 614"/>
                <a:gd name="T21" fmla="*/ 58 h 296"/>
                <a:gd name="T22" fmla="*/ 598 w 614"/>
                <a:gd name="T23" fmla="*/ 26 h 296"/>
                <a:gd name="T24" fmla="*/ 508 w 614"/>
                <a:gd name="T25" fmla="*/ 7 h 296"/>
                <a:gd name="T26" fmla="*/ 415 w 614"/>
                <a:gd name="T27" fmla="*/ 7 h 296"/>
                <a:gd name="T28" fmla="*/ 324 w 614"/>
                <a:gd name="T29" fmla="*/ 26 h 296"/>
                <a:gd name="T30" fmla="*/ 240 w 614"/>
                <a:gd name="T31" fmla="*/ 58 h 296"/>
                <a:gd name="T32" fmla="*/ 186 w 614"/>
                <a:gd name="T33" fmla="*/ 92 h 296"/>
                <a:gd name="T34" fmla="*/ 152 w 614"/>
                <a:gd name="T35" fmla="*/ 120 h 296"/>
                <a:gd name="T36" fmla="*/ 122 w 614"/>
                <a:gd name="T37" fmla="*/ 152 h 296"/>
                <a:gd name="T38" fmla="*/ 92 w 614"/>
                <a:gd name="T39" fmla="*/ 186 h 296"/>
                <a:gd name="T40" fmla="*/ 66 w 614"/>
                <a:gd name="T41" fmla="*/ 222 h 296"/>
                <a:gd name="T42" fmla="*/ 45 w 614"/>
                <a:gd name="T43" fmla="*/ 263 h 296"/>
                <a:gd name="T44" fmla="*/ 28 w 614"/>
                <a:gd name="T45" fmla="*/ 297 h 296"/>
                <a:gd name="T46" fmla="*/ 13 w 614"/>
                <a:gd name="T47" fmla="*/ 338 h 296"/>
                <a:gd name="T48" fmla="*/ 3 w 614"/>
                <a:gd name="T49" fmla="*/ 382 h 296"/>
                <a:gd name="T50" fmla="*/ 0 w 614"/>
                <a:gd name="T51" fmla="*/ 429 h 296"/>
                <a:gd name="T52" fmla="*/ 0 w 614"/>
                <a:gd name="T53" fmla="*/ 482 h 296"/>
                <a:gd name="T54" fmla="*/ 3 w 614"/>
                <a:gd name="T55" fmla="*/ 523 h 296"/>
                <a:gd name="T56" fmla="*/ 13 w 614"/>
                <a:gd name="T57" fmla="*/ 561 h 296"/>
                <a:gd name="T58" fmla="*/ 28 w 614"/>
                <a:gd name="T59" fmla="*/ 609 h 296"/>
                <a:gd name="T60" fmla="*/ 45 w 614"/>
                <a:gd name="T61" fmla="*/ 647 h 296"/>
                <a:gd name="T62" fmla="*/ 66 w 614"/>
                <a:gd name="T63" fmla="*/ 690 h 296"/>
                <a:gd name="T64" fmla="*/ 92 w 614"/>
                <a:gd name="T65" fmla="*/ 721 h 296"/>
                <a:gd name="T66" fmla="*/ 122 w 614"/>
                <a:gd name="T67" fmla="*/ 756 h 296"/>
                <a:gd name="T68" fmla="*/ 152 w 614"/>
                <a:gd name="T69" fmla="*/ 789 h 296"/>
                <a:gd name="T70" fmla="*/ 186 w 614"/>
                <a:gd name="T71" fmla="*/ 819 h 296"/>
                <a:gd name="T72" fmla="*/ 240 w 614"/>
                <a:gd name="T73" fmla="*/ 853 h 296"/>
                <a:gd name="T74" fmla="*/ 324 w 614"/>
                <a:gd name="T75" fmla="*/ 885 h 296"/>
                <a:gd name="T76" fmla="*/ 415 w 614"/>
                <a:gd name="T77" fmla="*/ 901 h 296"/>
                <a:gd name="T78" fmla="*/ 508 w 614"/>
                <a:gd name="T79" fmla="*/ 901 h 296"/>
                <a:gd name="T80" fmla="*/ 598 w 614"/>
                <a:gd name="T81" fmla="*/ 885 h 296"/>
                <a:gd name="T82" fmla="*/ 683 w 614"/>
                <a:gd name="T83" fmla="*/ 853 h 296"/>
                <a:gd name="T84" fmla="*/ 738 w 614"/>
                <a:gd name="T85" fmla="*/ 819 h 296"/>
                <a:gd name="T86" fmla="*/ 772 w 614"/>
                <a:gd name="T87" fmla="*/ 789 h 296"/>
                <a:gd name="T88" fmla="*/ 803 w 614"/>
                <a:gd name="T89" fmla="*/ 756 h 296"/>
                <a:gd name="T90" fmla="*/ 832 w 614"/>
                <a:gd name="T91" fmla="*/ 721 h 296"/>
                <a:gd name="T92" fmla="*/ 856 w 614"/>
                <a:gd name="T93" fmla="*/ 690 h 296"/>
                <a:gd name="T94" fmla="*/ 879 w 614"/>
                <a:gd name="T95" fmla="*/ 647 h 296"/>
                <a:gd name="T96" fmla="*/ 895 w 614"/>
                <a:gd name="T97" fmla="*/ 609 h 296"/>
                <a:gd name="T98" fmla="*/ 909 w 614"/>
                <a:gd name="T99" fmla="*/ 561 h 296"/>
                <a:gd name="T100" fmla="*/ 920 w 614"/>
                <a:gd name="T101" fmla="*/ 523 h 296"/>
                <a:gd name="T102" fmla="*/ 924 w 614"/>
                <a:gd name="T103" fmla="*/ 482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1"/>
                  </a:lnTo>
                  <a:lnTo>
                    <a:pt x="612" y="134"/>
                  </a:lnTo>
                  <a:lnTo>
                    <a:pt x="611" y="126"/>
                  </a:lnTo>
                  <a:lnTo>
                    <a:pt x="607" y="119"/>
                  </a:lnTo>
                  <a:lnTo>
                    <a:pt x="604" y="111"/>
                  </a:lnTo>
                  <a:lnTo>
                    <a:pt x="600" y="106"/>
                  </a:lnTo>
                  <a:lnTo>
                    <a:pt x="595" y="98"/>
                  </a:lnTo>
                  <a:lnTo>
                    <a:pt x="590" y="91"/>
                  </a:lnTo>
                  <a:lnTo>
                    <a:pt x="584" y="86"/>
                  </a:lnTo>
                  <a:lnTo>
                    <a:pt x="577" y="78"/>
                  </a:lnTo>
                  <a:lnTo>
                    <a:pt x="569" y="73"/>
                  </a:lnTo>
                  <a:lnTo>
                    <a:pt x="562" y="67"/>
                  </a:lnTo>
                  <a:lnTo>
                    <a:pt x="553" y="61"/>
                  </a:lnTo>
                  <a:lnTo>
                    <a:pt x="544" y="56"/>
                  </a:lnTo>
                  <a:lnTo>
                    <a:pt x="534" y="50"/>
                  </a:lnTo>
                  <a:lnTo>
                    <a:pt x="523" y="45"/>
                  </a:lnTo>
                  <a:lnTo>
                    <a:pt x="513" y="39"/>
                  </a:lnTo>
                  <a:lnTo>
                    <a:pt x="502" y="36"/>
                  </a:lnTo>
                  <a:lnTo>
                    <a:pt x="490" y="30"/>
                  </a:lnTo>
                  <a:lnTo>
                    <a:pt x="478" y="26"/>
                  </a:lnTo>
                  <a:lnTo>
                    <a:pt x="454" y="19"/>
                  </a:lnTo>
                  <a:lnTo>
                    <a:pt x="426" y="13"/>
                  </a:lnTo>
                  <a:lnTo>
                    <a:pt x="398" y="8"/>
                  </a:lnTo>
                  <a:lnTo>
                    <a:pt x="368" y="4"/>
                  </a:lnTo>
                  <a:lnTo>
                    <a:pt x="338" y="2"/>
                  </a:lnTo>
                  <a:lnTo>
                    <a:pt x="307" y="0"/>
                  </a:lnTo>
                  <a:lnTo>
                    <a:pt x="276" y="2"/>
                  </a:lnTo>
                  <a:lnTo>
                    <a:pt x="244" y="4"/>
                  </a:lnTo>
                  <a:lnTo>
                    <a:pt x="216" y="8"/>
                  </a:lnTo>
                  <a:lnTo>
                    <a:pt x="187" y="13"/>
                  </a:lnTo>
                  <a:lnTo>
                    <a:pt x="160" y="19"/>
                  </a:lnTo>
                  <a:lnTo>
                    <a:pt x="134" y="26"/>
                  </a:lnTo>
                  <a:lnTo>
                    <a:pt x="124" y="30"/>
                  </a:lnTo>
                  <a:lnTo>
                    <a:pt x="112" y="36"/>
                  </a:lnTo>
                  <a:lnTo>
                    <a:pt x="101" y="39"/>
                  </a:lnTo>
                  <a:lnTo>
                    <a:pt x="89" y="45"/>
                  </a:lnTo>
                  <a:lnTo>
                    <a:pt x="80" y="50"/>
                  </a:lnTo>
                  <a:lnTo>
                    <a:pt x="70" y="56"/>
                  </a:lnTo>
                  <a:lnTo>
                    <a:pt x="61" y="61"/>
                  </a:lnTo>
                  <a:lnTo>
                    <a:pt x="52" y="67"/>
                  </a:lnTo>
                  <a:lnTo>
                    <a:pt x="44" y="73"/>
                  </a:lnTo>
                  <a:lnTo>
                    <a:pt x="37" y="78"/>
                  </a:lnTo>
                  <a:lnTo>
                    <a:pt x="30" y="86"/>
                  </a:lnTo>
                  <a:lnTo>
                    <a:pt x="24" y="91"/>
                  </a:lnTo>
                  <a:lnTo>
                    <a:pt x="19" y="98"/>
                  </a:lnTo>
                  <a:lnTo>
                    <a:pt x="14" y="106"/>
                  </a:lnTo>
                  <a:lnTo>
                    <a:pt x="9" y="111"/>
                  </a:lnTo>
                  <a:lnTo>
                    <a:pt x="5" y="119"/>
                  </a:lnTo>
                  <a:lnTo>
                    <a:pt x="3" y="126"/>
                  </a:lnTo>
                  <a:lnTo>
                    <a:pt x="2" y="134"/>
                  </a:lnTo>
                  <a:lnTo>
                    <a:pt x="0" y="141"/>
                  </a:lnTo>
                  <a:lnTo>
                    <a:pt x="0" y="148"/>
                  </a:lnTo>
                  <a:lnTo>
                    <a:pt x="0" y="158"/>
                  </a:lnTo>
                  <a:lnTo>
                    <a:pt x="2" y="165"/>
                  </a:lnTo>
                  <a:lnTo>
                    <a:pt x="3" y="172"/>
                  </a:lnTo>
                  <a:lnTo>
                    <a:pt x="5" y="180"/>
                  </a:lnTo>
                  <a:lnTo>
                    <a:pt x="9" y="185"/>
                  </a:lnTo>
                  <a:lnTo>
                    <a:pt x="14" y="193"/>
                  </a:lnTo>
                  <a:lnTo>
                    <a:pt x="19" y="200"/>
                  </a:lnTo>
                  <a:lnTo>
                    <a:pt x="24" y="208"/>
                  </a:lnTo>
                  <a:lnTo>
                    <a:pt x="30" y="213"/>
                  </a:lnTo>
                  <a:lnTo>
                    <a:pt x="37" y="221"/>
                  </a:lnTo>
                  <a:lnTo>
                    <a:pt x="44" y="226"/>
                  </a:lnTo>
                  <a:lnTo>
                    <a:pt x="52" y="232"/>
                  </a:lnTo>
                  <a:lnTo>
                    <a:pt x="61" y="237"/>
                  </a:lnTo>
                  <a:lnTo>
                    <a:pt x="70" y="243"/>
                  </a:lnTo>
                  <a:lnTo>
                    <a:pt x="80" y="248"/>
                  </a:lnTo>
                  <a:lnTo>
                    <a:pt x="89" y="254"/>
                  </a:lnTo>
                  <a:lnTo>
                    <a:pt x="101" y="259"/>
                  </a:lnTo>
                  <a:lnTo>
                    <a:pt x="112" y="263"/>
                  </a:lnTo>
                  <a:lnTo>
                    <a:pt x="124" y="269"/>
                  </a:lnTo>
                  <a:lnTo>
                    <a:pt x="134" y="272"/>
                  </a:lnTo>
                  <a:lnTo>
                    <a:pt x="160" y="280"/>
                  </a:lnTo>
                  <a:lnTo>
                    <a:pt x="187" y="285"/>
                  </a:lnTo>
                  <a:lnTo>
                    <a:pt x="216" y="291"/>
                  </a:lnTo>
                  <a:lnTo>
                    <a:pt x="244" y="295"/>
                  </a:lnTo>
                  <a:lnTo>
                    <a:pt x="276" y="296"/>
                  </a:lnTo>
                  <a:lnTo>
                    <a:pt x="307" y="296"/>
                  </a:lnTo>
                  <a:lnTo>
                    <a:pt x="338" y="296"/>
                  </a:lnTo>
                  <a:lnTo>
                    <a:pt x="368" y="295"/>
                  </a:lnTo>
                  <a:lnTo>
                    <a:pt x="398" y="291"/>
                  </a:lnTo>
                  <a:lnTo>
                    <a:pt x="426" y="285"/>
                  </a:lnTo>
                  <a:lnTo>
                    <a:pt x="454" y="280"/>
                  </a:lnTo>
                  <a:lnTo>
                    <a:pt x="478" y="272"/>
                  </a:lnTo>
                  <a:lnTo>
                    <a:pt x="490" y="269"/>
                  </a:lnTo>
                  <a:lnTo>
                    <a:pt x="502" y="263"/>
                  </a:lnTo>
                  <a:lnTo>
                    <a:pt x="513" y="259"/>
                  </a:lnTo>
                  <a:lnTo>
                    <a:pt x="523" y="254"/>
                  </a:lnTo>
                  <a:lnTo>
                    <a:pt x="534" y="248"/>
                  </a:lnTo>
                  <a:lnTo>
                    <a:pt x="544" y="243"/>
                  </a:lnTo>
                  <a:lnTo>
                    <a:pt x="553" y="237"/>
                  </a:lnTo>
                  <a:lnTo>
                    <a:pt x="562" y="232"/>
                  </a:lnTo>
                  <a:lnTo>
                    <a:pt x="569" y="226"/>
                  </a:lnTo>
                  <a:lnTo>
                    <a:pt x="577" y="221"/>
                  </a:lnTo>
                  <a:lnTo>
                    <a:pt x="584" y="213"/>
                  </a:lnTo>
                  <a:lnTo>
                    <a:pt x="590" y="208"/>
                  </a:lnTo>
                  <a:lnTo>
                    <a:pt x="595" y="200"/>
                  </a:lnTo>
                  <a:lnTo>
                    <a:pt x="600" y="193"/>
                  </a:lnTo>
                  <a:lnTo>
                    <a:pt x="604" y="185"/>
                  </a:lnTo>
                  <a:lnTo>
                    <a:pt x="607" y="180"/>
                  </a:lnTo>
                  <a:lnTo>
                    <a:pt x="611" y="172"/>
                  </a:lnTo>
                  <a:lnTo>
                    <a:pt x="612" y="165"/>
                  </a:lnTo>
                  <a:lnTo>
                    <a:pt x="614" y="158"/>
                  </a:lnTo>
                  <a:lnTo>
                    <a:pt x="614" y="148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2055" name="Rectangle 31"/>
            <p:cNvSpPr>
              <a:spLocks noChangeArrowheads="1"/>
            </p:cNvSpPr>
            <p:nvPr/>
          </p:nvSpPr>
          <p:spPr bwMode="auto">
            <a:xfrm>
              <a:off x="4018" y="1747"/>
              <a:ext cx="464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ชื่อสินค้า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56" name="Line 32"/>
            <p:cNvSpPr>
              <a:spLocks noChangeShapeType="1"/>
            </p:cNvSpPr>
            <p:nvPr/>
          </p:nvSpPr>
          <p:spPr bwMode="auto">
            <a:xfrm>
              <a:off x="3440" y="2171"/>
              <a:ext cx="520" cy="46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57" name="Line 33"/>
            <p:cNvSpPr>
              <a:spLocks noChangeShapeType="1"/>
            </p:cNvSpPr>
            <p:nvPr/>
          </p:nvSpPr>
          <p:spPr bwMode="auto">
            <a:xfrm>
              <a:off x="4269" y="2122"/>
              <a:ext cx="1" cy="51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58" name="Line 34"/>
            <p:cNvSpPr>
              <a:spLocks noChangeShapeType="1"/>
            </p:cNvSpPr>
            <p:nvPr/>
          </p:nvSpPr>
          <p:spPr bwMode="auto">
            <a:xfrm flipH="1">
              <a:off x="2012" y="2963"/>
              <a:ext cx="40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59" name="Line 35"/>
            <p:cNvSpPr>
              <a:spLocks noChangeShapeType="1"/>
            </p:cNvSpPr>
            <p:nvPr/>
          </p:nvSpPr>
          <p:spPr bwMode="auto">
            <a:xfrm>
              <a:off x="3353" y="2960"/>
              <a:ext cx="43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060" name="Rectangle 36"/>
            <p:cNvSpPr>
              <a:spLocks noChangeArrowheads="1"/>
            </p:cNvSpPr>
            <p:nvPr/>
          </p:nvSpPr>
          <p:spPr bwMode="auto">
            <a:xfrm>
              <a:off x="2160" y="2417"/>
              <a:ext cx="212" cy="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7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61" name="Rectangle 37"/>
            <p:cNvSpPr>
              <a:spLocks noChangeArrowheads="1"/>
            </p:cNvSpPr>
            <p:nvPr/>
          </p:nvSpPr>
          <p:spPr bwMode="auto">
            <a:xfrm>
              <a:off x="3459" y="2417"/>
              <a:ext cx="178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4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N</a:t>
              </a:r>
            </a:p>
          </p:txBody>
        </p:sp>
        <p:sp>
          <p:nvSpPr>
            <p:cNvPr id="42062" name="Freeform 38"/>
            <p:cNvSpPr>
              <a:spLocks/>
            </p:cNvSpPr>
            <p:nvPr/>
          </p:nvSpPr>
          <p:spPr bwMode="auto">
            <a:xfrm>
              <a:off x="4702" y="1731"/>
              <a:ext cx="681" cy="391"/>
            </a:xfrm>
            <a:custGeom>
              <a:avLst/>
              <a:gdLst>
                <a:gd name="T0" fmla="*/ 928 w 614"/>
                <a:gd name="T1" fmla="*/ 429 h 296"/>
                <a:gd name="T2" fmla="*/ 924 w 614"/>
                <a:gd name="T3" fmla="*/ 382 h 296"/>
                <a:gd name="T4" fmla="*/ 913 w 614"/>
                <a:gd name="T5" fmla="*/ 338 h 296"/>
                <a:gd name="T6" fmla="*/ 901 w 614"/>
                <a:gd name="T7" fmla="*/ 297 h 296"/>
                <a:gd name="T8" fmla="*/ 884 w 614"/>
                <a:gd name="T9" fmla="*/ 263 h 296"/>
                <a:gd name="T10" fmla="*/ 860 w 614"/>
                <a:gd name="T11" fmla="*/ 222 h 296"/>
                <a:gd name="T12" fmla="*/ 836 w 614"/>
                <a:gd name="T13" fmla="*/ 186 h 296"/>
                <a:gd name="T14" fmla="*/ 809 w 614"/>
                <a:gd name="T15" fmla="*/ 152 h 296"/>
                <a:gd name="T16" fmla="*/ 776 w 614"/>
                <a:gd name="T17" fmla="*/ 120 h 296"/>
                <a:gd name="T18" fmla="*/ 741 w 614"/>
                <a:gd name="T19" fmla="*/ 92 h 296"/>
                <a:gd name="T20" fmla="*/ 685 w 614"/>
                <a:gd name="T21" fmla="*/ 58 h 296"/>
                <a:gd name="T22" fmla="*/ 600 w 614"/>
                <a:gd name="T23" fmla="*/ 26 h 296"/>
                <a:gd name="T24" fmla="*/ 511 w 614"/>
                <a:gd name="T25" fmla="*/ 7 h 296"/>
                <a:gd name="T26" fmla="*/ 416 w 614"/>
                <a:gd name="T27" fmla="*/ 7 h 296"/>
                <a:gd name="T28" fmla="*/ 327 w 614"/>
                <a:gd name="T29" fmla="*/ 26 h 296"/>
                <a:gd name="T30" fmla="*/ 241 w 614"/>
                <a:gd name="T31" fmla="*/ 58 h 296"/>
                <a:gd name="T32" fmla="*/ 189 w 614"/>
                <a:gd name="T33" fmla="*/ 92 h 296"/>
                <a:gd name="T34" fmla="*/ 153 w 614"/>
                <a:gd name="T35" fmla="*/ 120 h 296"/>
                <a:gd name="T36" fmla="*/ 122 w 614"/>
                <a:gd name="T37" fmla="*/ 152 h 296"/>
                <a:gd name="T38" fmla="*/ 92 w 614"/>
                <a:gd name="T39" fmla="*/ 186 h 296"/>
                <a:gd name="T40" fmla="*/ 65 w 614"/>
                <a:gd name="T41" fmla="*/ 222 h 296"/>
                <a:gd name="T42" fmla="*/ 43 w 614"/>
                <a:gd name="T43" fmla="*/ 263 h 296"/>
                <a:gd name="T44" fmla="*/ 29 w 614"/>
                <a:gd name="T45" fmla="*/ 297 h 296"/>
                <a:gd name="T46" fmla="*/ 12 w 614"/>
                <a:gd name="T47" fmla="*/ 338 h 296"/>
                <a:gd name="T48" fmla="*/ 3 w 614"/>
                <a:gd name="T49" fmla="*/ 382 h 296"/>
                <a:gd name="T50" fmla="*/ 0 w 614"/>
                <a:gd name="T51" fmla="*/ 429 h 296"/>
                <a:gd name="T52" fmla="*/ 0 w 614"/>
                <a:gd name="T53" fmla="*/ 482 h 296"/>
                <a:gd name="T54" fmla="*/ 3 w 614"/>
                <a:gd name="T55" fmla="*/ 523 h 296"/>
                <a:gd name="T56" fmla="*/ 12 w 614"/>
                <a:gd name="T57" fmla="*/ 561 h 296"/>
                <a:gd name="T58" fmla="*/ 29 w 614"/>
                <a:gd name="T59" fmla="*/ 609 h 296"/>
                <a:gd name="T60" fmla="*/ 43 w 614"/>
                <a:gd name="T61" fmla="*/ 647 h 296"/>
                <a:gd name="T62" fmla="*/ 65 w 614"/>
                <a:gd name="T63" fmla="*/ 690 h 296"/>
                <a:gd name="T64" fmla="*/ 92 w 614"/>
                <a:gd name="T65" fmla="*/ 721 h 296"/>
                <a:gd name="T66" fmla="*/ 122 w 614"/>
                <a:gd name="T67" fmla="*/ 756 h 296"/>
                <a:gd name="T68" fmla="*/ 153 w 614"/>
                <a:gd name="T69" fmla="*/ 789 h 296"/>
                <a:gd name="T70" fmla="*/ 189 w 614"/>
                <a:gd name="T71" fmla="*/ 819 h 296"/>
                <a:gd name="T72" fmla="*/ 241 w 614"/>
                <a:gd name="T73" fmla="*/ 853 h 296"/>
                <a:gd name="T74" fmla="*/ 327 w 614"/>
                <a:gd name="T75" fmla="*/ 885 h 296"/>
                <a:gd name="T76" fmla="*/ 416 w 614"/>
                <a:gd name="T77" fmla="*/ 901 h 296"/>
                <a:gd name="T78" fmla="*/ 511 w 614"/>
                <a:gd name="T79" fmla="*/ 901 h 296"/>
                <a:gd name="T80" fmla="*/ 600 w 614"/>
                <a:gd name="T81" fmla="*/ 885 h 296"/>
                <a:gd name="T82" fmla="*/ 685 w 614"/>
                <a:gd name="T83" fmla="*/ 853 h 296"/>
                <a:gd name="T84" fmla="*/ 741 w 614"/>
                <a:gd name="T85" fmla="*/ 819 h 296"/>
                <a:gd name="T86" fmla="*/ 776 w 614"/>
                <a:gd name="T87" fmla="*/ 789 h 296"/>
                <a:gd name="T88" fmla="*/ 809 w 614"/>
                <a:gd name="T89" fmla="*/ 756 h 296"/>
                <a:gd name="T90" fmla="*/ 836 w 614"/>
                <a:gd name="T91" fmla="*/ 721 h 296"/>
                <a:gd name="T92" fmla="*/ 860 w 614"/>
                <a:gd name="T93" fmla="*/ 690 h 296"/>
                <a:gd name="T94" fmla="*/ 884 w 614"/>
                <a:gd name="T95" fmla="*/ 647 h 296"/>
                <a:gd name="T96" fmla="*/ 901 w 614"/>
                <a:gd name="T97" fmla="*/ 609 h 296"/>
                <a:gd name="T98" fmla="*/ 913 w 614"/>
                <a:gd name="T99" fmla="*/ 561 h 296"/>
                <a:gd name="T100" fmla="*/ 924 w 614"/>
                <a:gd name="T101" fmla="*/ 523 h 296"/>
                <a:gd name="T102" fmla="*/ 928 w 614"/>
                <a:gd name="T103" fmla="*/ 482 h 29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14" h="296">
                  <a:moveTo>
                    <a:pt x="614" y="148"/>
                  </a:moveTo>
                  <a:lnTo>
                    <a:pt x="614" y="141"/>
                  </a:lnTo>
                  <a:lnTo>
                    <a:pt x="612" y="134"/>
                  </a:lnTo>
                  <a:lnTo>
                    <a:pt x="610" y="126"/>
                  </a:lnTo>
                  <a:lnTo>
                    <a:pt x="607" y="119"/>
                  </a:lnTo>
                  <a:lnTo>
                    <a:pt x="603" y="111"/>
                  </a:lnTo>
                  <a:lnTo>
                    <a:pt x="600" y="106"/>
                  </a:lnTo>
                  <a:lnTo>
                    <a:pt x="595" y="98"/>
                  </a:lnTo>
                  <a:lnTo>
                    <a:pt x="589" y="91"/>
                  </a:lnTo>
                  <a:lnTo>
                    <a:pt x="584" y="86"/>
                  </a:lnTo>
                  <a:lnTo>
                    <a:pt x="577" y="78"/>
                  </a:lnTo>
                  <a:lnTo>
                    <a:pt x="568" y="73"/>
                  </a:lnTo>
                  <a:lnTo>
                    <a:pt x="561" y="67"/>
                  </a:lnTo>
                  <a:lnTo>
                    <a:pt x="553" y="61"/>
                  </a:lnTo>
                  <a:lnTo>
                    <a:pt x="544" y="56"/>
                  </a:lnTo>
                  <a:lnTo>
                    <a:pt x="534" y="50"/>
                  </a:lnTo>
                  <a:lnTo>
                    <a:pt x="523" y="45"/>
                  </a:lnTo>
                  <a:lnTo>
                    <a:pt x="513" y="39"/>
                  </a:lnTo>
                  <a:lnTo>
                    <a:pt x="502" y="36"/>
                  </a:lnTo>
                  <a:lnTo>
                    <a:pt x="490" y="30"/>
                  </a:lnTo>
                  <a:lnTo>
                    <a:pt x="478" y="26"/>
                  </a:lnTo>
                  <a:lnTo>
                    <a:pt x="453" y="19"/>
                  </a:lnTo>
                  <a:lnTo>
                    <a:pt x="425" y="13"/>
                  </a:lnTo>
                  <a:lnTo>
                    <a:pt x="397" y="8"/>
                  </a:lnTo>
                  <a:lnTo>
                    <a:pt x="368" y="4"/>
                  </a:lnTo>
                  <a:lnTo>
                    <a:pt x="338" y="2"/>
                  </a:lnTo>
                  <a:lnTo>
                    <a:pt x="307" y="0"/>
                  </a:lnTo>
                  <a:lnTo>
                    <a:pt x="275" y="2"/>
                  </a:lnTo>
                  <a:lnTo>
                    <a:pt x="244" y="4"/>
                  </a:lnTo>
                  <a:lnTo>
                    <a:pt x="216" y="8"/>
                  </a:lnTo>
                  <a:lnTo>
                    <a:pt x="186" y="13"/>
                  </a:lnTo>
                  <a:lnTo>
                    <a:pt x="160" y="19"/>
                  </a:lnTo>
                  <a:lnTo>
                    <a:pt x="134" y="26"/>
                  </a:lnTo>
                  <a:lnTo>
                    <a:pt x="124" y="30"/>
                  </a:lnTo>
                  <a:lnTo>
                    <a:pt x="111" y="36"/>
                  </a:lnTo>
                  <a:lnTo>
                    <a:pt x="101" y="39"/>
                  </a:lnTo>
                  <a:lnTo>
                    <a:pt x="89" y="45"/>
                  </a:lnTo>
                  <a:lnTo>
                    <a:pt x="80" y="50"/>
                  </a:lnTo>
                  <a:lnTo>
                    <a:pt x="69" y="56"/>
                  </a:lnTo>
                  <a:lnTo>
                    <a:pt x="61" y="61"/>
                  </a:lnTo>
                  <a:lnTo>
                    <a:pt x="52" y="67"/>
                  </a:lnTo>
                  <a:lnTo>
                    <a:pt x="43" y="73"/>
                  </a:lnTo>
                  <a:lnTo>
                    <a:pt x="36" y="78"/>
                  </a:lnTo>
                  <a:lnTo>
                    <a:pt x="29" y="86"/>
                  </a:lnTo>
                  <a:lnTo>
                    <a:pt x="24" y="91"/>
                  </a:lnTo>
                  <a:lnTo>
                    <a:pt x="19" y="98"/>
                  </a:lnTo>
                  <a:lnTo>
                    <a:pt x="14" y="106"/>
                  </a:lnTo>
                  <a:lnTo>
                    <a:pt x="8" y="111"/>
                  </a:lnTo>
                  <a:lnTo>
                    <a:pt x="5" y="119"/>
                  </a:lnTo>
                  <a:lnTo>
                    <a:pt x="3" y="126"/>
                  </a:lnTo>
                  <a:lnTo>
                    <a:pt x="1" y="134"/>
                  </a:lnTo>
                  <a:lnTo>
                    <a:pt x="0" y="141"/>
                  </a:lnTo>
                  <a:lnTo>
                    <a:pt x="0" y="148"/>
                  </a:lnTo>
                  <a:lnTo>
                    <a:pt x="0" y="158"/>
                  </a:lnTo>
                  <a:lnTo>
                    <a:pt x="1" y="165"/>
                  </a:lnTo>
                  <a:lnTo>
                    <a:pt x="3" y="172"/>
                  </a:lnTo>
                  <a:lnTo>
                    <a:pt x="5" y="180"/>
                  </a:lnTo>
                  <a:lnTo>
                    <a:pt x="8" y="185"/>
                  </a:lnTo>
                  <a:lnTo>
                    <a:pt x="14" y="193"/>
                  </a:lnTo>
                  <a:lnTo>
                    <a:pt x="19" y="200"/>
                  </a:lnTo>
                  <a:lnTo>
                    <a:pt x="24" y="208"/>
                  </a:lnTo>
                  <a:lnTo>
                    <a:pt x="29" y="213"/>
                  </a:lnTo>
                  <a:lnTo>
                    <a:pt x="36" y="221"/>
                  </a:lnTo>
                  <a:lnTo>
                    <a:pt x="43" y="226"/>
                  </a:lnTo>
                  <a:lnTo>
                    <a:pt x="52" y="232"/>
                  </a:lnTo>
                  <a:lnTo>
                    <a:pt x="61" y="237"/>
                  </a:lnTo>
                  <a:lnTo>
                    <a:pt x="69" y="243"/>
                  </a:lnTo>
                  <a:lnTo>
                    <a:pt x="80" y="248"/>
                  </a:lnTo>
                  <a:lnTo>
                    <a:pt x="89" y="254"/>
                  </a:lnTo>
                  <a:lnTo>
                    <a:pt x="101" y="259"/>
                  </a:lnTo>
                  <a:lnTo>
                    <a:pt x="111" y="263"/>
                  </a:lnTo>
                  <a:lnTo>
                    <a:pt x="124" y="269"/>
                  </a:lnTo>
                  <a:lnTo>
                    <a:pt x="134" y="272"/>
                  </a:lnTo>
                  <a:lnTo>
                    <a:pt x="160" y="280"/>
                  </a:lnTo>
                  <a:lnTo>
                    <a:pt x="186" y="285"/>
                  </a:lnTo>
                  <a:lnTo>
                    <a:pt x="216" y="291"/>
                  </a:lnTo>
                  <a:lnTo>
                    <a:pt x="244" y="295"/>
                  </a:lnTo>
                  <a:lnTo>
                    <a:pt x="275" y="296"/>
                  </a:lnTo>
                  <a:lnTo>
                    <a:pt x="307" y="296"/>
                  </a:lnTo>
                  <a:lnTo>
                    <a:pt x="338" y="296"/>
                  </a:lnTo>
                  <a:lnTo>
                    <a:pt x="368" y="295"/>
                  </a:lnTo>
                  <a:lnTo>
                    <a:pt x="397" y="291"/>
                  </a:lnTo>
                  <a:lnTo>
                    <a:pt x="425" y="285"/>
                  </a:lnTo>
                  <a:lnTo>
                    <a:pt x="453" y="280"/>
                  </a:lnTo>
                  <a:lnTo>
                    <a:pt x="478" y="272"/>
                  </a:lnTo>
                  <a:lnTo>
                    <a:pt x="490" y="269"/>
                  </a:lnTo>
                  <a:lnTo>
                    <a:pt x="502" y="263"/>
                  </a:lnTo>
                  <a:lnTo>
                    <a:pt x="513" y="259"/>
                  </a:lnTo>
                  <a:lnTo>
                    <a:pt x="523" y="254"/>
                  </a:lnTo>
                  <a:lnTo>
                    <a:pt x="534" y="248"/>
                  </a:lnTo>
                  <a:lnTo>
                    <a:pt x="544" y="243"/>
                  </a:lnTo>
                  <a:lnTo>
                    <a:pt x="553" y="237"/>
                  </a:lnTo>
                  <a:lnTo>
                    <a:pt x="561" y="232"/>
                  </a:lnTo>
                  <a:lnTo>
                    <a:pt x="568" y="226"/>
                  </a:lnTo>
                  <a:lnTo>
                    <a:pt x="577" y="221"/>
                  </a:lnTo>
                  <a:lnTo>
                    <a:pt x="584" y="213"/>
                  </a:lnTo>
                  <a:lnTo>
                    <a:pt x="589" y="208"/>
                  </a:lnTo>
                  <a:lnTo>
                    <a:pt x="595" y="200"/>
                  </a:lnTo>
                  <a:lnTo>
                    <a:pt x="600" y="193"/>
                  </a:lnTo>
                  <a:lnTo>
                    <a:pt x="603" y="185"/>
                  </a:lnTo>
                  <a:lnTo>
                    <a:pt x="607" y="180"/>
                  </a:lnTo>
                  <a:lnTo>
                    <a:pt x="610" y="172"/>
                  </a:lnTo>
                  <a:lnTo>
                    <a:pt x="612" y="165"/>
                  </a:lnTo>
                  <a:lnTo>
                    <a:pt x="614" y="158"/>
                  </a:lnTo>
                  <a:lnTo>
                    <a:pt x="614" y="148"/>
                  </a:lnTo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2063" name="Rectangle 39"/>
            <p:cNvSpPr>
              <a:spLocks noChangeArrowheads="1"/>
            </p:cNvSpPr>
            <p:nvPr/>
          </p:nvSpPr>
          <p:spPr bwMode="auto">
            <a:xfrm>
              <a:off x="4863" y="1747"/>
              <a:ext cx="276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600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ราคา</a:t>
              </a:r>
              <a:endPara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064" name="Line 40"/>
            <p:cNvSpPr>
              <a:spLocks noChangeShapeType="1"/>
            </p:cNvSpPr>
            <p:nvPr/>
          </p:nvSpPr>
          <p:spPr bwMode="auto">
            <a:xfrm flipV="1">
              <a:off x="4542" y="2122"/>
              <a:ext cx="407" cy="51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41991" name="Rectangle 41"/>
          <p:cNvSpPr>
            <a:spLocks noChangeArrowheads="1"/>
          </p:cNvSpPr>
          <p:nvPr/>
        </p:nvSpPr>
        <p:spPr bwMode="auto">
          <a:xfrm>
            <a:off x="755650" y="4724400"/>
            <a:ext cx="661988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2300" b="1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ใบสั่งซื้อ</a:t>
            </a:r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64287" name="Group 95"/>
          <p:cNvGraphicFramePr>
            <a:graphicFrameLocks noGrp="1"/>
          </p:cNvGraphicFramePr>
          <p:nvPr/>
        </p:nvGraphicFramePr>
        <p:xfrm>
          <a:off x="1619250" y="4581525"/>
          <a:ext cx="2754313" cy="639763"/>
        </p:xfrm>
        <a:graphic>
          <a:graphicData uri="http://schemas.openxmlformats.org/drawingml/2006/table">
            <a:tbl>
              <a:tblPr/>
              <a:tblGrid>
                <a:gridCol w="91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เลขที่ใบสั่ง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วันที่สั่ง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วันที่ส่ง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2" marB="456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006" name="Rectangle 59"/>
          <p:cNvSpPr>
            <a:spLocks noChangeArrowheads="1"/>
          </p:cNvSpPr>
          <p:nvPr/>
        </p:nvSpPr>
        <p:spPr bwMode="auto">
          <a:xfrm>
            <a:off x="611188" y="5373688"/>
            <a:ext cx="83502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2300" b="1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สั่งรายการ</a:t>
            </a:r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64290" name="Group 98"/>
          <p:cNvGraphicFramePr>
            <a:graphicFrameLocks noGrp="1"/>
          </p:cNvGraphicFramePr>
          <p:nvPr/>
        </p:nvGraphicFramePr>
        <p:xfrm>
          <a:off x="1692275" y="5300663"/>
          <a:ext cx="1836738" cy="639762"/>
        </p:xfrm>
        <a:graphic>
          <a:graphicData uri="http://schemas.openxmlformats.org/drawingml/2006/table">
            <a:tbl>
              <a:tblPr/>
              <a:tblGrid>
                <a:gridCol w="91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1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เลขที่ใบสั่ง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1" marB="456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รหัสสินค้า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1" marB="456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018" name="Rectangle 77"/>
          <p:cNvSpPr>
            <a:spLocks noChangeArrowheads="1"/>
          </p:cNvSpPr>
          <p:nvPr/>
        </p:nvSpPr>
        <p:spPr bwMode="auto">
          <a:xfrm>
            <a:off x="4067175" y="5373688"/>
            <a:ext cx="4635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altLang="th-TH" sz="2300" b="1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สินค้า</a:t>
            </a:r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64289" name="Group 97"/>
          <p:cNvGraphicFramePr>
            <a:graphicFrameLocks noGrp="1"/>
          </p:cNvGraphicFramePr>
          <p:nvPr/>
        </p:nvGraphicFramePr>
        <p:xfrm>
          <a:off x="4932363" y="5157788"/>
          <a:ext cx="2754312" cy="639762"/>
        </p:xfrm>
        <a:graphic>
          <a:graphicData uri="http://schemas.openxmlformats.org/drawingml/2006/table">
            <a:tbl>
              <a:tblPr/>
              <a:tblGrid>
                <a:gridCol w="91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รหัสสินค้า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1" marB="456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ชื่อสินค้า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FreesiaUPC" pitchFamily="34" charset="-34"/>
                        </a:rPr>
                        <a:t>ราคา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FreesiaUPC" pitchFamily="34" charset="-34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1" marB="456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8A3761-8B5C-4257-941D-24EA5A312AFC}" type="slidenum">
              <a:rPr lang="en-US" altLang="th-TH" sz="10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40</a:t>
            </a:fld>
            <a:endParaRPr lang="en-US" altLang="th-TH" sz="10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3011" name="Text Box 4"/>
          <p:cNvSpPr txBox="1">
            <a:spLocks noChangeArrowheads="1"/>
          </p:cNvSpPr>
          <p:nvPr/>
        </p:nvSpPr>
        <p:spPr bwMode="auto">
          <a:xfrm>
            <a:off x="1476375" y="5300663"/>
            <a:ext cx="693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ภาพแสดงการเปลี่ยนแปลงจาก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M:M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มาเป็น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1:M 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3012" name="AutoShape 7"/>
          <p:cNvSpPr>
            <a:spLocks noChangeArrowheads="1"/>
          </p:cNvSpPr>
          <p:nvPr/>
        </p:nvSpPr>
        <p:spPr bwMode="auto">
          <a:xfrm>
            <a:off x="4356100" y="3068638"/>
            <a:ext cx="504825" cy="576262"/>
          </a:xfrm>
          <a:prstGeom prst="downArrow">
            <a:avLst>
              <a:gd name="adj1" fmla="val 50000"/>
              <a:gd name="adj2" fmla="val 285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3013" name="Group 9"/>
          <p:cNvGrpSpPr>
            <a:grpSpLocks noChangeAspect="1"/>
          </p:cNvGrpSpPr>
          <p:nvPr/>
        </p:nvGrpSpPr>
        <p:grpSpPr bwMode="auto">
          <a:xfrm>
            <a:off x="468313" y="2060575"/>
            <a:ext cx="8174037" cy="854075"/>
            <a:chOff x="305" y="1752"/>
            <a:chExt cx="5149" cy="538"/>
          </a:xfrm>
        </p:grpSpPr>
        <p:sp>
          <p:nvSpPr>
            <p:cNvPr id="43033" name="AutoShape 8"/>
            <p:cNvSpPr>
              <a:spLocks noChangeAspect="1" noChangeArrowheads="1" noTextEdit="1"/>
            </p:cNvSpPr>
            <p:nvPr/>
          </p:nvSpPr>
          <p:spPr bwMode="auto">
            <a:xfrm>
              <a:off x="305" y="1752"/>
              <a:ext cx="5149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34" name="Rectangle 10"/>
            <p:cNvSpPr>
              <a:spLocks noChangeArrowheads="1"/>
            </p:cNvSpPr>
            <p:nvPr/>
          </p:nvSpPr>
          <p:spPr bwMode="auto">
            <a:xfrm>
              <a:off x="327" y="1774"/>
              <a:ext cx="1113" cy="495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35" name="Rectangle 11"/>
            <p:cNvSpPr>
              <a:spLocks noChangeArrowheads="1"/>
            </p:cNvSpPr>
            <p:nvPr/>
          </p:nvSpPr>
          <p:spPr bwMode="auto">
            <a:xfrm>
              <a:off x="327" y="1774"/>
              <a:ext cx="1113" cy="49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36" name="Rectangle 12"/>
            <p:cNvSpPr>
              <a:spLocks noChangeArrowheads="1"/>
            </p:cNvSpPr>
            <p:nvPr/>
          </p:nvSpPr>
          <p:spPr bwMode="auto">
            <a:xfrm>
              <a:off x="501" y="1870"/>
              <a:ext cx="565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1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ใบสั่งซื้อ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37" name="Rectangle 13"/>
            <p:cNvSpPr>
              <a:spLocks noChangeArrowheads="1"/>
            </p:cNvSpPr>
            <p:nvPr/>
          </p:nvSpPr>
          <p:spPr bwMode="auto">
            <a:xfrm>
              <a:off x="4320" y="1774"/>
              <a:ext cx="1113" cy="495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38" name="Rectangle 14"/>
            <p:cNvSpPr>
              <a:spLocks noChangeArrowheads="1"/>
            </p:cNvSpPr>
            <p:nvPr/>
          </p:nvSpPr>
          <p:spPr bwMode="auto">
            <a:xfrm>
              <a:off x="4320" y="1774"/>
              <a:ext cx="1113" cy="49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39" name="Rectangle 15"/>
            <p:cNvSpPr>
              <a:spLocks noChangeArrowheads="1"/>
            </p:cNvSpPr>
            <p:nvPr/>
          </p:nvSpPr>
          <p:spPr bwMode="auto">
            <a:xfrm>
              <a:off x="4465" y="1870"/>
              <a:ext cx="39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1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สินค้า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40" name="Line 16"/>
            <p:cNvSpPr>
              <a:spLocks noChangeShapeType="1"/>
            </p:cNvSpPr>
            <p:nvPr/>
          </p:nvSpPr>
          <p:spPr bwMode="auto">
            <a:xfrm>
              <a:off x="1440" y="2021"/>
              <a:ext cx="828" cy="1"/>
            </a:xfrm>
            <a:prstGeom prst="line">
              <a:avLst/>
            </a:prstGeom>
            <a:noFill/>
            <a:ln w="33338" cap="rnd">
              <a:solidFill>
                <a:srgbClr val="4677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41" name="Rectangle 17"/>
            <p:cNvSpPr>
              <a:spLocks noChangeArrowheads="1"/>
            </p:cNvSpPr>
            <p:nvPr/>
          </p:nvSpPr>
          <p:spPr bwMode="auto">
            <a:xfrm>
              <a:off x="1482" y="1804"/>
              <a:ext cx="8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42" name="Freeform 18"/>
            <p:cNvSpPr>
              <a:spLocks/>
            </p:cNvSpPr>
            <p:nvPr/>
          </p:nvSpPr>
          <p:spPr bwMode="auto">
            <a:xfrm>
              <a:off x="2268" y="1774"/>
              <a:ext cx="1261" cy="495"/>
            </a:xfrm>
            <a:custGeom>
              <a:avLst/>
              <a:gdLst>
                <a:gd name="T0" fmla="*/ 0 w 1261"/>
                <a:gd name="T1" fmla="*/ 247 h 495"/>
                <a:gd name="T2" fmla="*/ 631 w 1261"/>
                <a:gd name="T3" fmla="*/ 0 h 495"/>
                <a:gd name="T4" fmla="*/ 1261 w 1261"/>
                <a:gd name="T5" fmla="*/ 247 h 495"/>
                <a:gd name="T6" fmla="*/ 631 w 1261"/>
                <a:gd name="T7" fmla="*/ 495 h 495"/>
                <a:gd name="T8" fmla="*/ 0 w 1261"/>
                <a:gd name="T9" fmla="*/ 247 h 4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61" h="495">
                  <a:moveTo>
                    <a:pt x="0" y="247"/>
                  </a:moveTo>
                  <a:lnTo>
                    <a:pt x="631" y="0"/>
                  </a:lnTo>
                  <a:lnTo>
                    <a:pt x="1261" y="247"/>
                  </a:lnTo>
                  <a:lnTo>
                    <a:pt x="631" y="495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43" name="Freeform 19"/>
            <p:cNvSpPr>
              <a:spLocks/>
            </p:cNvSpPr>
            <p:nvPr/>
          </p:nvSpPr>
          <p:spPr bwMode="auto">
            <a:xfrm>
              <a:off x="2268" y="1774"/>
              <a:ext cx="1261" cy="495"/>
            </a:xfrm>
            <a:custGeom>
              <a:avLst/>
              <a:gdLst>
                <a:gd name="T0" fmla="*/ 0 w 1261"/>
                <a:gd name="T1" fmla="*/ 247 h 495"/>
                <a:gd name="T2" fmla="*/ 631 w 1261"/>
                <a:gd name="T3" fmla="*/ 0 h 495"/>
                <a:gd name="T4" fmla="*/ 1261 w 1261"/>
                <a:gd name="T5" fmla="*/ 247 h 495"/>
                <a:gd name="T6" fmla="*/ 631 w 1261"/>
                <a:gd name="T7" fmla="*/ 495 h 495"/>
                <a:gd name="T8" fmla="*/ 0 w 1261"/>
                <a:gd name="T9" fmla="*/ 247 h 4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61" h="495">
                  <a:moveTo>
                    <a:pt x="0" y="247"/>
                  </a:moveTo>
                  <a:lnTo>
                    <a:pt x="631" y="0"/>
                  </a:lnTo>
                  <a:lnTo>
                    <a:pt x="1261" y="247"/>
                  </a:lnTo>
                  <a:lnTo>
                    <a:pt x="631" y="495"/>
                  </a:lnTo>
                  <a:lnTo>
                    <a:pt x="0" y="247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44" name="Rectangle 20"/>
            <p:cNvSpPr>
              <a:spLocks noChangeArrowheads="1"/>
            </p:cNvSpPr>
            <p:nvPr/>
          </p:nvSpPr>
          <p:spPr bwMode="auto">
            <a:xfrm>
              <a:off x="2555" y="1922"/>
              <a:ext cx="6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สั่งรายการ</a:t>
              </a:r>
              <a:endPara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45" name="Line 21"/>
            <p:cNvSpPr>
              <a:spLocks noChangeShapeType="1"/>
            </p:cNvSpPr>
            <p:nvPr/>
          </p:nvSpPr>
          <p:spPr bwMode="auto">
            <a:xfrm>
              <a:off x="3529" y="2021"/>
              <a:ext cx="791" cy="1"/>
            </a:xfrm>
            <a:prstGeom prst="line">
              <a:avLst/>
            </a:prstGeom>
            <a:noFill/>
            <a:ln w="33338" cap="rnd">
              <a:solidFill>
                <a:srgbClr val="4677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46" name="Rectangle 22"/>
            <p:cNvSpPr>
              <a:spLocks noChangeArrowheads="1"/>
            </p:cNvSpPr>
            <p:nvPr/>
          </p:nvSpPr>
          <p:spPr bwMode="auto">
            <a:xfrm>
              <a:off x="4125" y="1804"/>
              <a:ext cx="6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N</a:t>
              </a:r>
            </a:p>
          </p:txBody>
        </p:sp>
      </p:grpSp>
      <p:grpSp>
        <p:nvGrpSpPr>
          <p:cNvPr id="43014" name="Group 24"/>
          <p:cNvGrpSpPr>
            <a:grpSpLocks noChangeAspect="1"/>
          </p:cNvGrpSpPr>
          <p:nvPr/>
        </p:nvGrpSpPr>
        <p:grpSpPr bwMode="auto">
          <a:xfrm>
            <a:off x="504825" y="3860800"/>
            <a:ext cx="8162925" cy="854075"/>
            <a:chOff x="309" y="3022"/>
            <a:chExt cx="5142" cy="538"/>
          </a:xfrm>
        </p:grpSpPr>
        <p:sp>
          <p:nvSpPr>
            <p:cNvPr id="43015" name="AutoShape 23"/>
            <p:cNvSpPr>
              <a:spLocks noChangeAspect="1" noChangeArrowheads="1" noTextEdit="1"/>
            </p:cNvSpPr>
            <p:nvPr/>
          </p:nvSpPr>
          <p:spPr bwMode="auto">
            <a:xfrm>
              <a:off x="309" y="3022"/>
              <a:ext cx="5142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16" name="Rectangle 25"/>
            <p:cNvSpPr>
              <a:spLocks noChangeArrowheads="1"/>
            </p:cNvSpPr>
            <p:nvPr/>
          </p:nvSpPr>
          <p:spPr bwMode="auto">
            <a:xfrm>
              <a:off x="331" y="3044"/>
              <a:ext cx="1111" cy="495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17" name="Rectangle 26"/>
            <p:cNvSpPr>
              <a:spLocks noChangeArrowheads="1"/>
            </p:cNvSpPr>
            <p:nvPr/>
          </p:nvSpPr>
          <p:spPr bwMode="auto">
            <a:xfrm>
              <a:off x="331" y="3044"/>
              <a:ext cx="1111" cy="49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18" name="Rectangle 27"/>
            <p:cNvSpPr>
              <a:spLocks noChangeArrowheads="1"/>
            </p:cNvSpPr>
            <p:nvPr/>
          </p:nvSpPr>
          <p:spPr bwMode="auto">
            <a:xfrm>
              <a:off x="505" y="3140"/>
              <a:ext cx="565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1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ใบสั่งซื้อ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19" name="Rectangle 28"/>
            <p:cNvSpPr>
              <a:spLocks noChangeArrowheads="1"/>
            </p:cNvSpPr>
            <p:nvPr/>
          </p:nvSpPr>
          <p:spPr bwMode="auto">
            <a:xfrm>
              <a:off x="4318" y="3044"/>
              <a:ext cx="1112" cy="495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20" name="Rectangle 29"/>
            <p:cNvSpPr>
              <a:spLocks noChangeArrowheads="1"/>
            </p:cNvSpPr>
            <p:nvPr/>
          </p:nvSpPr>
          <p:spPr bwMode="auto">
            <a:xfrm>
              <a:off x="4318" y="3044"/>
              <a:ext cx="1112" cy="49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21" name="Rectangle 30"/>
            <p:cNvSpPr>
              <a:spLocks noChangeArrowheads="1"/>
            </p:cNvSpPr>
            <p:nvPr/>
          </p:nvSpPr>
          <p:spPr bwMode="auto">
            <a:xfrm>
              <a:off x="4464" y="3140"/>
              <a:ext cx="39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31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สินค้า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22" name="Line 31"/>
            <p:cNvSpPr>
              <a:spLocks noChangeShapeType="1"/>
            </p:cNvSpPr>
            <p:nvPr/>
          </p:nvSpPr>
          <p:spPr bwMode="auto">
            <a:xfrm>
              <a:off x="1442" y="3291"/>
              <a:ext cx="864" cy="1"/>
            </a:xfrm>
            <a:prstGeom prst="line">
              <a:avLst/>
            </a:prstGeom>
            <a:noFill/>
            <a:ln w="33338" cap="rnd">
              <a:solidFill>
                <a:srgbClr val="4677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23" name="Rectangle 32"/>
            <p:cNvSpPr>
              <a:spLocks noChangeArrowheads="1"/>
            </p:cNvSpPr>
            <p:nvPr/>
          </p:nvSpPr>
          <p:spPr bwMode="auto">
            <a:xfrm>
              <a:off x="2151" y="3074"/>
              <a:ext cx="8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24" name="Line 33"/>
            <p:cNvSpPr>
              <a:spLocks noChangeShapeType="1"/>
            </p:cNvSpPr>
            <p:nvPr/>
          </p:nvSpPr>
          <p:spPr bwMode="auto">
            <a:xfrm>
              <a:off x="3491" y="3291"/>
              <a:ext cx="827" cy="1"/>
            </a:xfrm>
            <a:prstGeom prst="line">
              <a:avLst/>
            </a:prstGeom>
            <a:noFill/>
            <a:ln w="33338" cap="rnd">
              <a:solidFill>
                <a:srgbClr val="4677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25" name="Rectangle 34"/>
            <p:cNvSpPr>
              <a:spLocks noChangeArrowheads="1"/>
            </p:cNvSpPr>
            <p:nvPr/>
          </p:nvSpPr>
          <p:spPr bwMode="auto">
            <a:xfrm>
              <a:off x="3536" y="3074"/>
              <a:ext cx="8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26" name="Rectangle 35"/>
            <p:cNvSpPr>
              <a:spLocks noChangeArrowheads="1"/>
            </p:cNvSpPr>
            <p:nvPr/>
          </p:nvSpPr>
          <p:spPr bwMode="auto">
            <a:xfrm>
              <a:off x="1498" y="3074"/>
              <a:ext cx="5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27" name="Rectangle 36"/>
            <p:cNvSpPr>
              <a:spLocks noChangeArrowheads="1"/>
            </p:cNvSpPr>
            <p:nvPr/>
          </p:nvSpPr>
          <p:spPr bwMode="auto">
            <a:xfrm>
              <a:off x="4163" y="3074"/>
              <a:ext cx="5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18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28" name="Rectangle 37"/>
            <p:cNvSpPr>
              <a:spLocks noChangeArrowheads="1"/>
            </p:cNvSpPr>
            <p:nvPr/>
          </p:nvSpPr>
          <p:spPr bwMode="auto">
            <a:xfrm>
              <a:off x="2306" y="3044"/>
              <a:ext cx="1185" cy="495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29" name="Rectangle 38"/>
            <p:cNvSpPr>
              <a:spLocks noChangeArrowheads="1"/>
            </p:cNvSpPr>
            <p:nvPr/>
          </p:nvSpPr>
          <p:spPr bwMode="auto">
            <a:xfrm>
              <a:off x="2306" y="3044"/>
              <a:ext cx="1185" cy="49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030" name="Freeform 39"/>
            <p:cNvSpPr>
              <a:spLocks/>
            </p:cNvSpPr>
            <p:nvPr/>
          </p:nvSpPr>
          <p:spPr bwMode="auto">
            <a:xfrm>
              <a:off x="2306" y="3044"/>
              <a:ext cx="1185" cy="495"/>
            </a:xfrm>
            <a:custGeom>
              <a:avLst/>
              <a:gdLst>
                <a:gd name="T0" fmla="*/ 0 w 1185"/>
                <a:gd name="T1" fmla="*/ 247 h 495"/>
                <a:gd name="T2" fmla="*/ 593 w 1185"/>
                <a:gd name="T3" fmla="*/ 0 h 495"/>
                <a:gd name="T4" fmla="*/ 1185 w 1185"/>
                <a:gd name="T5" fmla="*/ 247 h 495"/>
                <a:gd name="T6" fmla="*/ 593 w 1185"/>
                <a:gd name="T7" fmla="*/ 495 h 495"/>
                <a:gd name="T8" fmla="*/ 0 w 1185"/>
                <a:gd name="T9" fmla="*/ 247 h 4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5" h="495">
                  <a:moveTo>
                    <a:pt x="0" y="247"/>
                  </a:moveTo>
                  <a:lnTo>
                    <a:pt x="593" y="0"/>
                  </a:lnTo>
                  <a:lnTo>
                    <a:pt x="1185" y="247"/>
                  </a:lnTo>
                  <a:lnTo>
                    <a:pt x="593" y="495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31" name="Freeform 40"/>
            <p:cNvSpPr>
              <a:spLocks/>
            </p:cNvSpPr>
            <p:nvPr/>
          </p:nvSpPr>
          <p:spPr bwMode="auto">
            <a:xfrm>
              <a:off x="2306" y="3044"/>
              <a:ext cx="1185" cy="495"/>
            </a:xfrm>
            <a:custGeom>
              <a:avLst/>
              <a:gdLst>
                <a:gd name="T0" fmla="*/ 0 w 1185"/>
                <a:gd name="T1" fmla="*/ 247 h 495"/>
                <a:gd name="T2" fmla="*/ 593 w 1185"/>
                <a:gd name="T3" fmla="*/ 0 h 495"/>
                <a:gd name="T4" fmla="*/ 1185 w 1185"/>
                <a:gd name="T5" fmla="*/ 247 h 495"/>
                <a:gd name="T6" fmla="*/ 593 w 1185"/>
                <a:gd name="T7" fmla="*/ 495 h 495"/>
                <a:gd name="T8" fmla="*/ 0 w 1185"/>
                <a:gd name="T9" fmla="*/ 247 h 4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5" h="495">
                  <a:moveTo>
                    <a:pt x="0" y="247"/>
                  </a:moveTo>
                  <a:lnTo>
                    <a:pt x="593" y="0"/>
                  </a:lnTo>
                  <a:lnTo>
                    <a:pt x="1185" y="247"/>
                  </a:lnTo>
                  <a:lnTo>
                    <a:pt x="593" y="495"/>
                  </a:lnTo>
                  <a:lnTo>
                    <a:pt x="0" y="247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3032" name="Rectangle 41"/>
            <p:cNvSpPr>
              <a:spLocks noChangeArrowheads="1"/>
            </p:cNvSpPr>
            <p:nvPr/>
          </p:nvSpPr>
          <p:spPr bwMode="auto">
            <a:xfrm>
              <a:off x="2556" y="3192"/>
              <a:ext cx="7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th-TH" altLang="th-TH" sz="2400" b="1">
                  <a:solidFill>
                    <a:srgbClr val="00000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รายการสั่งซื้อ</a:t>
              </a:r>
              <a:endPara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6CEAA8-31A5-4799-AA31-0D9EA33AFD54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41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การออกแบบฐานข้อมูลด้วย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sz="54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1.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ศึกษารายละเอียดและลักษณะหน้าที่งานของระบบ</a:t>
            </a: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เพื่อรวบรวมรายละเอียด 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ลักษณะการทำงานของระบบ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ขั้นตอนการทำงาน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เอกสารรายงานต่างๆ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CB95B06-55EA-405F-8502-D7B2800BA84B}" type="slidenum">
              <a:rPr lang="en-US" altLang="th-TH" sz="10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42</a:t>
            </a:fld>
            <a:endParaRPr lang="en-US" altLang="th-TH" sz="10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2.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ที่ควรมีในระบบฐานข้อมูล</a:t>
            </a: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โดยคำนึงถึงข้อมูลทั้งหมดที่จะจัดเก็บลงไปในฐานข้อมูล ว่าสามารถแบ่งออกได้เป็นกี่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ภายในฐานข้อมูลหนึ่ง ๆ อาจจะมีจำนวน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เป็นจำนวนมาก ซึ่งก็ขึ้นอยู่ที่ผู้ใช้ว่าต้องการจัดเก็บข้อมูลมากเพียงใด</a:t>
            </a: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โดยการกำหนด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จะต้องคำนึงถึง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ทั้งแบบอ่อนแอและแบบแข็งแรงด้วย</a:t>
            </a:r>
          </a:p>
          <a:p>
            <a:pPr eaLnBrk="1" hangingPunct="1"/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การออกแบบฐานข้อมูลด้วย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sz="54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34B7F8-9B1F-40CC-9E54-A3AD446D488D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43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32321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3.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การกำหนดความสัมพันธ์ระหว่าง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ว่าแต่ละ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ที่มีความสัมพันธ์กันนั้น จะสัมพันธ์กันด้วยเงื่อนไขใด และชนิดความสัมพันธ์เป็นอย่างไร</a:t>
            </a: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One to One Relationship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One to Many Relationship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Many to Many Relationship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การออกแบบฐานข้อมูลด้วย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sz="54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61994F-C792-48E5-8021-826A5C55C492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44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34623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4.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การกำหนดคุณลักษณะของ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เป็นการกำหนดคุณสมบัติ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(Attributes)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ให้กับ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ว่าควรจะประกอบไปด้วย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ใดบาง</a:t>
            </a: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พร้อมทั้งพิจารณาด้วยว่า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ใดบ้างที่จะเป็น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Composite Attributes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Derived Attributes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การออกแบบฐานข้อมูลด้วย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sz="54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C878A7E-6B33-4AAF-A6E0-DD958E237E83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45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23161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5.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การกำหนด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Primary Key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ของแต่ละ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เป็นการกำหนดให้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มีเอกลักษณ์เฉพาะที่สามารถอ้างอิงได้อย่างไม่ซ้ำซ้อน</a:t>
            </a: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นั่นก็คือการกำหนด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Primary Key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นั่นเอง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การออกแบบฐานข้อมูลด้วย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sz="5400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D48F135-1515-4A2F-A587-10656858DB03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46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th-TH" b="1" i="1">
                <a:solidFill>
                  <a:schemeClr val="hlink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	สถาบันการศึกษาแห่งหนึ่งมีการสอนอยู่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3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คณะ คือ เกษตร, วิทยาศาสตร์, ศึกษาศาสตร์ </a:t>
            </a:r>
          </a:p>
          <a:p>
            <a:pPr lvl="2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ซึ่งในแต่ละคณะจะประกอบไปด้วยภาควิชาต่าง  ๆ</a:t>
            </a:r>
          </a:p>
          <a:p>
            <a:pPr lvl="2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แต่ละภาควิชาก็จะประกอบไปด้วยอาจารย์หลาย ๆ คน </a:t>
            </a:r>
          </a:p>
          <a:p>
            <a:pPr lvl="2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อาจารย์แต่ละคนสอนได้หลายวิชา แต่สามารถสังกัดได้เพียงแค่ภาควิชาเดียว</a:t>
            </a:r>
          </a:p>
          <a:p>
            <a:pPr lvl="2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และอาจารย์แต่ละคนแต่ละภาคก็จะมีหัวหน้าภาค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E6C52FC-D627-4CE4-B037-184B62E00D53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47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26971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ที่ควรมีในระบบฐานข้อมูล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Faculty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แสดงรายละเอียดของคณะ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Department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 แสดงรายละเอียดของแผนก</a:t>
            </a: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Teacher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 แสดงรายละเอียดของอาจารย์</a:t>
            </a: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Subject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 แสดงรายละเอียดของวิชา</a:t>
            </a: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06DB51-C125-4EA6-A9C1-20967155C8F0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48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3811588" cy="4530725"/>
          </a:xfrm>
        </p:spPr>
        <p:txBody>
          <a:bodyPr/>
          <a:lstStyle/>
          <a:p>
            <a:pPr eaLnBrk="1" hangingPunct="1"/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กำหนดความสัมพันธ์ระหว่าง 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endParaRPr lang="th-TH" altLang="th-TH" sz="2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5120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552575" y="2262188"/>
          <a:ext cx="7135813" cy="344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775558" imgH="1687678" progId="Visio.Drawing.11">
                  <p:embed/>
                </p:oleObj>
              </mc:Choice>
              <mc:Fallback>
                <p:oleObj name="Visio" r:id="rId2" imgW="3775558" imgH="168767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2262188"/>
                        <a:ext cx="7135813" cy="344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2967038" y="2292350"/>
            <a:ext cx="2682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6496050" y="2292350"/>
            <a:ext cx="311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2916238" y="3500438"/>
            <a:ext cx="2682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2916238" y="4797425"/>
            <a:ext cx="2682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6516688" y="3573463"/>
            <a:ext cx="3111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6588125" y="4868863"/>
            <a:ext cx="3111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781800" y="5800725"/>
            <a:ext cx="1905000" cy="457200"/>
          </a:xfrm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8F456A-F1BA-4A6F-B8CA-8976E3BAA23C}" type="slidenum"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49</a:t>
            </a:fld>
            <a:endParaRPr lang="en-US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3625850" y="1384300"/>
          <a:ext cx="189230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231697" imgH="1039673" progId="Visio.Drawing.11">
                  <p:embed/>
                </p:oleObj>
              </mc:Choice>
              <mc:Fallback>
                <p:oleObj name="Visio" r:id="rId2" imgW="1231697" imgH="1039673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1384300"/>
                        <a:ext cx="1892300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AutoShape 4"/>
          <p:cNvSpPr>
            <a:spLocks noChangeArrowheads="1"/>
          </p:cNvSpPr>
          <p:nvPr/>
        </p:nvSpPr>
        <p:spPr bwMode="auto">
          <a:xfrm>
            <a:off x="4319588" y="4565650"/>
            <a:ext cx="504825" cy="576263"/>
          </a:xfrm>
          <a:prstGeom prst="downArrow">
            <a:avLst>
              <a:gd name="adj1" fmla="val 50000"/>
              <a:gd name="adj2" fmla="val 285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944563" y="3557588"/>
          <a:ext cx="7254875" cy="256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751783" imgH="1336853" progId="Visio.Drawing.11">
                  <p:embed/>
                </p:oleObj>
              </mc:Choice>
              <mc:Fallback>
                <p:oleObj name="Visio" r:id="rId4" imgW="3751783" imgH="133685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3557588"/>
                        <a:ext cx="7254875" cy="256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3471863" y="1268413"/>
            <a:ext cx="2682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3348038" y="5357813"/>
            <a:ext cx="3111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5435600" y="1325563"/>
            <a:ext cx="3111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5435600" y="5357813"/>
            <a:ext cx="3111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2555875" y="5357813"/>
            <a:ext cx="2682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6300788" y="5357813"/>
            <a:ext cx="2682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1CDB99-4070-435D-BA04-C0E6F0017240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50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3811588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กำหนดคุณลักษณะของ 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</a:p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Faculty</a:t>
            </a:r>
          </a:p>
          <a:p>
            <a:pPr eaLnBrk="1" hangingPunct="1"/>
            <a:endParaRPr lang="en-US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endParaRPr lang="en-US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endParaRPr lang="en-US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Department</a:t>
            </a:r>
          </a:p>
          <a:p>
            <a:pPr eaLnBrk="1" hangingPunct="1"/>
            <a:endParaRPr lang="en-US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th-TH" sz="2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5325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66988" y="2386013"/>
          <a:ext cx="3008312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975714" imgH="931774" progId="Visio.Drawing.11">
                  <p:embed/>
                </p:oleObj>
              </mc:Choice>
              <mc:Fallback>
                <p:oleObj name="Visio" r:id="rId2" imgW="1975714" imgH="93177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386013"/>
                        <a:ext cx="3008312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916238" y="4375150"/>
          <a:ext cx="3284537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975714" imgH="931774" progId="Visio.Drawing.11">
                  <p:embed/>
                </p:oleObj>
              </mc:Choice>
              <mc:Fallback>
                <p:oleObj name="Visio" r:id="rId4" imgW="1975714" imgH="93177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375150"/>
                        <a:ext cx="3284537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DCD046A-71A2-4652-A31D-9BCC0057669A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51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Teacher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</a:pP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</a:pP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Subject</a:t>
            </a: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3995738" y="1916113"/>
          <a:ext cx="3303587" cy="179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245766" imgH="1219505" progId="Visio.Drawing.11">
                  <p:embed/>
                </p:oleObj>
              </mc:Choice>
              <mc:Fallback>
                <p:oleObj name="Visio" r:id="rId2" imgW="2245766" imgH="121950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916113"/>
                        <a:ext cx="3303587" cy="179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2195513" y="4292600"/>
          <a:ext cx="3382962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99716" imgH="1111606" progId="Visio.Drawing.11">
                  <p:embed/>
                </p:oleObj>
              </mc:Choice>
              <mc:Fallback>
                <p:oleObj name="Visio" r:id="rId4" imgW="2299716" imgH="1111606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292600"/>
                        <a:ext cx="3382962" cy="163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23007D7-4619-4FA4-8264-66B094B41AC9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52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908050"/>
            <a:ext cx="7772400" cy="28495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การกำหนด </a:t>
            </a: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Primary Key </a:t>
            </a:r>
            <a:r>
              <a:rPr lang="th-TH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altLang="th-TH" sz="36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Faculty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	คือ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  <a:sym typeface="Wingdings" panose="05000000000000000000" pitchFamily="2" charset="2"/>
              </a:rPr>
              <a:t> </a:t>
            </a:r>
            <a:r>
              <a:rPr lang="en-US" altLang="th-TH" b="1" u="sng">
                <a:latin typeface="TH SarabunPSK" panose="020B0500040200020003" pitchFamily="34" charset="-34"/>
                <a:cs typeface="TH SarabunPSK" panose="020B0500040200020003" pitchFamily="34" charset="-34"/>
                <a:sym typeface="Wingdings" panose="05000000000000000000" pitchFamily="2" charset="2"/>
              </a:rPr>
              <a:t>Faculty_ID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Department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 คือ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  <a:sym typeface="Wingdings" panose="05000000000000000000" pitchFamily="2" charset="2"/>
              </a:rPr>
              <a:t> </a:t>
            </a:r>
            <a:r>
              <a:rPr lang="en-US" altLang="th-TH" b="1" u="sng">
                <a:latin typeface="TH SarabunPSK" panose="020B0500040200020003" pitchFamily="34" charset="-34"/>
                <a:cs typeface="TH SarabunPSK" panose="020B0500040200020003" pitchFamily="34" charset="-34"/>
                <a:sym typeface="Wingdings" panose="05000000000000000000" pitchFamily="2" charset="2"/>
              </a:rPr>
              <a:t>Dep_ID</a:t>
            </a:r>
            <a:endParaRPr lang="en-US" altLang="th-TH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Teacher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	 คือ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  <a:sym typeface="Wingdings" panose="05000000000000000000" pitchFamily="2" charset="2"/>
              </a:rPr>
              <a:t> </a:t>
            </a:r>
            <a:r>
              <a:rPr lang="en-US" altLang="th-TH" b="1" u="sng">
                <a:latin typeface="TH SarabunPSK" panose="020B0500040200020003" pitchFamily="34" charset="-34"/>
                <a:cs typeface="TH SarabunPSK" panose="020B0500040200020003" pitchFamily="34" charset="-34"/>
                <a:sym typeface="Wingdings" panose="05000000000000000000" pitchFamily="2" charset="2"/>
              </a:rPr>
              <a:t>Teacher_ID</a:t>
            </a:r>
            <a:endParaRPr lang="en-US" altLang="th-TH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Subject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	 คือ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  <a:sym typeface="Wingdings" panose="05000000000000000000" pitchFamily="2" charset="2"/>
              </a:rPr>
              <a:t> </a:t>
            </a:r>
            <a:r>
              <a:rPr lang="en-US" altLang="th-TH" b="1" u="sng">
                <a:latin typeface="TH SarabunPSK" panose="020B0500040200020003" pitchFamily="34" charset="-34"/>
                <a:cs typeface="TH SarabunPSK" panose="020B0500040200020003" pitchFamily="34" charset="-34"/>
                <a:sym typeface="Wingdings" panose="05000000000000000000" pitchFamily="2" charset="2"/>
              </a:rPr>
              <a:t>Subject_ID</a:t>
            </a:r>
            <a:endParaRPr lang="en-US" altLang="th-TH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79E319-9D32-4EC8-BE55-A19BB5A85620}" type="slidenum">
              <a:rPr lang="en-US" altLang="th-TH" sz="1000">
                <a:cs typeface="Angsana New" panose="02020603050405020304" pitchFamily="18" charset="-34"/>
              </a:rPr>
              <a:pPr eaLnBrk="1" hangingPunct="1"/>
              <a:t>53</a:t>
            </a:fld>
            <a:endParaRPr lang="en-US" altLang="th-TH" sz="1000">
              <a:cs typeface="Angsana New" panose="02020603050405020304" pitchFamily="18" charset="-34"/>
            </a:endParaRPr>
          </a:p>
        </p:txBody>
      </p:sp>
      <p:pic>
        <p:nvPicPr>
          <p:cNvPr id="5632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2888" cy="616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8F7899E-83A6-47CA-A512-5D25249CE303}" type="slidenum">
              <a:rPr lang="en-US" altLang="th-TH" sz="1000">
                <a:cs typeface="Angsana New" panose="02020603050405020304" pitchFamily="18" charset="-34"/>
              </a:rPr>
              <a:pPr eaLnBrk="1" hangingPunct="1"/>
              <a:t>54</a:t>
            </a:fld>
            <a:endParaRPr lang="en-US" altLang="th-TH" sz="1000">
              <a:cs typeface="Angsana New" panose="02020603050405020304" pitchFamily="18" charset="-34"/>
            </a:endParaRPr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Ex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ให้เขียน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ER-Diagram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ของระบบการขายสินค้า     ร้าน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ABC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คอมพิวเตอร์</a:t>
            </a:r>
          </a:p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โดยที่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ลูกค้าหลายคนสามารถที่จะซื้อสินค้าได้หลายชิ้น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ใบเสร็จรับเงินหลายใบมีสินค้าได้หลายชิ้น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ในใบเสร็จแต่ละใบจะมีพนักขายเพียงคนเดียวเท่านั้น</a:t>
            </a:r>
          </a:p>
          <a:p>
            <a:pPr lvl="1"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สินค้าจะประเภทของตัวเอง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F8822AF-1C83-4806-8B1D-95F620E891C6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55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ที่ควรมีในระบบฐานข้อมูล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Customer 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แสดงรายละเอียดของลูกค้า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Employee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 แสดงรายละเอียดของพนักงานขาย</a:t>
            </a: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Product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 แสดงรายละเอียดของสินค้า</a:t>
            </a: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TypeProduct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 แสดงประเภทของสินค้า</a:t>
            </a: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 eaLnBrk="1" hangingPunct="1"/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 Bill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 แสดงรายละเอียดของใบเสร็จ</a:t>
            </a:r>
            <a:endParaRPr lang="en-US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eaLnBrk="1" hangingPunct="1"/>
            <a:endParaRPr lang="th-TH" altLang="th-TH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E5EE8B0-8A40-4A5B-94EA-97171427BA1C}" type="slidenum"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56</a:t>
            </a:fld>
            <a:endParaRPr lang="en-US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73238"/>
            <a:ext cx="8001000" cy="523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กำหนดความสัมพันธ์ระหว่าง </a:t>
            </a:r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1042988" y="2420938"/>
            <a:ext cx="6913562" cy="863600"/>
            <a:chOff x="657" y="1525"/>
            <a:chExt cx="4355" cy="544"/>
          </a:xfrm>
        </p:grpSpPr>
        <p:sp>
          <p:nvSpPr>
            <p:cNvPr id="59414" name="Rectangle 5"/>
            <p:cNvSpPr>
              <a:spLocks noChangeArrowheads="1"/>
            </p:cNvSpPr>
            <p:nvPr/>
          </p:nvSpPr>
          <p:spPr bwMode="auto">
            <a:xfrm>
              <a:off x="657" y="1593"/>
              <a:ext cx="1142" cy="37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24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Customer</a:t>
              </a:r>
              <a:endPara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9415" name="AutoShape 6"/>
            <p:cNvSpPr>
              <a:spLocks noChangeArrowheads="1"/>
            </p:cNvSpPr>
            <p:nvPr/>
          </p:nvSpPr>
          <p:spPr bwMode="auto">
            <a:xfrm>
              <a:off x="2136" y="1525"/>
              <a:ext cx="1354" cy="544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th-TH" altLang="th-TH" sz="24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ได้รับ</a:t>
              </a:r>
            </a:p>
          </p:txBody>
        </p:sp>
        <p:sp>
          <p:nvSpPr>
            <p:cNvPr id="59416" name="Rectangle 7"/>
            <p:cNvSpPr>
              <a:spLocks noChangeArrowheads="1"/>
            </p:cNvSpPr>
            <p:nvPr/>
          </p:nvSpPr>
          <p:spPr bwMode="auto">
            <a:xfrm>
              <a:off x="3870" y="1593"/>
              <a:ext cx="1142" cy="37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9417" name="Line 8"/>
            <p:cNvSpPr>
              <a:spLocks noChangeShapeType="1"/>
            </p:cNvSpPr>
            <p:nvPr/>
          </p:nvSpPr>
          <p:spPr bwMode="auto">
            <a:xfrm>
              <a:off x="1799" y="1797"/>
              <a:ext cx="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59418" name="Line 9"/>
            <p:cNvSpPr>
              <a:spLocks noChangeShapeType="1"/>
            </p:cNvSpPr>
            <p:nvPr/>
          </p:nvSpPr>
          <p:spPr bwMode="auto">
            <a:xfrm>
              <a:off x="3490" y="1797"/>
              <a:ext cx="3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59419" name="Text Box 10"/>
            <p:cNvSpPr txBox="1">
              <a:spLocks noChangeArrowheads="1"/>
            </p:cNvSpPr>
            <p:nvPr/>
          </p:nvSpPr>
          <p:spPr bwMode="auto">
            <a:xfrm>
              <a:off x="1927" y="1570"/>
              <a:ext cx="1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24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1</a:t>
              </a:r>
              <a:endPara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9420" name="Text Box 11"/>
            <p:cNvSpPr txBox="1">
              <a:spLocks noChangeArrowheads="1"/>
            </p:cNvSpPr>
            <p:nvPr/>
          </p:nvSpPr>
          <p:spPr bwMode="auto">
            <a:xfrm>
              <a:off x="3606" y="1570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24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M</a:t>
              </a:r>
              <a:endPara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9421" name="Text Box 12"/>
            <p:cNvSpPr txBox="1">
              <a:spLocks noChangeArrowheads="1"/>
            </p:cNvSpPr>
            <p:nvPr/>
          </p:nvSpPr>
          <p:spPr bwMode="auto">
            <a:xfrm>
              <a:off x="4286" y="1661"/>
              <a:ext cx="3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th-TH" sz="24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Bill</a:t>
              </a:r>
              <a:endPara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59397" name="Rectangle 13"/>
          <p:cNvSpPr>
            <a:spLocks noChangeArrowheads="1"/>
          </p:cNvSpPr>
          <p:nvPr/>
        </p:nvSpPr>
        <p:spPr bwMode="auto">
          <a:xfrm>
            <a:off x="1042988" y="3681413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Employee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398" name="AutoShape 14"/>
          <p:cNvSpPr>
            <a:spLocks noChangeArrowheads="1"/>
          </p:cNvSpPr>
          <p:nvPr/>
        </p:nvSpPr>
        <p:spPr bwMode="auto">
          <a:xfrm>
            <a:off x="3390900" y="3573463"/>
            <a:ext cx="2149475" cy="8636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มี</a:t>
            </a:r>
          </a:p>
        </p:txBody>
      </p:sp>
      <p:sp>
        <p:nvSpPr>
          <p:cNvPr id="59399" name="Rectangle 15"/>
          <p:cNvSpPr>
            <a:spLocks noChangeArrowheads="1"/>
          </p:cNvSpPr>
          <p:nvPr/>
        </p:nvSpPr>
        <p:spPr bwMode="auto">
          <a:xfrm>
            <a:off x="6143625" y="3681413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400" name="Line 16"/>
          <p:cNvSpPr>
            <a:spLocks noChangeShapeType="1"/>
          </p:cNvSpPr>
          <p:nvPr/>
        </p:nvSpPr>
        <p:spPr bwMode="auto">
          <a:xfrm>
            <a:off x="2855913" y="4005263"/>
            <a:ext cx="536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9401" name="Line 17"/>
          <p:cNvSpPr>
            <a:spLocks noChangeShapeType="1"/>
          </p:cNvSpPr>
          <p:nvPr/>
        </p:nvSpPr>
        <p:spPr bwMode="auto">
          <a:xfrm>
            <a:off x="5540375" y="4005263"/>
            <a:ext cx="603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9402" name="Text Box 18"/>
          <p:cNvSpPr txBox="1">
            <a:spLocks noChangeArrowheads="1"/>
          </p:cNvSpPr>
          <p:nvPr/>
        </p:nvSpPr>
        <p:spPr bwMode="auto">
          <a:xfrm>
            <a:off x="3059113" y="3644900"/>
            <a:ext cx="301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403" name="Text Box 19"/>
          <p:cNvSpPr txBox="1">
            <a:spLocks noChangeArrowheads="1"/>
          </p:cNvSpPr>
          <p:nvPr/>
        </p:nvSpPr>
        <p:spPr bwMode="auto">
          <a:xfrm>
            <a:off x="5724525" y="3644900"/>
            <a:ext cx="3603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404" name="Text Box 20"/>
          <p:cNvSpPr txBox="1">
            <a:spLocks noChangeArrowheads="1"/>
          </p:cNvSpPr>
          <p:nvPr/>
        </p:nvSpPr>
        <p:spPr bwMode="auto">
          <a:xfrm>
            <a:off x="6877050" y="3789363"/>
            <a:ext cx="4873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Bill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405" name="Rectangle 21"/>
          <p:cNvSpPr>
            <a:spLocks noChangeArrowheads="1"/>
          </p:cNvSpPr>
          <p:nvPr/>
        </p:nvSpPr>
        <p:spPr bwMode="auto">
          <a:xfrm>
            <a:off x="1042988" y="4905375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TypeProduct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406" name="AutoShape 22"/>
          <p:cNvSpPr>
            <a:spLocks noChangeArrowheads="1"/>
          </p:cNvSpPr>
          <p:nvPr/>
        </p:nvSpPr>
        <p:spPr bwMode="auto">
          <a:xfrm>
            <a:off x="3390900" y="4797425"/>
            <a:ext cx="2149475" cy="8636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มี</a:t>
            </a:r>
          </a:p>
        </p:txBody>
      </p:sp>
      <p:sp>
        <p:nvSpPr>
          <p:cNvPr id="59407" name="Rectangle 23"/>
          <p:cNvSpPr>
            <a:spLocks noChangeArrowheads="1"/>
          </p:cNvSpPr>
          <p:nvPr/>
        </p:nvSpPr>
        <p:spPr bwMode="auto">
          <a:xfrm>
            <a:off x="6143625" y="4905375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408" name="Line 24"/>
          <p:cNvSpPr>
            <a:spLocks noChangeShapeType="1"/>
          </p:cNvSpPr>
          <p:nvPr/>
        </p:nvSpPr>
        <p:spPr bwMode="auto">
          <a:xfrm>
            <a:off x="2855913" y="5229225"/>
            <a:ext cx="536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9409" name="Line 25"/>
          <p:cNvSpPr>
            <a:spLocks noChangeShapeType="1"/>
          </p:cNvSpPr>
          <p:nvPr/>
        </p:nvSpPr>
        <p:spPr bwMode="auto">
          <a:xfrm>
            <a:off x="5540375" y="5229225"/>
            <a:ext cx="603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9410" name="Text Box 26"/>
          <p:cNvSpPr txBox="1">
            <a:spLocks noChangeArrowheads="1"/>
          </p:cNvSpPr>
          <p:nvPr/>
        </p:nvSpPr>
        <p:spPr bwMode="auto">
          <a:xfrm>
            <a:off x="3059113" y="4868863"/>
            <a:ext cx="3016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411" name="Text Box 27"/>
          <p:cNvSpPr txBox="1">
            <a:spLocks noChangeArrowheads="1"/>
          </p:cNvSpPr>
          <p:nvPr/>
        </p:nvSpPr>
        <p:spPr bwMode="auto">
          <a:xfrm>
            <a:off x="5724525" y="4868863"/>
            <a:ext cx="3603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412" name="Text Box 28"/>
          <p:cNvSpPr txBox="1">
            <a:spLocks noChangeArrowheads="1"/>
          </p:cNvSpPr>
          <p:nvPr/>
        </p:nvSpPr>
        <p:spPr bwMode="auto">
          <a:xfrm>
            <a:off x="6659563" y="5013325"/>
            <a:ext cx="9572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Product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713690B-3C10-4C96-B52B-4048FE674A6F}" type="slidenum"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57</a:t>
            </a:fld>
            <a:endParaRPr lang="en-US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19" name="Rectangle 2"/>
          <p:cNvSpPr>
            <a:spLocks noChangeArrowheads="1"/>
          </p:cNvSpPr>
          <p:nvPr/>
        </p:nvSpPr>
        <p:spPr bwMode="auto">
          <a:xfrm>
            <a:off x="3479800" y="4294188"/>
            <a:ext cx="2159000" cy="86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20" name="Rectangle 5"/>
          <p:cNvSpPr>
            <a:spLocks noChangeArrowheads="1"/>
          </p:cNvSpPr>
          <p:nvPr/>
        </p:nvSpPr>
        <p:spPr bwMode="auto">
          <a:xfrm>
            <a:off x="1246188" y="2457450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Bill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21" name="AutoShape 6"/>
          <p:cNvSpPr>
            <a:spLocks noChangeArrowheads="1"/>
          </p:cNvSpPr>
          <p:nvPr/>
        </p:nvSpPr>
        <p:spPr bwMode="auto">
          <a:xfrm>
            <a:off x="3594100" y="2349500"/>
            <a:ext cx="2149475" cy="8636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th-TH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มี</a:t>
            </a:r>
          </a:p>
        </p:txBody>
      </p:sp>
      <p:sp>
        <p:nvSpPr>
          <p:cNvPr id="60422" name="Rectangle 7"/>
          <p:cNvSpPr>
            <a:spLocks noChangeArrowheads="1"/>
          </p:cNvSpPr>
          <p:nvPr/>
        </p:nvSpPr>
        <p:spPr bwMode="auto">
          <a:xfrm>
            <a:off x="6346825" y="2457450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23" name="Line 8"/>
          <p:cNvSpPr>
            <a:spLocks noChangeShapeType="1"/>
          </p:cNvSpPr>
          <p:nvPr/>
        </p:nvSpPr>
        <p:spPr bwMode="auto">
          <a:xfrm>
            <a:off x="3059113" y="2781300"/>
            <a:ext cx="536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0424" name="Line 9"/>
          <p:cNvSpPr>
            <a:spLocks noChangeShapeType="1"/>
          </p:cNvSpPr>
          <p:nvPr/>
        </p:nvSpPr>
        <p:spPr bwMode="auto">
          <a:xfrm>
            <a:off x="5743575" y="2781300"/>
            <a:ext cx="603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0425" name="Text Box 10"/>
          <p:cNvSpPr txBox="1">
            <a:spLocks noChangeArrowheads="1"/>
          </p:cNvSpPr>
          <p:nvPr/>
        </p:nvSpPr>
        <p:spPr bwMode="auto">
          <a:xfrm>
            <a:off x="3262313" y="2420938"/>
            <a:ext cx="361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26" name="Text Box 11"/>
          <p:cNvSpPr txBox="1">
            <a:spLocks noChangeArrowheads="1"/>
          </p:cNvSpPr>
          <p:nvPr/>
        </p:nvSpPr>
        <p:spPr bwMode="auto">
          <a:xfrm>
            <a:off x="5927725" y="2420938"/>
            <a:ext cx="361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27" name="Text Box 12"/>
          <p:cNvSpPr txBox="1">
            <a:spLocks noChangeArrowheads="1"/>
          </p:cNvSpPr>
          <p:nvPr/>
        </p:nvSpPr>
        <p:spPr bwMode="auto">
          <a:xfrm>
            <a:off x="6719888" y="2565400"/>
            <a:ext cx="9572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Product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28" name="Line 13"/>
          <p:cNvSpPr>
            <a:spLocks noChangeShapeType="1"/>
          </p:cNvSpPr>
          <p:nvPr/>
        </p:nvSpPr>
        <p:spPr bwMode="auto">
          <a:xfrm>
            <a:off x="4630738" y="3429000"/>
            <a:ext cx="0" cy="5048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0429" name="Rectangle 14"/>
          <p:cNvSpPr>
            <a:spLocks noChangeArrowheads="1"/>
          </p:cNvSpPr>
          <p:nvPr/>
        </p:nvSpPr>
        <p:spPr bwMode="auto">
          <a:xfrm>
            <a:off x="814388" y="4437063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Bill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30" name="AutoShape 15"/>
          <p:cNvSpPr>
            <a:spLocks noChangeArrowheads="1"/>
          </p:cNvSpPr>
          <p:nvPr/>
        </p:nvSpPr>
        <p:spPr bwMode="auto">
          <a:xfrm>
            <a:off x="3522663" y="4294188"/>
            <a:ext cx="2149475" cy="8636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Bill_detail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31" name="Rectangle 16"/>
          <p:cNvSpPr>
            <a:spLocks noChangeArrowheads="1"/>
          </p:cNvSpPr>
          <p:nvPr/>
        </p:nvSpPr>
        <p:spPr bwMode="auto">
          <a:xfrm>
            <a:off x="6791325" y="4365625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32" name="Line 17"/>
          <p:cNvSpPr>
            <a:spLocks noChangeShapeType="1"/>
          </p:cNvSpPr>
          <p:nvPr/>
        </p:nvSpPr>
        <p:spPr bwMode="auto">
          <a:xfrm>
            <a:off x="2614613" y="4725988"/>
            <a:ext cx="909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0433" name="Line 18"/>
          <p:cNvSpPr>
            <a:spLocks noChangeShapeType="1"/>
          </p:cNvSpPr>
          <p:nvPr/>
        </p:nvSpPr>
        <p:spPr bwMode="auto">
          <a:xfrm>
            <a:off x="5672138" y="4725988"/>
            <a:ext cx="1119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0434" name="Text Box 19"/>
          <p:cNvSpPr txBox="1">
            <a:spLocks noChangeArrowheads="1"/>
          </p:cNvSpPr>
          <p:nvPr/>
        </p:nvSpPr>
        <p:spPr bwMode="auto">
          <a:xfrm>
            <a:off x="3190875" y="4365625"/>
            <a:ext cx="361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35" name="Text Box 20"/>
          <p:cNvSpPr txBox="1">
            <a:spLocks noChangeArrowheads="1"/>
          </p:cNvSpPr>
          <p:nvPr/>
        </p:nvSpPr>
        <p:spPr bwMode="auto">
          <a:xfrm>
            <a:off x="5711825" y="4294188"/>
            <a:ext cx="361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36" name="Text Box 21"/>
          <p:cNvSpPr txBox="1">
            <a:spLocks noChangeArrowheads="1"/>
          </p:cNvSpPr>
          <p:nvPr/>
        </p:nvSpPr>
        <p:spPr bwMode="auto">
          <a:xfrm>
            <a:off x="7151688" y="4510088"/>
            <a:ext cx="9572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Product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37" name="Text Box 22"/>
          <p:cNvSpPr txBox="1">
            <a:spLocks noChangeArrowheads="1"/>
          </p:cNvSpPr>
          <p:nvPr/>
        </p:nvSpPr>
        <p:spPr bwMode="auto">
          <a:xfrm>
            <a:off x="2614613" y="4359275"/>
            <a:ext cx="3016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438" name="Text Box 23"/>
          <p:cNvSpPr txBox="1">
            <a:spLocks noChangeArrowheads="1"/>
          </p:cNvSpPr>
          <p:nvPr/>
        </p:nvSpPr>
        <p:spPr bwMode="auto">
          <a:xfrm>
            <a:off x="6461125" y="4287838"/>
            <a:ext cx="3016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24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2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3250" y="1392238"/>
            <a:ext cx="8001000" cy="596900"/>
          </a:xfrm>
        </p:spPr>
        <p:txBody>
          <a:bodyPr/>
          <a:lstStyle/>
          <a:p>
            <a:pPr eaLnBrk="1" hangingPunct="1"/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กำหนดคุณลักษณะของ </a:t>
            </a:r>
            <a:r>
              <a:rPr lang="en-US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r>
              <a:rPr lang="th-TH" alt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ห</a:t>
            </a: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2339975" y="2925763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Employee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44" name="Oval 5"/>
          <p:cNvSpPr>
            <a:spLocks noChangeArrowheads="1"/>
          </p:cNvSpPr>
          <p:nvPr/>
        </p:nvSpPr>
        <p:spPr bwMode="auto">
          <a:xfrm>
            <a:off x="827088" y="2205038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 u="sng">
                <a:latin typeface="TH SarabunPSK" panose="020B0500040200020003" pitchFamily="34" charset="-34"/>
                <a:cs typeface="TH SarabunPSK" panose="020B0500040200020003" pitchFamily="34" charset="-34"/>
              </a:rPr>
              <a:t>Emp_ID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45" name="Line 6"/>
          <p:cNvSpPr>
            <a:spLocks noChangeShapeType="1"/>
          </p:cNvSpPr>
          <p:nvPr/>
        </p:nvSpPr>
        <p:spPr bwMode="auto">
          <a:xfrm>
            <a:off x="2268538" y="2565400"/>
            <a:ext cx="287337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46" name="Oval 7"/>
          <p:cNvSpPr>
            <a:spLocks noChangeArrowheads="1"/>
          </p:cNvSpPr>
          <p:nvPr/>
        </p:nvSpPr>
        <p:spPr bwMode="auto">
          <a:xfrm>
            <a:off x="611188" y="2997200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Emp_name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47" name="Line 8"/>
          <p:cNvSpPr>
            <a:spLocks noChangeShapeType="1"/>
          </p:cNvSpPr>
          <p:nvPr/>
        </p:nvSpPr>
        <p:spPr bwMode="auto">
          <a:xfrm flipH="1">
            <a:off x="2124075" y="32861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48" name="Oval 9"/>
          <p:cNvSpPr>
            <a:spLocks noChangeArrowheads="1"/>
          </p:cNvSpPr>
          <p:nvPr/>
        </p:nvSpPr>
        <p:spPr bwMode="auto">
          <a:xfrm>
            <a:off x="1979613" y="3789363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salary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49" name="Line 10"/>
          <p:cNvSpPr>
            <a:spLocks noChangeShapeType="1"/>
          </p:cNvSpPr>
          <p:nvPr/>
        </p:nvSpPr>
        <p:spPr bwMode="auto">
          <a:xfrm flipH="1">
            <a:off x="2771775" y="3502025"/>
            <a:ext cx="21590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50" name="Rectangle 11"/>
          <p:cNvSpPr>
            <a:spLocks noChangeArrowheads="1"/>
          </p:cNvSpPr>
          <p:nvPr/>
        </p:nvSpPr>
        <p:spPr bwMode="auto">
          <a:xfrm>
            <a:off x="6862763" y="2997200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Product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51" name="Oval 12"/>
          <p:cNvSpPr>
            <a:spLocks noChangeArrowheads="1"/>
          </p:cNvSpPr>
          <p:nvPr/>
        </p:nvSpPr>
        <p:spPr bwMode="auto">
          <a:xfrm>
            <a:off x="5349875" y="2276475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 u="sng">
                <a:latin typeface="TH SarabunPSK" panose="020B0500040200020003" pitchFamily="34" charset="-34"/>
                <a:cs typeface="TH SarabunPSK" panose="020B0500040200020003" pitchFamily="34" charset="-34"/>
              </a:rPr>
              <a:t>Product_ID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52" name="Line 13"/>
          <p:cNvSpPr>
            <a:spLocks noChangeShapeType="1"/>
          </p:cNvSpPr>
          <p:nvPr/>
        </p:nvSpPr>
        <p:spPr bwMode="auto">
          <a:xfrm>
            <a:off x="6791325" y="2636838"/>
            <a:ext cx="2873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53" name="Oval 14"/>
          <p:cNvSpPr>
            <a:spLocks noChangeArrowheads="1"/>
          </p:cNvSpPr>
          <p:nvPr/>
        </p:nvSpPr>
        <p:spPr bwMode="auto">
          <a:xfrm>
            <a:off x="4787900" y="3068638"/>
            <a:ext cx="1857375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Product_name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54" name="Line 15"/>
          <p:cNvSpPr>
            <a:spLocks noChangeShapeType="1"/>
          </p:cNvSpPr>
          <p:nvPr/>
        </p:nvSpPr>
        <p:spPr bwMode="auto">
          <a:xfrm flipH="1">
            <a:off x="6646863" y="33575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55" name="Oval 16"/>
          <p:cNvSpPr>
            <a:spLocks noChangeArrowheads="1"/>
          </p:cNvSpPr>
          <p:nvPr/>
        </p:nvSpPr>
        <p:spPr bwMode="auto">
          <a:xfrm>
            <a:off x="6502400" y="3860800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price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56" name="Line 17"/>
          <p:cNvSpPr>
            <a:spLocks noChangeShapeType="1"/>
          </p:cNvSpPr>
          <p:nvPr/>
        </p:nvSpPr>
        <p:spPr bwMode="auto">
          <a:xfrm flipH="1">
            <a:off x="7294563" y="3573463"/>
            <a:ext cx="2159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57" name="Rectangle 18"/>
          <p:cNvSpPr>
            <a:spLocks noChangeArrowheads="1"/>
          </p:cNvSpPr>
          <p:nvPr/>
        </p:nvSpPr>
        <p:spPr bwMode="auto">
          <a:xfrm>
            <a:off x="5062538" y="4725988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TypeProduct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58" name="Oval 19"/>
          <p:cNvSpPr>
            <a:spLocks noChangeArrowheads="1"/>
          </p:cNvSpPr>
          <p:nvPr/>
        </p:nvSpPr>
        <p:spPr bwMode="auto">
          <a:xfrm>
            <a:off x="2987675" y="4797425"/>
            <a:ext cx="1857375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TypeName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59" name="Line 20"/>
          <p:cNvSpPr>
            <a:spLocks noChangeShapeType="1"/>
          </p:cNvSpPr>
          <p:nvPr/>
        </p:nvSpPr>
        <p:spPr bwMode="auto">
          <a:xfrm flipH="1">
            <a:off x="4846638" y="508635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60" name="Oval 21"/>
          <p:cNvSpPr>
            <a:spLocks noChangeArrowheads="1"/>
          </p:cNvSpPr>
          <p:nvPr/>
        </p:nvSpPr>
        <p:spPr bwMode="auto">
          <a:xfrm>
            <a:off x="4702175" y="5548313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 u="sng">
                <a:latin typeface="TH SarabunPSK" panose="020B0500040200020003" pitchFamily="34" charset="-34"/>
                <a:cs typeface="TH SarabunPSK" panose="020B0500040200020003" pitchFamily="34" charset="-34"/>
              </a:rPr>
              <a:t>TypeID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461" name="Line 22"/>
          <p:cNvSpPr>
            <a:spLocks noChangeShapeType="1"/>
          </p:cNvSpPr>
          <p:nvPr/>
        </p:nvSpPr>
        <p:spPr bwMode="auto">
          <a:xfrm flipH="1">
            <a:off x="5494338" y="5302250"/>
            <a:ext cx="21590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7B2DFED-62AA-4E53-AAFD-F82075530D9E}" type="slidenum">
              <a:rPr lang="en-US" altLang="th-TH" sz="1000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59</a:t>
            </a:fld>
            <a:endParaRPr lang="en-US" altLang="th-TH" sz="1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2339975" y="3357563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Customer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468" name="Oval 5"/>
          <p:cNvSpPr>
            <a:spLocks noChangeArrowheads="1"/>
          </p:cNvSpPr>
          <p:nvPr/>
        </p:nvSpPr>
        <p:spPr bwMode="auto">
          <a:xfrm>
            <a:off x="827088" y="2636838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u="sng">
                <a:latin typeface="TH SarabunPSK" panose="020B0500040200020003" pitchFamily="34" charset="-34"/>
                <a:cs typeface="TH SarabunPSK" panose="020B0500040200020003" pitchFamily="34" charset="-34"/>
              </a:rPr>
              <a:t>Cus_ID</a:t>
            </a:r>
            <a:endParaRPr lang="th-TH" altLang="th-TH" sz="1800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469" name="Line 6"/>
          <p:cNvSpPr>
            <a:spLocks noChangeShapeType="1"/>
          </p:cNvSpPr>
          <p:nvPr/>
        </p:nvSpPr>
        <p:spPr bwMode="auto">
          <a:xfrm>
            <a:off x="2268538" y="2997200"/>
            <a:ext cx="287337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2470" name="Oval 7"/>
          <p:cNvSpPr>
            <a:spLocks noChangeArrowheads="1"/>
          </p:cNvSpPr>
          <p:nvPr/>
        </p:nvSpPr>
        <p:spPr bwMode="auto">
          <a:xfrm>
            <a:off x="611188" y="3429000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Cus_name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471" name="Line 8"/>
          <p:cNvSpPr>
            <a:spLocks noChangeShapeType="1"/>
          </p:cNvSpPr>
          <p:nvPr/>
        </p:nvSpPr>
        <p:spPr bwMode="auto">
          <a:xfrm flipH="1">
            <a:off x="2124075" y="37179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2472" name="Oval 9"/>
          <p:cNvSpPr>
            <a:spLocks noChangeArrowheads="1"/>
          </p:cNvSpPr>
          <p:nvPr/>
        </p:nvSpPr>
        <p:spPr bwMode="auto">
          <a:xfrm>
            <a:off x="1979613" y="4221163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Address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473" name="Line 10"/>
          <p:cNvSpPr>
            <a:spLocks noChangeShapeType="1"/>
          </p:cNvSpPr>
          <p:nvPr/>
        </p:nvSpPr>
        <p:spPr bwMode="auto">
          <a:xfrm flipH="1">
            <a:off x="2771775" y="3933825"/>
            <a:ext cx="21590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2474" name="Rectangle 11"/>
          <p:cNvSpPr>
            <a:spLocks noChangeArrowheads="1"/>
          </p:cNvSpPr>
          <p:nvPr/>
        </p:nvSpPr>
        <p:spPr bwMode="auto">
          <a:xfrm>
            <a:off x="6718300" y="3502025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Bill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475" name="Oval 12"/>
          <p:cNvSpPr>
            <a:spLocks noChangeArrowheads="1"/>
          </p:cNvSpPr>
          <p:nvPr/>
        </p:nvSpPr>
        <p:spPr bwMode="auto">
          <a:xfrm>
            <a:off x="5205413" y="2781300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u="sng">
                <a:latin typeface="TH SarabunPSK" panose="020B0500040200020003" pitchFamily="34" charset="-34"/>
                <a:cs typeface="TH SarabunPSK" panose="020B0500040200020003" pitchFamily="34" charset="-34"/>
              </a:rPr>
              <a:t>Bill_No</a:t>
            </a:r>
            <a:endParaRPr lang="th-TH" altLang="th-TH" sz="1800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476" name="Line 13"/>
          <p:cNvSpPr>
            <a:spLocks noChangeShapeType="1"/>
          </p:cNvSpPr>
          <p:nvPr/>
        </p:nvSpPr>
        <p:spPr bwMode="auto">
          <a:xfrm>
            <a:off x="6646863" y="3141663"/>
            <a:ext cx="287337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2477" name="Oval 14"/>
          <p:cNvSpPr>
            <a:spLocks noChangeArrowheads="1"/>
          </p:cNvSpPr>
          <p:nvPr/>
        </p:nvSpPr>
        <p:spPr bwMode="auto">
          <a:xfrm>
            <a:off x="4643438" y="3573463"/>
            <a:ext cx="1857375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Bill_date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478" name="Line 15"/>
          <p:cNvSpPr>
            <a:spLocks noChangeShapeType="1"/>
          </p:cNvSpPr>
          <p:nvPr/>
        </p:nvSpPr>
        <p:spPr bwMode="auto">
          <a:xfrm flipH="1">
            <a:off x="6502400" y="386238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2479" name="Oval 16"/>
          <p:cNvSpPr>
            <a:spLocks noChangeArrowheads="1"/>
          </p:cNvSpPr>
          <p:nvPr/>
        </p:nvSpPr>
        <p:spPr bwMode="auto">
          <a:xfrm>
            <a:off x="6357938" y="4365625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>
                <a:latin typeface="TH SarabunPSK" panose="020B0500040200020003" pitchFamily="34" charset="-34"/>
                <a:cs typeface="TH SarabunPSK" panose="020B0500040200020003" pitchFamily="34" charset="-34"/>
              </a:rPr>
              <a:t>Emp_ID</a:t>
            </a:r>
            <a:endParaRPr lang="th-TH" altLang="th-TH" sz="1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480" name="Line 17"/>
          <p:cNvSpPr>
            <a:spLocks noChangeShapeType="1"/>
          </p:cNvSpPr>
          <p:nvPr/>
        </p:nvSpPr>
        <p:spPr bwMode="auto">
          <a:xfrm flipH="1">
            <a:off x="7150100" y="4078288"/>
            <a:ext cx="2159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ตัวอย่างการออกแบบฐานข้อมูลด้วย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H SarabunPSK" pitchFamily="34" charset="-34"/>
                <a:cs typeface="TH SarabunPSK" pitchFamily="34" charset="-34"/>
              </a:rPr>
              <a:t>E-R Model</a:t>
            </a:r>
            <a:endParaRPr lang="th-TH" b="1" dirty="0">
              <a:solidFill>
                <a:schemeClr val="accent6">
                  <a:lumMod val="60000"/>
                  <a:lumOff val="4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8FA448C-7148-427F-8FC6-E9C615A84E31}" type="slidenum">
              <a:rPr lang="en-US" altLang="th-TH" sz="1000" b="1">
                <a:latin typeface="TH SarabunPSK" panose="020B0500040200020003" pitchFamily="34" charset="-34"/>
                <a:cs typeface="TH SarabunPSK" panose="020B0500040200020003" pitchFamily="34" charset="-34"/>
              </a:rPr>
              <a:pPr eaLnBrk="1" hangingPunct="1"/>
              <a:t>60</a:t>
            </a:fld>
            <a:endParaRPr lang="en-US" altLang="th-TH" sz="10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491" name="Rectangle 2"/>
          <p:cNvSpPr>
            <a:spLocks noChangeArrowheads="1"/>
          </p:cNvSpPr>
          <p:nvPr/>
        </p:nvSpPr>
        <p:spPr bwMode="auto">
          <a:xfrm>
            <a:off x="4859338" y="2276475"/>
            <a:ext cx="1296987" cy="10080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Bill_detail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title"/>
          </p:nvPr>
        </p:nvSpPr>
        <p:spPr>
          <a:xfrm>
            <a:off x="611188" y="277813"/>
            <a:ext cx="5832475" cy="1143000"/>
          </a:xfrm>
        </p:spPr>
        <p:txBody>
          <a:bodyPr/>
          <a:lstStyle/>
          <a:p>
            <a:pPr eaLnBrk="1" hangingPunct="1"/>
            <a:r>
              <a:rPr lang="en-US" altLang="th-TH" sz="3800" b="1">
                <a:solidFill>
                  <a:schemeClr val="accent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ER-Diagram</a:t>
            </a:r>
            <a:br>
              <a:rPr lang="en-US" altLang="th-TH" sz="3800" b="1">
                <a:solidFill>
                  <a:schemeClr val="accent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th-TH" altLang="th-TH" sz="3800" b="1">
                <a:solidFill>
                  <a:schemeClr val="accent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ของระบบการขายสินค้า </a:t>
            </a:r>
          </a:p>
        </p:txBody>
      </p:sp>
      <p:grpSp>
        <p:nvGrpSpPr>
          <p:cNvPr id="63493" name="Group 4"/>
          <p:cNvGrpSpPr>
            <a:grpSpLocks/>
          </p:cNvGrpSpPr>
          <p:nvPr/>
        </p:nvGrpSpPr>
        <p:grpSpPr bwMode="auto">
          <a:xfrm>
            <a:off x="611188" y="4581525"/>
            <a:ext cx="3541712" cy="2087563"/>
            <a:chOff x="385" y="1253"/>
            <a:chExt cx="2231" cy="1315"/>
          </a:xfrm>
        </p:grpSpPr>
        <p:sp>
          <p:nvSpPr>
            <p:cNvPr id="63552" name="Rectangle 5"/>
            <p:cNvSpPr>
              <a:spLocks noChangeArrowheads="1"/>
            </p:cNvSpPr>
            <p:nvPr/>
          </p:nvSpPr>
          <p:spPr bwMode="auto">
            <a:xfrm>
              <a:off x="1474" y="1707"/>
              <a:ext cx="1142" cy="37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Customer</a:t>
              </a:r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3553" name="Oval 6"/>
            <p:cNvSpPr>
              <a:spLocks noChangeArrowheads="1"/>
            </p:cNvSpPr>
            <p:nvPr/>
          </p:nvSpPr>
          <p:spPr bwMode="auto">
            <a:xfrm>
              <a:off x="521" y="1253"/>
              <a:ext cx="952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 u="sng">
                  <a:latin typeface="TH SarabunPSK" panose="020B0500040200020003" pitchFamily="34" charset="-34"/>
                  <a:cs typeface="TH SarabunPSK" panose="020B0500040200020003" pitchFamily="34" charset="-34"/>
                </a:rPr>
                <a:t>Cus_ID</a:t>
              </a:r>
              <a:endParaRPr lang="th-TH" altLang="th-TH" sz="1800" b="1" u="sng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3554" name="Line 7"/>
            <p:cNvSpPr>
              <a:spLocks noChangeShapeType="1"/>
            </p:cNvSpPr>
            <p:nvPr/>
          </p:nvSpPr>
          <p:spPr bwMode="auto">
            <a:xfrm>
              <a:off x="1429" y="1480"/>
              <a:ext cx="18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63555" name="Oval 8"/>
            <p:cNvSpPr>
              <a:spLocks noChangeArrowheads="1"/>
            </p:cNvSpPr>
            <p:nvPr/>
          </p:nvSpPr>
          <p:spPr bwMode="auto">
            <a:xfrm>
              <a:off x="385" y="1797"/>
              <a:ext cx="952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Cus_name</a:t>
              </a:r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3556" name="Line 9"/>
            <p:cNvSpPr>
              <a:spLocks noChangeShapeType="1"/>
            </p:cNvSpPr>
            <p:nvPr/>
          </p:nvSpPr>
          <p:spPr bwMode="auto">
            <a:xfrm flipH="1">
              <a:off x="1338" y="193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63557" name="Oval 10"/>
            <p:cNvSpPr>
              <a:spLocks noChangeArrowheads="1"/>
            </p:cNvSpPr>
            <p:nvPr/>
          </p:nvSpPr>
          <p:spPr bwMode="auto">
            <a:xfrm>
              <a:off x="1247" y="2251"/>
              <a:ext cx="952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th-TH" sz="1800" b="1">
                  <a:latin typeface="TH SarabunPSK" panose="020B0500040200020003" pitchFamily="34" charset="-34"/>
                  <a:cs typeface="TH SarabunPSK" panose="020B0500040200020003" pitchFamily="34" charset="-34"/>
                </a:rPr>
                <a:t>Address</a:t>
              </a:r>
              <a:endPara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3558" name="Line 11"/>
            <p:cNvSpPr>
              <a:spLocks noChangeShapeType="1"/>
            </p:cNvSpPr>
            <p:nvPr/>
          </p:nvSpPr>
          <p:spPr bwMode="auto">
            <a:xfrm flipH="1">
              <a:off x="1746" y="2070"/>
              <a:ext cx="136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63494" name="Rectangle 12"/>
          <p:cNvSpPr>
            <a:spLocks noChangeArrowheads="1"/>
          </p:cNvSpPr>
          <p:nvPr/>
        </p:nvSpPr>
        <p:spPr bwMode="auto">
          <a:xfrm>
            <a:off x="2182813" y="2420938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Bill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495" name="Oval 13"/>
          <p:cNvSpPr>
            <a:spLocks noChangeArrowheads="1"/>
          </p:cNvSpPr>
          <p:nvPr/>
        </p:nvSpPr>
        <p:spPr bwMode="auto">
          <a:xfrm>
            <a:off x="669925" y="1700213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 u="sng">
                <a:latin typeface="TH SarabunPSK" panose="020B0500040200020003" pitchFamily="34" charset="-34"/>
                <a:cs typeface="TH SarabunPSK" panose="020B0500040200020003" pitchFamily="34" charset="-34"/>
              </a:rPr>
              <a:t>Bill_No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496" name="Line 14"/>
          <p:cNvSpPr>
            <a:spLocks noChangeShapeType="1"/>
          </p:cNvSpPr>
          <p:nvPr/>
        </p:nvSpPr>
        <p:spPr bwMode="auto">
          <a:xfrm>
            <a:off x="2111375" y="2060575"/>
            <a:ext cx="28733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497" name="Oval 15"/>
          <p:cNvSpPr>
            <a:spLocks noChangeArrowheads="1"/>
          </p:cNvSpPr>
          <p:nvPr/>
        </p:nvSpPr>
        <p:spPr bwMode="auto">
          <a:xfrm>
            <a:off x="107950" y="2492375"/>
            <a:ext cx="1857375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Bill_date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498" name="Line 16"/>
          <p:cNvSpPr>
            <a:spLocks noChangeShapeType="1"/>
          </p:cNvSpPr>
          <p:nvPr/>
        </p:nvSpPr>
        <p:spPr bwMode="auto">
          <a:xfrm flipH="1">
            <a:off x="1966913" y="278130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499" name="Oval 17"/>
          <p:cNvSpPr>
            <a:spLocks noChangeArrowheads="1"/>
          </p:cNvSpPr>
          <p:nvPr/>
        </p:nvSpPr>
        <p:spPr bwMode="auto">
          <a:xfrm>
            <a:off x="1042988" y="3141663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Emp_ID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00" name="Line 18"/>
          <p:cNvSpPr>
            <a:spLocks noChangeShapeType="1"/>
          </p:cNvSpPr>
          <p:nvPr/>
        </p:nvSpPr>
        <p:spPr bwMode="auto">
          <a:xfrm flipH="1">
            <a:off x="2411413" y="2997200"/>
            <a:ext cx="4191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01" name="AutoShape 19"/>
          <p:cNvSpPr>
            <a:spLocks noChangeArrowheads="1"/>
          </p:cNvSpPr>
          <p:nvPr/>
        </p:nvSpPr>
        <p:spPr bwMode="auto">
          <a:xfrm>
            <a:off x="2484438" y="3644900"/>
            <a:ext cx="1296987" cy="1008063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ได้รับ</a:t>
            </a:r>
          </a:p>
        </p:txBody>
      </p:sp>
      <p:sp>
        <p:nvSpPr>
          <p:cNvPr id="63502" name="Line 20"/>
          <p:cNvSpPr>
            <a:spLocks noChangeShapeType="1"/>
          </p:cNvSpPr>
          <p:nvPr/>
        </p:nvSpPr>
        <p:spPr bwMode="auto">
          <a:xfrm flipV="1">
            <a:off x="3132138" y="29972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03" name="Line 21"/>
          <p:cNvSpPr>
            <a:spLocks noChangeShapeType="1"/>
          </p:cNvSpPr>
          <p:nvPr/>
        </p:nvSpPr>
        <p:spPr bwMode="auto">
          <a:xfrm>
            <a:off x="3132138" y="46529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04" name="Rectangle 22"/>
          <p:cNvSpPr>
            <a:spLocks noChangeArrowheads="1"/>
          </p:cNvSpPr>
          <p:nvPr/>
        </p:nvSpPr>
        <p:spPr bwMode="auto">
          <a:xfrm>
            <a:off x="6791325" y="5229225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Employee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05" name="Oval 23"/>
          <p:cNvSpPr>
            <a:spLocks noChangeArrowheads="1"/>
          </p:cNvSpPr>
          <p:nvPr/>
        </p:nvSpPr>
        <p:spPr bwMode="auto">
          <a:xfrm>
            <a:off x="7451725" y="6165850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 u="sng">
                <a:latin typeface="TH SarabunPSK" panose="020B0500040200020003" pitchFamily="34" charset="-34"/>
                <a:cs typeface="TH SarabunPSK" panose="020B0500040200020003" pitchFamily="34" charset="-34"/>
              </a:rPr>
              <a:t>Emp_ID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06" name="Line 24"/>
          <p:cNvSpPr>
            <a:spLocks noChangeShapeType="1"/>
          </p:cNvSpPr>
          <p:nvPr/>
        </p:nvSpPr>
        <p:spPr bwMode="auto">
          <a:xfrm>
            <a:off x="8101013" y="5805488"/>
            <a:ext cx="287337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07" name="Oval 25"/>
          <p:cNvSpPr>
            <a:spLocks noChangeArrowheads="1"/>
          </p:cNvSpPr>
          <p:nvPr/>
        </p:nvSpPr>
        <p:spPr bwMode="auto">
          <a:xfrm>
            <a:off x="5062538" y="5372100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Emp_name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08" name="Line 26"/>
          <p:cNvSpPr>
            <a:spLocks noChangeShapeType="1"/>
          </p:cNvSpPr>
          <p:nvPr/>
        </p:nvSpPr>
        <p:spPr bwMode="auto">
          <a:xfrm flipH="1">
            <a:off x="6575425" y="558958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09" name="Oval 27"/>
          <p:cNvSpPr>
            <a:spLocks noChangeArrowheads="1"/>
          </p:cNvSpPr>
          <p:nvPr/>
        </p:nvSpPr>
        <p:spPr bwMode="auto">
          <a:xfrm>
            <a:off x="5867400" y="6021388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salary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10" name="Line 28"/>
          <p:cNvSpPr>
            <a:spLocks noChangeShapeType="1"/>
          </p:cNvSpPr>
          <p:nvPr/>
        </p:nvSpPr>
        <p:spPr bwMode="auto">
          <a:xfrm flipH="1">
            <a:off x="7223125" y="5805488"/>
            <a:ext cx="2159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11" name="Rectangle 29"/>
          <p:cNvSpPr>
            <a:spLocks noChangeArrowheads="1"/>
          </p:cNvSpPr>
          <p:nvPr/>
        </p:nvSpPr>
        <p:spPr bwMode="auto">
          <a:xfrm>
            <a:off x="7080250" y="2420938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Product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12" name="Oval 30"/>
          <p:cNvSpPr>
            <a:spLocks noChangeArrowheads="1"/>
          </p:cNvSpPr>
          <p:nvPr/>
        </p:nvSpPr>
        <p:spPr bwMode="auto">
          <a:xfrm>
            <a:off x="7235825" y="1125538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 u="sng">
                <a:latin typeface="TH SarabunPSK" panose="020B0500040200020003" pitchFamily="34" charset="-34"/>
                <a:cs typeface="TH SarabunPSK" panose="020B0500040200020003" pitchFamily="34" charset="-34"/>
              </a:rPr>
              <a:t>Product_ID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13" name="Line 31"/>
          <p:cNvSpPr>
            <a:spLocks noChangeShapeType="1"/>
          </p:cNvSpPr>
          <p:nvPr/>
        </p:nvSpPr>
        <p:spPr bwMode="auto">
          <a:xfrm flipH="1">
            <a:off x="7296150" y="1557338"/>
            <a:ext cx="15557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14" name="Oval 32"/>
          <p:cNvSpPr>
            <a:spLocks noChangeArrowheads="1"/>
          </p:cNvSpPr>
          <p:nvPr/>
        </p:nvSpPr>
        <p:spPr bwMode="auto">
          <a:xfrm>
            <a:off x="6300788" y="549275"/>
            <a:ext cx="1857375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Product_name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15" name="Line 33"/>
          <p:cNvSpPr>
            <a:spLocks noChangeShapeType="1"/>
          </p:cNvSpPr>
          <p:nvPr/>
        </p:nvSpPr>
        <p:spPr bwMode="auto">
          <a:xfrm flipH="1" flipV="1">
            <a:off x="7164388" y="1052513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16" name="Oval 34"/>
          <p:cNvSpPr>
            <a:spLocks noChangeArrowheads="1"/>
          </p:cNvSpPr>
          <p:nvPr/>
        </p:nvSpPr>
        <p:spPr bwMode="auto">
          <a:xfrm>
            <a:off x="7451725" y="1700213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price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17" name="Line 35"/>
          <p:cNvSpPr>
            <a:spLocks noChangeShapeType="1"/>
          </p:cNvSpPr>
          <p:nvPr/>
        </p:nvSpPr>
        <p:spPr bwMode="auto">
          <a:xfrm flipH="1">
            <a:off x="7596188" y="2133600"/>
            <a:ext cx="144462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18" name="AutoShape 36"/>
          <p:cNvSpPr>
            <a:spLocks noChangeArrowheads="1"/>
          </p:cNvSpPr>
          <p:nvPr/>
        </p:nvSpPr>
        <p:spPr bwMode="auto">
          <a:xfrm>
            <a:off x="4284663" y="4292600"/>
            <a:ext cx="1296987" cy="1008063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มี</a:t>
            </a:r>
          </a:p>
        </p:txBody>
      </p:sp>
      <p:sp>
        <p:nvSpPr>
          <p:cNvPr id="63519" name="AutoShape 37"/>
          <p:cNvSpPr>
            <a:spLocks noChangeArrowheads="1"/>
          </p:cNvSpPr>
          <p:nvPr/>
        </p:nvSpPr>
        <p:spPr bwMode="auto">
          <a:xfrm>
            <a:off x="4859338" y="2276475"/>
            <a:ext cx="1296987" cy="1008063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Bill_detail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20" name="Line 38"/>
          <p:cNvSpPr>
            <a:spLocks noChangeShapeType="1"/>
          </p:cNvSpPr>
          <p:nvPr/>
        </p:nvSpPr>
        <p:spPr bwMode="auto">
          <a:xfrm>
            <a:off x="3995738" y="278130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21" name="Line 39"/>
          <p:cNvSpPr>
            <a:spLocks noChangeShapeType="1"/>
          </p:cNvSpPr>
          <p:nvPr/>
        </p:nvSpPr>
        <p:spPr bwMode="auto">
          <a:xfrm>
            <a:off x="6156325" y="278130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22" name="Line 40"/>
          <p:cNvSpPr>
            <a:spLocks noChangeShapeType="1"/>
          </p:cNvSpPr>
          <p:nvPr/>
        </p:nvSpPr>
        <p:spPr bwMode="auto">
          <a:xfrm>
            <a:off x="3851275" y="2997200"/>
            <a:ext cx="433388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23" name="Line 41"/>
          <p:cNvSpPr>
            <a:spLocks noChangeShapeType="1"/>
          </p:cNvSpPr>
          <p:nvPr/>
        </p:nvSpPr>
        <p:spPr bwMode="auto">
          <a:xfrm>
            <a:off x="5580063" y="4797425"/>
            <a:ext cx="15843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24" name="Text Box 42"/>
          <p:cNvSpPr txBox="1">
            <a:spLocks noChangeArrowheads="1"/>
          </p:cNvSpPr>
          <p:nvPr/>
        </p:nvSpPr>
        <p:spPr bwMode="auto">
          <a:xfrm>
            <a:off x="3184525" y="4740275"/>
            <a:ext cx="2714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25" name="Text Box 43"/>
          <p:cNvSpPr txBox="1">
            <a:spLocks noChangeArrowheads="1"/>
          </p:cNvSpPr>
          <p:nvPr/>
        </p:nvSpPr>
        <p:spPr bwMode="auto">
          <a:xfrm>
            <a:off x="3184525" y="3084513"/>
            <a:ext cx="3175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26" name="Text Box 44"/>
          <p:cNvSpPr txBox="1">
            <a:spLocks noChangeArrowheads="1"/>
          </p:cNvSpPr>
          <p:nvPr/>
        </p:nvSpPr>
        <p:spPr bwMode="auto">
          <a:xfrm>
            <a:off x="6443663" y="5084763"/>
            <a:ext cx="2714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27" name="Text Box 45"/>
          <p:cNvSpPr txBox="1">
            <a:spLocks noChangeArrowheads="1"/>
          </p:cNvSpPr>
          <p:nvPr/>
        </p:nvSpPr>
        <p:spPr bwMode="auto">
          <a:xfrm>
            <a:off x="3924300" y="2924175"/>
            <a:ext cx="3175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28" name="Text Box 46"/>
          <p:cNvSpPr txBox="1">
            <a:spLocks noChangeArrowheads="1"/>
          </p:cNvSpPr>
          <p:nvPr/>
        </p:nvSpPr>
        <p:spPr bwMode="auto">
          <a:xfrm>
            <a:off x="3975100" y="2363788"/>
            <a:ext cx="2714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29" name="Text Box 47"/>
          <p:cNvSpPr txBox="1">
            <a:spLocks noChangeArrowheads="1"/>
          </p:cNvSpPr>
          <p:nvPr/>
        </p:nvSpPr>
        <p:spPr bwMode="auto">
          <a:xfrm>
            <a:off x="4551363" y="2363788"/>
            <a:ext cx="3175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30" name="Text Box 48"/>
          <p:cNvSpPr txBox="1">
            <a:spLocks noChangeArrowheads="1"/>
          </p:cNvSpPr>
          <p:nvPr/>
        </p:nvSpPr>
        <p:spPr bwMode="auto">
          <a:xfrm>
            <a:off x="6762750" y="2349500"/>
            <a:ext cx="2714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31" name="Text Box 49"/>
          <p:cNvSpPr txBox="1">
            <a:spLocks noChangeArrowheads="1"/>
          </p:cNvSpPr>
          <p:nvPr/>
        </p:nvSpPr>
        <p:spPr bwMode="auto">
          <a:xfrm>
            <a:off x="6208713" y="2363788"/>
            <a:ext cx="3175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32" name="Oval 50"/>
          <p:cNvSpPr>
            <a:spLocks noChangeArrowheads="1"/>
          </p:cNvSpPr>
          <p:nvPr/>
        </p:nvSpPr>
        <p:spPr bwMode="auto">
          <a:xfrm>
            <a:off x="3851275" y="1628775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Detail_ID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33" name="Oval 51"/>
          <p:cNvSpPr>
            <a:spLocks noChangeArrowheads="1"/>
          </p:cNvSpPr>
          <p:nvPr/>
        </p:nvSpPr>
        <p:spPr bwMode="auto">
          <a:xfrm>
            <a:off x="4572000" y="476250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Product_ID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34" name="Oval 52"/>
          <p:cNvSpPr>
            <a:spLocks noChangeArrowheads="1"/>
          </p:cNvSpPr>
          <p:nvPr/>
        </p:nvSpPr>
        <p:spPr bwMode="auto">
          <a:xfrm>
            <a:off x="4213225" y="3430588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Bill_No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35" name="Line 53"/>
          <p:cNvSpPr>
            <a:spLocks noChangeShapeType="1"/>
          </p:cNvSpPr>
          <p:nvPr/>
        </p:nvSpPr>
        <p:spPr bwMode="auto">
          <a:xfrm flipH="1">
            <a:off x="5076825" y="3284538"/>
            <a:ext cx="71438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36" name="Oval 54"/>
          <p:cNvSpPr>
            <a:spLocks noChangeArrowheads="1"/>
          </p:cNvSpPr>
          <p:nvPr/>
        </p:nvSpPr>
        <p:spPr bwMode="auto">
          <a:xfrm>
            <a:off x="6227763" y="3068638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Amoun</a:t>
            </a:r>
            <a:r>
              <a:rPr lang="en-US" altLang="th-TH" sz="1800" b="1" u="sng">
                <a:latin typeface="TH SarabunPSK" panose="020B0500040200020003" pitchFamily="34" charset="-34"/>
                <a:cs typeface="TH SarabunPSK" panose="020B0500040200020003" pitchFamily="34" charset="-34"/>
              </a:rPr>
              <a:t>t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37" name="Line 55"/>
          <p:cNvSpPr>
            <a:spLocks noChangeShapeType="1"/>
          </p:cNvSpPr>
          <p:nvPr/>
        </p:nvSpPr>
        <p:spPr bwMode="auto">
          <a:xfrm>
            <a:off x="5940425" y="3284538"/>
            <a:ext cx="287338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38" name="Line 56"/>
          <p:cNvSpPr>
            <a:spLocks noChangeShapeType="1"/>
          </p:cNvSpPr>
          <p:nvPr/>
        </p:nvSpPr>
        <p:spPr bwMode="auto">
          <a:xfrm>
            <a:off x="4932363" y="2133600"/>
            <a:ext cx="144462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39" name="Line 57"/>
          <p:cNvSpPr>
            <a:spLocks noChangeShapeType="1"/>
          </p:cNvSpPr>
          <p:nvPr/>
        </p:nvSpPr>
        <p:spPr bwMode="auto">
          <a:xfrm>
            <a:off x="5435600" y="981075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40" name="Oval 58"/>
          <p:cNvSpPr>
            <a:spLocks noChangeArrowheads="1"/>
          </p:cNvSpPr>
          <p:nvPr/>
        </p:nvSpPr>
        <p:spPr bwMode="auto">
          <a:xfrm>
            <a:off x="5508625" y="1557338"/>
            <a:ext cx="1511300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Price_s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41" name="Line 59"/>
          <p:cNvSpPr>
            <a:spLocks noChangeShapeType="1"/>
          </p:cNvSpPr>
          <p:nvPr/>
        </p:nvSpPr>
        <p:spPr bwMode="auto">
          <a:xfrm flipV="1">
            <a:off x="5940425" y="2060575"/>
            <a:ext cx="714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42" name="Rectangle 60"/>
          <p:cNvSpPr>
            <a:spLocks noChangeArrowheads="1"/>
          </p:cNvSpPr>
          <p:nvPr/>
        </p:nvSpPr>
        <p:spPr bwMode="auto">
          <a:xfrm>
            <a:off x="7092950" y="4437063"/>
            <a:ext cx="1812925" cy="593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TypeProduct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43" name="AutoShape 61"/>
          <p:cNvSpPr>
            <a:spLocks noChangeArrowheads="1"/>
          </p:cNvSpPr>
          <p:nvPr/>
        </p:nvSpPr>
        <p:spPr bwMode="auto">
          <a:xfrm>
            <a:off x="7524750" y="3213100"/>
            <a:ext cx="1296988" cy="1008063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th-TH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มี</a:t>
            </a:r>
          </a:p>
        </p:txBody>
      </p:sp>
      <p:sp>
        <p:nvSpPr>
          <p:cNvPr id="63544" name="Line 62"/>
          <p:cNvSpPr>
            <a:spLocks noChangeShapeType="1"/>
          </p:cNvSpPr>
          <p:nvPr/>
        </p:nvSpPr>
        <p:spPr bwMode="auto">
          <a:xfrm>
            <a:off x="8172450" y="42211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45" name="Line 63"/>
          <p:cNvSpPr>
            <a:spLocks noChangeShapeType="1"/>
          </p:cNvSpPr>
          <p:nvPr/>
        </p:nvSpPr>
        <p:spPr bwMode="auto">
          <a:xfrm flipV="1">
            <a:off x="8172450" y="29972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46" name="Oval 64"/>
          <p:cNvSpPr>
            <a:spLocks noChangeArrowheads="1"/>
          </p:cNvSpPr>
          <p:nvPr/>
        </p:nvSpPr>
        <p:spPr bwMode="auto">
          <a:xfrm>
            <a:off x="5508625" y="4292600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 u="sng">
                <a:latin typeface="TH SarabunPSK" panose="020B0500040200020003" pitchFamily="34" charset="-34"/>
                <a:cs typeface="TH SarabunPSK" panose="020B0500040200020003" pitchFamily="34" charset="-34"/>
              </a:rPr>
              <a:t>TypeID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47" name="Oval 65"/>
          <p:cNvSpPr>
            <a:spLocks noChangeArrowheads="1"/>
          </p:cNvSpPr>
          <p:nvPr/>
        </p:nvSpPr>
        <p:spPr bwMode="auto">
          <a:xfrm>
            <a:off x="5724525" y="3644900"/>
            <a:ext cx="1511300" cy="503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TypeName</a:t>
            </a:r>
            <a:endParaRPr lang="th-TH" altLang="th-TH" sz="1800" b="1" u="sng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48" name="Line 66"/>
          <p:cNvSpPr>
            <a:spLocks noChangeShapeType="1"/>
          </p:cNvSpPr>
          <p:nvPr/>
        </p:nvSpPr>
        <p:spPr bwMode="auto">
          <a:xfrm>
            <a:off x="6804025" y="4724400"/>
            <a:ext cx="288925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49" name="Line 67"/>
          <p:cNvSpPr>
            <a:spLocks noChangeShapeType="1"/>
          </p:cNvSpPr>
          <p:nvPr/>
        </p:nvSpPr>
        <p:spPr bwMode="auto">
          <a:xfrm>
            <a:off x="7235825" y="3933825"/>
            <a:ext cx="21590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3550" name="Text Box 68"/>
          <p:cNvSpPr txBox="1">
            <a:spLocks noChangeArrowheads="1"/>
          </p:cNvSpPr>
          <p:nvPr/>
        </p:nvSpPr>
        <p:spPr bwMode="auto">
          <a:xfrm>
            <a:off x="8243888" y="4076700"/>
            <a:ext cx="2714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551" name="Text Box 69"/>
          <p:cNvSpPr txBox="1">
            <a:spLocks noChangeArrowheads="1"/>
          </p:cNvSpPr>
          <p:nvPr/>
        </p:nvSpPr>
        <p:spPr bwMode="auto">
          <a:xfrm>
            <a:off x="8243888" y="2997200"/>
            <a:ext cx="3175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th-TH" sz="1800" b="1">
                <a:latin typeface="TH SarabunPSK" panose="020B0500040200020003" pitchFamily="34" charset="-34"/>
                <a:cs typeface="TH SarabunPSK" panose="020B0500040200020003" pitchFamily="34" charset="-34"/>
              </a:rPr>
              <a:t>M</a:t>
            </a:r>
            <a:endParaRPr lang="th-TH" altLang="th-TH" sz="18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ชุดรูปแบบของ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2228</TotalTime>
  <Words>2164</Words>
  <Application>Microsoft Macintosh PowerPoint</Application>
  <PresentationFormat>On-screen Show (4:3)</PresentationFormat>
  <Paragraphs>561</Paragraphs>
  <Slides>60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Angsana New</vt:lpstr>
      <vt:lpstr>AngsanaUPC</vt:lpstr>
      <vt:lpstr>Arial</vt:lpstr>
      <vt:lpstr>FreesiaUPC</vt:lpstr>
      <vt:lpstr>TH Baijam</vt:lpstr>
      <vt:lpstr>TH SarabunPSK</vt:lpstr>
      <vt:lpstr>Times New Roman</vt:lpstr>
      <vt:lpstr>Wide Latin</vt:lpstr>
      <vt:lpstr>Wingdings</vt:lpstr>
      <vt:lpstr>Layers</vt:lpstr>
      <vt:lpstr>Bitmap Image</vt:lpstr>
      <vt:lpstr>Visio</vt:lpstr>
      <vt:lpstr>PowerPoint Presentation</vt:lpstr>
      <vt:lpstr>PowerPoint Presentation</vt:lpstr>
      <vt:lpstr>Entity Relationship Model (E-R Model)</vt:lpstr>
      <vt:lpstr>PowerPoint Presentation</vt:lpstr>
      <vt:lpstr>จุดเด่นของ E-R Model</vt:lpstr>
      <vt:lpstr>สัญลักษณ์ที่ใช้ในการเขียน E-R Diagram</vt:lpstr>
      <vt:lpstr>สัญลักษณ์ที่ใช้ในการเขียน E-R Diagram</vt:lpstr>
      <vt:lpstr>สัญลักษณ์ที่ใช้ใน E-R Diagram  ใช้แบบ Chen Model</vt:lpstr>
      <vt:lpstr>เอนทิตี้ (Entity)</vt:lpstr>
      <vt:lpstr>เอนทิตี้ (Entity)</vt:lpstr>
      <vt:lpstr>Regular Entity</vt:lpstr>
      <vt:lpstr>Weak Entity</vt:lpstr>
      <vt:lpstr>PowerPoint Presentation</vt:lpstr>
      <vt:lpstr>Composite Entity</vt:lpstr>
      <vt:lpstr>Attribute หรือ Property</vt:lpstr>
      <vt:lpstr>Attribute หรือ Property</vt:lpstr>
      <vt:lpstr>Attribute หรือ Property</vt:lpstr>
      <vt:lpstr>Attributes</vt:lpstr>
      <vt:lpstr>Attributes</vt:lpstr>
      <vt:lpstr>ประเภทของ Attribute หรือ Property</vt:lpstr>
      <vt:lpstr>ประเภทของ Attribute หรือ Property</vt:lpstr>
      <vt:lpstr>ประเภทของ Attribute หรือ Property</vt:lpstr>
      <vt:lpstr>ประเภทของ Attribute หรือ Property</vt:lpstr>
      <vt:lpstr>PowerPoint Presentation</vt:lpstr>
      <vt:lpstr>ความสัมพันธ์ (Relationship)</vt:lpstr>
      <vt:lpstr>ความสัมพันธ์ (Relationship)</vt:lpstr>
      <vt:lpstr>ประเภทของ Relationship</vt:lpstr>
      <vt:lpstr>ประเภทของ Relationship</vt:lpstr>
      <vt:lpstr>ประเภทของ Relationship</vt:lpstr>
      <vt:lpstr>Relationship หรือ Connectivity : แบบ One to One , 1:1 </vt:lpstr>
      <vt:lpstr>Relationship หรือ Connectivity : แบบ One to Many, 1:M </vt:lpstr>
      <vt:lpstr>Relationship หรือ Connectivity : แบบ Many to Many, M:N </vt:lpstr>
      <vt:lpstr>การเปลี่ยน E-R diagram เป็น Table</vt:lpstr>
      <vt:lpstr>การเปลี่ยน E-R diagram เป็น Table</vt:lpstr>
      <vt:lpstr>การเปลี่ยน E-R diagram เป็น Table</vt:lpstr>
      <vt:lpstr>การเปลี่ยน E-R diagram เป็น Table</vt:lpstr>
      <vt:lpstr>การเปลี่ยน E-R diagram เป็น Table  แบบมีความสัมพันธ์</vt:lpstr>
      <vt:lpstr>การเปลี่ยน E-R diagram เป็น Table  แบบมีความสัมพันธ์</vt:lpstr>
      <vt:lpstr>การเปลี่ยน E-R diagram เป็น Table  แบบมีความสัมพันธ์</vt:lpstr>
      <vt:lpstr>PowerPoint Presentation</vt:lpstr>
      <vt:lpstr>การออกแบบฐานข้อมูลด้วย E-R Model</vt:lpstr>
      <vt:lpstr>การออกแบบฐานข้อมูลด้วย E-R Model</vt:lpstr>
      <vt:lpstr>การออกแบบฐานข้อมูลด้วย E-R Model</vt:lpstr>
      <vt:lpstr>การออกแบบฐานข้อมูลด้วย E-R Model</vt:lpstr>
      <vt:lpstr>การออกแบบฐานข้อมูลด้วย E-R Model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PowerPoint Presentation</vt:lpstr>
      <vt:lpstr>PowerPoint Presentation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ตัวอย่างการออกแบบฐานข้อมูลด้วย E-R Model</vt:lpstr>
      <vt:lpstr>ER-Diagram ของระบบการขายสินค้า </vt:lpstr>
    </vt:vector>
  </TitlesOfParts>
  <Company>Stou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เรื่องที่ 1.1.1 ความรู้พื้นฐานเกี่ยวกับระบบฐานข้อมูล</dc:title>
  <dc:creator>Stou</dc:creator>
  <cp:lastModifiedBy>เขมวิทย์ จิตตะยโศธร</cp:lastModifiedBy>
  <cp:revision>1078</cp:revision>
  <dcterms:created xsi:type="dcterms:W3CDTF">2005-01-07T06:02:08Z</dcterms:created>
  <dcterms:modified xsi:type="dcterms:W3CDTF">2026-01-20T01:04:43Z</dcterms:modified>
</cp:coreProperties>
</file>