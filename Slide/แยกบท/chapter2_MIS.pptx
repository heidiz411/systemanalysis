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8"/>
  </p:notesMasterIdLst>
  <p:handoutMasterIdLst>
    <p:handoutMasterId r:id="rId119"/>
  </p:handoutMasterIdLst>
  <p:sldIdLst>
    <p:sldId id="256" r:id="rId2"/>
    <p:sldId id="376" r:id="rId3"/>
    <p:sldId id="374" r:id="rId4"/>
    <p:sldId id="386" r:id="rId5"/>
    <p:sldId id="388" r:id="rId6"/>
    <p:sldId id="387" r:id="rId7"/>
    <p:sldId id="389" r:id="rId8"/>
    <p:sldId id="390" r:id="rId9"/>
    <p:sldId id="391" r:id="rId10"/>
    <p:sldId id="395" r:id="rId11"/>
    <p:sldId id="394" r:id="rId12"/>
    <p:sldId id="396" r:id="rId13"/>
    <p:sldId id="392" r:id="rId14"/>
    <p:sldId id="393" r:id="rId15"/>
    <p:sldId id="397" r:id="rId16"/>
    <p:sldId id="398" r:id="rId17"/>
    <p:sldId id="399" r:id="rId18"/>
    <p:sldId id="402" r:id="rId19"/>
    <p:sldId id="400" r:id="rId20"/>
    <p:sldId id="401" r:id="rId21"/>
    <p:sldId id="403" r:id="rId22"/>
    <p:sldId id="404" r:id="rId23"/>
    <p:sldId id="378" r:id="rId24"/>
    <p:sldId id="459" r:id="rId25"/>
    <p:sldId id="460" r:id="rId26"/>
    <p:sldId id="385" r:id="rId27"/>
    <p:sldId id="407" r:id="rId28"/>
    <p:sldId id="408" r:id="rId29"/>
    <p:sldId id="409" r:id="rId30"/>
    <p:sldId id="416" r:id="rId31"/>
    <p:sldId id="410" r:id="rId32"/>
    <p:sldId id="417" r:id="rId33"/>
    <p:sldId id="423" r:id="rId34"/>
    <p:sldId id="412" r:id="rId35"/>
    <p:sldId id="413" r:id="rId36"/>
    <p:sldId id="424" r:id="rId37"/>
    <p:sldId id="425" r:id="rId38"/>
    <p:sldId id="414" r:id="rId39"/>
    <p:sldId id="415" r:id="rId40"/>
    <p:sldId id="435" r:id="rId41"/>
    <p:sldId id="430" r:id="rId42"/>
    <p:sldId id="431" r:id="rId43"/>
    <p:sldId id="449" r:id="rId44"/>
    <p:sldId id="427" r:id="rId45"/>
    <p:sldId id="461" r:id="rId46"/>
    <p:sldId id="457" r:id="rId47"/>
    <p:sldId id="428" r:id="rId48"/>
    <p:sldId id="466" r:id="rId49"/>
    <p:sldId id="462" r:id="rId50"/>
    <p:sldId id="467" r:id="rId51"/>
    <p:sldId id="468" r:id="rId52"/>
    <p:sldId id="463" r:id="rId53"/>
    <p:sldId id="464" r:id="rId54"/>
    <p:sldId id="465" r:id="rId55"/>
    <p:sldId id="455" r:id="rId56"/>
    <p:sldId id="456" r:id="rId57"/>
    <p:sldId id="432" r:id="rId58"/>
    <p:sldId id="469" r:id="rId59"/>
    <p:sldId id="478" r:id="rId60"/>
    <p:sldId id="479" r:id="rId61"/>
    <p:sldId id="470" r:id="rId62"/>
    <p:sldId id="472" r:id="rId63"/>
    <p:sldId id="509" r:id="rId64"/>
    <p:sldId id="473" r:id="rId65"/>
    <p:sldId id="475" r:id="rId66"/>
    <p:sldId id="476" r:id="rId67"/>
    <p:sldId id="474" r:id="rId68"/>
    <p:sldId id="477" r:id="rId69"/>
    <p:sldId id="451" r:id="rId70"/>
    <p:sldId id="452" r:id="rId71"/>
    <p:sldId id="453" r:id="rId72"/>
    <p:sldId id="418" r:id="rId73"/>
    <p:sldId id="436" r:id="rId74"/>
    <p:sldId id="458" r:id="rId75"/>
    <p:sldId id="445" r:id="rId76"/>
    <p:sldId id="503" r:id="rId77"/>
    <p:sldId id="480" r:id="rId78"/>
    <p:sldId id="496" r:id="rId79"/>
    <p:sldId id="507" r:id="rId80"/>
    <p:sldId id="513" r:id="rId81"/>
    <p:sldId id="481" r:id="rId82"/>
    <p:sldId id="482" r:id="rId83"/>
    <p:sldId id="483" r:id="rId84"/>
    <p:sldId id="524" r:id="rId85"/>
    <p:sldId id="484" r:id="rId86"/>
    <p:sldId id="485" r:id="rId87"/>
    <p:sldId id="486" r:id="rId88"/>
    <p:sldId id="487" r:id="rId89"/>
    <p:sldId id="488" r:id="rId90"/>
    <p:sldId id="490" r:id="rId91"/>
    <p:sldId id="489" r:id="rId92"/>
    <p:sldId id="492" r:id="rId93"/>
    <p:sldId id="493" r:id="rId94"/>
    <p:sldId id="494" r:id="rId95"/>
    <p:sldId id="510" r:id="rId96"/>
    <p:sldId id="491" r:id="rId97"/>
    <p:sldId id="497" r:id="rId98"/>
    <p:sldId id="498" r:id="rId99"/>
    <p:sldId id="499" r:id="rId100"/>
    <p:sldId id="500" r:id="rId101"/>
    <p:sldId id="511" r:id="rId102"/>
    <p:sldId id="512" r:id="rId103"/>
    <p:sldId id="501" r:id="rId104"/>
    <p:sldId id="508" r:id="rId105"/>
    <p:sldId id="514" r:id="rId106"/>
    <p:sldId id="515" r:id="rId107"/>
    <p:sldId id="516" r:id="rId108"/>
    <p:sldId id="517" r:id="rId109"/>
    <p:sldId id="518" r:id="rId110"/>
    <p:sldId id="519" r:id="rId111"/>
    <p:sldId id="520" r:id="rId112"/>
    <p:sldId id="522" r:id="rId113"/>
    <p:sldId id="521" r:id="rId114"/>
    <p:sldId id="523" r:id="rId115"/>
    <p:sldId id="471" r:id="rId116"/>
    <p:sldId id="454" r:id="rId117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CD7371"/>
    <a:srgbClr val="AEC87A"/>
    <a:srgbClr val="FFFF66"/>
    <a:srgbClr val="EEB500"/>
    <a:srgbClr val="FFFF99"/>
    <a:srgbClr val="FFC000"/>
    <a:srgbClr val="F2F2F2"/>
    <a:srgbClr val="A27B00"/>
    <a:srgbClr val="B8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ลักษณะชุดรูปแบบ 1 - เน้น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ลักษณะชุดรูปแบบ 1 - เน้น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ลักษณะ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50841" autoAdjust="0"/>
  </p:normalViewPr>
  <p:slideViewPr>
    <p:cSldViewPr>
      <p:cViewPr varScale="1">
        <p:scale>
          <a:sx n="118" d="100"/>
          <a:sy n="118" d="100"/>
        </p:scale>
        <p:origin x="148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1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1170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handoutMaster" Target="handoutMasters/handoutMaster1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52E5BF-B838-4CAB-948B-B0BFD9F4907D}" type="doc">
      <dgm:prSet loTypeId="urn:microsoft.com/office/officeart/2005/8/layout/radial6" loCatId="cycle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th-TH"/>
        </a:p>
      </dgm:t>
    </dgm:pt>
    <dgm:pt modelId="{2A0541E7-ECF2-4CED-A647-A1F8CB7DA1E7}">
      <dgm:prSet phldrT="[ข้อความ]"/>
      <dgm:spPr/>
      <dgm:t>
        <a:bodyPr/>
        <a:lstStyle/>
        <a:p>
          <a:r>
            <a: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MIS</a:t>
          </a:r>
          <a:endParaRPr lang="th-TH" dirty="0">
            <a:solidFill>
              <a:srgbClr val="FFC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ngsanaUPC" pitchFamily="18" charset="-34"/>
            <a:cs typeface="AngsanaUPC" pitchFamily="18" charset="-34"/>
          </a:endParaRPr>
        </a:p>
      </dgm:t>
    </dgm:pt>
    <dgm:pt modelId="{BB181772-EB98-44AA-A4D4-E17E359D7B58}" type="parTrans" cxnId="{B08A1342-E563-443B-8C8D-1F36534D291E}">
      <dgm:prSet/>
      <dgm:spPr/>
      <dgm:t>
        <a:bodyPr/>
        <a:lstStyle/>
        <a:p>
          <a:endParaRPr lang="th-TH">
            <a:latin typeface="AngsanaUPC" pitchFamily="18" charset="-34"/>
            <a:cs typeface="AngsanaUPC" pitchFamily="18" charset="-34"/>
          </a:endParaRPr>
        </a:p>
      </dgm:t>
    </dgm:pt>
    <dgm:pt modelId="{EC6E53E8-47DE-4E21-847B-B944BFEB694F}" type="sibTrans" cxnId="{B08A1342-E563-443B-8C8D-1F36534D291E}">
      <dgm:prSet/>
      <dgm:spPr/>
      <dgm:t>
        <a:bodyPr/>
        <a:lstStyle/>
        <a:p>
          <a:endParaRPr lang="th-TH">
            <a:latin typeface="AngsanaUPC" pitchFamily="18" charset="-34"/>
            <a:cs typeface="AngsanaUPC" pitchFamily="18" charset="-34"/>
          </a:endParaRPr>
        </a:p>
      </dgm:t>
    </dgm:pt>
    <dgm:pt modelId="{B93B996D-BB95-495E-A853-CCCD7383639F}">
      <dgm:prSet phldrT="[ข้อความ]" custT="1"/>
      <dgm:spPr/>
      <dgm:t>
        <a:bodyPr/>
        <a:lstStyle/>
        <a:p>
          <a:r>
            <a:rPr lang="th-TH" sz="28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rPr>
            <a:t>ข้อมูลสารสนเทศ</a:t>
          </a:r>
        </a:p>
      </dgm:t>
    </dgm:pt>
    <dgm:pt modelId="{E96A0170-76B5-450C-86B3-95EDC73A2A23}" type="parTrans" cxnId="{433B00CF-32BE-4CEE-94A6-335813BF171A}">
      <dgm:prSet/>
      <dgm:spPr/>
      <dgm:t>
        <a:bodyPr/>
        <a:lstStyle/>
        <a:p>
          <a:endParaRPr lang="th-TH">
            <a:latin typeface="AngsanaUPC" pitchFamily="18" charset="-34"/>
            <a:cs typeface="AngsanaUPC" pitchFamily="18" charset="-34"/>
          </a:endParaRPr>
        </a:p>
      </dgm:t>
    </dgm:pt>
    <dgm:pt modelId="{778C36C8-9989-4513-A015-718F21494A2B}" type="sibTrans" cxnId="{433B00CF-32BE-4CEE-94A6-335813BF171A}">
      <dgm:prSet/>
      <dgm:spPr/>
      <dgm:t>
        <a:bodyPr/>
        <a:lstStyle/>
        <a:p>
          <a:endParaRPr lang="th-TH">
            <a:latin typeface="AngsanaUPC" pitchFamily="18" charset="-34"/>
            <a:cs typeface="AngsanaUPC" pitchFamily="18" charset="-34"/>
          </a:endParaRPr>
        </a:p>
      </dgm:t>
    </dgm:pt>
    <dgm:pt modelId="{CA735AEA-3FB9-45FD-82C4-CFDE22933F6E}">
      <dgm:prSet phldrT="[ข้อความ]" custT="1"/>
      <dgm:spPr/>
      <dgm:t>
        <a:bodyPr/>
        <a:lstStyle/>
        <a:p>
          <a:r>
            <a:rPr lang="th-TH" sz="28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rPr>
            <a:t>เทคโนโลยีและอุปกรณ์ </a:t>
          </a:r>
        </a:p>
      </dgm:t>
    </dgm:pt>
    <dgm:pt modelId="{678A07B4-4D92-40BD-997F-DCE731D72B5F}" type="parTrans" cxnId="{91B0FEDB-95CC-42F9-873D-77C6D2E631CC}">
      <dgm:prSet/>
      <dgm:spPr/>
      <dgm:t>
        <a:bodyPr/>
        <a:lstStyle/>
        <a:p>
          <a:endParaRPr lang="th-TH">
            <a:latin typeface="AngsanaUPC" pitchFamily="18" charset="-34"/>
            <a:cs typeface="AngsanaUPC" pitchFamily="18" charset="-34"/>
          </a:endParaRPr>
        </a:p>
      </dgm:t>
    </dgm:pt>
    <dgm:pt modelId="{0D0CAE76-2E7A-4577-8C4B-405371EDF178}" type="sibTrans" cxnId="{91B0FEDB-95CC-42F9-873D-77C6D2E631CC}">
      <dgm:prSet/>
      <dgm:spPr/>
      <dgm:t>
        <a:bodyPr/>
        <a:lstStyle/>
        <a:p>
          <a:endParaRPr lang="th-TH">
            <a:latin typeface="AngsanaUPC" pitchFamily="18" charset="-34"/>
            <a:cs typeface="AngsanaUPC" pitchFamily="18" charset="-34"/>
          </a:endParaRPr>
        </a:p>
      </dgm:t>
    </dgm:pt>
    <dgm:pt modelId="{6D4FE76C-67ED-4DA8-81A1-D2E6FDA3D0E4}">
      <dgm:prSet phldrT="[ข้อความ]" custT="1"/>
      <dgm:spPr/>
      <dgm:t>
        <a:bodyPr/>
        <a:lstStyle/>
        <a:p>
          <a:r>
            <a:rPr lang="th-TH" sz="26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rPr>
            <a:t>วิธีการหรือขั้นตอนการประมวลผล</a:t>
          </a:r>
          <a:r>
            <a:rPr lang="th-TH" sz="2600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rPr>
            <a:t> </a:t>
          </a:r>
          <a:endParaRPr lang="th-TH" sz="2600" b="1" dirty="0">
            <a:solidFill>
              <a:schemeClr val="tx1">
                <a:lumMod val="95000"/>
                <a:lumOff val="5000"/>
              </a:schemeClr>
            </a:solidFill>
            <a:latin typeface="AngsanaUPC" pitchFamily="18" charset="-34"/>
            <a:cs typeface="AngsanaUPC" pitchFamily="18" charset="-34"/>
          </a:endParaRPr>
        </a:p>
      </dgm:t>
    </dgm:pt>
    <dgm:pt modelId="{D6C187D2-292B-45C5-8B6B-8FD6C0BD8F17}" type="parTrans" cxnId="{5283F2B1-B0CA-4B94-ACF8-1131CA2BB531}">
      <dgm:prSet/>
      <dgm:spPr/>
      <dgm:t>
        <a:bodyPr/>
        <a:lstStyle/>
        <a:p>
          <a:endParaRPr lang="th-TH">
            <a:latin typeface="AngsanaUPC" pitchFamily="18" charset="-34"/>
            <a:cs typeface="AngsanaUPC" pitchFamily="18" charset="-34"/>
          </a:endParaRPr>
        </a:p>
      </dgm:t>
    </dgm:pt>
    <dgm:pt modelId="{AF3B0AA0-B5C5-44E3-AF0F-CC594A74397C}" type="sibTrans" cxnId="{5283F2B1-B0CA-4B94-ACF8-1131CA2BB531}">
      <dgm:prSet/>
      <dgm:spPr/>
      <dgm:t>
        <a:bodyPr/>
        <a:lstStyle/>
        <a:p>
          <a:endParaRPr lang="th-TH">
            <a:latin typeface="AngsanaUPC" pitchFamily="18" charset="-34"/>
            <a:cs typeface="AngsanaUPC" pitchFamily="18" charset="-34"/>
          </a:endParaRPr>
        </a:p>
      </dgm:t>
    </dgm:pt>
    <dgm:pt modelId="{83B160A8-C987-40E8-889E-A92E98366191}" type="pres">
      <dgm:prSet presAssocID="{1A52E5BF-B838-4CAB-948B-B0BFD9F4907D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E97EA9F-B585-416C-A6B7-0EE4DBFE4199}" type="pres">
      <dgm:prSet presAssocID="{2A0541E7-ECF2-4CED-A647-A1F8CB7DA1E7}" presName="centerShape" presStyleLbl="node0" presStyleIdx="0" presStyleCnt="1" custScaleX="97869" custScaleY="97869" custLinFactNeighborX="535" custLinFactNeighborY="535"/>
      <dgm:spPr/>
    </dgm:pt>
    <dgm:pt modelId="{1D068355-F535-4388-B8C2-BDCD96F076B3}" type="pres">
      <dgm:prSet presAssocID="{B93B996D-BB95-495E-A853-CCCD7383639F}" presName="node" presStyleLbl="node1" presStyleIdx="0" presStyleCnt="3" custScaleX="160220" custScaleY="107668" custRadScaleRad="90221">
        <dgm:presLayoutVars>
          <dgm:bulletEnabled val="1"/>
        </dgm:presLayoutVars>
      </dgm:prSet>
      <dgm:spPr/>
    </dgm:pt>
    <dgm:pt modelId="{C0F0C4BB-44A3-4ED3-B2FF-8FF721A098B1}" type="pres">
      <dgm:prSet presAssocID="{B93B996D-BB95-495E-A853-CCCD7383639F}" presName="dummy" presStyleCnt="0"/>
      <dgm:spPr/>
    </dgm:pt>
    <dgm:pt modelId="{9E8F32F3-E597-4B10-88A0-07954217EA1D}" type="pres">
      <dgm:prSet presAssocID="{778C36C8-9989-4513-A015-718F21494A2B}" presName="sibTrans" presStyleLbl="sibTrans2D1" presStyleIdx="0" presStyleCnt="3"/>
      <dgm:spPr/>
    </dgm:pt>
    <dgm:pt modelId="{EAE3A29A-CA20-4919-BEFE-EEBCB12B2AF0}" type="pres">
      <dgm:prSet presAssocID="{CA735AEA-3FB9-45FD-82C4-CFDE22933F6E}" presName="node" presStyleLbl="node1" presStyleIdx="1" presStyleCnt="3" custScaleX="160220" custScaleY="107668" custRadScaleRad="102331" custRadScaleInc="-15203">
        <dgm:presLayoutVars>
          <dgm:bulletEnabled val="1"/>
        </dgm:presLayoutVars>
      </dgm:prSet>
      <dgm:spPr/>
    </dgm:pt>
    <dgm:pt modelId="{43D90D19-BDDE-4531-87FA-D81FAAA72D71}" type="pres">
      <dgm:prSet presAssocID="{CA735AEA-3FB9-45FD-82C4-CFDE22933F6E}" presName="dummy" presStyleCnt="0"/>
      <dgm:spPr/>
    </dgm:pt>
    <dgm:pt modelId="{A1EE9737-5E7B-4C42-9474-E3D5CC13C972}" type="pres">
      <dgm:prSet presAssocID="{0D0CAE76-2E7A-4577-8C4B-405371EDF178}" presName="sibTrans" presStyleLbl="sibTrans2D1" presStyleIdx="1" presStyleCnt="3"/>
      <dgm:spPr/>
    </dgm:pt>
    <dgm:pt modelId="{27869B9F-5652-421A-918A-215F3A03FD9E}" type="pres">
      <dgm:prSet presAssocID="{6D4FE76C-67ED-4DA8-81A1-D2E6FDA3D0E4}" presName="node" presStyleLbl="node1" presStyleIdx="2" presStyleCnt="3" custScaleX="160220" custScaleY="107668" custRadScaleRad="102322" custRadScaleInc="21078">
        <dgm:presLayoutVars>
          <dgm:bulletEnabled val="1"/>
        </dgm:presLayoutVars>
      </dgm:prSet>
      <dgm:spPr/>
    </dgm:pt>
    <dgm:pt modelId="{2C1F88CF-2824-4807-ABE5-EBFA95B337C5}" type="pres">
      <dgm:prSet presAssocID="{6D4FE76C-67ED-4DA8-81A1-D2E6FDA3D0E4}" presName="dummy" presStyleCnt="0"/>
      <dgm:spPr/>
    </dgm:pt>
    <dgm:pt modelId="{D584ADE3-3A17-4693-9217-95AF15559BEA}" type="pres">
      <dgm:prSet presAssocID="{AF3B0AA0-B5C5-44E3-AF0F-CC594A74397C}" presName="sibTrans" presStyleLbl="sibTrans2D1" presStyleIdx="2" presStyleCnt="3"/>
      <dgm:spPr/>
    </dgm:pt>
  </dgm:ptLst>
  <dgm:cxnLst>
    <dgm:cxn modelId="{E2D81420-0E79-499B-AE65-246A28506548}" type="presOf" srcId="{6D4FE76C-67ED-4DA8-81A1-D2E6FDA3D0E4}" destId="{27869B9F-5652-421A-918A-215F3A03FD9E}" srcOrd="0" destOrd="0" presId="urn:microsoft.com/office/officeart/2005/8/layout/radial6"/>
    <dgm:cxn modelId="{4685A533-AA65-4216-97B2-306211A2C478}" type="presOf" srcId="{CA735AEA-3FB9-45FD-82C4-CFDE22933F6E}" destId="{EAE3A29A-CA20-4919-BEFE-EEBCB12B2AF0}" srcOrd="0" destOrd="0" presId="urn:microsoft.com/office/officeart/2005/8/layout/radial6"/>
    <dgm:cxn modelId="{B08A1342-E563-443B-8C8D-1F36534D291E}" srcId="{1A52E5BF-B838-4CAB-948B-B0BFD9F4907D}" destId="{2A0541E7-ECF2-4CED-A647-A1F8CB7DA1E7}" srcOrd="0" destOrd="0" parTransId="{BB181772-EB98-44AA-A4D4-E17E359D7B58}" sibTransId="{EC6E53E8-47DE-4E21-847B-B944BFEB694F}"/>
    <dgm:cxn modelId="{BCECDB54-D345-4593-968A-F20E4F5125C6}" type="presOf" srcId="{AF3B0AA0-B5C5-44E3-AF0F-CC594A74397C}" destId="{D584ADE3-3A17-4693-9217-95AF15559BEA}" srcOrd="0" destOrd="0" presId="urn:microsoft.com/office/officeart/2005/8/layout/radial6"/>
    <dgm:cxn modelId="{B9778B5D-52E8-4A18-982B-4FE453F53527}" type="presOf" srcId="{B93B996D-BB95-495E-A853-CCCD7383639F}" destId="{1D068355-F535-4388-B8C2-BDCD96F076B3}" srcOrd="0" destOrd="0" presId="urn:microsoft.com/office/officeart/2005/8/layout/radial6"/>
    <dgm:cxn modelId="{CA95D6A4-DA0A-4865-A3F1-3CFBC3791124}" type="presOf" srcId="{1A52E5BF-B838-4CAB-948B-B0BFD9F4907D}" destId="{83B160A8-C987-40E8-889E-A92E98366191}" srcOrd="0" destOrd="0" presId="urn:microsoft.com/office/officeart/2005/8/layout/radial6"/>
    <dgm:cxn modelId="{C72827A8-C77B-4CAA-907B-4AC05B08A156}" type="presOf" srcId="{0D0CAE76-2E7A-4577-8C4B-405371EDF178}" destId="{A1EE9737-5E7B-4C42-9474-E3D5CC13C972}" srcOrd="0" destOrd="0" presId="urn:microsoft.com/office/officeart/2005/8/layout/radial6"/>
    <dgm:cxn modelId="{5283F2B1-B0CA-4B94-ACF8-1131CA2BB531}" srcId="{2A0541E7-ECF2-4CED-A647-A1F8CB7DA1E7}" destId="{6D4FE76C-67ED-4DA8-81A1-D2E6FDA3D0E4}" srcOrd="2" destOrd="0" parTransId="{D6C187D2-292B-45C5-8B6B-8FD6C0BD8F17}" sibTransId="{AF3B0AA0-B5C5-44E3-AF0F-CC594A74397C}"/>
    <dgm:cxn modelId="{B1074BCC-B714-4340-9477-072409E8176A}" type="presOf" srcId="{2A0541E7-ECF2-4CED-A647-A1F8CB7DA1E7}" destId="{0E97EA9F-B585-416C-A6B7-0EE4DBFE4199}" srcOrd="0" destOrd="0" presId="urn:microsoft.com/office/officeart/2005/8/layout/radial6"/>
    <dgm:cxn modelId="{433B00CF-32BE-4CEE-94A6-335813BF171A}" srcId="{2A0541E7-ECF2-4CED-A647-A1F8CB7DA1E7}" destId="{B93B996D-BB95-495E-A853-CCCD7383639F}" srcOrd="0" destOrd="0" parTransId="{E96A0170-76B5-450C-86B3-95EDC73A2A23}" sibTransId="{778C36C8-9989-4513-A015-718F21494A2B}"/>
    <dgm:cxn modelId="{91B0FEDB-95CC-42F9-873D-77C6D2E631CC}" srcId="{2A0541E7-ECF2-4CED-A647-A1F8CB7DA1E7}" destId="{CA735AEA-3FB9-45FD-82C4-CFDE22933F6E}" srcOrd="1" destOrd="0" parTransId="{678A07B4-4D92-40BD-997F-DCE731D72B5F}" sibTransId="{0D0CAE76-2E7A-4577-8C4B-405371EDF178}"/>
    <dgm:cxn modelId="{93D925F8-69C3-4104-9DFE-73C81B098F96}" type="presOf" srcId="{778C36C8-9989-4513-A015-718F21494A2B}" destId="{9E8F32F3-E597-4B10-88A0-07954217EA1D}" srcOrd="0" destOrd="0" presId="urn:microsoft.com/office/officeart/2005/8/layout/radial6"/>
    <dgm:cxn modelId="{E49A337E-EEC8-446A-BFD7-893A42B24380}" type="presParOf" srcId="{83B160A8-C987-40E8-889E-A92E98366191}" destId="{0E97EA9F-B585-416C-A6B7-0EE4DBFE4199}" srcOrd="0" destOrd="0" presId="urn:microsoft.com/office/officeart/2005/8/layout/radial6"/>
    <dgm:cxn modelId="{C19451E5-BF58-475E-89D1-306D5D99199B}" type="presParOf" srcId="{83B160A8-C987-40E8-889E-A92E98366191}" destId="{1D068355-F535-4388-B8C2-BDCD96F076B3}" srcOrd="1" destOrd="0" presId="urn:microsoft.com/office/officeart/2005/8/layout/radial6"/>
    <dgm:cxn modelId="{78E3795E-5EE9-4A90-873A-1F07A6D9F353}" type="presParOf" srcId="{83B160A8-C987-40E8-889E-A92E98366191}" destId="{C0F0C4BB-44A3-4ED3-B2FF-8FF721A098B1}" srcOrd="2" destOrd="0" presId="urn:microsoft.com/office/officeart/2005/8/layout/radial6"/>
    <dgm:cxn modelId="{E3564233-2358-476F-8D32-B8B5640BE960}" type="presParOf" srcId="{83B160A8-C987-40E8-889E-A92E98366191}" destId="{9E8F32F3-E597-4B10-88A0-07954217EA1D}" srcOrd="3" destOrd="0" presId="urn:microsoft.com/office/officeart/2005/8/layout/radial6"/>
    <dgm:cxn modelId="{6F495F0B-4E66-42DD-AB3E-9B477E1329E6}" type="presParOf" srcId="{83B160A8-C987-40E8-889E-A92E98366191}" destId="{EAE3A29A-CA20-4919-BEFE-EEBCB12B2AF0}" srcOrd="4" destOrd="0" presId="urn:microsoft.com/office/officeart/2005/8/layout/radial6"/>
    <dgm:cxn modelId="{A1AB8E5C-9AF7-429B-9C35-93E29B5750B6}" type="presParOf" srcId="{83B160A8-C987-40E8-889E-A92E98366191}" destId="{43D90D19-BDDE-4531-87FA-D81FAAA72D71}" srcOrd="5" destOrd="0" presId="urn:microsoft.com/office/officeart/2005/8/layout/radial6"/>
    <dgm:cxn modelId="{D96D95F5-6CCD-4B5E-9B8B-76BD25ACEEC1}" type="presParOf" srcId="{83B160A8-C987-40E8-889E-A92E98366191}" destId="{A1EE9737-5E7B-4C42-9474-E3D5CC13C972}" srcOrd="6" destOrd="0" presId="urn:microsoft.com/office/officeart/2005/8/layout/radial6"/>
    <dgm:cxn modelId="{9D8F7525-FA6C-436A-A343-FE8372EBACB5}" type="presParOf" srcId="{83B160A8-C987-40E8-889E-A92E98366191}" destId="{27869B9F-5652-421A-918A-215F3A03FD9E}" srcOrd="7" destOrd="0" presId="urn:microsoft.com/office/officeart/2005/8/layout/radial6"/>
    <dgm:cxn modelId="{15108AD5-68B1-4245-B7F6-6A108AD042CA}" type="presParOf" srcId="{83B160A8-C987-40E8-889E-A92E98366191}" destId="{2C1F88CF-2824-4807-ABE5-EBFA95B337C5}" srcOrd="8" destOrd="0" presId="urn:microsoft.com/office/officeart/2005/8/layout/radial6"/>
    <dgm:cxn modelId="{B3971210-4403-4E6F-ACB3-4A98DD28BEDD}" type="presParOf" srcId="{83B160A8-C987-40E8-889E-A92E98366191}" destId="{D584ADE3-3A17-4693-9217-95AF15559BEA}" srcOrd="9" destOrd="0" presId="urn:microsoft.com/office/officeart/2005/8/layout/radial6"/>
  </dgm:cxnLst>
  <dgm:bg>
    <a:solidFill>
      <a:schemeClr val="bg1">
        <a:lumMod val="85000"/>
      </a:schemeClr>
    </a:solidFill>
  </dgm:bg>
  <dgm:whole>
    <a:ln>
      <a:solidFill>
        <a:schemeClr val="bg1">
          <a:lumMod val="50000"/>
        </a:schemeClr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1856C8-9D3D-456F-B427-90305FB42D91}" type="doc">
      <dgm:prSet loTypeId="urn:microsoft.com/office/officeart/2005/8/layout/orgChart1" loCatId="hierarchy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th-TH"/>
        </a:p>
      </dgm:t>
    </dgm:pt>
    <dgm:pt modelId="{1D1FDEA4-9B6D-42BB-8D81-DFFCA1DE7753}">
      <dgm:prSet phldrT="[ข้อความ]" custT="1"/>
      <dgm:spPr/>
      <dgm:t>
        <a:bodyPr/>
        <a:lstStyle/>
        <a:p>
          <a:r>
            <a:rPr lang="th-TH" sz="4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ระบบสารสนเทศเพื่อการจัดการ (</a:t>
          </a:r>
          <a:r>
            <a:rPr lang="en-US" sz="4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MIS</a:t>
          </a:r>
          <a:r>
            <a:rPr lang="th-TH" sz="4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)</a:t>
          </a:r>
        </a:p>
      </dgm:t>
    </dgm:pt>
    <dgm:pt modelId="{9A9B3EDD-C5F6-452C-80A2-4D92E65AE430}" type="parTrans" cxnId="{EAE50DE4-88E5-40E6-BA8C-0D67051716E7}">
      <dgm:prSet/>
      <dgm:spPr/>
      <dgm:t>
        <a:bodyPr/>
        <a:lstStyle/>
        <a:p>
          <a:endParaRPr lang="th-TH" b="1">
            <a:solidFill>
              <a:schemeClr val="tx1">
                <a:lumMod val="95000"/>
                <a:lumOff val="5000"/>
              </a:schemeClr>
            </a:solidFill>
            <a:latin typeface="AngsanaUPC" pitchFamily="18" charset="-34"/>
            <a:cs typeface="AngsanaUPC" pitchFamily="18" charset="-34"/>
          </a:endParaRPr>
        </a:p>
      </dgm:t>
    </dgm:pt>
    <dgm:pt modelId="{0CCBF7F6-B206-4611-B131-F62909C3852D}" type="sibTrans" cxnId="{EAE50DE4-88E5-40E6-BA8C-0D67051716E7}">
      <dgm:prSet/>
      <dgm:spPr/>
      <dgm:t>
        <a:bodyPr/>
        <a:lstStyle/>
        <a:p>
          <a:endParaRPr lang="th-TH" b="1">
            <a:solidFill>
              <a:schemeClr val="tx1">
                <a:lumMod val="95000"/>
                <a:lumOff val="5000"/>
              </a:schemeClr>
            </a:solidFill>
            <a:latin typeface="AngsanaUPC" pitchFamily="18" charset="-34"/>
            <a:cs typeface="AngsanaUPC" pitchFamily="18" charset="-34"/>
          </a:endParaRPr>
        </a:p>
      </dgm:t>
    </dgm:pt>
    <dgm:pt modelId="{F585A668-2191-4777-8983-B23712562E42}">
      <dgm:prSet phldrT="[ข้อความ]" custT="1"/>
      <dgm:spPr/>
      <dgm:t>
        <a:bodyPr/>
        <a:lstStyle/>
        <a:p>
          <a:r>
            <a:rPr lang="th-TH" sz="28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rPr>
            <a:t>ระบบประมวลผลเชิงรายการ</a:t>
          </a:r>
          <a:br>
            <a:rPr lang="th-TH" sz="28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rPr>
          </a:br>
          <a:r>
            <a:rPr lang="th-TH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(</a:t>
          </a:r>
          <a:r>
            <a:rPr lang="en-US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TPS</a:t>
          </a:r>
          <a:r>
            <a:rPr lang="th-TH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)</a:t>
          </a:r>
        </a:p>
      </dgm:t>
    </dgm:pt>
    <dgm:pt modelId="{38CA22EA-FB20-4311-9802-466547CA176D}" type="parTrans" cxnId="{DB295C12-16BF-4706-AF79-3FC4BC8BE349}">
      <dgm:prSet/>
      <dgm:spPr/>
      <dgm:t>
        <a:bodyPr/>
        <a:lstStyle/>
        <a:p>
          <a:endParaRPr lang="th-TH" b="1">
            <a:solidFill>
              <a:schemeClr val="tx1">
                <a:lumMod val="95000"/>
                <a:lumOff val="5000"/>
              </a:schemeClr>
            </a:solidFill>
            <a:latin typeface="AngsanaUPC" pitchFamily="18" charset="-34"/>
            <a:cs typeface="AngsanaUPC" pitchFamily="18" charset="-34"/>
          </a:endParaRPr>
        </a:p>
      </dgm:t>
    </dgm:pt>
    <dgm:pt modelId="{2726A679-FC74-488B-8395-341212CDE4DC}" type="sibTrans" cxnId="{DB295C12-16BF-4706-AF79-3FC4BC8BE349}">
      <dgm:prSet/>
      <dgm:spPr/>
      <dgm:t>
        <a:bodyPr/>
        <a:lstStyle/>
        <a:p>
          <a:endParaRPr lang="th-TH" b="1">
            <a:solidFill>
              <a:schemeClr val="tx1">
                <a:lumMod val="95000"/>
                <a:lumOff val="5000"/>
              </a:schemeClr>
            </a:solidFill>
            <a:latin typeface="AngsanaUPC" pitchFamily="18" charset="-34"/>
            <a:cs typeface="AngsanaUPC" pitchFamily="18" charset="-34"/>
          </a:endParaRPr>
        </a:p>
      </dgm:t>
    </dgm:pt>
    <dgm:pt modelId="{4A3BC578-82F3-44D8-9FB0-BB21DAC14EB3}">
      <dgm:prSet phldrT="[ข้อความ]" custT="1"/>
      <dgm:spPr/>
      <dgm:t>
        <a:bodyPr/>
        <a:lstStyle/>
        <a:p>
          <a:r>
            <a:rPr lang="th-TH" sz="29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rPr>
            <a:t>ระบบจัดการรายงาน</a:t>
          </a:r>
          <a:br>
            <a:rPr lang="th-TH" sz="29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rPr>
          </a:br>
          <a:r>
            <a:rPr lang="th-TH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(</a:t>
          </a:r>
          <a:r>
            <a:rPr lang="en-US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MRS</a:t>
          </a:r>
          <a:r>
            <a:rPr lang="th-TH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)</a:t>
          </a:r>
        </a:p>
      </dgm:t>
    </dgm:pt>
    <dgm:pt modelId="{08583E71-383E-48E3-B4C4-75231619A5AC}" type="parTrans" cxnId="{369152B7-DBA0-4769-8F57-23BF77AD5D56}">
      <dgm:prSet/>
      <dgm:spPr/>
      <dgm:t>
        <a:bodyPr/>
        <a:lstStyle/>
        <a:p>
          <a:endParaRPr lang="th-TH" b="1">
            <a:solidFill>
              <a:schemeClr val="tx1">
                <a:lumMod val="95000"/>
                <a:lumOff val="5000"/>
              </a:schemeClr>
            </a:solidFill>
            <a:latin typeface="AngsanaUPC" pitchFamily="18" charset="-34"/>
            <a:cs typeface="AngsanaUPC" pitchFamily="18" charset="-34"/>
          </a:endParaRPr>
        </a:p>
      </dgm:t>
    </dgm:pt>
    <dgm:pt modelId="{5E9A0602-53F7-416A-808A-0C1135DEFCFF}" type="sibTrans" cxnId="{369152B7-DBA0-4769-8F57-23BF77AD5D56}">
      <dgm:prSet/>
      <dgm:spPr/>
      <dgm:t>
        <a:bodyPr/>
        <a:lstStyle/>
        <a:p>
          <a:endParaRPr lang="th-TH" b="1">
            <a:solidFill>
              <a:schemeClr val="tx1">
                <a:lumMod val="95000"/>
                <a:lumOff val="5000"/>
              </a:schemeClr>
            </a:solidFill>
            <a:latin typeface="AngsanaUPC" pitchFamily="18" charset="-34"/>
            <a:cs typeface="AngsanaUPC" pitchFamily="18" charset="-34"/>
          </a:endParaRPr>
        </a:p>
      </dgm:t>
    </dgm:pt>
    <dgm:pt modelId="{B691FA5A-B84E-4DC2-81A7-3EE2DAAAD8F1}">
      <dgm:prSet phldrT="[ข้อความ]" custT="1"/>
      <dgm:spPr/>
      <dgm:t>
        <a:bodyPr/>
        <a:lstStyle/>
        <a:p>
          <a:pPr>
            <a:lnSpc>
              <a:spcPct val="100000"/>
            </a:lnSpc>
          </a:pPr>
          <a:r>
            <a:rPr lang="th-TH" sz="29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rPr>
            <a:t>ระบบสนับสนุนการตัดสินใจ</a:t>
          </a:r>
          <a:r>
            <a:rPr lang="th-TH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(</a:t>
          </a:r>
          <a:r>
            <a:rPr lang="en-US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DSS</a:t>
          </a:r>
          <a:r>
            <a:rPr lang="th-TH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)</a:t>
          </a:r>
        </a:p>
      </dgm:t>
    </dgm:pt>
    <dgm:pt modelId="{85AF740D-7585-43D4-B593-A7A9B62DC546}" type="parTrans" cxnId="{D2261E07-4567-4D3F-8D14-775F5A47D8B9}">
      <dgm:prSet/>
      <dgm:spPr/>
      <dgm:t>
        <a:bodyPr/>
        <a:lstStyle/>
        <a:p>
          <a:endParaRPr lang="th-TH" b="1">
            <a:solidFill>
              <a:schemeClr val="tx1">
                <a:lumMod val="95000"/>
                <a:lumOff val="5000"/>
              </a:schemeClr>
            </a:solidFill>
            <a:latin typeface="AngsanaUPC" pitchFamily="18" charset="-34"/>
            <a:cs typeface="AngsanaUPC" pitchFamily="18" charset="-34"/>
          </a:endParaRPr>
        </a:p>
      </dgm:t>
    </dgm:pt>
    <dgm:pt modelId="{34A456C2-8BA2-4CA3-94C8-E9EB5A3E0759}" type="sibTrans" cxnId="{D2261E07-4567-4D3F-8D14-775F5A47D8B9}">
      <dgm:prSet/>
      <dgm:spPr/>
      <dgm:t>
        <a:bodyPr/>
        <a:lstStyle/>
        <a:p>
          <a:endParaRPr lang="th-TH" b="1">
            <a:solidFill>
              <a:schemeClr val="tx1">
                <a:lumMod val="95000"/>
                <a:lumOff val="5000"/>
              </a:schemeClr>
            </a:solidFill>
            <a:latin typeface="AngsanaUPC" pitchFamily="18" charset="-34"/>
            <a:cs typeface="AngsanaUPC" pitchFamily="18" charset="-34"/>
          </a:endParaRPr>
        </a:p>
      </dgm:t>
    </dgm:pt>
    <dgm:pt modelId="{6E632CD5-831B-4D2C-AF62-3C7C2368A64D}">
      <dgm:prSet phldrT="[ข้อความ]" custT="1"/>
      <dgm:spPr/>
      <dgm:t>
        <a:bodyPr/>
        <a:lstStyle/>
        <a:p>
          <a:r>
            <a:rPr lang="th-TH" sz="29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rPr>
            <a:t>ระบบสารสนเทศสำนักงาน</a:t>
          </a:r>
          <a:br>
            <a:rPr lang="th-TH" sz="29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rPr>
          </a:br>
          <a:r>
            <a:rPr lang="th-TH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(</a:t>
          </a:r>
          <a:r>
            <a:rPr lang="en-US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OIS</a:t>
          </a:r>
          <a:r>
            <a:rPr lang="th-TH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)</a:t>
          </a:r>
        </a:p>
      </dgm:t>
    </dgm:pt>
    <dgm:pt modelId="{98DDEDC9-AB98-441B-8E70-4F4DAA5F4610}" type="parTrans" cxnId="{6D462478-E977-4146-A4DE-A2F27E43BA15}">
      <dgm:prSet/>
      <dgm:spPr/>
      <dgm:t>
        <a:bodyPr/>
        <a:lstStyle/>
        <a:p>
          <a:endParaRPr lang="th-TH" b="1">
            <a:solidFill>
              <a:schemeClr val="tx1">
                <a:lumMod val="95000"/>
                <a:lumOff val="5000"/>
              </a:schemeClr>
            </a:solidFill>
            <a:latin typeface="AngsanaUPC" pitchFamily="18" charset="-34"/>
            <a:cs typeface="AngsanaUPC" pitchFamily="18" charset="-34"/>
          </a:endParaRPr>
        </a:p>
      </dgm:t>
    </dgm:pt>
    <dgm:pt modelId="{6D93E2CD-B512-4B01-8A0F-D7E9EC98A3E9}" type="sibTrans" cxnId="{6D462478-E977-4146-A4DE-A2F27E43BA15}">
      <dgm:prSet/>
      <dgm:spPr/>
      <dgm:t>
        <a:bodyPr/>
        <a:lstStyle/>
        <a:p>
          <a:endParaRPr lang="th-TH" b="1">
            <a:solidFill>
              <a:schemeClr val="tx1">
                <a:lumMod val="95000"/>
                <a:lumOff val="5000"/>
              </a:schemeClr>
            </a:solidFill>
            <a:latin typeface="AngsanaUPC" pitchFamily="18" charset="-34"/>
            <a:cs typeface="AngsanaUPC" pitchFamily="18" charset="-34"/>
          </a:endParaRPr>
        </a:p>
      </dgm:t>
    </dgm:pt>
    <dgm:pt modelId="{EE6B546F-6604-461D-8000-094513C777C5}" type="pres">
      <dgm:prSet presAssocID="{AE1856C8-9D3D-456F-B427-90305FB42D9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9E6D7AA-A6FB-4477-A199-A48B8AD68E10}" type="pres">
      <dgm:prSet presAssocID="{1D1FDEA4-9B6D-42BB-8D81-DFFCA1DE7753}" presName="hierRoot1" presStyleCnt="0">
        <dgm:presLayoutVars>
          <dgm:hierBranch val="init"/>
        </dgm:presLayoutVars>
      </dgm:prSet>
      <dgm:spPr/>
    </dgm:pt>
    <dgm:pt modelId="{988CCEE9-5D79-4C06-BC2F-49B33843BD96}" type="pres">
      <dgm:prSet presAssocID="{1D1FDEA4-9B6D-42BB-8D81-DFFCA1DE7753}" presName="rootComposite1" presStyleCnt="0"/>
      <dgm:spPr/>
    </dgm:pt>
    <dgm:pt modelId="{70C7064F-5225-40EB-BD38-18E477666BAF}" type="pres">
      <dgm:prSet presAssocID="{1D1FDEA4-9B6D-42BB-8D81-DFFCA1DE7753}" presName="rootText1" presStyleLbl="node0" presStyleIdx="0" presStyleCnt="1" custScaleX="443612" custScaleY="166391" custLinFactNeighborY="-7624">
        <dgm:presLayoutVars>
          <dgm:chPref val="3"/>
        </dgm:presLayoutVars>
      </dgm:prSet>
      <dgm:spPr/>
    </dgm:pt>
    <dgm:pt modelId="{5750EC4B-20B0-4896-BBE1-7F7B85C3DEEA}" type="pres">
      <dgm:prSet presAssocID="{1D1FDEA4-9B6D-42BB-8D81-DFFCA1DE7753}" presName="rootConnector1" presStyleLbl="node1" presStyleIdx="0" presStyleCnt="0"/>
      <dgm:spPr/>
    </dgm:pt>
    <dgm:pt modelId="{F1A5A0B3-C153-4DF7-90D5-0F00711EE1DA}" type="pres">
      <dgm:prSet presAssocID="{1D1FDEA4-9B6D-42BB-8D81-DFFCA1DE7753}" presName="hierChild2" presStyleCnt="0"/>
      <dgm:spPr/>
    </dgm:pt>
    <dgm:pt modelId="{2F0388E9-E919-4731-8A1B-C56C6B779CD7}" type="pres">
      <dgm:prSet presAssocID="{38CA22EA-FB20-4311-9802-466547CA176D}" presName="Name37" presStyleLbl="parChTrans1D2" presStyleIdx="0" presStyleCnt="4"/>
      <dgm:spPr/>
    </dgm:pt>
    <dgm:pt modelId="{2605B1BE-DB65-40DB-886F-A22D9C442452}" type="pres">
      <dgm:prSet presAssocID="{F585A668-2191-4777-8983-B23712562E42}" presName="hierRoot2" presStyleCnt="0">
        <dgm:presLayoutVars>
          <dgm:hierBranch val="init"/>
        </dgm:presLayoutVars>
      </dgm:prSet>
      <dgm:spPr/>
    </dgm:pt>
    <dgm:pt modelId="{9C7AC45D-27F5-4F59-9270-B98BA69745CD}" type="pres">
      <dgm:prSet presAssocID="{F585A668-2191-4777-8983-B23712562E42}" presName="rootComposite" presStyleCnt="0"/>
      <dgm:spPr/>
    </dgm:pt>
    <dgm:pt modelId="{57F429CA-F758-45C5-9ED5-BA5AA572A895}" type="pres">
      <dgm:prSet presAssocID="{F585A668-2191-4777-8983-B23712562E42}" presName="rootText" presStyleLbl="node2" presStyleIdx="0" presStyleCnt="4" custScaleX="121006" custScaleY="202534" custLinFactNeighborY="55762">
        <dgm:presLayoutVars>
          <dgm:chPref val="3"/>
        </dgm:presLayoutVars>
      </dgm:prSet>
      <dgm:spPr/>
    </dgm:pt>
    <dgm:pt modelId="{EDEF53D6-710D-4D54-8141-B770E1FF097C}" type="pres">
      <dgm:prSet presAssocID="{F585A668-2191-4777-8983-B23712562E42}" presName="rootConnector" presStyleLbl="node2" presStyleIdx="0" presStyleCnt="4"/>
      <dgm:spPr/>
    </dgm:pt>
    <dgm:pt modelId="{1DB98600-5BC7-4BD0-9393-9308B9912D62}" type="pres">
      <dgm:prSet presAssocID="{F585A668-2191-4777-8983-B23712562E42}" presName="hierChild4" presStyleCnt="0"/>
      <dgm:spPr/>
    </dgm:pt>
    <dgm:pt modelId="{77E70F07-BE31-4F74-8DCF-021A856C465B}" type="pres">
      <dgm:prSet presAssocID="{F585A668-2191-4777-8983-B23712562E42}" presName="hierChild5" presStyleCnt="0"/>
      <dgm:spPr/>
    </dgm:pt>
    <dgm:pt modelId="{23AB1872-5DB7-4D1E-A380-7F7DDE8FC180}" type="pres">
      <dgm:prSet presAssocID="{08583E71-383E-48E3-B4C4-75231619A5AC}" presName="Name37" presStyleLbl="parChTrans1D2" presStyleIdx="1" presStyleCnt="4"/>
      <dgm:spPr/>
    </dgm:pt>
    <dgm:pt modelId="{54AD8CA9-CE27-4DF0-8808-FE98B2E4229B}" type="pres">
      <dgm:prSet presAssocID="{4A3BC578-82F3-44D8-9FB0-BB21DAC14EB3}" presName="hierRoot2" presStyleCnt="0">
        <dgm:presLayoutVars>
          <dgm:hierBranch val="init"/>
        </dgm:presLayoutVars>
      </dgm:prSet>
      <dgm:spPr/>
    </dgm:pt>
    <dgm:pt modelId="{0CBD9D2E-7CF5-4FCF-A35D-4A919ED94E5A}" type="pres">
      <dgm:prSet presAssocID="{4A3BC578-82F3-44D8-9FB0-BB21DAC14EB3}" presName="rootComposite" presStyleCnt="0"/>
      <dgm:spPr/>
    </dgm:pt>
    <dgm:pt modelId="{38FF8E7F-F68E-44F0-B12E-D1548C7D09D3}" type="pres">
      <dgm:prSet presAssocID="{4A3BC578-82F3-44D8-9FB0-BB21DAC14EB3}" presName="rootText" presStyleLbl="node2" presStyleIdx="1" presStyleCnt="4" custScaleX="109890" custScaleY="202534" custLinFactNeighborY="55762">
        <dgm:presLayoutVars>
          <dgm:chPref val="3"/>
        </dgm:presLayoutVars>
      </dgm:prSet>
      <dgm:spPr/>
    </dgm:pt>
    <dgm:pt modelId="{E7081016-AD6C-43A1-B8A7-C47A057E4149}" type="pres">
      <dgm:prSet presAssocID="{4A3BC578-82F3-44D8-9FB0-BB21DAC14EB3}" presName="rootConnector" presStyleLbl="node2" presStyleIdx="1" presStyleCnt="4"/>
      <dgm:spPr/>
    </dgm:pt>
    <dgm:pt modelId="{9814CD29-85ED-459A-9EED-C7B4444A8C62}" type="pres">
      <dgm:prSet presAssocID="{4A3BC578-82F3-44D8-9FB0-BB21DAC14EB3}" presName="hierChild4" presStyleCnt="0"/>
      <dgm:spPr/>
    </dgm:pt>
    <dgm:pt modelId="{666ACC34-E8D8-477A-B642-65023F12D6C7}" type="pres">
      <dgm:prSet presAssocID="{4A3BC578-82F3-44D8-9FB0-BB21DAC14EB3}" presName="hierChild5" presStyleCnt="0"/>
      <dgm:spPr/>
    </dgm:pt>
    <dgm:pt modelId="{817AC0A6-77B2-4E48-9D32-A967BD14C457}" type="pres">
      <dgm:prSet presAssocID="{85AF740D-7585-43D4-B593-A7A9B62DC546}" presName="Name37" presStyleLbl="parChTrans1D2" presStyleIdx="2" presStyleCnt="4"/>
      <dgm:spPr/>
    </dgm:pt>
    <dgm:pt modelId="{C1BCA6B6-FA57-4F57-9C25-157CCF8DB729}" type="pres">
      <dgm:prSet presAssocID="{B691FA5A-B84E-4DC2-81A7-3EE2DAAAD8F1}" presName="hierRoot2" presStyleCnt="0">
        <dgm:presLayoutVars>
          <dgm:hierBranch val="init"/>
        </dgm:presLayoutVars>
      </dgm:prSet>
      <dgm:spPr/>
    </dgm:pt>
    <dgm:pt modelId="{B73F1F6F-BA3A-45F6-ABBC-63D8CB23D640}" type="pres">
      <dgm:prSet presAssocID="{B691FA5A-B84E-4DC2-81A7-3EE2DAAAD8F1}" presName="rootComposite" presStyleCnt="0"/>
      <dgm:spPr/>
    </dgm:pt>
    <dgm:pt modelId="{E53C934B-280A-4C4A-A6B4-F0D97EC1FC20}" type="pres">
      <dgm:prSet presAssocID="{B691FA5A-B84E-4DC2-81A7-3EE2DAAAD8F1}" presName="rootText" presStyleLbl="node2" presStyleIdx="2" presStyleCnt="4" custScaleX="112532" custScaleY="202534" custLinFactNeighborY="55762">
        <dgm:presLayoutVars>
          <dgm:chPref val="3"/>
        </dgm:presLayoutVars>
      </dgm:prSet>
      <dgm:spPr/>
    </dgm:pt>
    <dgm:pt modelId="{52D4985A-DD89-4A55-ABBC-F09ECC8AC597}" type="pres">
      <dgm:prSet presAssocID="{B691FA5A-B84E-4DC2-81A7-3EE2DAAAD8F1}" presName="rootConnector" presStyleLbl="node2" presStyleIdx="2" presStyleCnt="4"/>
      <dgm:spPr/>
    </dgm:pt>
    <dgm:pt modelId="{F0C192B5-DF16-4DCE-8DD9-A0F335256F1B}" type="pres">
      <dgm:prSet presAssocID="{B691FA5A-B84E-4DC2-81A7-3EE2DAAAD8F1}" presName="hierChild4" presStyleCnt="0"/>
      <dgm:spPr/>
    </dgm:pt>
    <dgm:pt modelId="{DAACA08B-799B-4402-9FF3-F77EC7798B7B}" type="pres">
      <dgm:prSet presAssocID="{B691FA5A-B84E-4DC2-81A7-3EE2DAAAD8F1}" presName="hierChild5" presStyleCnt="0"/>
      <dgm:spPr/>
    </dgm:pt>
    <dgm:pt modelId="{88E840FC-A50E-49F3-B28F-5E460E5FB066}" type="pres">
      <dgm:prSet presAssocID="{98DDEDC9-AB98-441B-8E70-4F4DAA5F4610}" presName="Name37" presStyleLbl="parChTrans1D2" presStyleIdx="3" presStyleCnt="4"/>
      <dgm:spPr/>
    </dgm:pt>
    <dgm:pt modelId="{7E1D6904-2497-45C0-A47F-9BAD9EF1BD0B}" type="pres">
      <dgm:prSet presAssocID="{6E632CD5-831B-4D2C-AF62-3C7C2368A64D}" presName="hierRoot2" presStyleCnt="0">
        <dgm:presLayoutVars>
          <dgm:hierBranch val="init"/>
        </dgm:presLayoutVars>
      </dgm:prSet>
      <dgm:spPr/>
    </dgm:pt>
    <dgm:pt modelId="{A8A9167A-57D6-4277-A3C9-F526960F4BEE}" type="pres">
      <dgm:prSet presAssocID="{6E632CD5-831B-4D2C-AF62-3C7C2368A64D}" presName="rootComposite" presStyleCnt="0"/>
      <dgm:spPr/>
    </dgm:pt>
    <dgm:pt modelId="{9C515FB4-0C50-437C-86BA-0E047A7D99CA}" type="pres">
      <dgm:prSet presAssocID="{6E632CD5-831B-4D2C-AF62-3C7C2368A64D}" presName="rootText" presStyleLbl="node2" presStyleIdx="3" presStyleCnt="4" custScaleX="120530" custScaleY="202534" custLinFactNeighborY="55762">
        <dgm:presLayoutVars>
          <dgm:chPref val="3"/>
        </dgm:presLayoutVars>
      </dgm:prSet>
      <dgm:spPr/>
    </dgm:pt>
    <dgm:pt modelId="{A1EF3158-B0EE-4A71-8434-A9BDAC74615A}" type="pres">
      <dgm:prSet presAssocID="{6E632CD5-831B-4D2C-AF62-3C7C2368A64D}" presName="rootConnector" presStyleLbl="node2" presStyleIdx="3" presStyleCnt="4"/>
      <dgm:spPr/>
    </dgm:pt>
    <dgm:pt modelId="{84D2BE05-E03F-4009-8453-8B81BAD4019E}" type="pres">
      <dgm:prSet presAssocID="{6E632CD5-831B-4D2C-AF62-3C7C2368A64D}" presName="hierChild4" presStyleCnt="0"/>
      <dgm:spPr/>
    </dgm:pt>
    <dgm:pt modelId="{C31A629F-72AB-4F50-90DF-6C3DECE10A3C}" type="pres">
      <dgm:prSet presAssocID="{6E632CD5-831B-4D2C-AF62-3C7C2368A64D}" presName="hierChild5" presStyleCnt="0"/>
      <dgm:spPr/>
    </dgm:pt>
    <dgm:pt modelId="{0D8B4940-0E1B-47C7-ACF8-5A1552EC4D12}" type="pres">
      <dgm:prSet presAssocID="{1D1FDEA4-9B6D-42BB-8D81-DFFCA1DE7753}" presName="hierChild3" presStyleCnt="0"/>
      <dgm:spPr/>
    </dgm:pt>
  </dgm:ptLst>
  <dgm:cxnLst>
    <dgm:cxn modelId="{D2261E07-4567-4D3F-8D14-775F5A47D8B9}" srcId="{1D1FDEA4-9B6D-42BB-8D81-DFFCA1DE7753}" destId="{B691FA5A-B84E-4DC2-81A7-3EE2DAAAD8F1}" srcOrd="2" destOrd="0" parTransId="{85AF740D-7585-43D4-B593-A7A9B62DC546}" sibTransId="{34A456C2-8BA2-4CA3-94C8-E9EB5A3E0759}"/>
    <dgm:cxn modelId="{DB295C12-16BF-4706-AF79-3FC4BC8BE349}" srcId="{1D1FDEA4-9B6D-42BB-8D81-DFFCA1DE7753}" destId="{F585A668-2191-4777-8983-B23712562E42}" srcOrd="0" destOrd="0" parTransId="{38CA22EA-FB20-4311-9802-466547CA176D}" sibTransId="{2726A679-FC74-488B-8395-341212CDE4DC}"/>
    <dgm:cxn modelId="{FA8F7B28-C0D7-4E97-95EC-EB50DC7A4021}" type="presOf" srcId="{1D1FDEA4-9B6D-42BB-8D81-DFFCA1DE7753}" destId="{5750EC4B-20B0-4896-BBE1-7F7B85C3DEEA}" srcOrd="1" destOrd="0" presId="urn:microsoft.com/office/officeart/2005/8/layout/orgChart1"/>
    <dgm:cxn modelId="{77402B2F-A924-46ED-A53A-CF14547F8101}" type="presOf" srcId="{6E632CD5-831B-4D2C-AF62-3C7C2368A64D}" destId="{A1EF3158-B0EE-4A71-8434-A9BDAC74615A}" srcOrd="1" destOrd="0" presId="urn:microsoft.com/office/officeart/2005/8/layout/orgChart1"/>
    <dgm:cxn modelId="{B52B763B-BEDA-401D-A394-E8B1C0B57691}" type="presOf" srcId="{B691FA5A-B84E-4DC2-81A7-3EE2DAAAD8F1}" destId="{52D4985A-DD89-4A55-ABBC-F09ECC8AC597}" srcOrd="1" destOrd="0" presId="urn:microsoft.com/office/officeart/2005/8/layout/orgChart1"/>
    <dgm:cxn modelId="{3CB70A45-02BD-4CA3-80D8-2A7B672EB9AF}" type="presOf" srcId="{98DDEDC9-AB98-441B-8E70-4F4DAA5F4610}" destId="{88E840FC-A50E-49F3-B28F-5E460E5FB066}" srcOrd="0" destOrd="0" presId="urn:microsoft.com/office/officeart/2005/8/layout/orgChart1"/>
    <dgm:cxn modelId="{BDCDA550-63D1-448B-87B0-1EEC6C752182}" type="presOf" srcId="{4A3BC578-82F3-44D8-9FB0-BB21DAC14EB3}" destId="{38FF8E7F-F68E-44F0-B12E-D1548C7D09D3}" srcOrd="0" destOrd="0" presId="urn:microsoft.com/office/officeart/2005/8/layout/orgChart1"/>
    <dgm:cxn modelId="{DB580753-D6C7-4F60-A8CC-0EC0815BE82E}" type="presOf" srcId="{85AF740D-7585-43D4-B593-A7A9B62DC546}" destId="{817AC0A6-77B2-4E48-9D32-A967BD14C457}" srcOrd="0" destOrd="0" presId="urn:microsoft.com/office/officeart/2005/8/layout/orgChart1"/>
    <dgm:cxn modelId="{6D462478-E977-4146-A4DE-A2F27E43BA15}" srcId="{1D1FDEA4-9B6D-42BB-8D81-DFFCA1DE7753}" destId="{6E632CD5-831B-4D2C-AF62-3C7C2368A64D}" srcOrd="3" destOrd="0" parTransId="{98DDEDC9-AB98-441B-8E70-4F4DAA5F4610}" sibTransId="{6D93E2CD-B512-4B01-8A0F-D7E9EC98A3E9}"/>
    <dgm:cxn modelId="{062ED683-ECD4-4A46-AA74-F264CBDCC8DB}" type="presOf" srcId="{B691FA5A-B84E-4DC2-81A7-3EE2DAAAD8F1}" destId="{E53C934B-280A-4C4A-A6B4-F0D97EC1FC20}" srcOrd="0" destOrd="0" presId="urn:microsoft.com/office/officeart/2005/8/layout/orgChart1"/>
    <dgm:cxn modelId="{6C10C1A3-0E81-4A70-9CC3-51DE633DC627}" type="presOf" srcId="{08583E71-383E-48E3-B4C4-75231619A5AC}" destId="{23AB1872-5DB7-4D1E-A380-7F7DDE8FC180}" srcOrd="0" destOrd="0" presId="urn:microsoft.com/office/officeart/2005/8/layout/orgChart1"/>
    <dgm:cxn modelId="{5579AFAE-D406-4512-A0E5-454AAFD8063A}" type="presOf" srcId="{F585A668-2191-4777-8983-B23712562E42}" destId="{EDEF53D6-710D-4D54-8141-B770E1FF097C}" srcOrd="1" destOrd="0" presId="urn:microsoft.com/office/officeart/2005/8/layout/orgChart1"/>
    <dgm:cxn modelId="{682857B2-9CEB-48A4-A53A-81331EE3A3CC}" type="presOf" srcId="{1D1FDEA4-9B6D-42BB-8D81-DFFCA1DE7753}" destId="{70C7064F-5225-40EB-BD38-18E477666BAF}" srcOrd="0" destOrd="0" presId="urn:microsoft.com/office/officeart/2005/8/layout/orgChart1"/>
    <dgm:cxn modelId="{3CE36FB6-38E0-44D4-BBAE-8E21BFC99C8E}" type="presOf" srcId="{AE1856C8-9D3D-456F-B427-90305FB42D91}" destId="{EE6B546F-6604-461D-8000-094513C777C5}" srcOrd="0" destOrd="0" presId="urn:microsoft.com/office/officeart/2005/8/layout/orgChart1"/>
    <dgm:cxn modelId="{D6B891B6-2E8D-4D42-993C-5DFC40424F4F}" type="presOf" srcId="{6E632CD5-831B-4D2C-AF62-3C7C2368A64D}" destId="{9C515FB4-0C50-437C-86BA-0E047A7D99CA}" srcOrd="0" destOrd="0" presId="urn:microsoft.com/office/officeart/2005/8/layout/orgChart1"/>
    <dgm:cxn modelId="{369152B7-DBA0-4769-8F57-23BF77AD5D56}" srcId="{1D1FDEA4-9B6D-42BB-8D81-DFFCA1DE7753}" destId="{4A3BC578-82F3-44D8-9FB0-BB21DAC14EB3}" srcOrd="1" destOrd="0" parTransId="{08583E71-383E-48E3-B4C4-75231619A5AC}" sibTransId="{5E9A0602-53F7-416A-808A-0C1135DEFCFF}"/>
    <dgm:cxn modelId="{168B38C6-BC0D-4B98-9A63-2FEB732005B6}" type="presOf" srcId="{F585A668-2191-4777-8983-B23712562E42}" destId="{57F429CA-F758-45C5-9ED5-BA5AA572A895}" srcOrd="0" destOrd="0" presId="urn:microsoft.com/office/officeart/2005/8/layout/orgChart1"/>
    <dgm:cxn modelId="{EAE50DE4-88E5-40E6-BA8C-0D67051716E7}" srcId="{AE1856C8-9D3D-456F-B427-90305FB42D91}" destId="{1D1FDEA4-9B6D-42BB-8D81-DFFCA1DE7753}" srcOrd="0" destOrd="0" parTransId="{9A9B3EDD-C5F6-452C-80A2-4D92E65AE430}" sibTransId="{0CCBF7F6-B206-4611-B131-F62909C3852D}"/>
    <dgm:cxn modelId="{0764C3E4-306C-40E5-8A40-3662AF40CC1F}" type="presOf" srcId="{4A3BC578-82F3-44D8-9FB0-BB21DAC14EB3}" destId="{E7081016-AD6C-43A1-B8A7-C47A057E4149}" srcOrd="1" destOrd="0" presId="urn:microsoft.com/office/officeart/2005/8/layout/orgChart1"/>
    <dgm:cxn modelId="{6258CAEE-2D06-4A31-B488-197709A5090D}" type="presOf" srcId="{38CA22EA-FB20-4311-9802-466547CA176D}" destId="{2F0388E9-E919-4731-8A1B-C56C6B779CD7}" srcOrd="0" destOrd="0" presId="urn:microsoft.com/office/officeart/2005/8/layout/orgChart1"/>
    <dgm:cxn modelId="{2034B952-3B91-4210-8DCE-CDF196580B8F}" type="presParOf" srcId="{EE6B546F-6604-461D-8000-094513C777C5}" destId="{99E6D7AA-A6FB-4477-A199-A48B8AD68E10}" srcOrd="0" destOrd="0" presId="urn:microsoft.com/office/officeart/2005/8/layout/orgChart1"/>
    <dgm:cxn modelId="{381EEA52-93FD-4A3A-B272-762010A85BE7}" type="presParOf" srcId="{99E6D7AA-A6FB-4477-A199-A48B8AD68E10}" destId="{988CCEE9-5D79-4C06-BC2F-49B33843BD96}" srcOrd="0" destOrd="0" presId="urn:microsoft.com/office/officeart/2005/8/layout/orgChart1"/>
    <dgm:cxn modelId="{EDA05751-B5BC-4A95-A97D-CC9BD1841AF7}" type="presParOf" srcId="{988CCEE9-5D79-4C06-BC2F-49B33843BD96}" destId="{70C7064F-5225-40EB-BD38-18E477666BAF}" srcOrd="0" destOrd="0" presId="urn:microsoft.com/office/officeart/2005/8/layout/orgChart1"/>
    <dgm:cxn modelId="{7E85C4CD-4EF8-43C5-81C5-7BE62B945FC5}" type="presParOf" srcId="{988CCEE9-5D79-4C06-BC2F-49B33843BD96}" destId="{5750EC4B-20B0-4896-BBE1-7F7B85C3DEEA}" srcOrd="1" destOrd="0" presId="urn:microsoft.com/office/officeart/2005/8/layout/orgChart1"/>
    <dgm:cxn modelId="{105639AE-C089-489C-84A6-AC71BCE9868B}" type="presParOf" srcId="{99E6D7AA-A6FB-4477-A199-A48B8AD68E10}" destId="{F1A5A0B3-C153-4DF7-90D5-0F00711EE1DA}" srcOrd="1" destOrd="0" presId="urn:microsoft.com/office/officeart/2005/8/layout/orgChart1"/>
    <dgm:cxn modelId="{FE9F398C-A784-42D7-A0A1-9C256BE4F042}" type="presParOf" srcId="{F1A5A0B3-C153-4DF7-90D5-0F00711EE1DA}" destId="{2F0388E9-E919-4731-8A1B-C56C6B779CD7}" srcOrd="0" destOrd="0" presId="urn:microsoft.com/office/officeart/2005/8/layout/orgChart1"/>
    <dgm:cxn modelId="{9C1B27E7-EE23-4453-BA4A-18271640ECCB}" type="presParOf" srcId="{F1A5A0B3-C153-4DF7-90D5-0F00711EE1DA}" destId="{2605B1BE-DB65-40DB-886F-A22D9C442452}" srcOrd="1" destOrd="0" presId="urn:microsoft.com/office/officeart/2005/8/layout/orgChart1"/>
    <dgm:cxn modelId="{C1910FC8-4B63-41D8-8631-D01A7BB0AF54}" type="presParOf" srcId="{2605B1BE-DB65-40DB-886F-A22D9C442452}" destId="{9C7AC45D-27F5-4F59-9270-B98BA69745CD}" srcOrd="0" destOrd="0" presId="urn:microsoft.com/office/officeart/2005/8/layout/orgChart1"/>
    <dgm:cxn modelId="{263C9846-F730-49CC-981E-1B064687E8EA}" type="presParOf" srcId="{9C7AC45D-27F5-4F59-9270-B98BA69745CD}" destId="{57F429CA-F758-45C5-9ED5-BA5AA572A895}" srcOrd="0" destOrd="0" presId="urn:microsoft.com/office/officeart/2005/8/layout/orgChart1"/>
    <dgm:cxn modelId="{5307B219-829E-48CA-A165-E0D7A604C7AB}" type="presParOf" srcId="{9C7AC45D-27F5-4F59-9270-B98BA69745CD}" destId="{EDEF53D6-710D-4D54-8141-B770E1FF097C}" srcOrd="1" destOrd="0" presId="urn:microsoft.com/office/officeart/2005/8/layout/orgChart1"/>
    <dgm:cxn modelId="{49B1B089-DEEA-4A51-87CB-FF723D9854DC}" type="presParOf" srcId="{2605B1BE-DB65-40DB-886F-A22D9C442452}" destId="{1DB98600-5BC7-4BD0-9393-9308B9912D62}" srcOrd="1" destOrd="0" presId="urn:microsoft.com/office/officeart/2005/8/layout/orgChart1"/>
    <dgm:cxn modelId="{081F99B5-4D09-4784-8BD2-29C52BEBF5B9}" type="presParOf" srcId="{2605B1BE-DB65-40DB-886F-A22D9C442452}" destId="{77E70F07-BE31-4F74-8DCF-021A856C465B}" srcOrd="2" destOrd="0" presId="urn:microsoft.com/office/officeart/2005/8/layout/orgChart1"/>
    <dgm:cxn modelId="{FDF9023B-8C7A-4707-B02D-17B3E691721E}" type="presParOf" srcId="{F1A5A0B3-C153-4DF7-90D5-0F00711EE1DA}" destId="{23AB1872-5DB7-4D1E-A380-7F7DDE8FC180}" srcOrd="2" destOrd="0" presId="urn:microsoft.com/office/officeart/2005/8/layout/orgChart1"/>
    <dgm:cxn modelId="{9792BCD2-CEAC-450D-92CB-A7E26669A882}" type="presParOf" srcId="{F1A5A0B3-C153-4DF7-90D5-0F00711EE1DA}" destId="{54AD8CA9-CE27-4DF0-8808-FE98B2E4229B}" srcOrd="3" destOrd="0" presId="urn:microsoft.com/office/officeart/2005/8/layout/orgChart1"/>
    <dgm:cxn modelId="{69303B40-AD69-4DD4-970F-9F1A798382B9}" type="presParOf" srcId="{54AD8CA9-CE27-4DF0-8808-FE98B2E4229B}" destId="{0CBD9D2E-7CF5-4FCF-A35D-4A919ED94E5A}" srcOrd="0" destOrd="0" presId="urn:microsoft.com/office/officeart/2005/8/layout/orgChart1"/>
    <dgm:cxn modelId="{866BB0AE-FE54-4377-9267-126B302EEF26}" type="presParOf" srcId="{0CBD9D2E-7CF5-4FCF-A35D-4A919ED94E5A}" destId="{38FF8E7F-F68E-44F0-B12E-D1548C7D09D3}" srcOrd="0" destOrd="0" presId="urn:microsoft.com/office/officeart/2005/8/layout/orgChart1"/>
    <dgm:cxn modelId="{B111701F-354F-453F-9566-DDAA75EAFB2E}" type="presParOf" srcId="{0CBD9D2E-7CF5-4FCF-A35D-4A919ED94E5A}" destId="{E7081016-AD6C-43A1-B8A7-C47A057E4149}" srcOrd="1" destOrd="0" presId="urn:microsoft.com/office/officeart/2005/8/layout/orgChart1"/>
    <dgm:cxn modelId="{275953BE-2FD5-4CFB-B7B7-1C9BC4D9AE6B}" type="presParOf" srcId="{54AD8CA9-CE27-4DF0-8808-FE98B2E4229B}" destId="{9814CD29-85ED-459A-9EED-C7B4444A8C62}" srcOrd="1" destOrd="0" presId="urn:microsoft.com/office/officeart/2005/8/layout/orgChart1"/>
    <dgm:cxn modelId="{AD46316C-585D-4C06-8FBC-358A08F7D7B6}" type="presParOf" srcId="{54AD8CA9-CE27-4DF0-8808-FE98B2E4229B}" destId="{666ACC34-E8D8-477A-B642-65023F12D6C7}" srcOrd="2" destOrd="0" presId="urn:microsoft.com/office/officeart/2005/8/layout/orgChart1"/>
    <dgm:cxn modelId="{85E41A71-AE16-492F-8E7A-0238B36E29DD}" type="presParOf" srcId="{F1A5A0B3-C153-4DF7-90D5-0F00711EE1DA}" destId="{817AC0A6-77B2-4E48-9D32-A967BD14C457}" srcOrd="4" destOrd="0" presId="urn:microsoft.com/office/officeart/2005/8/layout/orgChart1"/>
    <dgm:cxn modelId="{41131114-AD62-45BB-BB77-48F6981D1DE2}" type="presParOf" srcId="{F1A5A0B3-C153-4DF7-90D5-0F00711EE1DA}" destId="{C1BCA6B6-FA57-4F57-9C25-157CCF8DB729}" srcOrd="5" destOrd="0" presId="urn:microsoft.com/office/officeart/2005/8/layout/orgChart1"/>
    <dgm:cxn modelId="{678A3090-7349-419D-859B-BD78D336BF0D}" type="presParOf" srcId="{C1BCA6B6-FA57-4F57-9C25-157CCF8DB729}" destId="{B73F1F6F-BA3A-45F6-ABBC-63D8CB23D640}" srcOrd="0" destOrd="0" presId="urn:microsoft.com/office/officeart/2005/8/layout/orgChart1"/>
    <dgm:cxn modelId="{9908F829-93BA-4BA1-8A77-F3F6EA874CF8}" type="presParOf" srcId="{B73F1F6F-BA3A-45F6-ABBC-63D8CB23D640}" destId="{E53C934B-280A-4C4A-A6B4-F0D97EC1FC20}" srcOrd="0" destOrd="0" presId="urn:microsoft.com/office/officeart/2005/8/layout/orgChart1"/>
    <dgm:cxn modelId="{4B69C908-E0DE-4044-8990-6653E33BD093}" type="presParOf" srcId="{B73F1F6F-BA3A-45F6-ABBC-63D8CB23D640}" destId="{52D4985A-DD89-4A55-ABBC-F09ECC8AC597}" srcOrd="1" destOrd="0" presId="urn:microsoft.com/office/officeart/2005/8/layout/orgChart1"/>
    <dgm:cxn modelId="{CFB51883-B675-48C1-A6A3-1911A878810C}" type="presParOf" srcId="{C1BCA6B6-FA57-4F57-9C25-157CCF8DB729}" destId="{F0C192B5-DF16-4DCE-8DD9-A0F335256F1B}" srcOrd="1" destOrd="0" presId="urn:microsoft.com/office/officeart/2005/8/layout/orgChart1"/>
    <dgm:cxn modelId="{D2B6800B-78EA-4A09-84C5-9459B1802765}" type="presParOf" srcId="{C1BCA6B6-FA57-4F57-9C25-157CCF8DB729}" destId="{DAACA08B-799B-4402-9FF3-F77EC7798B7B}" srcOrd="2" destOrd="0" presId="urn:microsoft.com/office/officeart/2005/8/layout/orgChart1"/>
    <dgm:cxn modelId="{09A1CD45-E94D-413C-B53A-BADFE41A969C}" type="presParOf" srcId="{F1A5A0B3-C153-4DF7-90D5-0F00711EE1DA}" destId="{88E840FC-A50E-49F3-B28F-5E460E5FB066}" srcOrd="6" destOrd="0" presId="urn:microsoft.com/office/officeart/2005/8/layout/orgChart1"/>
    <dgm:cxn modelId="{40292400-F2C3-4F24-BAF3-107A8A307013}" type="presParOf" srcId="{F1A5A0B3-C153-4DF7-90D5-0F00711EE1DA}" destId="{7E1D6904-2497-45C0-A47F-9BAD9EF1BD0B}" srcOrd="7" destOrd="0" presId="urn:microsoft.com/office/officeart/2005/8/layout/orgChart1"/>
    <dgm:cxn modelId="{604A3DDC-D12E-4B12-A933-C7DF6033265E}" type="presParOf" srcId="{7E1D6904-2497-45C0-A47F-9BAD9EF1BD0B}" destId="{A8A9167A-57D6-4277-A3C9-F526960F4BEE}" srcOrd="0" destOrd="0" presId="urn:microsoft.com/office/officeart/2005/8/layout/orgChart1"/>
    <dgm:cxn modelId="{8089C17C-4687-4363-BE0C-C20DCFEF1A2D}" type="presParOf" srcId="{A8A9167A-57D6-4277-A3C9-F526960F4BEE}" destId="{9C515FB4-0C50-437C-86BA-0E047A7D99CA}" srcOrd="0" destOrd="0" presId="urn:microsoft.com/office/officeart/2005/8/layout/orgChart1"/>
    <dgm:cxn modelId="{E6E63705-3962-4E06-96DB-1FCF902D5778}" type="presParOf" srcId="{A8A9167A-57D6-4277-A3C9-F526960F4BEE}" destId="{A1EF3158-B0EE-4A71-8434-A9BDAC74615A}" srcOrd="1" destOrd="0" presId="urn:microsoft.com/office/officeart/2005/8/layout/orgChart1"/>
    <dgm:cxn modelId="{1A81F61A-D7B1-4FBB-8CFE-8E81F827FD51}" type="presParOf" srcId="{7E1D6904-2497-45C0-A47F-9BAD9EF1BD0B}" destId="{84D2BE05-E03F-4009-8453-8B81BAD4019E}" srcOrd="1" destOrd="0" presId="urn:microsoft.com/office/officeart/2005/8/layout/orgChart1"/>
    <dgm:cxn modelId="{515EFC17-9F2C-465E-AC3A-2A14DDF5E46E}" type="presParOf" srcId="{7E1D6904-2497-45C0-A47F-9BAD9EF1BD0B}" destId="{C31A629F-72AB-4F50-90DF-6C3DECE10A3C}" srcOrd="2" destOrd="0" presId="urn:microsoft.com/office/officeart/2005/8/layout/orgChart1"/>
    <dgm:cxn modelId="{15B2A65A-06EA-4208-95B3-533E9FC77936}" type="presParOf" srcId="{99E6D7AA-A6FB-4477-A199-A48B8AD68E10}" destId="{0D8B4940-0E1B-47C7-ACF8-5A1552EC4D1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84ADE3-3A17-4693-9217-95AF15559BEA}">
      <dsp:nvSpPr>
        <dsp:cNvPr id="0" name=""/>
        <dsp:cNvSpPr/>
      </dsp:nvSpPr>
      <dsp:spPr>
        <a:xfrm>
          <a:off x="1598076" y="775810"/>
          <a:ext cx="3806683" cy="3806683"/>
        </a:xfrm>
        <a:prstGeom prst="blockArc">
          <a:avLst>
            <a:gd name="adj1" fmla="val 9830102"/>
            <a:gd name="adj2" fmla="val 16169427"/>
            <a:gd name="adj3" fmla="val 4641"/>
          </a:avLst>
        </a:prstGeom>
        <a:gradFill rotWithShape="0">
          <a:gsLst>
            <a:gs pos="0">
              <a:schemeClr val="accent2">
                <a:hueOff val="4681520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20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20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1EE9737-5E7B-4C42-9474-E3D5CC13C972}">
      <dsp:nvSpPr>
        <dsp:cNvPr id="0" name=""/>
        <dsp:cNvSpPr/>
      </dsp:nvSpPr>
      <dsp:spPr>
        <a:xfrm>
          <a:off x="1579160" y="714526"/>
          <a:ext cx="3806683" cy="3806683"/>
        </a:xfrm>
        <a:prstGeom prst="blockArc">
          <a:avLst>
            <a:gd name="adj1" fmla="val 1229625"/>
            <a:gd name="adj2" fmla="val 9711501"/>
            <a:gd name="adj3" fmla="val 4641"/>
          </a:avLst>
        </a:prstGeom>
        <a:gradFill rotWithShape="0">
          <a:gsLst>
            <a:gs pos="0">
              <a:schemeClr val="accent2">
                <a:hueOff val="2340760"/>
                <a:satOff val="-2919"/>
                <a:lumOff val="686"/>
                <a:alphaOff val="0"/>
                <a:shade val="51000"/>
                <a:satMod val="130000"/>
              </a:schemeClr>
            </a:gs>
            <a:gs pos="80000">
              <a:schemeClr val="accent2">
                <a:hueOff val="2340760"/>
                <a:satOff val="-2919"/>
                <a:lumOff val="686"/>
                <a:alphaOff val="0"/>
                <a:shade val="93000"/>
                <a:satMod val="130000"/>
              </a:schemeClr>
            </a:gs>
            <a:gs pos="100000">
              <a:schemeClr val="accent2">
                <a:hueOff val="2340760"/>
                <a:satOff val="-2919"/>
                <a:lumOff val="68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E8F32F3-E597-4B10-88A0-07954217EA1D}">
      <dsp:nvSpPr>
        <dsp:cNvPr id="0" name=""/>
        <dsp:cNvSpPr/>
      </dsp:nvSpPr>
      <dsp:spPr>
        <a:xfrm>
          <a:off x="1557495" y="775728"/>
          <a:ext cx="3806683" cy="3806683"/>
        </a:xfrm>
        <a:prstGeom prst="blockArc">
          <a:avLst>
            <a:gd name="adj1" fmla="val 16244466"/>
            <a:gd name="adj2" fmla="val 1109570"/>
            <a:gd name="adj3" fmla="val 4641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E97EA9F-B585-416C-A6B7-0EE4DBFE4199}">
      <dsp:nvSpPr>
        <dsp:cNvPr id="0" name=""/>
        <dsp:cNvSpPr/>
      </dsp:nvSpPr>
      <dsp:spPr>
        <a:xfrm>
          <a:off x="2647125" y="1659659"/>
          <a:ext cx="1715302" cy="171530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MIS</a:t>
          </a:r>
          <a:endParaRPr lang="th-TH" sz="6500" kern="1200" dirty="0">
            <a:solidFill>
              <a:srgbClr val="FFC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ngsanaUPC" pitchFamily="18" charset="-34"/>
            <a:cs typeface="AngsanaUPC" pitchFamily="18" charset="-34"/>
          </a:endParaRPr>
        </a:p>
      </dsp:txBody>
      <dsp:txXfrm>
        <a:off x="2898325" y="1910859"/>
        <a:ext cx="1212902" cy="1212902"/>
      </dsp:txXfrm>
    </dsp:sp>
    <dsp:sp modelId="{1D068355-F535-4388-B8C2-BDCD96F076B3}">
      <dsp:nvSpPr>
        <dsp:cNvPr id="0" name=""/>
        <dsp:cNvSpPr/>
      </dsp:nvSpPr>
      <dsp:spPr>
        <a:xfrm>
          <a:off x="2502049" y="159585"/>
          <a:ext cx="1965668" cy="132093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800" b="1" kern="1200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rPr>
            <a:t>ข้อมูลสารสนเทศ</a:t>
          </a:r>
        </a:p>
      </dsp:txBody>
      <dsp:txXfrm>
        <a:off x="2789914" y="353031"/>
        <a:ext cx="1389938" cy="934039"/>
      </dsp:txXfrm>
    </dsp:sp>
    <dsp:sp modelId="{EAE3A29A-CA20-4919-BEFE-EEBCB12B2AF0}">
      <dsp:nvSpPr>
        <dsp:cNvPr id="0" name=""/>
        <dsp:cNvSpPr/>
      </dsp:nvSpPr>
      <dsp:spPr>
        <a:xfrm>
          <a:off x="4241175" y="2608309"/>
          <a:ext cx="1965668" cy="1320931"/>
        </a:xfrm>
        <a:prstGeom prst="ellipse">
          <a:avLst/>
        </a:prstGeom>
        <a:gradFill rotWithShape="0">
          <a:gsLst>
            <a:gs pos="0">
              <a:schemeClr val="accent2">
                <a:hueOff val="2340760"/>
                <a:satOff val="-2919"/>
                <a:lumOff val="686"/>
                <a:alphaOff val="0"/>
                <a:shade val="51000"/>
                <a:satMod val="130000"/>
              </a:schemeClr>
            </a:gs>
            <a:gs pos="80000">
              <a:schemeClr val="accent2">
                <a:hueOff val="2340760"/>
                <a:satOff val="-2919"/>
                <a:lumOff val="686"/>
                <a:alphaOff val="0"/>
                <a:shade val="93000"/>
                <a:satMod val="130000"/>
              </a:schemeClr>
            </a:gs>
            <a:gs pos="100000">
              <a:schemeClr val="accent2">
                <a:hueOff val="2340760"/>
                <a:satOff val="-2919"/>
                <a:lumOff val="68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800" b="1" kern="1200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rPr>
            <a:t>เทคโนโลยีและอุปกรณ์ </a:t>
          </a:r>
        </a:p>
      </dsp:txBody>
      <dsp:txXfrm>
        <a:off x="4529040" y="2801755"/>
        <a:ext cx="1389938" cy="934039"/>
      </dsp:txXfrm>
    </dsp:sp>
    <dsp:sp modelId="{27869B9F-5652-421A-918A-215F3A03FD9E}">
      <dsp:nvSpPr>
        <dsp:cNvPr id="0" name=""/>
        <dsp:cNvSpPr/>
      </dsp:nvSpPr>
      <dsp:spPr>
        <a:xfrm>
          <a:off x="732912" y="2536288"/>
          <a:ext cx="1965668" cy="1320931"/>
        </a:xfrm>
        <a:prstGeom prst="ellipse">
          <a:avLst/>
        </a:prstGeom>
        <a:gradFill rotWithShape="0">
          <a:gsLst>
            <a:gs pos="0">
              <a:schemeClr val="accent2">
                <a:hueOff val="4681520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20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20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600" b="1" kern="1200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rPr>
            <a:t>วิธีการหรือขั้นตอนการประมวลผล</a:t>
          </a:r>
          <a:r>
            <a:rPr lang="th-TH" sz="2600" kern="1200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rPr>
            <a:t> </a:t>
          </a:r>
          <a:endParaRPr lang="th-TH" sz="2600" b="1" kern="1200" dirty="0">
            <a:solidFill>
              <a:schemeClr val="tx1">
                <a:lumMod val="95000"/>
                <a:lumOff val="5000"/>
              </a:schemeClr>
            </a:solidFill>
            <a:latin typeface="AngsanaUPC" pitchFamily="18" charset="-34"/>
            <a:cs typeface="AngsanaUPC" pitchFamily="18" charset="-34"/>
          </a:endParaRPr>
        </a:p>
      </dsp:txBody>
      <dsp:txXfrm>
        <a:off x="1020777" y="2729734"/>
        <a:ext cx="1389938" cy="9340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E840FC-A50E-49F3-B28F-5E460E5FB066}">
      <dsp:nvSpPr>
        <dsp:cNvPr id="0" name=""/>
        <dsp:cNvSpPr/>
      </dsp:nvSpPr>
      <dsp:spPr>
        <a:xfrm>
          <a:off x="4068452" y="1671964"/>
          <a:ext cx="3133678" cy="8125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0640"/>
              </a:lnTo>
              <a:lnTo>
                <a:pt x="3133678" y="650640"/>
              </a:lnTo>
              <a:lnTo>
                <a:pt x="3133678" y="81255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7AC0A6-77B2-4E48-9D32-A967BD14C457}">
      <dsp:nvSpPr>
        <dsp:cNvPr id="0" name=""/>
        <dsp:cNvSpPr/>
      </dsp:nvSpPr>
      <dsp:spPr>
        <a:xfrm>
          <a:off x="4068452" y="1671964"/>
          <a:ext cx="1012870" cy="8125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0640"/>
              </a:lnTo>
              <a:lnTo>
                <a:pt x="1012870" y="650640"/>
              </a:lnTo>
              <a:lnTo>
                <a:pt x="1012870" y="81255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AB1872-5DB7-4D1E-A380-7F7DDE8FC180}">
      <dsp:nvSpPr>
        <dsp:cNvPr id="0" name=""/>
        <dsp:cNvSpPr/>
      </dsp:nvSpPr>
      <dsp:spPr>
        <a:xfrm>
          <a:off x="3042551" y="1671964"/>
          <a:ext cx="1025900" cy="812556"/>
        </a:xfrm>
        <a:custGeom>
          <a:avLst/>
          <a:gdLst/>
          <a:ahLst/>
          <a:cxnLst/>
          <a:rect l="0" t="0" r="0" b="0"/>
          <a:pathLst>
            <a:path>
              <a:moveTo>
                <a:pt x="1025900" y="0"/>
              </a:moveTo>
              <a:lnTo>
                <a:pt x="1025900" y="650640"/>
              </a:lnTo>
              <a:lnTo>
                <a:pt x="0" y="650640"/>
              </a:lnTo>
              <a:lnTo>
                <a:pt x="0" y="81255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0388E9-E919-4731-8A1B-C56C6B779CD7}">
      <dsp:nvSpPr>
        <dsp:cNvPr id="0" name=""/>
        <dsp:cNvSpPr/>
      </dsp:nvSpPr>
      <dsp:spPr>
        <a:xfrm>
          <a:off x="938443" y="1671964"/>
          <a:ext cx="3130008" cy="812556"/>
        </a:xfrm>
        <a:custGeom>
          <a:avLst/>
          <a:gdLst/>
          <a:ahLst/>
          <a:cxnLst/>
          <a:rect l="0" t="0" r="0" b="0"/>
          <a:pathLst>
            <a:path>
              <a:moveTo>
                <a:pt x="3130008" y="0"/>
              </a:moveTo>
              <a:lnTo>
                <a:pt x="3130008" y="650640"/>
              </a:lnTo>
              <a:lnTo>
                <a:pt x="0" y="650640"/>
              </a:lnTo>
              <a:lnTo>
                <a:pt x="0" y="812556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C7064F-5225-40EB-BD38-18E477666BAF}">
      <dsp:nvSpPr>
        <dsp:cNvPr id="0" name=""/>
        <dsp:cNvSpPr/>
      </dsp:nvSpPr>
      <dsp:spPr>
        <a:xfrm>
          <a:off x="648073" y="389040"/>
          <a:ext cx="6840756" cy="128292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4000" b="1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ระบบสารสนเทศเพื่อการจัดการ (</a:t>
          </a:r>
          <a:r>
            <a:rPr lang="en-US" sz="4000" b="1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MIS</a:t>
          </a:r>
          <a:r>
            <a:rPr lang="th-TH" sz="4000" b="1" kern="1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)</a:t>
          </a:r>
        </a:p>
      </dsp:txBody>
      <dsp:txXfrm>
        <a:off x="648073" y="389040"/>
        <a:ext cx="6840756" cy="1282923"/>
      </dsp:txXfrm>
    </dsp:sp>
    <dsp:sp modelId="{57F429CA-F758-45C5-9ED5-BA5AA572A895}">
      <dsp:nvSpPr>
        <dsp:cNvPr id="0" name=""/>
        <dsp:cNvSpPr/>
      </dsp:nvSpPr>
      <dsp:spPr>
        <a:xfrm>
          <a:off x="5451" y="2484520"/>
          <a:ext cx="1865983" cy="156159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800" b="1" kern="1200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rPr>
            <a:t>ระบบประมวลผลเชิงรายการ</a:t>
          </a:r>
          <a:br>
            <a:rPr lang="th-TH" sz="2800" b="1" kern="1200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rPr>
          </a:br>
          <a:r>
            <a:rPr lang="th-TH" sz="3600" b="1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(</a:t>
          </a:r>
          <a:r>
            <a:rPr lang="en-US" sz="3600" b="1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TPS</a:t>
          </a:r>
          <a:r>
            <a:rPr lang="th-TH" sz="3600" b="1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)</a:t>
          </a:r>
        </a:p>
      </dsp:txBody>
      <dsp:txXfrm>
        <a:off x="5451" y="2484520"/>
        <a:ext cx="1865983" cy="1561596"/>
      </dsp:txXfrm>
    </dsp:sp>
    <dsp:sp modelId="{38FF8E7F-F68E-44F0-B12E-D1548C7D09D3}">
      <dsp:nvSpPr>
        <dsp:cNvPr id="0" name=""/>
        <dsp:cNvSpPr/>
      </dsp:nvSpPr>
      <dsp:spPr>
        <a:xfrm>
          <a:off x="2195267" y="2484520"/>
          <a:ext cx="1694568" cy="156159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900" b="1" kern="1200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rPr>
            <a:t>ระบบจัดการรายงาน</a:t>
          </a:r>
          <a:br>
            <a:rPr lang="th-TH" sz="2900" b="1" kern="1200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rPr>
          </a:br>
          <a:r>
            <a:rPr lang="th-TH" sz="3600" b="1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(</a:t>
          </a:r>
          <a:r>
            <a:rPr lang="en-US" sz="3600" b="1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MRS</a:t>
          </a:r>
          <a:r>
            <a:rPr lang="th-TH" sz="3600" b="1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)</a:t>
          </a:r>
        </a:p>
      </dsp:txBody>
      <dsp:txXfrm>
        <a:off x="2195267" y="2484520"/>
        <a:ext cx="1694568" cy="1561596"/>
      </dsp:txXfrm>
    </dsp:sp>
    <dsp:sp modelId="{E53C934B-280A-4C4A-A6B4-F0D97EC1FC20}">
      <dsp:nvSpPr>
        <dsp:cNvPr id="0" name=""/>
        <dsp:cNvSpPr/>
      </dsp:nvSpPr>
      <dsp:spPr>
        <a:xfrm>
          <a:off x="4213667" y="2484520"/>
          <a:ext cx="1735309" cy="156159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900" b="1" kern="1200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rPr>
            <a:t>ระบบสนับสนุนการตัดสินใจ</a:t>
          </a:r>
          <a:r>
            <a:rPr lang="th-TH" sz="3600" b="1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(</a:t>
          </a:r>
          <a:r>
            <a:rPr lang="en-US" sz="3600" b="1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DSS</a:t>
          </a:r>
          <a:r>
            <a:rPr lang="th-TH" sz="3600" b="1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)</a:t>
          </a:r>
        </a:p>
      </dsp:txBody>
      <dsp:txXfrm>
        <a:off x="4213667" y="2484520"/>
        <a:ext cx="1735309" cy="1561596"/>
      </dsp:txXfrm>
    </dsp:sp>
    <dsp:sp modelId="{9C515FB4-0C50-437C-86BA-0E047A7D99CA}">
      <dsp:nvSpPr>
        <dsp:cNvPr id="0" name=""/>
        <dsp:cNvSpPr/>
      </dsp:nvSpPr>
      <dsp:spPr>
        <a:xfrm>
          <a:off x="6272809" y="2484520"/>
          <a:ext cx="1858643" cy="156159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2900" b="1" kern="1200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rPr>
            <a:t>ระบบสารสนเทศสำนักงาน</a:t>
          </a:r>
          <a:br>
            <a:rPr lang="th-TH" sz="2900" b="1" kern="1200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rPr>
          </a:br>
          <a:r>
            <a:rPr lang="th-TH" sz="3600" b="1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(</a:t>
          </a:r>
          <a:r>
            <a:rPr lang="en-US" sz="3600" b="1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OIS</a:t>
          </a:r>
          <a:r>
            <a:rPr lang="th-TH" sz="3600" b="1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UPC" pitchFamily="18" charset="-34"/>
              <a:cs typeface="AngsanaUPC" pitchFamily="18" charset="-34"/>
            </a:rPr>
            <a:t>)</a:t>
          </a:r>
        </a:p>
      </dsp:txBody>
      <dsp:txXfrm>
        <a:off x="6272809" y="2484520"/>
        <a:ext cx="1858643" cy="15615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ยึดวันที่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38039-F159-45C3-A644-7F42F872B1BA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4" name="ตัวยึดท้ายกระดา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5" name="ตัวยึดหมายเลขภาพนิ่ง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DAE29B-0941-44F9-87BD-2E5ACC3A5462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754716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ยึด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96B566-7E78-41FF-B18B-FAC0950C1B4C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4" name="ตัวยึดรูปบนภาพนิ่ง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ยึด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03A03-8F57-4F17-854D-AECA137870CB}" type="slidenum">
              <a:rPr lang="th-TH" smtClean="0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31171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ภาพนิ่ง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ชื่อเรื่องรอง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h-TH"/>
              <a:t>คลิกเพื่อแก้ไขลักษณะชื่อเรื่องรองต้นแบบ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เนื้อหา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เนื้อหา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ยึด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ยึดเนื้อหา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ยึดข้อความ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6" name="ตัวยึดเนื้อหา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ยึด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8" name="ตัวยึด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ยึดหมายเลขภาพนิ่ง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4" name="ตัวยึด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ยึดหมายเลขภาพนิ่ง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วันที่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3" name="ตัวยึดท้ายกระดา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เนื้อหา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ข้อความ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ยึด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รูปภาพ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ยึดข้อความ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ยึด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แนวตั้ง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ชื่อเรื่อง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คลิกเพื่อแก้ไขลักษณะชื่อเรื่องต้นแบบ</a:t>
            </a:r>
          </a:p>
        </p:txBody>
      </p:sp>
      <p:sp>
        <p:nvSpPr>
          <p:cNvPr id="3" name="ตัวยึดข้อความ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ยึดวันที่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44FD2-EA2F-4C02-9802-E98D9BC54E23}" type="datetimeFigureOut">
              <a:rPr lang="th-TH" smtClean="0"/>
              <a:pPr/>
              <a:t>20/01/69</a:t>
            </a:fld>
            <a:endParaRPr lang="th-TH"/>
          </a:p>
        </p:txBody>
      </p:sp>
      <p:sp>
        <p:nvSpPr>
          <p:cNvPr id="5" name="ตัวยึดท้ายกระดา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ยึดหมายเลขภาพนิ่ง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99C0-951C-4684-8E64-66AE9798A65C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 thruBlk="1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ตัวแทนข้อความ 3"/>
          <p:cNvSpPr txBox="1">
            <a:spLocks/>
          </p:cNvSpPr>
          <p:nvPr/>
        </p:nvSpPr>
        <p:spPr>
          <a:xfrm>
            <a:off x="4661756" y="3067274"/>
            <a:ext cx="4248472" cy="19269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chemeClr val="accent6">
                  <a:lumMod val="75000"/>
                </a:schemeClr>
              </a:buClr>
            </a:pPr>
            <a:br>
              <a:rPr lang="th-TH" sz="2800" b="1" i="1" dirty="0">
                <a:solidFill>
                  <a:srgbClr val="FF0066"/>
                </a:solidFill>
              </a:rPr>
            </a:br>
            <a:endParaRPr lang="th-TH" sz="2800" b="1" dirty="0">
              <a:solidFill>
                <a:srgbClr val="FF0066"/>
              </a:solidFill>
              <a:latin typeface="TH Baijam" pitchFamily="2" charset="-34"/>
              <a:cs typeface="TH Baijam" pitchFamily="2" charset="-34"/>
            </a:endParaRPr>
          </a:p>
        </p:txBody>
      </p:sp>
      <p:sp>
        <p:nvSpPr>
          <p:cNvPr id="20" name="ตัวแทนข้อความ 3"/>
          <p:cNvSpPr txBox="1">
            <a:spLocks/>
          </p:cNvSpPr>
          <p:nvPr/>
        </p:nvSpPr>
        <p:spPr>
          <a:xfrm>
            <a:off x="4283968" y="4205322"/>
            <a:ext cx="4703107" cy="836712"/>
          </a:xfrm>
          <a:prstGeom prst="rect">
            <a:avLst/>
          </a:prstGeom>
          <a:solidFill>
            <a:srgbClr val="F2F2F2">
              <a:alpha val="38824"/>
            </a:srgbClr>
          </a:solidFill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SimSun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ITC2006 </a:t>
            </a:r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การวิเคราะห์และออกแบบระบบสารสนเทศ</a:t>
            </a:r>
          </a:p>
          <a:p>
            <a:pPr algn="r"/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โดย  อ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.</a:t>
            </a:r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เขมวิทย์ จิตตะ</a:t>
            </a:r>
            <a:r>
              <a:rPr lang="th-TH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ยโศ</a:t>
            </a:r>
            <a:r>
              <a:rPr lang="th-TH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H SarabunPSK" pitchFamily="34" charset="-34"/>
                <a:cs typeface="TH SarabunPSK" pitchFamily="34" charset="-34"/>
              </a:rPr>
              <a:t>ธร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TH SarabunPSK" pitchFamily="34" charset="-34"/>
              <a:cs typeface="TH SarabunPSK" pitchFamily="34" charset="-3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3568" y="1013827"/>
            <a:ext cx="7956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4800" b="1" dirty="0">
                <a:solidFill>
                  <a:srgbClr val="FE0067"/>
                </a:solidFill>
                <a:latin typeface="AngsanaUPC" pitchFamily="18" charset="-34"/>
                <a:cs typeface="AngsanaUPC" pitchFamily="18" charset="-34"/>
              </a:rPr>
              <a:t>ประเภทของระบบสารสนเทศ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83910" y="304316"/>
            <a:ext cx="9380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ngsanaUPC" pitchFamily="18" charset="-34"/>
                <a:cs typeface="AngsanaUPC" pitchFamily="18" charset="-34"/>
              </a:rPr>
              <a:t>บทที่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9288" y="36899"/>
            <a:ext cx="12490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Wide Latin" pitchFamily="18" charset="0"/>
                <a:cs typeface="#ZF Terminal" pitchFamily="2" charset="0"/>
              </a:rPr>
              <a:t>2</a:t>
            </a:r>
            <a:endParaRPr lang="th-TH" sz="7200" b="1" dirty="0">
              <a:solidFill>
                <a:schemeClr val="tx1">
                  <a:lumMod val="50000"/>
                  <a:lumOff val="50000"/>
                </a:schemeClr>
              </a:solidFill>
              <a:latin typeface="Wide Latin" pitchFamily="18" charset="0"/>
              <a:cs typeface="#ZF Terminal" pitchFamily="2" charset="0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รายวิชา\วิชาระบบสารสนเทศสำหรับการบริหาร\เอกสารประกอบ\GoalPic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563614"/>
            <a:ext cx="3600400" cy="2700300"/>
          </a:xfrm>
          <a:prstGeom prst="rect">
            <a:avLst/>
          </a:prstGeom>
          <a:noFill/>
        </p:spPr>
      </p:pic>
      <p:sp>
        <p:nvSpPr>
          <p:cNvPr id="4" name="สี่เหลี่ยมผืนผ้า 3"/>
          <p:cNvSpPr/>
          <p:nvPr/>
        </p:nvSpPr>
        <p:spPr>
          <a:xfrm>
            <a:off x="3995936" y="1772816"/>
            <a:ext cx="4752528" cy="2448272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3968" y="2060848"/>
            <a:ext cx="41764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sz="3000" b="1" dirty="0">
                <a:solidFill>
                  <a:schemeClr val="tx1">
                    <a:lumMod val="95000"/>
                    <a:lumOff val="5000"/>
                  </a:schemeClr>
                </a:solidFill>
                <a:cs typeface="+mj-cs"/>
              </a:rPr>
              <a:t> มีความรู้และเข้าใจเกี่ยวกับ</a:t>
            </a:r>
            <a:r>
              <a:rPr lang="th-TH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ประเภท</a:t>
            </a:r>
            <a:br>
              <a:rPr lang="th-TH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ของระบบสารสนเทศและสามารถแยกแยะความแตกต่างตลอดจนการทำงานของแต่ละระบบได้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568" y="0"/>
            <a:ext cx="50405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itchFamily="2" charset="2"/>
              <a:buChar char="v"/>
              <a:defRPr/>
            </a:pPr>
            <a:r>
              <a:rPr lang="th-TH" sz="4400" b="1" dirty="0">
                <a:solidFill>
                  <a:srgbClr val="FF0066"/>
                </a:solidFill>
                <a:latin typeface="Aharoni" pitchFamily="2" charset="-79"/>
                <a:cs typeface="AngsanaUPC" pitchFamily="18" charset="-34"/>
              </a:rPr>
              <a:t>วัตถุประสงค์</a:t>
            </a:r>
            <a:endParaRPr lang="th-TH" sz="44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pic>
        <p:nvPicPr>
          <p:cNvPr id="7" name="Picture 2" descr="C:\Users\KIT\Pictures\powerpoint design\question_mark_Animation[1]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1720" y="2348880"/>
            <a:ext cx="288032" cy="384042"/>
          </a:xfrm>
          <a:prstGeom prst="rect">
            <a:avLst/>
          </a:prstGeom>
          <a:noFill/>
        </p:spPr>
      </p:pic>
      <p:pic>
        <p:nvPicPr>
          <p:cNvPr id="11" name="Picture 2" descr="C:\Users\KIT\Pictures\powerpoint design\question_mark_Animation[1]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7704" y="1340768"/>
            <a:ext cx="486623" cy="648830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1571272" y="2348890"/>
            <a:ext cx="6198491" cy="4610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1001010" y="2348626"/>
            <a:ext cx="578378" cy="461223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AngsanaUPC" pitchFamily="18" charset="-34"/>
                <a:cs typeface="AngsanaUPC" pitchFamily="18" charset="-34"/>
              </a:rPr>
              <a:t>3</a:t>
            </a:r>
            <a:endParaRPr lang="th-TH" sz="30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สี่เหลี่ยมผืนผ้า 8"/>
          <p:cNvSpPr/>
          <p:nvPr/>
        </p:nvSpPr>
        <p:spPr>
          <a:xfrm>
            <a:off x="1571271" y="2877657"/>
            <a:ext cx="6198491" cy="5040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ระบบสารสนเทศแบบรายงานเพื่อการจัดการ (</a:t>
            </a: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MRS</a:t>
            </a:r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10" name="สี่เหลี่ยมผืนผ้า 9"/>
          <p:cNvSpPr/>
          <p:nvPr/>
        </p:nvSpPr>
        <p:spPr>
          <a:xfrm>
            <a:off x="1001010" y="2877392"/>
            <a:ext cx="578378" cy="504055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AngsanaUPC" pitchFamily="18" charset="-34"/>
                <a:cs typeface="AngsanaUPC" pitchFamily="18" charset="-34"/>
              </a:rPr>
              <a:t>4</a:t>
            </a:r>
            <a:endParaRPr lang="th-TH" sz="30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29" name="สี่เหลี่ยมผืนผ้า 28"/>
          <p:cNvSpPr/>
          <p:nvPr/>
        </p:nvSpPr>
        <p:spPr>
          <a:xfrm>
            <a:off x="1571271" y="1162190"/>
            <a:ext cx="6198491" cy="53567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ประเภทของระบบสารสนเทศ</a:t>
            </a:r>
          </a:p>
        </p:txBody>
      </p:sp>
      <p:sp>
        <p:nvSpPr>
          <p:cNvPr id="30" name="สี่เหลี่ยมผืนผ้า 29"/>
          <p:cNvSpPr/>
          <p:nvPr/>
        </p:nvSpPr>
        <p:spPr>
          <a:xfrm>
            <a:off x="1001010" y="1161925"/>
            <a:ext cx="578378" cy="535673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AngsanaUPC" pitchFamily="18" charset="-34"/>
                <a:cs typeface="AngsanaUPC" pitchFamily="18" charset="-34"/>
              </a:rPr>
              <a:t>1</a:t>
            </a:r>
            <a:endParaRPr lang="th-TH" sz="30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01272" y="71427"/>
            <a:ext cx="63230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th-TH" sz="4400" b="1" dirty="0">
                <a:solidFill>
                  <a:srgbClr val="FF0066"/>
                </a:solidFill>
                <a:latin typeface="Aharoni" pitchFamily="2" charset="-79"/>
                <a:cs typeface="AngsanaUPC" pitchFamily="18" charset="-34"/>
              </a:rPr>
              <a:t>รายละเอียดของเนื้อหา</a:t>
            </a:r>
            <a:endParaRPr lang="th-TH" sz="44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20" name="สี่เหลี่ยมผืนผ้า 19"/>
          <p:cNvSpPr/>
          <p:nvPr/>
        </p:nvSpPr>
        <p:spPr>
          <a:xfrm>
            <a:off x="1571271" y="3433573"/>
            <a:ext cx="6198491" cy="5040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21" name="สี่เหลี่ยมผืนผ้า 20"/>
          <p:cNvSpPr/>
          <p:nvPr/>
        </p:nvSpPr>
        <p:spPr>
          <a:xfrm>
            <a:off x="1001010" y="3433308"/>
            <a:ext cx="578378" cy="504055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AngsanaUPC" pitchFamily="18" charset="-34"/>
                <a:cs typeface="AngsanaUPC" pitchFamily="18" charset="-34"/>
              </a:rPr>
              <a:t>5</a:t>
            </a:r>
            <a:endParaRPr lang="th-TH" sz="30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24" name="สี่เหลี่ยมผืนผ้า 23"/>
          <p:cNvSpPr/>
          <p:nvPr/>
        </p:nvSpPr>
        <p:spPr>
          <a:xfrm>
            <a:off x="1577074" y="3993288"/>
            <a:ext cx="6198491" cy="5040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สำนักงานอัตโนมัติ (</a:t>
            </a: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OA</a:t>
            </a:r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25" name="สี่เหลี่ยมผืนผ้า 24"/>
          <p:cNvSpPr/>
          <p:nvPr/>
        </p:nvSpPr>
        <p:spPr>
          <a:xfrm>
            <a:off x="991047" y="3993023"/>
            <a:ext cx="578378" cy="504055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AngsanaUPC" pitchFamily="18" charset="-34"/>
                <a:cs typeface="AngsanaUPC" pitchFamily="18" charset="-34"/>
              </a:rPr>
              <a:t>6</a:t>
            </a:r>
            <a:endParaRPr lang="th-TH" sz="30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7" name="สี่เหลี่ยมผืนผ้า 16"/>
          <p:cNvSpPr/>
          <p:nvPr/>
        </p:nvSpPr>
        <p:spPr>
          <a:xfrm>
            <a:off x="1571271" y="1752740"/>
            <a:ext cx="6198491" cy="53567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ระบบสารสนเทศเพื่อการจัดการ (</a:t>
            </a: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MIS</a:t>
            </a:r>
            <a:r>
              <a:rPr lang="th-TH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18" name="สี่เหลี่ยมผืนผ้า 17"/>
          <p:cNvSpPr/>
          <p:nvPr/>
        </p:nvSpPr>
        <p:spPr>
          <a:xfrm>
            <a:off x="1001010" y="1752475"/>
            <a:ext cx="578378" cy="535673"/>
          </a:xfrm>
          <a:prstGeom prst="rect">
            <a:avLst/>
          </a:prstGeom>
          <a:solidFill>
            <a:srgbClr val="FF0066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AngsanaUPC" pitchFamily="18" charset="-34"/>
                <a:cs typeface="AngsanaUPC" pitchFamily="18" charset="-34"/>
              </a:rPr>
              <a:t>2</a:t>
            </a:r>
            <a:endParaRPr lang="th-TH" sz="3000" b="1" dirty="0"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D:\รายวิชา\วิชาระบบสารสนเทศสำหรับการบริหาร\เอกสารประกอบ\922-5828-1-PB[1].jpg"/>
          <p:cNvPicPr>
            <a:picLocks noChangeAspect="1" noChangeArrowheads="1"/>
          </p:cNvPicPr>
          <p:nvPr/>
        </p:nvPicPr>
        <p:blipFill>
          <a:blip r:embed="rId2" cstate="print"/>
          <a:srcRect t="12129" r="4598" b="18040"/>
          <a:stretch>
            <a:fillRect/>
          </a:stretch>
        </p:blipFill>
        <p:spPr bwMode="auto">
          <a:xfrm>
            <a:off x="3795677" y="3485242"/>
            <a:ext cx="4808771" cy="2638208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467544" y="102959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แนวคิดพื้นฐาน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สังคมสารสนเทศ (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Information Society</a:t>
            </a: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36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1026" name="Picture 2" descr="D:\รายวิชา\วิชาระบบสารสนเทศสำหรับการบริหาร\บทที่ 2 บทบาทของสารสนเทศในองค์กร\Government-Information-Technology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4" y="3522015"/>
            <a:ext cx="3456384" cy="2592288"/>
          </a:xfrm>
          <a:prstGeom prst="rect">
            <a:avLst/>
          </a:prstGeom>
          <a:noFill/>
        </p:spPr>
      </p:pic>
      <p:sp>
        <p:nvSpPr>
          <p:cNvPr id="5" name="สี่เหลี่ยมผืนผ้า 4"/>
          <p:cNvSpPr/>
          <p:nvPr/>
        </p:nvSpPr>
        <p:spPr>
          <a:xfrm>
            <a:off x="539552" y="1570920"/>
            <a:ext cx="8064896" cy="1930088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9592" y="1635650"/>
            <a:ext cx="75608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สังคมสารสนเทศ หรือสังคมแห่งข่าวสาร 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เป็นสังคมที่มีการนำสารสนเทศ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ในรูปแบบต่างๆ มาช่วยตัดสินใจ เพื่อดำเนินกิจกรรม ทั้งเพื่อตนเอง องค์กร สังคมและชุมชน ทั้งนี้สามารถกล่าวได้ว่าโลกในยุคปัจจุบัน คือ ศตวรรษที่ 21 เป็นยุคของสังคมสารสนเทศนั่นเอง 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itchFamily="18" charset="-34"/>
                <a:cs typeface="AngsanaUPC" pitchFamily="18" charset="-34"/>
              </a:rPr>
              <a:t>(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AngsanaUPC" pitchFamily="18" charset="-34"/>
                <a:cs typeface="AngsanaUPC" pitchFamily="18" charset="-34"/>
              </a:rPr>
              <a:t>NECTEC, 2547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67544" y="102959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แนวคิดพื้นฐาน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ลักษณะของสังคมสารสนเทศ</a:t>
            </a:r>
            <a:endParaRPr lang="en-US" sz="36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8" name="สี่เหลี่ยมผืนผ้า 7"/>
          <p:cNvSpPr/>
          <p:nvPr/>
        </p:nvSpPr>
        <p:spPr>
          <a:xfrm>
            <a:off x="539552" y="1570920"/>
            <a:ext cx="8280920" cy="4306352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4646" y="1635650"/>
            <a:ext cx="8094306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500" b="1" dirty="0">
                <a:latin typeface="AngsanaUPC" pitchFamily="18" charset="-34"/>
                <a:cs typeface="AngsanaUPC" pitchFamily="18" charset="-34"/>
              </a:rPr>
              <a:t> 	1. เป็นสังคมที่มีการใช้สารสนเทศที่บันทึกอยู่บนสื่อที่เป็นเอกสาร สิ่งพิมพ์ </a:t>
            </a:r>
            <a:br>
              <a:rPr lang="th-TH" sz="2500" b="1" dirty="0">
                <a:latin typeface="AngsanaUPC" pitchFamily="18" charset="-34"/>
                <a:cs typeface="AngsanaUPC" pitchFamily="18" charset="-34"/>
              </a:rPr>
            </a:br>
            <a:r>
              <a:rPr lang="th-TH" sz="2500" b="1" dirty="0">
                <a:latin typeface="AngsanaUPC" pitchFamily="18" charset="-34"/>
                <a:cs typeface="AngsanaUPC" pitchFamily="18" charset="-34"/>
              </a:rPr>
              <a:t>และไม่ตีพิมพ์ สื่ออิเล็กทรอนิกส์ เสียงภาพ ฯลฯ </a:t>
            </a:r>
            <a:br>
              <a:rPr lang="th-TH" sz="2500" b="1" dirty="0">
                <a:latin typeface="AngsanaUPC" pitchFamily="18" charset="-34"/>
                <a:cs typeface="AngsanaUPC" pitchFamily="18" charset="-34"/>
              </a:rPr>
            </a:br>
            <a:r>
              <a:rPr lang="th-TH" sz="2500" b="1" dirty="0">
                <a:latin typeface="AngsanaUPC" pitchFamily="18" charset="-34"/>
                <a:cs typeface="AngsanaUPC" pitchFamily="18" charset="-34"/>
              </a:rPr>
              <a:t> 	2. เป็นสังคมที่มีการใช้เทคโนโลยีสารสนเทศหรือ </a:t>
            </a:r>
            <a:r>
              <a:rPr lang="en-US" sz="2500" b="1" dirty="0">
                <a:latin typeface="AngsanaUPC" pitchFamily="18" charset="-34"/>
                <a:cs typeface="AngsanaUPC" pitchFamily="18" charset="-34"/>
              </a:rPr>
              <a:t>IT </a:t>
            </a:r>
            <a:r>
              <a:rPr lang="th-TH" sz="2500" b="1" dirty="0">
                <a:latin typeface="AngsanaUPC" pitchFamily="18" charset="-34"/>
                <a:cs typeface="AngsanaUPC" pitchFamily="18" charset="-34"/>
              </a:rPr>
              <a:t>เพื่อการได้มา จัดเก็บ ประมวลผล สืบค้น และเผยแพร่สารสนเทศให้ตรงกับความต้องการของผู้ใช้อย่างรวดเร็วถูกต้องและทันเวลา</a:t>
            </a:r>
            <a:br>
              <a:rPr lang="th-TH" sz="2500" b="1" dirty="0">
                <a:latin typeface="AngsanaUPC" pitchFamily="18" charset="-34"/>
                <a:cs typeface="AngsanaUPC" pitchFamily="18" charset="-34"/>
              </a:rPr>
            </a:br>
            <a:r>
              <a:rPr lang="th-TH" sz="2500" b="1" dirty="0">
                <a:latin typeface="AngsanaUPC" pitchFamily="18" charset="-34"/>
                <a:cs typeface="AngsanaUPC" pitchFamily="18" charset="-34"/>
              </a:rPr>
              <a:t>	3. เป็นสังคมที่มีการใช้ผลิตภัณฑ์หรืออุปกรณ์ที่มีไม</a:t>
            </a:r>
            <a:r>
              <a:rPr lang="th-TH" sz="2500" b="1" dirty="0" err="1">
                <a:latin typeface="AngsanaUPC" pitchFamily="18" charset="-34"/>
                <a:cs typeface="AngsanaUPC" pitchFamily="18" charset="-34"/>
              </a:rPr>
              <a:t>โคร</a:t>
            </a:r>
            <a:r>
              <a:rPr lang="th-TH" sz="2500" b="1" dirty="0">
                <a:latin typeface="AngsanaUPC" pitchFamily="18" charset="-34"/>
                <a:cs typeface="AngsanaUPC" pitchFamily="18" charset="-34"/>
              </a:rPr>
              <a:t>โพรเซสเซอร์เป็นตัว</a:t>
            </a:r>
            <a:br>
              <a:rPr lang="th-TH" sz="2500" b="1" dirty="0">
                <a:latin typeface="AngsanaUPC" pitchFamily="18" charset="-34"/>
                <a:cs typeface="AngsanaUPC" pitchFamily="18" charset="-34"/>
              </a:rPr>
            </a:br>
            <a:r>
              <a:rPr lang="th-TH" sz="2500" b="1" dirty="0">
                <a:latin typeface="AngsanaUPC" pitchFamily="18" charset="-34"/>
                <a:cs typeface="AngsanaUPC" pitchFamily="18" charset="-34"/>
              </a:rPr>
              <a:t>ควบคุมการทำงาน เช่น เตาไมโครเวฟ เครื่องปรับอากาศ อุปกรณ์กันขโมย ระบบควบคุม</a:t>
            </a:r>
            <a:br>
              <a:rPr lang="th-TH" sz="2500" b="1" dirty="0">
                <a:latin typeface="AngsanaUPC" pitchFamily="18" charset="-34"/>
                <a:cs typeface="AngsanaUPC" pitchFamily="18" charset="-34"/>
              </a:rPr>
            </a:br>
            <a:r>
              <a:rPr lang="th-TH" sz="2500" b="1" dirty="0">
                <a:latin typeface="AngsanaUPC" pitchFamily="18" charset="-34"/>
                <a:cs typeface="AngsanaUPC" pitchFamily="18" charset="-34"/>
              </a:rPr>
              <a:t>ไฟฟ้า เป็นต้น </a:t>
            </a:r>
            <a:br>
              <a:rPr lang="th-TH" sz="2500" b="1" dirty="0">
                <a:latin typeface="AngsanaUPC" pitchFamily="18" charset="-34"/>
                <a:cs typeface="AngsanaUPC" pitchFamily="18" charset="-34"/>
              </a:rPr>
            </a:br>
            <a:r>
              <a:rPr lang="th-TH" sz="2500" b="1" dirty="0">
                <a:latin typeface="AngsanaUPC" pitchFamily="18" charset="-34"/>
                <a:cs typeface="AngsanaUPC" pitchFamily="18" charset="-34"/>
              </a:rPr>
              <a:t> 	4. เป็นสังคมที่ผู้ใช้สามารถใช้เทคโนโลยีสารสนเทศได้ด้วยตนเองทั้งโดยทางตรง</a:t>
            </a:r>
            <a:br>
              <a:rPr lang="th-TH" sz="2500" b="1" dirty="0">
                <a:latin typeface="AngsanaUPC" pitchFamily="18" charset="-34"/>
                <a:cs typeface="AngsanaUPC" pitchFamily="18" charset="-34"/>
              </a:rPr>
            </a:br>
            <a:r>
              <a:rPr lang="th-TH" sz="2500" b="1" dirty="0">
                <a:latin typeface="AngsanaUPC" pitchFamily="18" charset="-34"/>
                <a:cs typeface="AngsanaUPC" pitchFamily="18" charset="-34"/>
              </a:rPr>
              <a:t>และทางอ้อม อันนำมาซึ่งการเพิ่มผลผลิตและการเพิ่มประสิทธิภาพในการประกอบการ</a:t>
            </a:r>
            <a:br>
              <a:rPr lang="th-TH" sz="2500" b="1" dirty="0">
                <a:latin typeface="AngsanaUPC" pitchFamily="18" charset="-34"/>
                <a:cs typeface="AngsanaUPC" pitchFamily="18" charset="-34"/>
              </a:rPr>
            </a:br>
            <a:r>
              <a:rPr lang="th-TH" sz="2500" b="1" dirty="0">
                <a:latin typeface="AngsanaUPC" pitchFamily="18" charset="-34"/>
                <a:cs typeface="AngsanaUPC" pitchFamily="18" charset="-34"/>
              </a:rPr>
              <a:t>ด้านต่างๆ</a:t>
            </a:r>
            <a:endParaRPr lang="th-TH" sz="2500" b="1" dirty="0">
              <a:solidFill>
                <a:schemeClr val="bg1">
                  <a:lumMod val="50000"/>
                </a:schemeClr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D:\รายวิชา\วิชาระบบสารสนเทศสำหรับการบริหาร\เอกสารประกอบ\pic51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556792"/>
            <a:ext cx="3429269" cy="3024336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467544" y="102959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แนวคิดพื้นฐาน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ระบบสารสนเทศ (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Information System</a:t>
            </a: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36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8" name="สี่เหลี่ยมผืนผ้า 7"/>
          <p:cNvSpPr/>
          <p:nvPr/>
        </p:nvSpPr>
        <p:spPr>
          <a:xfrm>
            <a:off x="3347864" y="1570920"/>
            <a:ext cx="5256584" cy="3010208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35896" y="1628800"/>
            <a:ext cx="485394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ระบบสารสนเทศ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เป็นระบบที่ทำหน้ารวบข้อมูล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เพื่อมาประมวลผล วิเคราะห์ เพื่อสร้างสารสนเทศ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สำหรับวัตถุประสงค์เฉพาะด้าน และนำเสนอ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สารสนเทศให้กับผู้ที่ต้องการซึ่งต้องเป็นผู้ที่มีสิทธิ์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ได้รับสารสนเทศ รวมทั้งจัดเก็บข้อมูลที่นำเข้ามาสู่ระบบไว้เพื่อใช้งานในอนาคต 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itchFamily="18" charset="-34"/>
                <a:cs typeface="AngsanaUPC" pitchFamily="18" charset="-34"/>
              </a:rPr>
              <a:t>(ศรีสมรัก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AngsanaUPC" pitchFamily="18" charset="-34"/>
                <a:cs typeface="AngsanaUPC" pitchFamily="18" charset="-34"/>
              </a:rPr>
              <a:t>, 2550</a:t>
            </a:r>
            <a:r>
              <a:rPr lang="th-TH" b="1" dirty="0">
                <a:solidFill>
                  <a:schemeClr val="bg1">
                    <a:lumMod val="50000"/>
                  </a:schemeClr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102959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แนวคิดพื้นฐาน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ระบบสารสนเทศ (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Information System</a:t>
            </a: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sz="36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8" name="สี่เหลี่ยมผืนผ้า 7"/>
          <p:cNvSpPr/>
          <p:nvPr/>
        </p:nvSpPr>
        <p:spPr>
          <a:xfrm>
            <a:off x="539552" y="1618920"/>
            <a:ext cx="8064896" cy="439248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9" name="สี่เหลี่ยมผืนผ้า 8"/>
          <p:cNvSpPr/>
          <p:nvPr/>
        </p:nvSpPr>
        <p:spPr>
          <a:xfrm>
            <a:off x="975368" y="2366296"/>
            <a:ext cx="7272808" cy="2862904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สี่เหลี่ยมผืนผ้า 9"/>
          <p:cNvSpPr/>
          <p:nvPr/>
        </p:nvSpPr>
        <p:spPr>
          <a:xfrm>
            <a:off x="3715440" y="3267568"/>
            <a:ext cx="1868440" cy="10081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การประมวลผล</a:t>
            </a:r>
          </a:p>
        </p:txBody>
      </p:sp>
      <p:sp>
        <p:nvSpPr>
          <p:cNvPr id="11" name="สี่เหลี่ยมผืนผ้า 10"/>
          <p:cNvSpPr/>
          <p:nvPr/>
        </p:nvSpPr>
        <p:spPr>
          <a:xfrm>
            <a:off x="1331640" y="3267568"/>
            <a:ext cx="1728192" cy="10081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ข้อมูล</a:t>
            </a:r>
            <a:b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(สิ่งนำเข้า)</a:t>
            </a:r>
          </a:p>
        </p:txBody>
      </p:sp>
      <p:sp>
        <p:nvSpPr>
          <p:cNvPr id="12" name="สี่เหลี่ยมผืนผ้า 11"/>
          <p:cNvSpPr/>
          <p:nvPr/>
        </p:nvSpPr>
        <p:spPr>
          <a:xfrm>
            <a:off x="6224416" y="3267568"/>
            <a:ext cx="1728192" cy="10081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สารสนเทศ</a:t>
            </a:r>
            <a:b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(สิ่งส่งออก)</a:t>
            </a:r>
          </a:p>
        </p:txBody>
      </p:sp>
      <p:sp>
        <p:nvSpPr>
          <p:cNvPr id="13" name="สี่เหลี่ยมผืนผ้า 12"/>
          <p:cNvSpPr/>
          <p:nvPr/>
        </p:nvSpPr>
        <p:spPr>
          <a:xfrm>
            <a:off x="3711672" y="2492896"/>
            <a:ext cx="1872208" cy="5040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ระบบสารสนเทศ</a:t>
            </a:r>
          </a:p>
        </p:txBody>
      </p:sp>
      <p:sp>
        <p:nvSpPr>
          <p:cNvPr id="14" name="สี่เหลี่ยมผืนผ้า 13"/>
          <p:cNvSpPr/>
          <p:nvPr/>
        </p:nvSpPr>
        <p:spPr>
          <a:xfrm>
            <a:off x="3731360" y="4543952"/>
            <a:ext cx="1868440" cy="5040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ข้อมูลย้อนกลับ</a:t>
            </a:r>
          </a:p>
        </p:txBody>
      </p:sp>
      <p:cxnSp>
        <p:nvCxnSpPr>
          <p:cNvPr id="16" name="ลูกศรเชื่อมต่อแบบตรง 15"/>
          <p:cNvCxnSpPr>
            <a:stCxn id="11" idx="3"/>
            <a:endCxn id="10" idx="1"/>
          </p:cNvCxnSpPr>
          <p:nvPr/>
        </p:nvCxnSpPr>
        <p:spPr>
          <a:xfrm>
            <a:off x="3059832" y="3771624"/>
            <a:ext cx="65560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ลูกศรเชื่อมต่อแบบตรง 16"/>
          <p:cNvCxnSpPr>
            <a:stCxn id="10" idx="3"/>
            <a:endCxn id="12" idx="1"/>
          </p:cNvCxnSpPr>
          <p:nvPr/>
        </p:nvCxnSpPr>
        <p:spPr>
          <a:xfrm>
            <a:off x="5583880" y="3771624"/>
            <a:ext cx="64053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รูปร่าง 20"/>
          <p:cNvCxnSpPr>
            <a:stCxn id="12" idx="2"/>
            <a:endCxn id="14" idx="3"/>
          </p:cNvCxnSpPr>
          <p:nvPr/>
        </p:nvCxnSpPr>
        <p:spPr>
          <a:xfrm rot="5400000">
            <a:off x="6084006" y="3791474"/>
            <a:ext cx="520300" cy="148871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รูปร่าง 22"/>
          <p:cNvCxnSpPr>
            <a:stCxn id="14" idx="1"/>
            <a:endCxn id="11" idx="2"/>
          </p:cNvCxnSpPr>
          <p:nvPr/>
        </p:nvCxnSpPr>
        <p:spPr>
          <a:xfrm rot="10800000">
            <a:off x="2195736" y="4275680"/>
            <a:ext cx="1535624" cy="52030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71600" y="1762936"/>
            <a:ext cx="7272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>
                <a:solidFill>
                  <a:schemeClr val="tx1">
                    <a:lumMod val="85000"/>
                    <a:lumOff val="15000"/>
                  </a:schemeClr>
                </a:solidFill>
                <a:latin typeface="AngsanaUPC" pitchFamily="18" charset="-34"/>
                <a:cs typeface="AngsanaUPC" pitchFamily="18" charset="-34"/>
              </a:rPr>
              <a:t>คู่ค้า	การบริหารจัดการ		คู่แข่ง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600" y="5396744"/>
            <a:ext cx="7272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>
                <a:solidFill>
                  <a:schemeClr val="tx1">
                    <a:lumMod val="85000"/>
                    <a:lumOff val="15000"/>
                  </a:schemeClr>
                </a:solidFill>
                <a:latin typeface="AngsanaUPC" pitchFamily="18" charset="-34"/>
                <a:cs typeface="AngsanaUPC" pitchFamily="18" charset="-34"/>
              </a:rPr>
              <a:t>ลูกค้า 	ข้อกำหนด 	กฎหมาย	 	รัฐบาล</a:t>
            </a:r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102959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แนวคิดพื้นฐาน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องค์ประกอบของระบบสารสนเทศ </a:t>
            </a:r>
            <a:r>
              <a:rPr lang="th-TH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(</a:t>
            </a:r>
            <a:r>
              <a:rPr lang="en-US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Components Information System</a:t>
            </a:r>
            <a:r>
              <a:rPr lang="th-TH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5122" name="Picture 2" descr="D:\รายวิชา\วิชาระบบสารสนเทศสำหรับการบริหาร\เอกสารประกอบ\1-05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088" y="1556793"/>
            <a:ext cx="7691208" cy="4329332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97294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แนวคิดพื้นฐาน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539552" y="1697048"/>
            <a:ext cx="8208912" cy="4108216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3414" y="1789075"/>
            <a:ext cx="846329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ฮาร์ดแวร์ (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Hardware</a:t>
            </a: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)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หมายถึง อุปกรณ์ด้านเทคโนโลยีสารสนเทศที่ช่วยให้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ระบบทำงานได้อย่างมีประสิทธิภาพ ประกอบไปด้วย </a:t>
            </a:r>
          </a:p>
          <a:p>
            <a:pPr lvl="1"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คอมพิวเตอร์ ใช้สำหรับการประมวลผล</a:t>
            </a:r>
          </a:p>
          <a:p>
            <a:pPr lvl="1"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อุปกรณ์รับเข้าข้อมูล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Input device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) </a:t>
            </a:r>
            <a:r>
              <a:rPr lang="th-TH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เป็นองค์ประกอบของฮาร์ดแวร์ที่ผู้ใช้สามารถนำเข้าข้อมูลคำสั่งงานเข้าสู่เครื่องคอมพิวเตอร์ มีรูปแบบหลากหลาย</a:t>
            </a:r>
          </a:p>
          <a:p>
            <a:pPr lvl="1"/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	</a:t>
            </a:r>
            <a:r>
              <a:rPr lang="en-US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รับข้อมูลที่เป็นอักขระ เช่น แผงแป้นอักขระ (</a:t>
            </a:r>
            <a:r>
              <a:rPr lang="en-US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keyboard</a:t>
            </a:r>
            <a:r>
              <a:rPr lang="th-TH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) </a:t>
            </a:r>
            <a:br>
              <a:rPr lang="th-TH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</a:br>
            <a:r>
              <a:rPr lang="en-US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	- </a:t>
            </a:r>
            <a:r>
              <a:rPr lang="th-TH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อุปกรณ์สำหรับควบคุมตำแหน่งบนจอภาพ เช่น เมาส์ (</a:t>
            </a:r>
            <a:r>
              <a:rPr lang="en-US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Mouse</a:t>
            </a:r>
            <a:r>
              <a:rPr lang="th-TH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) ปากการแสง (</a:t>
            </a:r>
            <a:r>
              <a:rPr lang="en-US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Lighting pen</a:t>
            </a:r>
            <a:r>
              <a:rPr lang="th-TH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) </a:t>
            </a:r>
            <a:br>
              <a:rPr lang="th-TH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จอสัมผัส (</a:t>
            </a:r>
            <a:r>
              <a:rPr lang="en-US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Touch screen</a:t>
            </a:r>
            <a:r>
              <a:rPr lang="th-TH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  <a:p>
            <a:pPr lvl="1"/>
            <a:r>
              <a:rPr lang="th-TH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รับข้อมูลที่เป็นสัญญาณเสียง เช่น ไมโครโฟน (</a:t>
            </a:r>
            <a:r>
              <a:rPr lang="en-US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Microphone</a:t>
            </a:r>
            <a:r>
              <a:rPr lang="th-TH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) </a:t>
            </a:r>
          </a:p>
          <a:p>
            <a:pPr lvl="1"/>
            <a:r>
              <a:rPr lang="th-TH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	</a:t>
            </a:r>
            <a:r>
              <a:rPr lang="en-US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รับข้อมูลที่เป็นภาพ</a:t>
            </a:r>
            <a:r>
              <a:rPr lang="en-US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/</a:t>
            </a:r>
            <a:r>
              <a:rPr lang="th-TH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ภาพเคลื่อนไหว เช่น </a:t>
            </a:r>
            <a:r>
              <a:rPr lang="th-TH" sz="22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กล้องดิจิทัล</a:t>
            </a:r>
            <a:r>
              <a:rPr lang="th-TH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กล้องถ่าย</a:t>
            </a:r>
            <a:r>
              <a:rPr lang="th-TH" sz="22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วีดิทัศน์ดิจิทัล</a:t>
            </a:r>
            <a:r>
              <a:rPr lang="th-TH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(</a:t>
            </a:r>
            <a:r>
              <a:rPr lang="en-US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Digital Video</a:t>
            </a:r>
            <a:r>
              <a:rPr lang="th-TH" sz="2200" i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องค์ประกอบของระบบสารสนเทศ (ต่อ)</a:t>
            </a:r>
            <a:endParaRPr lang="en-US" sz="36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97294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แนวคิดพื้นฐาน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539552" y="1697048"/>
            <a:ext cx="8208912" cy="2452032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5174" y="1789075"/>
            <a:ext cx="846329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อุปกรณ์รับเข้าข้อมูล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Input device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)</a:t>
            </a:r>
            <a:endParaRPr lang="th-TH" sz="2400" i="1" dirty="0">
              <a:solidFill>
                <a:schemeClr val="tx1">
                  <a:lumMod val="75000"/>
                  <a:lumOff val="25000"/>
                </a:schemeClr>
              </a:solidFill>
              <a:latin typeface="AngsanaUPC" pitchFamily="18" charset="-34"/>
              <a:cs typeface="AngsanaUPC" pitchFamily="18" charset="-34"/>
            </a:endParaRPr>
          </a:p>
          <a:p>
            <a:pPr lvl="1"/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 	</a:t>
            </a:r>
            <a:r>
              <a:rPr lang="en-US" sz="2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รับข้อมูลโดยตรงจากแหล่งกำเนิด เช่น เครื่องกราดภาพ (</a:t>
            </a:r>
            <a:r>
              <a:rPr lang="en-US" sz="2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Scanner</a:t>
            </a:r>
            <a:r>
              <a:rPr lang="th-TH" sz="2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) เครื่องอ่านรหัสแท่ง (</a:t>
            </a:r>
            <a:r>
              <a:rPr lang="en-US" sz="2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Barcode reader</a:t>
            </a:r>
            <a:r>
              <a:rPr lang="th-TH" sz="2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) เครื่องอ่านอักขระด้วยแสง (</a:t>
            </a:r>
            <a:r>
              <a:rPr lang="en-US" sz="2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Optical character </a:t>
            </a:r>
            <a:r>
              <a:rPr lang="en-US" sz="2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reader:OCR</a:t>
            </a:r>
            <a:r>
              <a:rPr lang="th-TH" sz="2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  <a:p>
            <a:pPr lvl="1"/>
            <a:r>
              <a:rPr lang="th-TH" sz="2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 	</a:t>
            </a:r>
            <a:r>
              <a:rPr lang="en-US" sz="2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รับข้อมูลที่เป็นลักษณะทางกายภาพ เช่น ลายนิ้วมือ อุปกรณ์รับเข้าจะมีลักษณะเรียกรวมกันว่า </a:t>
            </a:r>
            <a:br>
              <a:rPr lang="th-TH" sz="2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sz="2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อุปกรณ์</a:t>
            </a:r>
            <a:r>
              <a:rPr lang="th-TH" sz="2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ชีว</a:t>
            </a:r>
            <a:r>
              <a:rPr lang="th-TH" sz="2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มาตร (</a:t>
            </a:r>
            <a:r>
              <a:rPr lang="en-US" sz="2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Biometric device</a:t>
            </a:r>
            <a:r>
              <a:rPr lang="th-TH" sz="2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) ประกอบด้วย เครื่องกราดลายนิ้วมือ (</a:t>
            </a:r>
            <a:r>
              <a:rPr lang="en-US" sz="2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Finger print scanner</a:t>
            </a:r>
            <a:r>
              <a:rPr lang="th-TH" sz="2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) </a:t>
            </a:r>
            <a:br>
              <a:rPr lang="th-TH" sz="2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sz="2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เครื่องกราดมือ (</a:t>
            </a:r>
            <a:r>
              <a:rPr lang="en-US" sz="2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Hand point scanner</a:t>
            </a:r>
            <a:r>
              <a:rPr lang="th-TH" sz="2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itchFamily="18" charset="-34"/>
                <a:cs typeface="AngsanaUPC" pitchFamily="18" charset="-34"/>
              </a:rPr>
              <a:t>) เป็นต้น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องค์ประกอบของระบบสารสนเทศ (ต่อ)</a:t>
            </a:r>
            <a:endParaRPr lang="en-US" sz="36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7171" name="Picture 3" descr="D:\รายวิชา\วิชาระบบสารสนเทศสำหรับการบริหาร\เอกสารประกอบ\bilde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4293096"/>
            <a:ext cx="2376264" cy="1587649"/>
          </a:xfrm>
          <a:prstGeom prst="rect">
            <a:avLst/>
          </a:prstGeom>
          <a:noFill/>
        </p:spPr>
      </p:pic>
      <p:pic>
        <p:nvPicPr>
          <p:cNvPr id="7175" name="Picture 7" descr="D:\รายวิชา\วิชาระบบสารสนเทศสำหรับการบริหาร\เอกสารประกอบ\biometric-hand-geometry-scanner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5857" y="4151220"/>
            <a:ext cx="2160240" cy="1945843"/>
          </a:xfrm>
          <a:prstGeom prst="rect">
            <a:avLst/>
          </a:prstGeom>
          <a:noFill/>
        </p:spPr>
      </p:pic>
      <p:pic>
        <p:nvPicPr>
          <p:cNvPr id="7176" name="Picture 8" descr="D:\รายวิชา\วิชาระบบสารสนเทศสำหรับการบริหาร\เอกสารประกอบ\cmimg_52698[1]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92080" y="4247682"/>
            <a:ext cx="2880320" cy="1856206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97294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แนวคิดพื้นฐาน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539552" y="1697048"/>
            <a:ext cx="8208912" cy="3532152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1198" y="1789075"/>
            <a:ext cx="788722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§"/>
            </a:pPr>
            <a:r>
              <a:rPr lang="th-TH" b="1" i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อุปกรณ์ส่งออก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Output device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) 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เป็นอุปกรณ์ที่นำเสนอผลจากการประมวลผล</a:t>
            </a:r>
            <a:br>
              <a:rPr lang="th-TH" sz="2200" i="1" dirty="0">
                <a:latin typeface="AngsanaUPC" pitchFamily="18" charset="-34"/>
                <a:cs typeface="AngsanaUPC" pitchFamily="18" charset="-34"/>
              </a:rPr>
            </a:b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ให้กับผู้ใช้ มีหลายรูปแบบ</a:t>
            </a:r>
          </a:p>
          <a:p>
            <a:pPr lvl="1"/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อุปกรณ์แสดงผล (</a:t>
            </a:r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Display device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)</a:t>
            </a:r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  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สารสนเทศที่นำเสนอผ่านอุปกรณ์แสดงผล จะเรียกว่า สำเนาอิเล็กทรอนิกส์ (</a:t>
            </a:r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Soft copy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) อุปกรณ์แสดงผล ได้แก่ จอมอนิเตอร์ (</a:t>
            </a:r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Monitor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) </a:t>
            </a:r>
          </a:p>
          <a:p>
            <a:pPr lvl="1"/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เครื่องพิมพ์ (</a:t>
            </a:r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Printer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) สำหรับแสดงผลสำเนาถาวร </a:t>
            </a:r>
            <a:br>
              <a:rPr lang="th-TH" sz="2200" i="1" dirty="0">
                <a:latin typeface="AngsanaUPC" pitchFamily="18" charset="-34"/>
                <a:cs typeface="AngsanaUPC" pitchFamily="18" charset="-34"/>
              </a:rPr>
            </a:b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หรือสิ่งพิมพ์ออก เช่น ข้อมูลจากคอมพิวเตอร์ที่พิมพ์</a:t>
            </a:r>
            <a:br>
              <a:rPr lang="th-TH" sz="2200" i="1" dirty="0">
                <a:latin typeface="AngsanaUPC" pitchFamily="18" charset="-34"/>
                <a:cs typeface="AngsanaUPC" pitchFamily="18" charset="-34"/>
              </a:rPr>
            </a:b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ลงกระดาษ</a:t>
            </a:r>
          </a:p>
          <a:p>
            <a:pPr lvl="1"/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เครื่องขายเสียง (</a:t>
            </a:r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Speaker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) ใช้สำหรับสารสนเทศ</a:t>
            </a:r>
          </a:p>
          <a:p>
            <a:pPr lvl="1"/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ที่นำเสนอในลักษณะของเสียง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องค์ประกอบของระบบสารสนเทศ (ต่อ)</a:t>
            </a:r>
            <a:endParaRPr lang="en-US" sz="36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8194" name="Picture 2" descr="D:\รายวิชา\วิชาระบบสารสนเทศสำหรับการบริหาร\เอกสารประกอบ\output+device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36096" y="3280483"/>
            <a:ext cx="3449960" cy="2716844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97294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แนวคิดพื้นฐาน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611560" y="1628800"/>
            <a:ext cx="4824536" cy="3456384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5174" y="1789075"/>
            <a:ext cx="500690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อุปกรณ์หน่วยเก็บ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Storage device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) </a:t>
            </a:r>
          </a:p>
          <a:p>
            <a:pPr lvl="1"/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หมายถึงฮาร์ดแวร์ที่ใช้บันทึกเก็บข้อมูลชุดคำสั่งงานต่างๆ </a:t>
            </a:r>
          </a:p>
          <a:p>
            <a:pPr lvl="1"/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เพื่อการใช้งานใหม่ในอนาคต เช่น </a:t>
            </a:r>
          </a:p>
          <a:p>
            <a:pPr lvl="1"/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จานบันทึกแบบแข็ง (</a:t>
            </a:r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Hard disk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) </a:t>
            </a:r>
          </a:p>
          <a:p>
            <a:pPr lvl="1">
              <a:buFontTx/>
              <a:buChar char="-"/>
            </a:pP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จานบันทึกแบบแข็งชนิดภายนอก(</a:t>
            </a:r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External Hard disk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) </a:t>
            </a:r>
            <a:endParaRPr lang="en-US" sz="2200" i="1" dirty="0">
              <a:latin typeface="AngsanaUPC" pitchFamily="18" charset="-34"/>
              <a:cs typeface="AngsanaUPC" pitchFamily="18" charset="-34"/>
            </a:endParaRPr>
          </a:p>
          <a:p>
            <a:pPr lvl="1"/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แผ่นซีดี (</a:t>
            </a:r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Compact disc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) </a:t>
            </a:r>
          </a:p>
          <a:p>
            <a:pPr lvl="1"/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หน่วยขับ</a:t>
            </a:r>
            <a:r>
              <a:rPr lang="th-TH" sz="2200" i="1" dirty="0" err="1">
                <a:latin typeface="AngsanaUPC" pitchFamily="18" charset="-34"/>
                <a:cs typeface="AngsanaUPC" pitchFamily="18" charset="-34"/>
              </a:rPr>
              <a:t>แฟลช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 (</a:t>
            </a:r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Flash drive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) </a:t>
            </a:r>
          </a:p>
          <a:p>
            <a:pPr lvl="1"/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แท่งความจำ (</a:t>
            </a:r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Memory stick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)</a:t>
            </a:r>
            <a:endParaRPr lang="en-US" sz="2200" i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องค์ประกอบของระบบสารสนเทศ (ต่อ)</a:t>
            </a:r>
            <a:endParaRPr lang="en-US" sz="36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9218" name="Picture 2" descr="D:\รายวิชา\วิชาระบบสารสนเทศสำหรับการบริหาร\เอกสารประกอบ\onlinestorage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0808" y="1628800"/>
            <a:ext cx="3456385" cy="4446240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:\รายวิชา\วิชาระบบสารสนเทศสำหรับการบริหาร\เอกสารประกอบ\computersystem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332656"/>
            <a:ext cx="8794856" cy="5755282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-62384" y="332656"/>
            <a:ext cx="32813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ฮาร์ดแวร์ (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Hardware</a:t>
            </a: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en-US" b="1" dirty="0"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97294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แนวคิดพื้นฐาน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539552" y="1697048"/>
            <a:ext cx="8208912" cy="1587936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1198" y="1789075"/>
            <a:ext cx="78872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§"/>
            </a:pP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ซอฟต์แวร์ (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Software</a:t>
            </a: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)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หมายถึง ชุดคำสั่งงานที่ใช้ในการสั่งให้คอมพิวเตอร์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ทำงาน แบ่งเป็น ซอฟต์แวร์ระบบ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System software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) และซอฟต์แวร์ประยุกต์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Application Software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องค์ประกอบของระบบสารสนเทศ (ต่อ)</a:t>
            </a:r>
            <a:endParaRPr lang="en-US" sz="36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10242" name="Picture 2" descr="D:\รายวิชา\วิชาระบบสารสนเทศสำหรับการบริหาร\เอกสารประกอบ\software-5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59" y="3356992"/>
            <a:ext cx="2022907" cy="2748734"/>
          </a:xfrm>
          <a:prstGeom prst="rect">
            <a:avLst/>
          </a:prstGeom>
          <a:noFill/>
        </p:spPr>
      </p:pic>
      <p:pic>
        <p:nvPicPr>
          <p:cNvPr id="10243" name="Picture 3" descr="D:\รายวิชา\วิชาระบบสารสนเทศสำหรับการบริหาร\เอกสารประกอบ\taskmerlin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47368" y="3356992"/>
            <a:ext cx="3501096" cy="2664296"/>
          </a:xfrm>
          <a:prstGeom prst="rect">
            <a:avLst/>
          </a:prstGeom>
          <a:noFill/>
        </p:spPr>
      </p:pic>
      <p:pic>
        <p:nvPicPr>
          <p:cNvPr id="10244" name="Picture 4" descr="D:\รายวิชา\วิชาระบบสารสนเทศสำหรับการบริหาร\เอกสารประกอบ\so1[1]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99792" y="3347112"/>
            <a:ext cx="2517335" cy="2746184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97294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แนวคิดพื้นฐาน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539552" y="1697048"/>
            <a:ext cx="8208912" cy="4252232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1198" y="1789075"/>
            <a:ext cx="7887226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§"/>
            </a:pP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ซอฟต์แวร์ระบบ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System software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)  ประกอบไปด้วยโปรแกรมที่ใช้สำหรับควบคุม บำรุงรักษา การปฏิบัติงานของฮาร์ดแวร์ สำหน้าที่เป็นส่วนต่อประสานระหว่างผู้ใช้กับซอฟต์แวร์ประยุกต์ แบ่งเป็น</a:t>
            </a:r>
          </a:p>
          <a:p>
            <a:pPr lvl="1"/>
            <a:r>
              <a:rPr lang="th-TH" sz="2200" b="1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en-US" sz="2200" b="1" dirty="0">
                <a:latin typeface="AngsanaUPC" pitchFamily="18" charset="-34"/>
                <a:cs typeface="AngsanaUPC" pitchFamily="18" charset="-34"/>
              </a:rPr>
              <a:t>-</a:t>
            </a:r>
            <a:r>
              <a:rPr lang="th-TH" sz="2200" b="1" dirty="0">
                <a:latin typeface="AngsanaUPC" pitchFamily="18" charset="-34"/>
                <a:cs typeface="AngsanaUPC" pitchFamily="18" charset="-34"/>
              </a:rPr>
              <a:t> ระบบปฏิบัติการ (</a:t>
            </a:r>
            <a:r>
              <a:rPr lang="en-US" sz="2200" b="1" dirty="0">
                <a:latin typeface="AngsanaUPC" pitchFamily="18" charset="-34"/>
                <a:cs typeface="AngsanaUPC" pitchFamily="18" charset="-34"/>
              </a:rPr>
              <a:t>Operating system</a:t>
            </a:r>
            <a:r>
              <a:rPr lang="th-TH" sz="2200" b="1" dirty="0">
                <a:latin typeface="AngsanaUPC" pitchFamily="18" charset="-34"/>
                <a:cs typeface="AngsanaUPC" pitchFamily="18" charset="-34"/>
              </a:rPr>
              <a:t>) 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ประกอบขึ้นจาก</a:t>
            </a:r>
            <a:br>
              <a:rPr lang="th-TH" sz="2200" i="1" dirty="0">
                <a:latin typeface="AngsanaUPC" pitchFamily="18" charset="-34"/>
                <a:cs typeface="AngsanaUPC" pitchFamily="18" charset="-34"/>
              </a:rPr>
            </a:b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ชุดโปรแกรมที่ทำหน้าที่ควบคุมดูแลการดำเนินการต่าง ๆ ของระบบ</a:t>
            </a:r>
          </a:p>
          <a:p>
            <a:pPr lvl="1"/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คอมพิวเตอร์ และประสานการทำงานระหว่างทรัพยากรต่าง ๆ </a:t>
            </a:r>
            <a:br>
              <a:rPr lang="th-TH" sz="2200" i="1" dirty="0">
                <a:latin typeface="AngsanaUPC" pitchFamily="18" charset="-34"/>
                <a:cs typeface="AngsanaUPC" pitchFamily="18" charset="-34"/>
              </a:rPr>
            </a:b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ในระบบคอมพิวเตอร์ ทั้งส่วนที่เป็นซอฟต์แวร์และส่วนที่เป็น</a:t>
            </a:r>
            <a:br>
              <a:rPr lang="th-TH" sz="2200" i="1" dirty="0">
                <a:latin typeface="AngsanaUPC" pitchFamily="18" charset="-34"/>
                <a:cs typeface="AngsanaUPC" pitchFamily="18" charset="-34"/>
              </a:rPr>
            </a:b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ฮาร์ดแวร์ให้เป็นไปอย่างเหมาะสมและมีประสิทธิภาพ </a:t>
            </a:r>
          </a:p>
          <a:p>
            <a:pPr lvl="1"/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ระบบคอมพิวเตอร์ในระดับไมโครคอมพิวเตอร์ โดยทั่วไปใช้</a:t>
            </a:r>
          </a:p>
          <a:p>
            <a:pPr lvl="1"/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ระบบปฏิบัติการที่จัดเก็บอยู่บนแผ่นบันทึกหรือฮาร์ดดิสก์</a:t>
            </a:r>
            <a:endParaRPr lang="th-TH" sz="2200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องค์ประกอบของระบบสารสนเทศ (ต่อ)</a:t>
            </a:r>
            <a:endParaRPr lang="en-US" sz="36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11266" name="Picture 2" descr="D:\รายวิชา\วิชาระบบสารสนเทศสำหรับการบริหาร\เอกสารประกอบ\OPER-SYS[1]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8104" y="2974120"/>
            <a:ext cx="3300647" cy="2978633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97294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แนวคิดพื้นฐาน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539552" y="1697048"/>
            <a:ext cx="7704856" cy="2956088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1198" y="1789075"/>
            <a:ext cx="803124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ซอฟต์แวร์ระบบ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System software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) </a:t>
            </a:r>
            <a:endParaRPr lang="en-US" b="1" dirty="0">
              <a:latin typeface="AngsanaUPC" pitchFamily="18" charset="-34"/>
              <a:cs typeface="AngsanaUPC" pitchFamily="18" charset="-34"/>
            </a:endParaRPr>
          </a:p>
          <a:p>
            <a:pPr lvl="1"/>
            <a:r>
              <a:rPr lang="en-US" sz="2200" b="1" dirty="0">
                <a:latin typeface="AngsanaUPC" pitchFamily="18" charset="-34"/>
                <a:cs typeface="AngsanaUPC" pitchFamily="18" charset="-34"/>
              </a:rPr>
              <a:t>	-</a:t>
            </a:r>
            <a:r>
              <a:rPr lang="th-TH" sz="2200" b="1" dirty="0">
                <a:latin typeface="AngsanaUPC" pitchFamily="18" charset="-34"/>
                <a:cs typeface="AngsanaUPC" pitchFamily="18" charset="-34"/>
              </a:rPr>
              <a:t> โปรแกรมอรรถประโยชน์ (</a:t>
            </a:r>
            <a:r>
              <a:rPr lang="th-TH" sz="2200" b="1" dirty="0" err="1">
                <a:latin typeface="AngsanaUPC" pitchFamily="18" charset="-34"/>
                <a:cs typeface="AngsanaUPC" pitchFamily="18" charset="-34"/>
              </a:rPr>
              <a:t>utility</a:t>
            </a:r>
            <a:r>
              <a:rPr lang="th-TH" sz="2200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sz="2200" b="1" dirty="0" err="1">
                <a:latin typeface="AngsanaUPC" pitchFamily="18" charset="-34"/>
                <a:cs typeface="AngsanaUPC" pitchFamily="18" charset="-34"/>
              </a:rPr>
              <a:t>program</a:t>
            </a:r>
            <a:r>
              <a:rPr lang="th-TH" sz="2200" b="1" dirty="0">
                <a:latin typeface="AngsanaUPC" pitchFamily="18" charset="-34"/>
                <a:cs typeface="AngsanaUPC" pitchFamily="18" charset="-34"/>
              </a:rPr>
              <a:t>/</a:t>
            </a:r>
            <a:r>
              <a:rPr lang="th-TH" sz="2200" b="1" dirty="0" err="1">
                <a:latin typeface="AngsanaUPC" pitchFamily="18" charset="-34"/>
                <a:cs typeface="AngsanaUPC" pitchFamily="18" charset="-34"/>
              </a:rPr>
              <a:t>software</a:t>
            </a:r>
            <a:r>
              <a:rPr lang="th-TH" sz="2200" b="1" dirty="0">
                <a:latin typeface="AngsanaUPC" pitchFamily="18" charset="-34"/>
                <a:cs typeface="AngsanaUPC" pitchFamily="18" charset="-34"/>
              </a:rPr>
              <a:t>) 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เป็นโปรแกรมที่ทำงานบนระบบปฏิบัติการ ส่วนมากใช้เพื่อบำรุงรักษา</a:t>
            </a:r>
            <a:br>
              <a:rPr lang="th-TH" sz="2200" i="1" dirty="0">
                <a:latin typeface="AngsanaUPC" pitchFamily="18" charset="-34"/>
                <a:cs typeface="AngsanaUPC" pitchFamily="18" charset="-34"/>
              </a:rPr>
            </a:b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และเพิ่มประสิทธิภาพการทำงานของคอมพิวเตอร์ เช่น </a:t>
            </a:r>
          </a:p>
          <a:p>
            <a:pPr lvl="1"/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ประเภทการจัดพื้นที่เก็บข้อมูล (</a:t>
            </a:r>
            <a:r>
              <a:rPr lang="th-TH" sz="2200" i="1" dirty="0" err="1">
                <a:latin typeface="AngsanaUPC" pitchFamily="18" charset="-34"/>
                <a:cs typeface="AngsanaUPC" pitchFamily="18" charset="-34"/>
              </a:rPr>
              <a:t>Disk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sz="2200" i="1" dirty="0" err="1">
                <a:latin typeface="AngsanaUPC" pitchFamily="18" charset="-34"/>
                <a:cs typeface="AngsanaUPC" pitchFamily="18" charset="-34"/>
              </a:rPr>
              <a:t>Defragmenter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) </a:t>
            </a:r>
          </a:p>
          <a:p>
            <a:pPr lvl="1"/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โปรแกรมบีบอัดไฟล์ (</a:t>
            </a:r>
            <a:r>
              <a:rPr lang="th-TH" sz="2200" i="1" dirty="0" err="1">
                <a:latin typeface="AngsanaUPC" pitchFamily="18" charset="-34"/>
                <a:cs typeface="AngsanaUPC" pitchFamily="18" charset="-34"/>
              </a:rPr>
              <a:t>File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sz="2200" i="1" dirty="0" err="1">
                <a:latin typeface="AngsanaUPC" pitchFamily="18" charset="-34"/>
                <a:cs typeface="AngsanaUPC" pitchFamily="18" charset="-34"/>
              </a:rPr>
              <a:t>Compression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sz="2200" i="1" dirty="0" err="1">
                <a:latin typeface="AngsanaUPC" pitchFamily="18" charset="-34"/>
                <a:cs typeface="AngsanaUPC" pitchFamily="18" charset="-34"/>
              </a:rPr>
              <a:t>Utility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) </a:t>
            </a:r>
          </a:p>
          <a:p>
            <a:pPr lvl="1"/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โปรแกรมป้องกัน</a:t>
            </a:r>
            <a:r>
              <a:rPr lang="th-TH" sz="2200" i="1" dirty="0" err="1">
                <a:latin typeface="AngsanaUPC" pitchFamily="18" charset="-34"/>
                <a:cs typeface="AngsanaUPC" pitchFamily="18" charset="-34"/>
              </a:rPr>
              <a:t>ไวรัส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 (</a:t>
            </a:r>
            <a:r>
              <a:rPr lang="th-TH" sz="2200" i="1" dirty="0" err="1">
                <a:latin typeface="AngsanaUPC" pitchFamily="18" charset="-34"/>
                <a:cs typeface="AngsanaUPC" pitchFamily="18" charset="-34"/>
              </a:rPr>
              <a:t>Anti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sz="2200" i="1" dirty="0" err="1">
                <a:latin typeface="AngsanaUPC" pitchFamily="18" charset="-34"/>
                <a:cs typeface="AngsanaUPC" pitchFamily="18" charset="-34"/>
              </a:rPr>
              <a:t>Virus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sz="2200" i="1" dirty="0" err="1">
                <a:latin typeface="AngsanaUPC" pitchFamily="18" charset="-34"/>
                <a:cs typeface="AngsanaUPC" pitchFamily="18" charset="-34"/>
              </a:rPr>
              <a:t>Program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)</a:t>
            </a:r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เป็นต้น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องค์ประกอบของระบบสารสนเทศ (ต่อ)</a:t>
            </a:r>
            <a:endParaRPr lang="en-US" sz="36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12291" name="Picture 3" descr="D:\รายวิชา\วิชาระบบสารสนเทศสำหรับการบริหาร\เอกสารประกอบ\magicutilities2008552portable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97120" y="2636912"/>
            <a:ext cx="2664296" cy="3222129"/>
          </a:xfrm>
          <a:prstGeom prst="rect">
            <a:avLst/>
          </a:prstGeom>
          <a:noFill/>
        </p:spPr>
      </p:pic>
      <p:pic>
        <p:nvPicPr>
          <p:cNvPr id="12292" name="Picture 4" descr="D:\รายวิชา\วิชาระบบสารสนเทศสำหรับการบริหาร\เอกสารประกอบ\uTILITY Program[1].png"/>
          <p:cNvPicPr>
            <a:picLocks noChangeAspect="1" noChangeArrowheads="1"/>
          </p:cNvPicPr>
          <p:nvPr/>
        </p:nvPicPr>
        <p:blipFill>
          <a:blip r:embed="rId3" cstate="print"/>
          <a:srcRect l="7316" t="5815" r="9769" b="9863"/>
          <a:stretch>
            <a:fillRect/>
          </a:stretch>
        </p:blipFill>
        <p:spPr bwMode="auto">
          <a:xfrm>
            <a:off x="3735200" y="4334040"/>
            <a:ext cx="2448272" cy="1800200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67544" y="97294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แนวคิดพื้นฐาน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11" name="สี่เหลี่ยมผืนผ้า 10"/>
          <p:cNvSpPr/>
          <p:nvPr/>
        </p:nvSpPr>
        <p:spPr>
          <a:xfrm>
            <a:off x="539552" y="1697048"/>
            <a:ext cx="8208912" cy="2740064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1198" y="1707187"/>
            <a:ext cx="8175258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ซอฟต์แวร์ประยุกต์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Application Software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) เป็นซอฟต์แวร์ที่ใช้กับงานด้านต่างๆ ตามความต้องการของผู้ใช้ที่สามารถนำมาใช้ประโยชน์ได้โดยตรง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แบ่งเป็นสองกลุ่ม คือ </a:t>
            </a:r>
          </a:p>
          <a:p>
            <a:r>
              <a:rPr lang="en-US" b="1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en-US" sz="2200" b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200" b="1" dirty="0">
                <a:latin typeface="AngsanaUPC" pitchFamily="18" charset="-34"/>
                <a:cs typeface="AngsanaUPC" pitchFamily="18" charset="-34"/>
              </a:rPr>
              <a:t>ซอฟต์แวร์สำหรับงานทั่วไป (</a:t>
            </a:r>
            <a:r>
              <a:rPr lang="en-US" sz="2200" b="1" dirty="0">
                <a:latin typeface="AngsanaUPC" pitchFamily="18" charset="-34"/>
                <a:cs typeface="AngsanaUPC" pitchFamily="18" charset="-34"/>
              </a:rPr>
              <a:t>General purpose Software)</a:t>
            </a:r>
            <a:r>
              <a:rPr lang="en-US" sz="2200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เป็นซอฟต์แวร์ที่ออกแบบมา</a:t>
            </a:r>
          </a:p>
          <a:p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            สำหรับงานทั่ว ๆ ไป สามารถนำมาประยุกต์ใช้กับงานส่วนตัวได้อย่างหลากหลาย เช่น </a:t>
            </a:r>
            <a:r>
              <a:rPr lang="th-TH" sz="2200" dirty="0">
                <a:latin typeface="AngsanaUPC" pitchFamily="18" charset="-34"/>
                <a:cs typeface="AngsanaUPC" pitchFamily="18" charset="-34"/>
              </a:rPr>
              <a:t>ซอฟต์แวร์   </a:t>
            </a:r>
            <a:br>
              <a:rPr lang="th-TH" sz="2200" dirty="0">
                <a:latin typeface="AngsanaUPC" pitchFamily="18" charset="-34"/>
                <a:cs typeface="AngsanaUPC" pitchFamily="18" charset="-34"/>
              </a:rPr>
            </a:b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            ประมวลผลคำ (</a:t>
            </a:r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Word processing) 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ซอฟต์แวร์นำเสนอ (</a:t>
            </a:r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Presentation Software) 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ซอฟต์แวร์กราฟิก </a:t>
            </a:r>
            <a:br>
              <a:rPr lang="th-TH" sz="2200" i="1" dirty="0">
                <a:latin typeface="AngsanaUPC" pitchFamily="18" charset="-34"/>
                <a:cs typeface="AngsanaUPC" pitchFamily="18" charset="-34"/>
              </a:rPr>
            </a:b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            (</a:t>
            </a:r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Graphic Software)</a:t>
            </a:r>
            <a:endParaRPr lang="th-TH" sz="2200" i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องค์ประกอบของระบบสารสนเทศ (ต่อ)</a:t>
            </a:r>
            <a:endParaRPr lang="en-US" sz="36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14338" name="Picture 2" descr="D:\รายวิชา\วิชาระบบสารสนเทศสำหรับการบริหาร\เอกสารประกอบ\word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4509120"/>
            <a:ext cx="2160239" cy="1571889"/>
          </a:xfrm>
          <a:prstGeom prst="rect">
            <a:avLst/>
          </a:prstGeom>
          <a:noFill/>
        </p:spPr>
      </p:pic>
      <p:pic>
        <p:nvPicPr>
          <p:cNvPr id="14339" name="Picture 3" descr="D:\รายวิชา\วิชาระบบสารสนเทศสำหรับการบริหาร\เอกสารประกอบ\01[1].jpg"/>
          <p:cNvPicPr>
            <a:picLocks noChangeAspect="1" noChangeArrowheads="1"/>
          </p:cNvPicPr>
          <p:nvPr/>
        </p:nvPicPr>
        <p:blipFill>
          <a:blip r:embed="rId3" cstate="print"/>
          <a:srcRect b="4384"/>
          <a:stretch>
            <a:fillRect/>
          </a:stretch>
        </p:blipFill>
        <p:spPr bwMode="auto">
          <a:xfrm>
            <a:off x="4630361" y="4522768"/>
            <a:ext cx="2119296" cy="1570528"/>
          </a:xfrm>
          <a:prstGeom prst="rect">
            <a:avLst/>
          </a:prstGeom>
          <a:noFill/>
        </p:spPr>
      </p:pic>
      <p:pic>
        <p:nvPicPr>
          <p:cNvPr id="14340" name="Picture 4" descr="D:\รายวิชา\วิชาระบบสารสนเทศสำหรับการบริหาร\เอกสารประกอบ\ppt[1]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20304" y="4509120"/>
            <a:ext cx="2195923" cy="1584176"/>
          </a:xfrm>
          <a:prstGeom prst="rect">
            <a:avLst/>
          </a:prstGeom>
          <a:noFill/>
        </p:spPr>
      </p:pic>
      <p:pic>
        <p:nvPicPr>
          <p:cNvPr id="14341" name="Picture 5" descr="D:\รายวิชา\วิชาระบบสารสนเทศสำหรับการบริหาร\เอกสารประกอบ\excel[1]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69729" y="4509120"/>
            <a:ext cx="2081808" cy="1561356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97294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แนวคิดพื้นฐาน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539552" y="1697048"/>
            <a:ext cx="8208912" cy="1659944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1198" y="1789075"/>
            <a:ext cx="8175258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ซอฟต์แวร์ประยุกต์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Application Software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) </a:t>
            </a:r>
          </a:p>
          <a:p>
            <a:pPr lvl="1"/>
            <a:r>
              <a:rPr lang="th-TH" sz="2200" b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sz="2200" b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200" b="1" dirty="0">
                <a:latin typeface="AngsanaUPC" pitchFamily="18" charset="-34"/>
                <a:cs typeface="AngsanaUPC" pitchFamily="18" charset="-34"/>
              </a:rPr>
              <a:t>ซอฟต์แวร์สำหรับงานเฉพาะด้าน (</a:t>
            </a:r>
            <a:r>
              <a:rPr lang="th-TH" sz="2200" b="1" dirty="0" err="1">
                <a:latin typeface="AngsanaUPC" pitchFamily="18" charset="-34"/>
                <a:cs typeface="AngsanaUPC" pitchFamily="18" charset="-34"/>
              </a:rPr>
              <a:t>Special</a:t>
            </a:r>
            <a:r>
              <a:rPr lang="th-TH" sz="2200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sz="2200" b="1" dirty="0" err="1">
                <a:latin typeface="AngsanaUPC" pitchFamily="18" charset="-34"/>
                <a:cs typeface="AngsanaUPC" pitchFamily="18" charset="-34"/>
              </a:rPr>
              <a:t>Purpose</a:t>
            </a:r>
            <a:r>
              <a:rPr lang="th-TH" sz="2200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sz="2200" b="1" dirty="0" err="1">
                <a:latin typeface="AngsanaUPC" pitchFamily="18" charset="-34"/>
                <a:cs typeface="AngsanaUPC" pitchFamily="18" charset="-34"/>
              </a:rPr>
              <a:t>Software</a:t>
            </a:r>
            <a:r>
              <a:rPr lang="th-TH" sz="2200" b="1" dirty="0">
                <a:latin typeface="AngsanaUPC" pitchFamily="18" charset="-34"/>
                <a:cs typeface="AngsanaUPC" pitchFamily="18" charset="-34"/>
              </a:rPr>
              <a:t>) 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เป็นซอฟต์แวร์ที่ออกแบบ</a:t>
            </a:r>
            <a:br>
              <a:rPr lang="th-TH" sz="2200" i="1" dirty="0">
                <a:latin typeface="AngsanaUPC" pitchFamily="18" charset="-34"/>
                <a:cs typeface="AngsanaUPC" pitchFamily="18" charset="-34"/>
              </a:rPr>
            </a:b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มาให้มีความเหมาะสมกับงานเฉพาะด้าน เช่น โปรแกรมด้านการคำนวณราคาค่าน้ำของแต่ละบ้าน </a:t>
            </a:r>
            <a:br>
              <a:rPr lang="th-TH" sz="2200" i="1" dirty="0">
                <a:latin typeface="AngsanaUPC" pitchFamily="18" charset="-34"/>
                <a:cs typeface="AngsanaUPC" pitchFamily="18" charset="-34"/>
              </a:rPr>
            </a:b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หรือโปรแกรมสำหรับฝากถอนเงิน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องค์ประกอบของระบบสารสนเทศ (ต่อ)</a:t>
            </a:r>
            <a:endParaRPr lang="en-US" sz="36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15362" name="Picture 2" descr="D:\รายวิชา\วิชาระบบสารสนเทศสำหรับการบริหาร\เอกสารประกอบ\44444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28681" y="3436036"/>
            <a:ext cx="4600540" cy="2623352"/>
          </a:xfrm>
          <a:prstGeom prst="rect">
            <a:avLst/>
          </a:prstGeom>
          <a:noFill/>
        </p:spPr>
      </p:pic>
      <p:pic>
        <p:nvPicPr>
          <p:cNvPr id="15364" name="Picture 4" descr="D:\รายวิชา\วิชาระบบสารสนเทศสำหรับการบริหาร\เอกสารประกอบ\2007031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3384288"/>
            <a:ext cx="3744416" cy="2704300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97294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แนวคิดพื้นฐาน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539552" y="1697048"/>
            <a:ext cx="8208912" cy="1155888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1198" y="1789075"/>
            <a:ext cx="817525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§"/>
            </a:pP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ข้อมูล (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Data</a:t>
            </a: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) 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เป็นสิ่งนำเข้าสู่ระบบสารสนเทศในรูปแบบต่างๆกัน เช่น ตัวเลข ตัวหนังสือ ภาพ และเสียง </a:t>
            </a:r>
            <a:endParaRPr lang="th-TH" sz="2200" i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องค์ประกอบของระบบสารสนเทศ (ต่อ)</a:t>
            </a:r>
            <a:endParaRPr lang="en-US" sz="36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13314" name="Picture 2" descr="D:\รายวิชา\วิชาระบบสารสนเทศสำหรับการบริหาร\เอกสารประกอบ\data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5544" y="2886852"/>
            <a:ext cx="4376496" cy="3134908"/>
          </a:xfrm>
          <a:prstGeom prst="rect">
            <a:avLst/>
          </a:prstGeom>
          <a:noFill/>
        </p:spPr>
      </p:pic>
      <p:pic>
        <p:nvPicPr>
          <p:cNvPr id="13315" name="Picture 3" descr="D:\รายวิชา\วิชาระบบสารสนเทศสำหรับการบริหาร\เอกสารประกอบ\saying_data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7911" y="2893880"/>
            <a:ext cx="3768972" cy="3193157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97294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แนวคิดพื้นฐาน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539552" y="1697048"/>
            <a:ext cx="8208912" cy="1155888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1198" y="1789075"/>
            <a:ext cx="817525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§"/>
            </a:pP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กระบวนการ (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Process/Procedure</a:t>
            </a: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) 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หมายถึง กลยุทธ์ นโยบาย วิธีการ หลักเกณฑ์ ขั้นตอนในการใช้ระบบสารสนเทศ </a:t>
            </a:r>
            <a:endParaRPr lang="th-TH" sz="2200" i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องค์ประกอบของระบบสารสนเทศ (ต่อ)</a:t>
            </a:r>
            <a:endParaRPr lang="en-US" sz="36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16386" name="Picture 2" descr="D:\รายวิชา\วิชาระบบสารสนเทศสำหรับการบริหาร\เอกสารประกอบ\dataprocessing[1]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67943" y="2924944"/>
            <a:ext cx="4679877" cy="3123828"/>
          </a:xfrm>
          <a:prstGeom prst="rect">
            <a:avLst/>
          </a:prstGeom>
          <a:noFill/>
        </p:spPr>
      </p:pic>
      <p:pic>
        <p:nvPicPr>
          <p:cNvPr id="11" name="Picture 2" descr="D:\รายวิชา\วิชาระบบสารสนเทศสำหรับการบริหาร\เอกสารประกอบ\data_processing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9184" y="3281216"/>
            <a:ext cx="3657600" cy="2816225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97294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แนวคิดพื้นฐาน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539552" y="1697048"/>
            <a:ext cx="8208912" cy="2164000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1198" y="1789075"/>
            <a:ext cx="817525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§"/>
            </a:pP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ระบบเครือข่าย  (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Network</a:t>
            </a: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)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คือระบบการสื่อสารระหว่างคอมพิวเตอร์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จำนวนตั้งแต่สองเครื่องขึ้นไปเพื่อสะดวกต่อการร่วมใช้ข้อมูล โปรแกรม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หรือเครื่องพิมพ์ และยังสามารถอำนวยความสะดวกในการติดต่อแลกเปลี่ยนข้อมูลระหว่างเครื่องได้ตลอดเวลา </a:t>
            </a:r>
            <a:endParaRPr lang="th-TH" b="1" i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องค์ประกอบของระบบสารสนเทศ (ต่อ)</a:t>
            </a:r>
            <a:endParaRPr lang="en-US" sz="36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17410" name="Picture 2" descr="D:\รายวิชา\วิชาระบบสารสนเทศสำหรับการบริหาร\เอกสารประกอบ\earth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3" y="3136803"/>
            <a:ext cx="4320480" cy="2921916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97294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แนวคิดพื้นฐาน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539552" y="1697048"/>
            <a:ext cx="8208912" cy="3460144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1198" y="1789075"/>
            <a:ext cx="817525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§"/>
            </a:pP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บุคลากร (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People ware</a:t>
            </a: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)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คือผู้ใช้องค์ประกอบทั้ง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5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ให้ทำงานร่วมกันตามวัตถุประสงค์ที่กำหนดไว้ แบ่งเป็น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3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 ประเภท</a:t>
            </a:r>
          </a:p>
          <a:p>
            <a:pPr lvl="1"/>
            <a:r>
              <a:rPr lang="en-US" sz="2200" b="1" i="1" dirty="0">
                <a:latin typeface="AngsanaUPC" pitchFamily="18" charset="-34"/>
                <a:cs typeface="AngsanaUPC" pitchFamily="18" charset="-34"/>
              </a:rPr>
              <a:t> 	1. </a:t>
            </a:r>
            <a:r>
              <a:rPr lang="th-TH" sz="2200" b="1" i="1" dirty="0">
                <a:latin typeface="AngsanaUPC" pitchFamily="18" charset="-34"/>
                <a:cs typeface="AngsanaUPC" pitchFamily="18" charset="-34"/>
              </a:rPr>
              <a:t>ผู้ใช้ขั้นปลาย (</a:t>
            </a:r>
            <a:r>
              <a:rPr lang="en-US" sz="2200" b="1" i="1" dirty="0">
                <a:latin typeface="AngsanaUPC" pitchFamily="18" charset="-34"/>
                <a:cs typeface="AngsanaUPC" pitchFamily="18" charset="-34"/>
              </a:rPr>
              <a:t>End user</a:t>
            </a:r>
            <a:r>
              <a:rPr lang="th-TH" sz="2200" b="1" i="1" dirty="0">
                <a:latin typeface="AngsanaUPC" pitchFamily="18" charset="-34"/>
                <a:cs typeface="AngsanaUPC" pitchFamily="18" charset="-34"/>
              </a:rPr>
              <a:t>) 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เป็นผู้ที่ปฏิบัติงานกับระบบสารสนเทศ เป็นผู้ที่รับและใช้ประโยชน์</a:t>
            </a:r>
            <a:br>
              <a:rPr lang="th-TH" sz="2200" i="1" dirty="0">
                <a:latin typeface="AngsanaUPC" pitchFamily="18" charset="-34"/>
                <a:cs typeface="AngsanaUPC" pitchFamily="18" charset="-34"/>
              </a:rPr>
            </a:b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จากสารสนเทศที่ระบบเป็นผู้นำเสนอ อาจไม่ได้เป็นผู้ปฏิบัติงานโดยตรงเกี่ยวกับระบบ </a:t>
            </a:r>
          </a:p>
          <a:p>
            <a:pPr lvl="1"/>
            <a:r>
              <a:rPr lang="en-US" sz="2200" b="1" i="1" dirty="0">
                <a:latin typeface="AngsanaUPC" pitchFamily="18" charset="-34"/>
                <a:cs typeface="AngsanaUPC" pitchFamily="18" charset="-34"/>
              </a:rPr>
              <a:t> 	2. </a:t>
            </a:r>
            <a:r>
              <a:rPr lang="th-TH" sz="2200" b="1" i="1" dirty="0">
                <a:latin typeface="AngsanaUPC" pitchFamily="18" charset="-34"/>
                <a:cs typeface="AngsanaUPC" pitchFamily="18" charset="-34"/>
              </a:rPr>
              <a:t>บุคลากรทางด้านระบบสารสนเทศ (</a:t>
            </a:r>
            <a:r>
              <a:rPr lang="en-US" sz="2200" b="1" i="1" dirty="0">
                <a:latin typeface="AngsanaUPC" pitchFamily="18" charset="-34"/>
                <a:cs typeface="AngsanaUPC" pitchFamily="18" charset="-34"/>
              </a:rPr>
              <a:t>Information system personal</a:t>
            </a:r>
            <a:r>
              <a:rPr lang="th-TH" sz="2200" b="1" i="1" dirty="0">
                <a:latin typeface="AngsanaUPC" pitchFamily="18" charset="-34"/>
                <a:cs typeface="AngsanaUPC" pitchFamily="18" charset="-34"/>
              </a:rPr>
              <a:t>) 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เป็นบุคลากรที่ทำหน้าที่</a:t>
            </a:r>
            <a:br>
              <a:rPr lang="th-TH" sz="2200" i="1" dirty="0">
                <a:latin typeface="AngsanaUPC" pitchFamily="18" charset="-34"/>
                <a:cs typeface="AngsanaUPC" pitchFamily="18" charset="-34"/>
              </a:rPr>
            </a:b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ในการสร้างและพัฒนาควบคุมดูแลองค์ประกอบต่างๆของระบบสารสนเทศให้เกิดขึ้น เช่น </a:t>
            </a:r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Web </a:t>
            </a:r>
            <a:r>
              <a:rPr lang="en-US" sz="2200" i="1" dirty="0" err="1">
                <a:latin typeface="AngsanaUPC" pitchFamily="18" charset="-34"/>
                <a:cs typeface="AngsanaUPC" pitchFamily="18" charset="-34"/>
              </a:rPr>
              <a:t>Developer,Web</a:t>
            </a:r>
            <a:r>
              <a:rPr lang="en-US" sz="2200" i="1" dirty="0">
                <a:latin typeface="AngsanaUPC" pitchFamily="18" charset="-34"/>
                <a:cs typeface="AngsanaUPC" pitchFamily="18" charset="-34"/>
              </a:rPr>
              <a:t> programmer, Database Administrator, Database Administrator , System Analysis </a:t>
            </a:r>
            <a:endParaRPr lang="th-TH" sz="2200" i="1" dirty="0">
              <a:latin typeface="AngsanaUPC" pitchFamily="18" charset="-34"/>
              <a:cs typeface="AngsanaUPC" pitchFamily="18" charset="-34"/>
            </a:endParaRPr>
          </a:p>
          <a:p>
            <a:pPr lvl="1"/>
            <a:r>
              <a:rPr lang="en-US" sz="2200" b="1" i="1" dirty="0">
                <a:latin typeface="AngsanaUPC" pitchFamily="18" charset="-34"/>
                <a:cs typeface="AngsanaUPC" pitchFamily="18" charset="-34"/>
              </a:rPr>
              <a:t> 	3. </a:t>
            </a:r>
            <a:r>
              <a:rPr lang="th-TH" sz="2200" b="1" i="1" dirty="0">
                <a:latin typeface="AngsanaUPC" pitchFamily="18" charset="-34"/>
                <a:cs typeface="AngsanaUPC" pitchFamily="18" charset="-34"/>
              </a:rPr>
              <a:t>ผู้บริหารฝ่ายสารสนเทศ (</a:t>
            </a:r>
            <a:r>
              <a:rPr lang="en-US" sz="2200" b="1" i="1" dirty="0">
                <a:latin typeface="AngsanaUPC" pitchFamily="18" charset="-34"/>
                <a:cs typeface="AngsanaUPC" pitchFamily="18" charset="-34"/>
              </a:rPr>
              <a:t>CIO: Chief Information officer</a:t>
            </a:r>
            <a:r>
              <a:rPr lang="th-TH" sz="2200" b="1" i="1" dirty="0">
                <a:latin typeface="AngsanaUPC" pitchFamily="18" charset="-34"/>
                <a:cs typeface="AngsanaUPC" pitchFamily="18" charset="-34"/>
              </a:rPr>
              <a:t>) </a:t>
            </a: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ทำหน้ารับผิดชอบโดยตรง</a:t>
            </a:r>
            <a:br>
              <a:rPr lang="th-TH" sz="2200" i="1" dirty="0">
                <a:latin typeface="AngsanaUPC" pitchFamily="18" charset="-34"/>
                <a:cs typeface="AngsanaUPC" pitchFamily="18" charset="-34"/>
              </a:rPr>
            </a:br>
            <a:r>
              <a:rPr lang="th-TH" sz="2200" i="1" dirty="0">
                <a:latin typeface="AngsanaUPC" pitchFamily="18" charset="-34"/>
                <a:cs typeface="AngsanaUPC" pitchFamily="18" charset="-34"/>
              </a:rPr>
              <a:t>ที่เกี่ยวกับระบบสารสนเทศทั้งหมดในองค์กร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องค์ประกอบของระบบสารสนเทศ (ต่อ)</a:t>
            </a:r>
            <a:endParaRPr lang="en-US" sz="36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1027" name="Picture 3" descr="D:\รายวิชา\วิชาระบบสารสนเทศสำหรับการบริหาร\เอกสารประกอบ\online-student-clubs-interacting-beyond-the-virtual-classroom_000011623759[1].jpg"/>
          <p:cNvPicPr>
            <a:picLocks noChangeAspect="1" noChangeArrowheads="1"/>
          </p:cNvPicPr>
          <p:nvPr/>
        </p:nvPicPr>
        <p:blipFill>
          <a:blip r:embed="rId2" cstate="print"/>
          <a:srcRect t="3870" b="9049"/>
          <a:stretch>
            <a:fillRect/>
          </a:stretch>
        </p:blipFill>
        <p:spPr bwMode="auto">
          <a:xfrm>
            <a:off x="6572828" y="4725145"/>
            <a:ext cx="2255120" cy="1403380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97294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แนวคิดพื้นฐาน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12" name="สี่เหลี่ยมผืนผ้า 11"/>
          <p:cNvSpPr/>
          <p:nvPr/>
        </p:nvSpPr>
        <p:spPr>
          <a:xfrm>
            <a:off x="539552" y="1697048"/>
            <a:ext cx="8064896" cy="4108216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7544" y="1761778"/>
            <a:ext cx="792088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u="sng" dirty="0">
                <a:latin typeface="AngsanaUPC" pitchFamily="18" charset="-34"/>
                <a:cs typeface="AngsanaUPC" pitchFamily="18" charset="-34"/>
              </a:rPr>
              <a:t>เพิ่มประสิทธิภาพ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การบริหารงานในองค์กร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sz="2400" i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การลดเวลาในการปฏิบัติงาน 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sz="2400" i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การลดกระบวนการในการปฏิบัติงาน 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sz="2400" i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การเพิ่มผลผลิต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en-US" sz="2400" i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การลดต้นทุนการผลิต</a:t>
            </a:r>
          </a:p>
          <a:p>
            <a:pPr lvl="1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เพิ่มประสิทธิผลของการตัดสินใจ </a:t>
            </a:r>
          </a:p>
          <a:p>
            <a:pPr lvl="1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สร้างทางเลือกในการแข่งขัน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en-US" sz="2400" i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การใช้ระบบเทคโนโลยีสารสนเทศเพื่อสร้างผลิตภัณฑ์หรือบริการใหม่ </a:t>
            </a:r>
            <a:br>
              <a:rPr lang="th-TH" sz="2400" i="1" dirty="0">
                <a:latin typeface="AngsanaUPC" pitchFamily="18" charset="-34"/>
                <a:cs typeface="AngsanaUPC" pitchFamily="18" charset="-34"/>
              </a:rPr>
            </a:b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en-US" sz="2400" i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การใช้ระบบเทคโนโลยีสารสนเทศเพื่อปรับปรุงการบริการ</a:t>
            </a:r>
          </a:p>
          <a:p>
            <a:pPr lvl="1">
              <a:buClr>
                <a:schemeClr val="accent6">
                  <a:lumMod val="75000"/>
                </a:schemeClr>
              </a:buClr>
            </a:pP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en-US" sz="2400" i="1" dirty="0">
                <a:latin typeface="AngsanaUPC" pitchFamily="18" charset="-34"/>
                <a:cs typeface="AngsanaUPC" pitchFamily="18" charset="-34"/>
              </a:rPr>
              <a:t>-</a:t>
            </a: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 การใช้ระบบเทคโนโลยีสารสนเทศเพื่อเชื่อมโยงผู้จัดจำหน่วยสินค้าและวัตถุดิบ</a:t>
            </a:r>
            <a:endParaRPr lang="en-US" sz="2400" i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ประโยชน์ของระบบสารสนเทศ</a:t>
            </a:r>
            <a:endParaRPr lang="en-US" sz="36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97294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แนวคิดพื้นฐาน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539552" y="1697048"/>
            <a:ext cx="8208912" cy="4252232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690036"/>
            <a:ext cx="828092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sz="24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ประสิทธิภาพ (</a:t>
            </a:r>
            <a:r>
              <a:rPr lang="en-US" sz="24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Efficiency ) 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หมายถึง ความสามารถในการใช้ทรัพยากร เพื่อสร้างผลผลิตได้ดีขึ้น อาจกล่าวเป็น </a:t>
            </a:r>
            <a:r>
              <a:rPr lang="en-US" sz="2400" dirty="0">
                <a:latin typeface="AngsanaUPC" pitchFamily="18" charset="-34"/>
                <a:cs typeface="AngsanaUPC" pitchFamily="18" charset="-34"/>
              </a:rPr>
              <a:t>2 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ประเด็น คือ ในการผลิตผลผลิต </a:t>
            </a:r>
            <a:r>
              <a:rPr lang="en-US" sz="2400" dirty="0">
                <a:latin typeface="AngsanaUPC" pitchFamily="18" charset="-34"/>
                <a:cs typeface="AngsanaUPC" pitchFamily="18" charset="-34"/>
              </a:rPr>
              <a:t>1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 หน่วย ใช้ทรัพยากรน้อยลง หรือใช้จำนวนเท่าเดิม สามารถสร้างผลผลิต ได้เพิ่มมากขึ้น </a:t>
            </a:r>
          </a:p>
          <a:p>
            <a:pPr>
              <a:buFont typeface="Wingdings" pitchFamily="2" charset="2"/>
              <a:buChar char="§"/>
            </a:pP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sz="24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ลักษณะกระบวนการดำเนินงานที่มีประสิทธิภาพ</a:t>
            </a:r>
            <a:endParaRPr lang="en-US" sz="2400" b="1" dirty="0">
              <a:latin typeface="AngsanaUPC" pitchFamily="18" charset="-34"/>
              <a:cs typeface="AngsanaUPC" pitchFamily="18" charset="-34"/>
            </a:endParaRP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    - 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ประหยัด  (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Economy) </a:t>
            </a:r>
            <a:r>
              <a:rPr lang="th-TH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ได้แก่ ประหยัดต้นทุน(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Cost) </a:t>
            </a:r>
            <a:r>
              <a:rPr lang="th-TH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ประหยัดทรัพยากร (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Resources) </a:t>
            </a:r>
            <a:r>
              <a:rPr lang="th-TH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และประหยัดเวลา (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Time)        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    - 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เสร็จทันตามกำหนดเวลา  (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Speed)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    - 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คุณภาพ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(Quality)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โดยพิจารณาทั้งกระบวนการตั้งแต่ปัจจัยนำเข้า (</a:t>
            </a:r>
            <a:r>
              <a:rPr lang="en-US" sz="2400" dirty="0">
                <a:latin typeface="AngsanaUPC" pitchFamily="18" charset="-34"/>
                <a:cs typeface="AngsanaUPC" pitchFamily="18" charset="-34"/>
              </a:rPr>
              <a:t>Input) 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หรือวัตถุดิบ  มีการ</a:t>
            </a:r>
            <a:br>
              <a:rPr lang="th-TH" sz="2400" dirty="0">
                <a:latin typeface="AngsanaUPC" pitchFamily="18" charset="-34"/>
                <a:cs typeface="AngsanaUPC" pitchFamily="18" charset="-34"/>
              </a:rPr>
            </a:br>
            <a:r>
              <a:rPr lang="th-TH" sz="2400" dirty="0">
                <a:latin typeface="AngsanaUPC" pitchFamily="18" charset="-34"/>
                <a:cs typeface="AngsanaUPC" pitchFamily="18" charset="-34"/>
              </a:rPr>
              <a:t>คัดสรรอย่างดี มีกระบวนการดำเนินงาน กระบวนการผลิต (</a:t>
            </a:r>
            <a:r>
              <a:rPr lang="en-US" sz="2400" dirty="0">
                <a:latin typeface="AngsanaUPC" pitchFamily="18" charset="-34"/>
                <a:cs typeface="AngsanaUPC" pitchFamily="18" charset="-34"/>
              </a:rPr>
              <a:t>Process)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ที่ดี และมีผลผลิต</a:t>
            </a:r>
            <a:r>
              <a:rPr lang="en-US" sz="2400" dirty="0">
                <a:latin typeface="AngsanaUPC" pitchFamily="18" charset="-34"/>
                <a:cs typeface="AngsanaUPC" pitchFamily="18" charset="-34"/>
              </a:rPr>
              <a:t> (Output) 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ที่ดี</a:t>
            </a:r>
            <a:endParaRPr lang="th-TH" sz="2400" b="1" u="sng" dirty="0">
              <a:solidFill>
                <a:srgbClr val="C00000"/>
              </a:solidFill>
              <a:latin typeface="AngsanaUPC" pitchFamily="18" charset="-34"/>
              <a:cs typeface="AngsanaUPC" pitchFamily="18" charset="-34"/>
            </a:endParaRPr>
          </a:p>
          <a:p>
            <a:pPr>
              <a:buFont typeface="Wingdings" pitchFamily="2" charset="2"/>
              <a:buChar char="§"/>
            </a:pPr>
            <a:r>
              <a:rPr lang="th-TH" sz="24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การมีประสิทธิภาพ  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ต้องพิจารณากระบวนการดำเนินงานว่า </a:t>
            </a:r>
            <a:r>
              <a:rPr lang="th-TH" sz="2400" u="sng" dirty="0">
                <a:latin typeface="AngsanaUPC" pitchFamily="18" charset="-34"/>
                <a:cs typeface="AngsanaUPC" pitchFamily="18" charset="-34"/>
              </a:rPr>
              <a:t>ประหยัด รวดเร็ว มีคุณภาพของงาน</a:t>
            </a:r>
            <a:r>
              <a:rPr lang="en-US" sz="2400" dirty="0">
                <a:latin typeface="AngsanaUPC" pitchFamily="18" charset="-34"/>
                <a:cs typeface="AngsanaUPC" pitchFamily="18" charset="-34"/>
              </a:rPr>
              <a:t>  </a:t>
            </a:r>
            <a:endParaRPr lang="th-TH" sz="2400" dirty="0">
              <a:latin typeface="AngsanaUPC" pitchFamily="18" charset="-34"/>
              <a:cs typeface="AngsanaUPC" pitchFamily="18" charset="-34"/>
            </a:endParaRPr>
          </a:p>
          <a:p>
            <a:r>
              <a:rPr lang="th-TH" sz="2400" dirty="0">
                <a:latin typeface="AngsanaUPC" pitchFamily="18" charset="-34"/>
                <a:cs typeface="AngsanaUPC" pitchFamily="18" charset="-34"/>
              </a:rPr>
              <a:t>ซึ่งเป็นกระบวนการดำเนินงานทั้งหมด </a:t>
            </a:r>
            <a:endParaRPr lang="en-US" sz="2400" u="sng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ประสิทธิภาพ (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Efficiency )</a:t>
            </a:r>
            <a:endParaRPr lang="en-US" sz="36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97294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แนวคิดพื้นฐาน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539552" y="1697048"/>
            <a:ext cx="8208912" cy="3100104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690036"/>
            <a:ext cx="8280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sz="24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ประสิทธิผล ( </a:t>
            </a:r>
            <a:r>
              <a:rPr lang="th-TH" sz="2400" b="1" dirty="0" err="1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Effective</a:t>
            </a:r>
            <a:r>
              <a:rPr lang="th-TH" sz="24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)  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หมายถึง ผลสำเร็จของงานที่เป็นไปตามความมุ่งหวัง (</a:t>
            </a:r>
            <a:r>
              <a:rPr lang="th-TH" sz="2400" dirty="0" err="1">
                <a:latin typeface="AngsanaUPC" pitchFamily="18" charset="-34"/>
                <a:cs typeface="AngsanaUPC" pitchFamily="18" charset="-34"/>
              </a:rPr>
              <a:t>Purpose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) </a:t>
            </a:r>
            <a:br>
              <a:rPr lang="th-TH" sz="2400" dirty="0">
                <a:latin typeface="AngsanaUPC" pitchFamily="18" charset="-34"/>
                <a:cs typeface="AngsanaUPC" pitchFamily="18" charset="-34"/>
              </a:rPr>
            </a:br>
            <a:r>
              <a:rPr lang="th-TH" sz="2400" dirty="0">
                <a:latin typeface="AngsanaUPC" pitchFamily="18" charset="-34"/>
                <a:cs typeface="AngsanaUPC" pitchFamily="18" charset="-34"/>
              </a:rPr>
              <a:t>ที่กำหนดไว้ในวัตถุประสงค์ (</a:t>
            </a:r>
            <a:r>
              <a:rPr lang="th-TH" sz="2400" dirty="0" err="1">
                <a:latin typeface="AngsanaUPC" pitchFamily="18" charset="-34"/>
                <a:cs typeface="AngsanaUPC" pitchFamily="18" charset="-34"/>
              </a:rPr>
              <a:t>Objective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) </a:t>
            </a: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หรือ เป้าหมาย  (</a:t>
            </a:r>
            <a:r>
              <a:rPr lang="th-TH" sz="2400" dirty="0" err="1">
                <a:latin typeface="AngsanaUPC" pitchFamily="18" charset="-34"/>
                <a:cs typeface="AngsanaUPC" pitchFamily="18" charset="-34"/>
              </a:rPr>
              <a:t>Goal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)  และเป้าหมายเฉพาะ (</a:t>
            </a:r>
            <a:r>
              <a:rPr lang="th-TH" sz="2400" dirty="0" err="1">
                <a:latin typeface="AngsanaUPC" pitchFamily="18" charset="-34"/>
                <a:cs typeface="AngsanaUPC" pitchFamily="18" charset="-34"/>
              </a:rPr>
              <a:t>Target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) </a:t>
            </a:r>
            <a:br>
              <a:rPr lang="th-TH" sz="2400" dirty="0">
                <a:latin typeface="AngsanaUPC" pitchFamily="18" charset="-34"/>
                <a:cs typeface="AngsanaUPC" pitchFamily="18" charset="-34"/>
              </a:rPr>
            </a:br>
            <a:r>
              <a:rPr lang="th-TH" sz="2400" dirty="0">
                <a:latin typeface="AngsanaUPC" pitchFamily="18" charset="-34"/>
                <a:cs typeface="AngsanaUPC" pitchFamily="18" charset="-34"/>
              </a:rPr>
              <a:t>ได้แก่</a:t>
            </a:r>
          </a:p>
          <a:p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en-US" sz="2400" b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เป้าหมายเชิงปริมาณ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  จะกำหนดชนิด ประเภท และจำนวนของผลผลิตสุดท้าย</a:t>
            </a:r>
            <a:br>
              <a:rPr lang="th-TH" sz="2400" dirty="0">
                <a:latin typeface="AngsanaUPC" pitchFamily="18" charset="-34"/>
                <a:cs typeface="AngsanaUPC" pitchFamily="18" charset="-34"/>
              </a:rPr>
            </a:br>
            <a:r>
              <a:rPr lang="th-TH" sz="2400" dirty="0">
                <a:latin typeface="AngsanaUPC" pitchFamily="18" charset="-34"/>
                <a:cs typeface="AngsanaUPC" pitchFamily="18" charset="-34"/>
              </a:rPr>
              <a:t>ที่ต้องการได้รับเมื่อการดำเนินงานเสร็จสิ้นลง</a:t>
            </a:r>
            <a:endParaRPr lang="en-US" sz="2400" b="1" dirty="0">
              <a:latin typeface="AngsanaUPC" pitchFamily="18" charset="-34"/>
              <a:cs typeface="AngsanaUPC" pitchFamily="18" charset="-34"/>
            </a:endParaRPr>
          </a:p>
          <a:p>
            <a:r>
              <a:rPr lang="th-TH" sz="2400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en-US" sz="2400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เป้าหมายเชิงคุณภาพ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  จะแสดงถึงคุณค่าของผลผลิตที่ได้รับจากการดำเนินงานนั้น ๆ มุ่งเน้นที่จุดสิ้นสุดของกิจกรรมหรือการดำเนินงานว่าได้ผล ตามที่ตั้งไว้หรือไม่  </a:t>
            </a:r>
            <a:endParaRPr lang="en-US" sz="2400" b="1" dirty="0">
              <a:latin typeface="AngsanaUPC" pitchFamily="18" charset="-34"/>
              <a:cs typeface="AngsanaUPC" pitchFamily="18" charset="-34"/>
            </a:endParaRPr>
          </a:p>
          <a:p>
            <a:r>
              <a:rPr lang="th-TH" sz="2400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en-US" sz="2400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มีตัวชี้วัด (</a:t>
            </a:r>
            <a:r>
              <a:rPr lang="th-TH" sz="2400" b="1" dirty="0" err="1">
                <a:latin typeface="AngsanaUPC" pitchFamily="18" charset="-34"/>
                <a:cs typeface="AngsanaUPC" pitchFamily="18" charset="-34"/>
              </a:rPr>
              <a:t>Indicator</a:t>
            </a: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) ที่ชัดเจน</a:t>
            </a:r>
            <a:endParaRPr lang="en-US" sz="24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ประสิทธิผล (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Effective )</a:t>
            </a:r>
          </a:p>
        </p:txBody>
      </p:sp>
    </p:spTree>
  </p:cSld>
  <p:clrMapOvr>
    <a:masterClrMapping/>
  </p:clrMapOvr>
  <p:transition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ประเภทของระบบสารสนเทศ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8" name="สี่เหลี่ยมผืนผ้า 7"/>
          <p:cNvSpPr/>
          <p:nvPr/>
        </p:nvSpPr>
        <p:spPr>
          <a:xfrm>
            <a:off x="467544" y="1556793"/>
            <a:ext cx="8280920" cy="2808311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0618" y="1628800"/>
            <a:ext cx="82809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ประเภทของระบบสารสนเทศในองค์กร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 สามารถแบ่งได้หลายหลายวิธี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ขึ้นกับหลักเกณฑ์ที่นำมาใช้ โดยทั่วไปใช้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3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 หลักเกณฑ์ต่อไปนี้</a:t>
            </a:r>
          </a:p>
          <a:p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1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.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การแบ่งประเภทของระบบสารสนเทศโดยการใช้</a:t>
            </a:r>
            <a:r>
              <a:rPr lang="th-TH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หน้าที่การงาน </a:t>
            </a:r>
          </a:p>
          <a:p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	     (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Function Area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  <a:p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	2.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การแบ่งประเภทของระบบสารสนเทศโดยใช้</a:t>
            </a:r>
            <a:r>
              <a:rPr lang="th-TH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ลักษณะงาน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ในองค์กร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 	3.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การแบ่งประเภทของระบบสารสนเทศโดยใช้</a:t>
            </a:r>
            <a:r>
              <a:rPr lang="th-TH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กิจกรรม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ทางการบริหาร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การแบ่งประเภทของสารสนเทศ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ประเภทของระบบสารสนเทศ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467544" y="1556793"/>
            <a:ext cx="8352928" cy="259228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7554" y="1628800"/>
            <a:ext cx="828092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/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1. </a:t>
            </a: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การแบ่งประเภทของระบบสารสนเทศโดยการใช้</a:t>
            </a:r>
            <a:r>
              <a:rPr lang="th-TH" b="1" u="sng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หน้าที่การงาน </a:t>
            </a: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Function Area</a:t>
            </a: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2400" b="1" dirty="0">
              <a:latin typeface="AngsanaUPC" pitchFamily="18" charset="-34"/>
              <a:cs typeface="AngsanaUPC" pitchFamily="18" charset="-34"/>
            </a:endParaRPr>
          </a:p>
          <a:p>
            <a:pPr marL="457200" indent="-457200"/>
            <a:r>
              <a:rPr lang="en-US" sz="2400" b="1" dirty="0">
                <a:latin typeface="AngsanaUPC" pitchFamily="18" charset="-34"/>
                <a:cs typeface="AngsanaUPC" pitchFamily="18" charset="-34"/>
              </a:rPr>
              <a:t> 	1.1 </a:t>
            </a: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ระบบสารสนเทศทางการบัญชี (</a:t>
            </a:r>
            <a:r>
              <a:rPr lang="en-US" sz="2400" b="1" dirty="0">
                <a:latin typeface="AngsanaUPC" pitchFamily="18" charset="-34"/>
                <a:cs typeface="AngsanaUPC" pitchFamily="18" charset="-34"/>
              </a:rPr>
              <a:t>Accounting Information System ; AIS)</a:t>
            </a:r>
          </a:p>
          <a:p>
            <a:r>
              <a:rPr lang="en-US" sz="2400" b="1" dirty="0">
                <a:latin typeface="AngsanaUPC" pitchFamily="18" charset="-34"/>
                <a:cs typeface="AngsanaUPC" pitchFamily="18" charset="-34"/>
              </a:rPr>
              <a:t>         1.2 </a:t>
            </a: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ระบบสารสนเทศทางการเงิน (</a:t>
            </a:r>
            <a:r>
              <a:rPr lang="en-US" sz="2400" b="1" dirty="0">
                <a:latin typeface="AngsanaUPC" pitchFamily="18" charset="-34"/>
                <a:cs typeface="AngsanaUPC" pitchFamily="18" charset="-34"/>
              </a:rPr>
              <a:t>Financial Information System ; FNIS)</a:t>
            </a:r>
          </a:p>
          <a:p>
            <a:r>
              <a:rPr lang="en-US" sz="2400" b="1" dirty="0">
                <a:latin typeface="AngsanaUPC" pitchFamily="18" charset="-34"/>
                <a:cs typeface="AngsanaUPC" pitchFamily="18" charset="-34"/>
              </a:rPr>
              <a:t>         1.3 </a:t>
            </a: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ระบบสารสนเทศทางการผลิต (</a:t>
            </a:r>
            <a:r>
              <a:rPr lang="en-US" sz="2400" b="1" dirty="0">
                <a:latin typeface="AngsanaUPC" pitchFamily="18" charset="-34"/>
                <a:cs typeface="AngsanaUPC" pitchFamily="18" charset="-34"/>
              </a:rPr>
              <a:t>Manufacturing Information System ; MFIS)</a:t>
            </a:r>
          </a:p>
          <a:p>
            <a:r>
              <a:rPr lang="en-US" sz="2400" b="1" dirty="0">
                <a:latin typeface="AngsanaUPC" pitchFamily="18" charset="-34"/>
                <a:cs typeface="AngsanaUPC" pitchFamily="18" charset="-34"/>
              </a:rPr>
              <a:t>         1.4 </a:t>
            </a: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ระบบสารสนเทศทางการตลาด (</a:t>
            </a:r>
            <a:r>
              <a:rPr lang="en-US" sz="2400" b="1" dirty="0">
                <a:latin typeface="AngsanaUPC" pitchFamily="18" charset="-34"/>
                <a:cs typeface="AngsanaUPC" pitchFamily="18" charset="-34"/>
              </a:rPr>
              <a:t>Marketing Information System ; MKIS)</a:t>
            </a:r>
          </a:p>
          <a:p>
            <a:r>
              <a:rPr lang="en-US" sz="2400" b="1" dirty="0">
                <a:latin typeface="AngsanaUPC" pitchFamily="18" charset="-34"/>
                <a:cs typeface="AngsanaUPC" pitchFamily="18" charset="-34"/>
              </a:rPr>
              <a:t>         1.5 </a:t>
            </a: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ระบบสารสนเทศด้านทรัพยากรมนุษย์ (</a:t>
            </a:r>
            <a:r>
              <a:rPr lang="en-US" sz="2400" b="1" dirty="0">
                <a:latin typeface="AngsanaUPC" pitchFamily="18" charset="-34"/>
                <a:cs typeface="AngsanaUPC" pitchFamily="18" charset="-34"/>
              </a:rPr>
              <a:t>Human Resource Information System ; HRIS)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การแบ่งประเภทของสารสนเทศ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ประเภทของระบบสารสนเทศ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467544" y="1556793"/>
            <a:ext cx="8280920" cy="331236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0618" y="1628800"/>
            <a:ext cx="828092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2. </a:t>
            </a: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การแบ่งประเภทของระบบสารสนเทศโดยใช้ลักษณะงานในองค์กร</a:t>
            </a:r>
          </a:p>
          <a:p>
            <a:r>
              <a:rPr lang="en-US" sz="2400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	2.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1 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ระบบการประมวลผลการเปลี่ยนแปลง (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Transaction Processing System ; TPS)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	2.2 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ระบบสารสนเทศเพื่อการจัดการ (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Management Information System ; MIS)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	2.3 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ระบบสนับสนุนการตัดสินใจ (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Decision Support System ; DSS)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	2.4 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ระบบสำนักงานอัตโนมัติ (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Office Automation System ; OAS)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	2.5 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ระบบสนับสนุนผู้บริหาร (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Executive Support System ; ESS) 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หรือ</a:t>
            </a:r>
          </a:p>
          <a:p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	     ระบบสารสนเทศสำหรับผู้บริหาร (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Executive Information System ; EIS)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	2.6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ระบบผู้เชี่ยวชาญ (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Expert System ; 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การแบ่งประเภทของสารสนเทศ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ประเภทของระบบสารสนเทศ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467544" y="1556793"/>
            <a:ext cx="8280920" cy="3168351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0618" y="1628800"/>
            <a:ext cx="828092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การแบ่งประเภทของระบบสารสนเทศโดยใช้กิจกรรมทางการบริหาร</a:t>
            </a:r>
          </a:p>
          <a:p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	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3.1 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ระบบสารสนเทศเพื่อควบคุมการปฏิบัติงาน  </a:t>
            </a:r>
            <a:b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	      (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Operational Control Information Systems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	3.2 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ระบบสารสนเทศเพื่อควบคุมการบริหารงาน  </a:t>
            </a:r>
            <a:b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	      (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Management Control Information Systems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  <a:p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	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3.3 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ระบบสารสนเทศเพื่อการ</a:t>
            </a:r>
            <a:r>
              <a:rPr lang="th-TH" sz="2400" b="1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วางแผนกล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ยุทธ์</a:t>
            </a:r>
            <a:b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	      (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Strategic planning Information Systems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การแบ่งประเภทของสารสนเทศ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ประเภทของระบบสารสนเทศ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467544" y="1556793"/>
            <a:ext cx="8280920" cy="3168351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0618" y="1628800"/>
            <a:ext cx="828092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การแบ่งประเภทของระบบสารสนเทศโดยใช้กิจกรรมทางการบริหาร</a:t>
            </a:r>
          </a:p>
          <a:p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	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3.1 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ระบบสารสนเทศเพื่อควบคุมการปฏิบัติงาน  </a:t>
            </a:r>
            <a:b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	      (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Operational Control Information Systems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	3.2 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ระบบสารสนเทศเพื่อควบคุมการบริหารงาน  </a:t>
            </a:r>
            <a:b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	      (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Management Control Information Systems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  <a:p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	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3.3 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ระบบสารสนเทศเพื่อการวางแผนกุลยุทธ์</a:t>
            </a:r>
            <a:b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	      (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Strategic planning Information Systems</a:t>
            </a:r>
            <a:r>
              <a:rPr lang="th-T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การแบ่งประเภทของสารสนเทศ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ระบบสารสนเทศเพื่อการจัดการ (</a:t>
            </a:r>
            <a:r>
              <a:rPr lang="en-US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MIS</a:t>
            </a: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  <a:endParaRPr lang="th-TH" b="1" dirty="0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611560" y="1556793"/>
            <a:ext cx="8136904" cy="4176463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8750" y="1628800"/>
            <a:ext cx="734481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ระบบสารสนเทศเพื่อการจัดการ หรือ ระบบสารสนเทศเพื่อการบริหาร (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Management Information System) </a:t>
            </a:r>
            <a:b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	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คือ ระบบสารสนเทศที่ใช้ในการจัดการข้อมูลที่เกี่ยวข้องกับการ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ดำเนินกิจการในองค์การ โดยการจัดเก็บข้อมูลเชิงรายการและนำเข้าสู่ระบบคอมพิวเตอร์ มีโปรแกรมในการการประมวลผล และจัดรูปแบบ ให้ได้สารสนเทศที่เหมาะสมกับองค์การ ในการช่วยในการตัดสินใจ ประสานงาน และควบคุมของผู้บริหาร ในอันที่จะดำเนินงานได้อย่างมีประสิทธิภาพผลลัพธ์ที่ได้เป็นรายงานที่ใช้ในการจัดการ ได้แก่ ข้อมูลด้านการผลิต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การให้บริการ การจำหน่าย การเงิน การบัญชี-พัสดุ การบริหารบุคคล เป็นต้น</a:t>
            </a:r>
            <a:endParaRPr lang="th-TH" sz="24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ความหมายและความสำคัญ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ระบบสารสนเทศเพื่อการจัดการ (</a:t>
            </a:r>
            <a:r>
              <a:rPr lang="en-US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MIS</a:t>
            </a: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  <a:endParaRPr lang="th-TH" b="1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611560" y="1556793"/>
            <a:ext cx="8136904" cy="1440159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8750" y="1609750"/>
            <a:ext cx="734481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แนวคิดเกี่ยวกับระบบสารสนเทศเพื่อการจัดการ เป็นการรวมกันระหว่างแนวคิดเรื่องการดำเนินการทางธุรกิจ และเทคโนโลยีสาสนเทศ โดยมีความมุ่งเน้นคือการพัฒนาเทคโนโลยีสารสนเทศมาใช้ในระบบธุรกิจ</a:t>
            </a:r>
            <a:endParaRPr lang="th-TH" sz="24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ความหมายและความสำคัญ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3074" name="Picture 2" descr="D:\รายวิชา\วิชาระบบสารสนเทศสำหรับการบริหาร\เอกสารประกอบ\mis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1897" y="3016002"/>
            <a:ext cx="3898835" cy="3031476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ระบบสารสนเทศเพื่อการจัดการ (</a:t>
            </a:r>
            <a:r>
              <a:rPr lang="en-US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MIS</a:t>
            </a: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  <a:endParaRPr lang="th-TH" b="1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611560" y="1556793"/>
            <a:ext cx="8136904" cy="2088231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8750" y="1609750"/>
            <a:ext cx="734481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1. เก็บรวบรวมข้อมูลจากแหล่งต่าง ๆ ทั้งจากภายในและภายนอกองค์การ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มาไว้ด้วยกันอย่างเป็นระบบ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 2. ทำการประมวลผลข้อมูลอย่างมีประสิทธิภาพ เพื่อให้ได้สารสนเทศ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ที่ช่วยสนับสนุนการปฏิบัติงานและการบริหารงานของผู้บริหาร</a:t>
            </a:r>
            <a:endParaRPr lang="th-TH" sz="24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หน้าที่หลักของระบบ 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MIS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ระบบสารสนเทศเพื่อการจัดการ (</a:t>
            </a:r>
            <a:r>
              <a:rPr lang="en-US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MIS</a:t>
            </a: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  <a:endParaRPr lang="th-TH" b="1" dirty="0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611560" y="1556793"/>
            <a:ext cx="7992888" cy="295232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584" y="1609750"/>
            <a:ext cx="783401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เพิ่มประสิทธิภาพในการทำงานขององค์กร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เพิ่มผลผลิตหรือการบริการ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ช่วยสร้างสรรค์ผลิตภัณฑ์หรือบริการใหม่ๆ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เพิ่มคุณภาพในการบริการให้แก่ลูกค้า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/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สร้างความพึงพอใจให้ลูกค้า/ผู้รับบริการ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สร้างความได้เปรียบแก่คู่แข่ง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เพิ่มประสิทธิภาพในการตัดสินใจ</a:t>
            </a:r>
            <a:endParaRPr lang="en-US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เป้าหมายของ 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MIS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ระบบสารสนเทศเพื่อการจัดการ (</a:t>
            </a:r>
            <a:r>
              <a:rPr lang="en-US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MIS</a:t>
            </a: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  <a:endParaRPr lang="th-TH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67544" y="765594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องค์ประกอบของระบบสารสนเทศเพื่อการจัดการ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graphicFrame>
        <p:nvGraphicFramePr>
          <p:cNvPr id="36" name="ไดอะแกรม 35"/>
          <p:cNvGraphicFramePr/>
          <p:nvPr/>
        </p:nvGraphicFramePr>
        <p:xfrm>
          <a:off x="1068356" y="1397000"/>
          <a:ext cx="6969768" cy="4624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ระบบสารสนเทศเพื่อการจัดการ (</a:t>
            </a:r>
            <a:r>
              <a:rPr lang="en-US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MIS</a:t>
            </a: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  <a:endParaRPr lang="th-TH" b="1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611560" y="1556793"/>
            <a:ext cx="7992888" cy="259228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1609750"/>
            <a:ext cx="783401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การพัฒนาระบบสารสนเทศต้องคำนึงถึงคุณสมบัติที่สำคัญของ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MIS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ต่อไปนี้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	1. ความสามารถในการจัดการข้อมูล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Data Manipulation)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 	2. ความปลอดภัยของข้อมูล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Data Security)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	3. ความยืดหยุ่น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Flexibility) 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	4. ความพอใจของผู้ใช้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User Satisfaction)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คุณสมบัติของระบบสารสนเทศเพื่อการจัดการ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ระบบสารสนเทศเพื่อการจัดการ (</a:t>
            </a:r>
            <a:r>
              <a:rPr lang="en-US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MIS</a:t>
            </a: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  <a:endParaRPr lang="th-TH" b="1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611560" y="1556793"/>
            <a:ext cx="7992888" cy="331236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1609750"/>
            <a:ext cx="783401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	1. ช่วยให้ผู้ใช้สามารถเข้าถึงสารสนเทศที่ต้องการได้อย่างรวดเร็ว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และทันต่อเหตุการณ์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 	2. ช่วยผู้ใช้ในการกำหนดเป้าหมายกลยุทธ์และการวางแผนปฏิบัติการ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 	3. ช่วยผู้ใช้ในการตรวจสอบประเมินผลการดำเนินงาน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 	4. ช่วยผู้ใช้ในการศึกษาและวิเคราะห์สาเหตุของปัญหา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 	5. ช่วยให้ผู้ใช้สามารถวิเคราะห์ปัญหาหรืออุปสรรคที่เกิดขึ้น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 	6. ช่วยลดค่าใช้จ่าย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ประโยชน์ของระบบสารสนเทศเพื่อการจัดการ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ระบบสารสนเทศเพื่อการจัดการ (</a:t>
            </a:r>
            <a:r>
              <a:rPr lang="en-US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MIS</a:t>
            </a:r>
            <a:r>
              <a:rPr lang="th-TH" sz="40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haroni" pitchFamily="2" charset="-79"/>
              <a:cs typeface="AngsanaUPC" pitchFamily="18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  <a:endParaRPr lang="th-TH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ประเภทของระบบสารสนเทศเพื่อการจัดการ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graphicFrame>
        <p:nvGraphicFramePr>
          <p:cNvPr id="13" name="ไดอะแกรม 12"/>
          <p:cNvGraphicFramePr/>
          <p:nvPr/>
        </p:nvGraphicFramePr>
        <p:xfrm>
          <a:off x="611560" y="1397000"/>
          <a:ext cx="8136904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fade thruBlk="1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sp>
        <p:nvSpPr>
          <p:cNvPr id="5" name="สี่เหลี่ยมผืนผ้า 4"/>
          <p:cNvSpPr/>
          <p:nvPr/>
        </p:nvSpPr>
        <p:spPr>
          <a:xfrm>
            <a:off x="611560" y="1556793"/>
            <a:ext cx="7992888" cy="223224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544" y="944496"/>
            <a:ext cx="806489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4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</a:t>
            </a:r>
            <a:r>
              <a:rPr lang="en-US" sz="34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sz="34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(</a:t>
            </a:r>
            <a:r>
              <a:rPr lang="en-US" sz="34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Transaction Processing Systems : TPS)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6146" name="Picture 2" descr="D:\รายวิชา\วิชาระบบสารสนเทศสำหรับการบริหาร\เอกสารประกอบ\tps[1]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3904796"/>
            <a:ext cx="7056784" cy="2121477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827584" y="1609750"/>
            <a:ext cx="783401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หรือ ระบบปฏิบัติการทางธุรกิจ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เป็นระบบที่ใช้กับ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Transaction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ซ้ำๆทุกวัน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( Routine )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เป็นระบบที่สำคัญที่สุดของระบบ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สารสนเทศขององค์กร เพราะเป็นระบบที่บันทึกข้อมูลที่เกิดขึ้นทุกอย่าง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ภายในองค์กร หากข้อมูลในระบบนี้เกิดความผิดพลาด หรือเสียหาย ก็ส่งผลต่อระบบประมวลผลในระบบสารสนเทศอื่นได้ข้อมูลที่ผิดพลาดต่อไป</a:t>
            </a:r>
            <a:endParaRPr lang="th-TH" b="1" dirty="0">
              <a:solidFill>
                <a:srgbClr val="C0000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611560" y="1556793"/>
            <a:ext cx="7992888" cy="3384375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วัตถุประสงค์ของ 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TPS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7584" y="1609750"/>
            <a:ext cx="783401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ngsanaUPC" pitchFamily="18" charset="-34"/>
                <a:cs typeface="AngsanaUPC" pitchFamily="18" charset="-34"/>
              </a:rPr>
              <a:t>1.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เพื่อรวบรวมและบันทึกรายการต่างๆที่เกิดขึ้นในแต่ละวัน</a:t>
            </a:r>
          </a:p>
          <a:p>
            <a:r>
              <a:rPr lang="en-US" b="1" dirty="0">
                <a:latin typeface="AngsanaUPC" pitchFamily="18" charset="-34"/>
                <a:cs typeface="AngsanaUPC" pitchFamily="18" charset="-34"/>
              </a:rPr>
              <a:t>2.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เพื่อเพิ่มประสิทธิภาพในการประมวลผลข้อมูลจากรายการสำหรับการนำเสนอเอกสารที่เกี่ยวข้อง และสารสนเทศในรูปของรายงาน</a:t>
            </a:r>
          </a:p>
          <a:p>
            <a:r>
              <a:rPr lang="en-US" b="1" dirty="0">
                <a:latin typeface="AngsanaUPC" pitchFamily="18" charset="-34"/>
                <a:cs typeface="AngsanaUPC" pitchFamily="18" charset="-34"/>
              </a:rPr>
              <a:t>3.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 เพื่อส่งเสริมและดำรงไว้ซึ่งความถูกต้องของการปฏิบัติงาน</a:t>
            </a:r>
          </a:p>
          <a:p>
            <a:r>
              <a:rPr lang="en-US" b="1" dirty="0">
                <a:latin typeface="AngsanaUPC" pitchFamily="18" charset="-34"/>
                <a:cs typeface="AngsanaUPC" pitchFamily="18" charset="-34"/>
              </a:rPr>
              <a:t>4.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เพื่อส่งเสริมความเชื่อมั่นในบูรณภาพ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Integrity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) ของข้อมูลสารสนเทศ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ในองค์กร</a:t>
            </a:r>
          </a:p>
          <a:p>
            <a:r>
              <a:rPr lang="en-US" b="1" dirty="0">
                <a:latin typeface="AngsanaUPC" pitchFamily="18" charset="-34"/>
                <a:cs typeface="AngsanaUPC" pitchFamily="18" charset="-34"/>
              </a:rPr>
              <a:t>5. 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เพื่อเพิ่มศักยภาพในการแข่งขั้นขององค์กร</a:t>
            </a:r>
            <a:endParaRPr lang="en-US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611560" y="1556793"/>
            <a:ext cx="7992888" cy="3240359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ลักษณะที่สำคัญของ 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TPS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7584" y="1609750"/>
            <a:ext cx="783401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ngsanaUPC" pitchFamily="18" charset="-34"/>
                <a:cs typeface="AngsanaUPC" pitchFamily="18" charset="-34"/>
              </a:rPr>
              <a:t> 	1. </a:t>
            </a:r>
            <a:r>
              <a:rPr lang="en-US" b="1" u="sng" dirty="0">
                <a:latin typeface="AngsanaUPC" pitchFamily="18" charset="-34"/>
                <a:cs typeface="AngsanaUPC" pitchFamily="18" charset="-34"/>
              </a:rPr>
              <a:t>Reliability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ข้อมูลที่ได้ต้องมีความน่าเชื่อถือ ทุกข้อมูลได้มีการบันทึกไว้อย่างถูกต้องครบถ้วน และระบบดำเนินงานได้อย่างต่อเนื่อง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	2. </a:t>
            </a:r>
            <a:r>
              <a:rPr lang="en-US" b="1" u="sng" dirty="0">
                <a:latin typeface="AngsanaUPC" pitchFamily="18" charset="-34"/>
                <a:cs typeface="AngsanaUPC" pitchFamily="18" charset="-34"/>
              </a:rPr>
              <a:t>Standardization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ข้อมูลที่ได้มีความเป็นมาตรฐาน ในการบันทึก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มีการกำหนดลักษณะข้อมูลที่จะทำการบันทึก เช่น รหัสสินค้าใส่ได้เฉพาะตัวเลขตามจำนวนหลักที่ให้เท่านั้น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	3. </a:t>
            </a:r>
            <a:r>
              <a:rPr lang="en-US" b="1" u="sng" dirty="0">
                <a:latin typeface="AngsanaUPC" pitchFamily="18" charset="-34"/>
                <a:cs typeface="AngsanaUPC" pitchFamily="18" charset="-34"/>
              </a:rPr>
              <a:t>Controlled Access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มีการจำกัดการเข้าถึงข้อมูล สามารถให้เฉพาะ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ผู้ที่ต้องการใช้ข้อมูลนั้นๆ สามารถเข้าไปดูหรือแก้ไขได้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611560" y="1556793"/>
            <a:ext cx="7992888" cy="3240359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คุณสมบัติของ 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TPS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7584" y="1609750"/>
            <a:ext cx="783401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มีการประมวลผลข้อมูลเป็นจำนวนมาก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แหล่งข้อมูลส่วนใหญ่มาจากภายในองค์กร 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มีการประมวลผลอย่างเป็นประจำ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สามารถเก็บข้อมูลได้จำนวนมาก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มีความซับซ้อนในการคำนวณน้อย แต่ผลที่ประมวลควรมีความน่าเชื่อถือสูง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มีการรักษาความปลอดภัยของข้อมูล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ข้อมูลที่บักทึกและผลที่ประมวลออกมาควรมีโครงสร้างที่ชัดเจน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611560" y="1556793"/>
            <a:ext cx="7992888" cy="3888431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3568" y="1609750"/>
            <a:ext cx="7834014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หน้าที่หลักของระบบประมวลผลรายการ </a:t>
            </a:r>
          </a:p>
          <a:p>
            <a:pPr marL="514350" indent="-514350"/>
            <a:r>
              <a:rPr lang="en-US" b="1" dirty="0">
                <a:latin typeface="AngsanaUPC" pitchFamily="18" charset="-34"/>
                <a:cs typeface="AngsanaUPC" pitchFamily="18" charset="-34"/>
              </a:rPr>
              <a:t> 	1.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การทำบัญชี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Boo keeping) 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  <a:p>
            <a:pPr marL="514350" indent="-514350"/>
            <a:r>
              <a:rPr lang="th-TH" i="1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ทำหน้าที่ในการเก็บ</a:t>
            </a:r>
            <a:r>
              <a:rPr lang="th-TH" sz="2400" i="1" dirty="0" err="1">
                <a:latin typeface="AngsanaUPC" pitchFamily="18" charset="-34"/>
                <a:cs typeface="AngsanaUPC" pitchFamily="18" charset="-34"/>
              </a:rPr>
              <a:t>บันทึ</a:t>
            </a: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การปฏิบัติงานหรือเหตุการณ์ทางการบัญชีที่เกิดขึ้นในแต่ละวันขององค์การ</a:t>
            </a:r>
            <a:endParaRPr lang="th-TH" sz="2400" b="1" i="1" dirty="0">
              <a:latin typeface="AngsanaUPC" pitchFamily="18" charset="-34"/>
              <a:cs typeface="AngsanaUPC" pitchFamily="18" charset="-34"/>
            </a:endParaRPr>
          </a:p>
          <a:p>
            <a:pPr marL="514350" indent="-514350"/>
            <a:r>
              <a:rPr lang="th-TH" b="1" dirty="0">
                <a:latin typeface="AngsanaUPC" pitchFamily="18" charset="-34"/>
                <a:cs typeface="AngsanaUPC" pitchFamily="18" charset="-34"/>
              </a:rPr>
              <a:t> 	2. การออกเอกสาร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/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การออกคำสั่ง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Document Issuance) </a:t>
            </a:r>
          </a:p>
          <a:p>
            <a:pPr marL="514350" indent="-514350"/>
            <a:r>
              <a:rPr lang="en-US" sz="2400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en-US" sz="2400" b="1" i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ทำหน้าที่เกี่ยวกับการออกเอกสารต่าง ๆ ที่เกี่ยวข้องกับการปฏิบัติงานในแต่ละวัน</a:t>
            </a:r>
            <a:br>
              <a:rPr lang="th-TH" sz="2400" i="1" dirty="0">
                <a:latin typeface="AngsanaUPC" pitchFamily="18" charset="-34"/>
                <a:cs typeface="AngsanaUPC" pitchFamily="18" charset="-34"/>
              </a:rPr>
            </a:b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ขององค์การ</a:t>
            </a:r>
            <a:endParaRPr lang="en-US" sz="2400" b="1" i="1" dirty="0">
              <a:latin typeface="AngsanaUPC" pitchFamily="18" charset="-34"/>
              <a:cs typeface="AngsanaUPC" pitchFamily="18" charset="-34"/>
            </a:endParaRPr>
          </a:p>
          <a:p>
            <a:pPr marL="514350" indent="-514350"/>
            <a:r>
              <a:rPr lang="th-TH" b="1" dirty="0">
                <a:latin typeface="AngsanaUPC" pitchFamily="18" charset="-34"/>
                <a:cs typeface="AngsanaUPC" pitchFamily="18" charset="-34"/>
              </a:rPr>
              <a:t> 	3. การทำรายงานควบคุม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Control Reporting)</a:t>
            </a:r>
          </a:p>
          <a:p>
            <a:pPr marL="514350" indent="-514350"/>
            <a:r>
              <a:rPr lang="en-US" sz="2400" b="1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ทำหน้าที่เกี่ยวกับการออกเอกสารต่าง ๆ ที่มีผลมาจากการดำเนินงานขององค์การ</a:t>
            </a:r>
            <a:endParaRPr lang="en-US" sz="2400" b="1" i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หน้าที่หลักของ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TPS</a:t>
            </a:r>
            <a:endParaRPr lang="th-TH" sz="36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611560" y="1979896"/>
            <a:ext cx="7992888" cy="3753360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3568" y="2009160"/>
            <a:ext cx="7834014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ช่วยลดปัญหา</a:t>
            </a:r>
          </a:p>
          <a:p>
            <a:pPr marL="514350" indent="-514350"/>
            <a:r>
              <a:rPr lang="en-US" b="1" dirty="0">
                <a:latin typeface="AngsanaUPC" pitchFamily="18" charset="-34"/>
                <a:cs typeface="AngsanaUPC" pitchFamily="18" charset="-34"/>
              </a:rPr>
              <a:t> 1.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ความผิดพลาดที่เกิดจากความสะเพร่า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Error Level) 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  <a:p>
            <a:pPr marL="514350" indent="-514350"/>
            <a:r>
              <a:rPr lang="th-TH" b="1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เช่น การดูตัวเลขผิด การจดบันทึกข้อมูลสลับที่กัน หรือการหลงลืม เป็นต้น </a:t>
            </a:r>
            <a:endParaRPr lang="en-US" sz="2400" i="1" dirty="0">
              <a:latin typeface="AngsanaUPC" pitchFamily="18" charset="-34"/>
              <a:cs typeface="AngsanaUPC" pitchFamily="18" charset="-34"/>
            </a:endParaRPr>
          </a:p>
          <a:p>
            <a:pPr marL="514350" indent="-514350"/>
            <a:r>
              <a:rPr lang="th-TH" b="1" dirty="0">
                <a:latin typeface="AngsanaUPC" pitchFamily="18" charset="-34"/>
                <a:cs typeface="AngsanaUPC" pitchFamily="18" charset="-34"/>
              </a:rPr>
              <a:t> 2. ใช้แรงงานมาก</a:t>
            </a:r>
            <a:r>
              <a:rPr lang="th-TH" b="1" i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Labor Intensity) </a:t>
            </a:r>
            <a:r>
              <a:rPr lang="th-TH" b="1" i="1" dirty="0">
                <a:latin typeface="AngsanaUPC" pitchFamily="18" charset="-34"/>
                <a:cs typeface="AngsanaUPC" pitchFamily="18" charset="-34"/>
              </a:rPr>
              <a:t>	</a:t>
            </a:r>
          </a:p>
          <a:p>
            <a:pPr marL="514350" indent="-514350"/>
            <a:r>
              <a:rPr lang="th-TH" sz="2400" b="1" i="1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การบันทึกรายการของการดำเนินงานที่เกิดขึ้นในแต่ละวันเป็นงานทที่ละเอียด </a:t>
            </a:r>
          </a:p>
          <a:p>
            <a:pPr marL="514350" indent="-514350"/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ซึ่งการบันทึกอาจจะเป็นการทำงานที่ซ้ำ ๆ กันและใช้แรงงานมาก </a:t>
            </a:r>
          </a:p>
          <a:p>
            <a:pPr marL="514350" indent="-514350"/>
            <a:r>
              <a:rPr lang="th-TH" b="1" dirty="0">
                <a:latin typeface="AngsanaUPC" pitchFamily="18" charset="-34"/>
                <a:cs typeface="AngsanaUPC" pitchFamily="18" charset="-34"/>
              </a:rPr>
              <a:t> 3. การสูญหายของข้อมูล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Loss of Data) 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  <a:p>
            <a:pPr marL="514350" indent="-514350"/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  </a:t>
            </a:r>
            <a:r>
              <a:rPr lang="th-TH" sz="2400" b="1" i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อาจเกิดจากการเก็บแฟ้มเอกสารผิดพลาด ทำให้ไม่สามารถค้นหาข้อมูลไดเมื่อผู้ใช้เกิด</a:t>
            </a:r>
          </a:p>
          <a:p>
            <a:pPr marL="514350" indent="-514350"/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ความต้องการเมื่อต้องการ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560" y="850067"/>
            <a:ext cx="806489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บทบาทของเทคโนโลยีสารสนเทศในการประมวลผลรายการ  </a:t>
            </a:r>
            <a:b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</a:br>
            <a:r>
              <a:rPr lang="en-US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(Role  of  information  technology  in  transaction  Processing)</a:t>
            </a:r>
            <a:endParaRPr lang="th-TH" sz="32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sp>
        <p:nvSpPr>
          <p:cNvPr id="13" name="สี่เหลี่ยมผืนผ้า 12"/>
          <p:cNvSpPr/>
          <p:nvPr/>
        </p:nvSpPr>
        <p:spPr>
          <a:xfrm>
            <a:off x="611560" y="1988840"/>
            <a:ext cx="7992888" cy="3753360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3568" y="1988840"/>
            <a:ext cx="7834014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ช่วยลดปัญหา</a:t>
            </a:r>
          </a:p>
          <a:p>
            <a:r>
              <a:rPr lang="en-US" b="1" dirty="0">
                <a:latin typeface="AngsanaUPC" pitchFamily="18" charset="-34"/>
                <a:cs typeface="AngsanaUPC" pitchFamily="18" charset="-34"/>
              </a:rPr>
              <a:t> 4.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ระดับการบริการที่ไม่ดี 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(Poor  level  of  service) 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  <a:p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ระบบสนับสนุนด้วยมือมักจะเกิดปัญหาในเรื่องการบริการ  เช่น  กรณีลูกค้าต้องการตรวจสอบสินค้าเพื่อการสั่งซื้อ  ผู้ขายอาจจะไม่สามารถตอบลูกค้าได้ทันทีว่ามีสินค้าเหลือกี่ชิ้น  ทำให้อาจสูญเสียโอกาสการขายหรือบริการที่ดีแก่ลูกค้า</a:t>
            </a:r>
            <a:endParaRPr lang="en-US" sz="2400" i="1" dirty="0">
              <a:latin typeface="AngsanaUPC" pitchFamily="18" charset="-34"/>
              <a:cs typeface="AngsanaUPC" pitchFamily="18" charset="-34"/>
            </a:endParaRPr>
          </a:p>
          <a:p>
            <a:r>
              <a:rPr lang="en-US" b="1" dirty="0">
                <a:latin typeface="AngsanaUPC" pitchFamily="18" charset="-34"/>
                <a:cs typeface="AngsanaUPC" pitchFamily="18" charset="-34"/>
              </a:rPr>
              <a:t>5.</a:t>
            </a:r>
            <a:r>
              <a:rPr lang="en-US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การตอบสนองที่ไม่ดี 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(Poor  response) 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th-TH" sz="2400" i="1" dirty="0">
                <a:latin typeface="AngsanaUPC" pitchFamily="18" charset="-34"/>
                <a:cs typeface="AngsanaUPC" pitchFamily="18" charset="-34"/>
              </a:rPr>
              <a:t>หากข้อมูลที่ได้ไม่ทันสมัยจะทำให้การตอบสนองต่อความต้องการของลูกค้าเชื่องช้า  ในปัจจุบันจะแก้ปัญหาที่โครงสร้างการจัดการ  สายการบังคับบัญชา  การกระจายอำนาจและการมีข้อมูลที่ทันสมัย  จะทำให้องค์การสามารถตอบสนองต่อความต้องการขอลูกค้าได้รวดเร็ว</a:t>
            </a:r>
            <a:r>
              <a:rPr lang="th-TH" sz="2400" b="1" i="1" dirty="0">
                <a:latin typeface="AngsanaUPC" pitchFamily="18" charset="-34"/>
                <a:cs typeface="AngsanaUPC" pitchFamily="18" charset="-34"/>
              </a:rPr>
              <a:t>  </a:t>
            </a:r>
            <a:endParaRPr lang="en-US" sz="2400" i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1560" y="850067"/>
            <a:ext cx="806489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บทบาทของเทคโนโลยีสารสนเทศในการประมวลผลรายการ  </a:t>
            </a:r>
            <a:b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</a:br>
            <a:r>
              <a:rPr lang="en-US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(Role  of  information  technology  in  transaction  Processing)</a:t>
            </a:r>
            <a:endParaRPr lang="th-TH" sz="32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04"/>
          <p:cNvPicPr>
            <a:picLocks noChangeAspect="1" noChangeArrowheads="1"/>
          </p:cNvPicPr>
          <p:nvPr/>
        </p:nvPicPr>
        <p:blipFill>
          <a:blip r:embed="rId2" cstate="print"/>
          <a:srcRect l="2183" t="7044" r="2989" b="2480"/>
          <a:stretch>
            <a:fillRect/>
          </a:stretch>
        </p:blipFill>
        <p:spPr bwMode="auto">
          <a:xfrm>
            <a:off x="251520" y="980728"/>
            <a:ext cx="8640960" cy="514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67544" y="669454"/>
            <a:ext cx="8280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วงจรการประมวลผลรายการ </a:t>
            </a:r>
            <a:r>
              <a:rPr lang="en-US" sz="34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(The transaction processing cycle) </a:t>
            </a:r>
            <a:endParaRPr lang="en-US" sz="34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4594" y="5627594"/>
            <a:ext cx="3682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b="1" i="1" dirty="0">
                <a:solidFill>
                  <a:srgbClr val="C00000"/>
                </a:solidFill>
              </a:rPr>
              <a:t>ภาพแสดงวงจรการประมวลผลรายการ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611560" y="1700809"/>
            <a:ext cx="7992888" cy="295232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0286" y="1846069"/>
            <a:ext cx="7632848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1. </a:t>
            </a:r>
            <a:r>
              <a:rPr lang="th-TH" sz="30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การป้อนข้อมูล (</a:t>
            </a:r>
            <a:r>
              <a:rPr lang="en-US" sz="30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Data Entry)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เป็นการเก็บรวบรวมข้อมูลที่เกิดขึ้น แล้วทำการป้อนลงไปในระบบคอมพิวเตอร์ หรือสื่อสำรองสำหรับการเก็บข้อมูลที่เครื่องคอมพิวเตอร์สามารถอ่านได้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เพื่อรอการนำไปใช้งาน โดยที่ข้อมูลส่วนมากจะเป็นข้อมูลที่ได้มาจากเอกสาร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ที่เกิดจากการดำเนินงานของธุรกิจในแต่ละวัน เช่น ใบสั่งซื้อสินค้า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ใบส่งสินค้า และใบกำกับสินค้า เป็นต้น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 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933049"/>
            <a:ext cx="820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วงจรการประมวลผลรายการ  </a:t>
            </a:r>
            <a:r>
              <a:rPr lang="en-US" sz="34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(The transaction processing cycle) </a:t>
            </a:r>
            <a:endParaRPr lang="en-US" sz="34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pic>
        <p:nvPicPr>
          <p:cNvPr id="2050" name="Picture 2" descr="205"/>
          <p:cNvPicPr>
            <a:picLocks noChangeAspect="1" noChangeArrowheads="1"/>
          </p:cNvPicPr>
          <p:nvPr/>
        </p:nvPicPr>
        <p:blipFill>
          <a:blip r:embed="rId2" cstate="print"/>
          <a:srcRect l="5358" r="7547" b="1075"/>
          <a:stretch>
            <a:fillRect/>
          </a:stretch>
        </p:blipFill>
        <p:spPr bwMode="auto">
          <a:xfrm>
            <a:off x="179512" y="836712"/>
            <a:ext cx="8352928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5338564" y="5517232"/>
            <a:ext cx="3618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b="1" i="1" dirty="0">
                <a:solidFill>
                  <a:srgbClr val="C00000"/>
                </a:solidFill>
              </a:rPr>
              <a:t>แสดงระบบการป้อนข้อมูลแบบดั้งเดิม</a:t>
            </a:r>
            <a:endParaRPr lang="en-US" sz="2400" b="1" i="1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611560" y="1700809"/>
            <a:ext cx="7992888" cy="3816423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b="1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0286" y="1846069"/>
            <a:ext cx="7632848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2. </a:t>
            </a:r>
            <a:r>
              <a:rPr lang="th-TH" sz="30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การประมวลผลหรือการปฏิบัติงานกับข้อมูล (</a:t>
            </a:r>
            <a:r>
              <a:rPr lang="en-US" sz="30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Transaction Processing)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หลังจากการป้อนหรือเปลี่ยนรูปแบบข้อมูลให้เหมาะที่เครื่องคอมพิวเตอร์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จะสามารถอ่านได้แล้ว ขั้นต่อไปจะเป็นการนำเอาข้อมูลที่จัดเก็บไปประมวลผล ซึ่งผู้ใช้สามารถทำได้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2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วิธี ต่อไปนี้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 </a:t>
            </a:r>
          </a:p>
          <a:p>
            <a:r>
              <a:rPr lang="en-US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b="1" i="1" dirty="0">
                <a:latin typeface="AngsanaUPC" pitchFamily="18" charset="-34"/>
                <a:cs typeface="AngsanaUPC" pitchFamily="18" charset="-34"/>
              </a:rPr>
              <a:t>2.1 </a:t>
            </a:r>
            <a:r>
              <a:rPr lang="th-TH" b="1" i="1" dirty="0">
                <a:latin typeface="AngsanaUPC" pitchFamily="18" charset="-34"/>
                <a:cs typeface="AngsanaUPC" pitchFamily="18" charset="-34"/>
              </a:rPr>
              <a:t>แบบครั้งต่อครั้ง</a:t>
            </a:r>
            <a:r>
              <a:rPr lang="en-US" b="1" i="1" dirty="0">
                <a:latin typeface="AngsanaUPC" pitchFamily="18" charset="-34"/>
                <a:cs typeface="AngsanaUPC" pitchFamily="18" charset="-34"/>
              </a:rPr>
              <a:t> (Batch) </a:t>
            </a:r>
            <a:r>
              <a:rPr lang="th-TH" dirty="0">
                <a:latin typeface="AngsanaUPC" pitchFamily="18" charset="-34"/>
                <a:cs typeface="AngsanaUPC" pitchFamily="18" charset="-34"/>
              </a:rPr>
              <a:t>เป็นการเก็บรวบรวมข้อมูลไว้ระยะหนึ่ง เพื่อรอให้มีปริมาณข้อมูลเพียงพอแล้วจึงทำการประมวลผล</a:t>
            </a:r>
            <a:endParaRPr lang="en-US" dirty="0">
              <a:latin typeface="AngsanaUPC" pitchFamily="18" charset="-34"/>
              <a:cs typeface="AngsanaUPC" pitchFamily="18" charset="-34"/>
            </a:endParaRPr>
          </a:p>
          <a:p>
            <a:r>
              <a:rPr lang="en-US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b="1" i="1" dirty="0">
                <a:latin typeface="AngsanaUPC" pitchFamily="18" charset="-34"/>
                <a:cs typeface="AngsanaUPC" pitchFamily="18" charset="-34"/>
              </a:rPr>
              <a:t>2.2 </a:t>
            </a:r>
            <a:r>
              <a:rPr lang="th-TH" b="1" i="1" dirty="0">
                <a:latin typeface="AngsanaUPC" pitchFamily="18" charset="-34"/>
                <a:cs typeface="AngsanaUPC" pitchFamily="18" charset="-34"/>
              </a:rPr>
              <a:t>แบบตามเวลาที่เกิดขึ้นจริง (</a:t>
            </a:r>
            <a:r>
              <a:rPr lang="en-US" b="1" i="1" dirty="0">
                <a:latin typeface="AngsanaUPC" pitchFamily="18" charset="-34"/>
                <a:cs typeface="AngsanaUPC" pitchFamily="18" charset="-34"/>
              </a:rPr>
              <a:t>Real Time) </a:t>
            </a:r>
            <a:r>
              <a:rPr lang="th-TH" dirty="0">
                <a:latin typeface="AngsanaUPC" pitchFamily="18" charset="-34"/>
                <a:cs typeface="AngsanaUPC" pitchFamily="18" charset="-34"/>
              </a:rPr>
              <a:t>การประมวลผลข้อมูล</a:t>
            </a:r>
            <a:br>
              <a:rPr lang="th-TH" dirty="0">
                <a:latin typeface="AngsanaUPC" pitchFamily="18" charset="-34"/>
                <a:cs typeface="AngsanaUPC" pitchFamily="18" charset="-34"/>
              </a:rPr>
            </a:br>
            <a:r>
              <a:rPr lang="th-TH" dirty="0">
                <a:latin typeface="AngsanaUPC" pitchFamily="18" charset="-34"/>
                <a:cs typeface="AngsanaUPC" pitchFamily="18" charset="-34"/>
              </a:rPr>
              <a:t>จะเกิดขึ้นทันทีที่ข้อมูลถูกป้อนเข้าเครื่องคอมพิวเตอร์</a:t>
            </a:r>
            <a:endParaRPr lang="en-US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933049"/>
            <a:ext cx="820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วงจรการประมวลผลรายการ  </a:t>
            </a:r>
            <a:r>
              <a:rPr lang="en-US" sz="34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(The transaction processing cycle) </a:t>
            </a:r>
            <a:endParaRPr lang="en-US" sz="34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206 up"/>
          <p:cNvPicPr>
            <a:picLocks noChangeAspect="1" noChangeArrowheads="1"/>
          </p:cNvPicPr>
          <p:nvPr/>
        </p:nvPicPr>
        <p:blipFill>
          <a:blip r:embed="rId2" cstate="print"/>
          <a:srcRect l="3107" t="4539" r="5122" b="3164"/>
          <a:stretch>
            <a:fillRect/>
          </a:stretch>
        </p:blipFill>
        <p:spPr bwMode="auto">
          <a:xfrm>
            <a:off x="395536" y="1378868"/>
            <a:ext cx="8424936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67544" y="704449"/>
            <a:ext cx="820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วงจรการประมวลผลรายการ  </a:t>
            </a:r>
            <a:r>
              <a:rPr lang="en-US" sz="34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(The transaction processing cycle) </a:t>
            </a:r>
            <a:endParaRPr lang="en-US" sz="34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91014" y="5316066"/>
            <a:ext cx="30059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b="1" i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แสดงตัวอย่างระบบการป้อนข้อมูล</a:t>
            </a:r>
          </a:p>
          <a:p>
            <a:pPr algn="ctr"/>
            <a:r>
              <a:rPr lang="th-TH" sz="2400" b="1" i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เข้าอัตโนมัติสำหรับรายการขาย</a:t>
            </a:r>
            <a:endParaRPr lang="en-US" sz="2400" b="1" i="1" dirty="0">
              <a:solidFill>
                <a:srgbClr val="C0000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206"/>
          <p:cNvPicPr>
            <a:picLocks noChangeAspect="1" noChangeArrowheads="1"/>
          </p:cNvPicPr>
          <p:nvPr/>
        </p:nvPicPr>
        <p:blipFill>
          <a:blip r:embed="rId2" cstate="print"/>
          <a:srcRect l="7087" t="2885" r="11811" b="3355"/>
          <a:stretch>
            <a:fillRect/>
          </a:stretch>
        </p:blipFill>
        <p:spPr bwMode="auto">
          <a:xfrm>
            <a:off x="370706" y="1268760"/>
            <a:ext cx="8737798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sp>
        <p:nvSpPr>
          <p:cNvPr id="8" name="TextBox 7"/>
          <p:cNvSpPr txBox="1"/>
          <p:nvPr/>
        </p:nvSpPr>
        <p:spPr>
          <a:xfrm>
            <a:off x="467544" y="685399"/>
            <a:ext cx="820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วงจรการประมวลผลรายการ  </a:t>
            </a:r>
            <a:r>
              <a:rPr lang="en-US" sz="34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(The transaction processing cycle) </a:t>
            </a:r>
            <a:endParaRPr lang="en-US" sz="34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4016" y="1268760"/>
            <a:ext cx="3995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i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แสดงตัวอย่างระบบการประมวลผลชุด</a:t>
            </a:r>
          </a:p>
          <a:p>
            <a:pPr algn="ctr"/>
            <a:r>
              <a:rPr lang="th-TH" sz="2400" b="1" i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ของธนาคาร</a:t>
            </a:r>
            <a:endParaRPr lang="en-US" sz="2400" b="1" i="1" dirty="0">
              <a:solidFill>
                <a:srgbClr val="C0000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รายวิชา\วิชาความรู้เบื้องต้นเกี่ยวกับระบบสารสนเทศ\บทที่ 3\edatabase[1].jpg"/>
          <p:cNvPicPr>
            <a:picLocks noChangeAspect="1" noChangeArrowheads="1"/>
          </p:cNvPicPr>
          <p:nvPr/>
        </p:nvPicPr>
        <p:blipFill>
          <a:blip r:embed="rId2" cstate="print"/>
          <a:srcRect t="10459" b="16326"/>
          <a:stretch>
            <a:fillRect/>
          </a:stretch>
        </p:blipFill>
        <p:spPr bwMode="auto">
          <a:xfrm>
            <a:off x="4768121" y="3784848"/>
            <a:ext cx="4196367" cy="2304256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611560" y="1700809"/>
            <a:ext cx="7992888" cy="2520279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0286" y="1846069"/>
            <a:ext cx="7632848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30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การปรับปรุงฐานข้อมูล (</a:t>
            </a:r>
            <a:r>
              <a:rPr lang="en-US" sz="30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File / database Updating)</a:t>
            </a:r>
          </a:p>
          <a:p>
            <a:r>
              <a:rPr lang="th-TH" sz="3200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ผลลัพธ์ที่ได้จากการประมวลผลจะถูกนำไปปรับปรุง และจัดเก็บอย่างเป็นระบบในฐานข้อมูลหือไฟล์ต่าง ๆ ซึ่งการปรับปรุงข้อมูลอาจทำเป็นระยะ ๆ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เช่น รายวัน รายสัปดาห์ หรือรายเดือน ขึ้นอยู่กับความต้องการใช้งาน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และความทันสมัยของข้อมูลที่อยู่ในฐานข้อมูล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 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933049"/>
            <a:ext cx="820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วงจรการประมวลผลรายการ  </a:t>
            </a:r>
            <a:r>
              <a:rPr lang="en-US" sz="34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(The transaction processing cycle) </a:t>
            </a:r>
            <a:endParaRPr lang="en-US" sz="34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611560" y="1484784"/>
            <a:ext cx="7992888" cy="4536504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0286" y="1630044"/>
            <a:ext cx="7752154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4. </a:t>
            </a:r>
            <a:r>
              <a:rPr lang="th-TH" sz="30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การผลิตรายงานและเอกสาร (</a:t>
            </a:r>
            <a:r>
              <a:rPr lang="en-US" sz="30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Document and Generation)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เป็นการผลิตรายงานและเอกสารอ้างอิงภายในองค์การ ซึ่งแสดงถึงการปฏิบัติงานที่เกิดขึ้นของระบบ โดยเอกสารต่าง ๆ ที่ผลิตขึ้นจากระบบปฏิบัติงานทางธุรกิจเรียกว่า เอกสารการปฏิบัติงาน </a:t>
            </a:r>
          </a:p>
          <a:p>
            <a:r>
              <a:rPr lang="en-US" b="1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en-US" b="1" i="1" dirty="0">
                <a:latin typeface="AngsanaUPC" pitchFamily="18" charset="-34"/>
                <a:cs typeface="AngsanaUPC" pitchFamily="18" charset="-34"/>
              </a:rPr>
              <a:t>1. </a:t>
            </a:r>
            <a:r>
              <a:rPr lang="th-TH" b="1" i="1" dirty="0">
                <a:latin typeface="AngsanaUPC" pitchFamily="18" charset="-34"/>
                <a:cs typeface="AngsanaUPC" pitchFamily="18" charset="-34"/>
              </a:rPr>
              <a:t>เอกสารสารสนเทศ </a:t>
            </a:r>
            <a:r>
              <a:rPr lang="en-US" b="1" i="1" dirty="0">
                <a:latin typeface="AngsanaUPC" pitchFamily="18" charset="-34"/>
                <a:cs typeface="AngsanaUPC" pitchFamily="18" charset="-34"/>
              </a:rPr>
              <a:t>(Information  document)</a:t>
            </a:r>
            <a:endParaRPr lang="en-US" i="1" dirty="0">
              <a:latin typeface="AngsanaUPC" pitchFamily="18" charset="-34"/>
              <a:cs typeface="AngsanaUPC" pitchFamily="18" charset="-34"/>
            </a:endParaRPr>
          </a:p>
          <a:p>
            <a:r>
              <a:rPr lang="en-US" i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b="1" i="1" dirty="0">
                <a:latin typeface="AngsanaUPC" pitchFamily="18" charset="-34"/>
                <a:cs typeface="AngsanaUPC" pitchFamily="18" charset="-34"/>
              </a:rPr>
              <a:t>2. </a:t>
            </a:r>
            <a:r>
              <a:rPr lang="th-TH" b="1" i="1" dirty="0">
                <a:latin typeface="AngsanaUPC" pitchFamily="18" charset="-34"/>
                <a:cs typeface="AngsanaUPC" pitchFamily="18" charset="-34"/>
              </a:rPr>
              <a:t>เอกสารการส่งคืน </a:t>
            </a:r>
            <a:r>
              <a:rPr lang="en-US" b="1" i="1" dirty="0">
                <a:latin typeface="AngsanaUPC" pitchFamily="18" charset="-34"/>
                <a:cs typeface="AngsanaUPC" pitchFamily="18" charset="-34"/>
              </a:rPr>
              <a:t>(Turnaround  document)</a:t>
            </a:r>
            <a:endParaRPr lang="en-US" i="1" dirty="0">
              <a:latin typeface="AngsanaUPC" pitchFamily="18" charset="-34"/>
              <a:cs typeface="AngsanaUPC" pitchFamily="18" charset="-34"/>
            </a:endParaRPr>
          </a:p>
          <a:p>
            <a:r>
              <a:rPr lang="en-US" i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b="1" i="1" dirty="0"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b="1" i="1" dirty="0">
                <a:latin typeface="AngsanaUPC" pitchFamily="18" charset="-34"/>
                <a:cs typeface="AngsanaUPC" pitchFamily="18" charset="-34"/>
              </a:rPr>
              <a:t>เอกสารที่ใช้ปฏิบัติ  </a:t>
            </a:r>
            <a:r>
              <a:rPr lang="en-US" b="1" i="1" dirty="0">
                <a:latin typeface="AngsanaUPC" pitchFamily="18" charset="-34"/>
                <a:cs typeface="AngsanaUPC" pitchFamily="18" charset="-34"/>
              </a:rPr>
              <a:t>(Action  document)</a:t>
            </a:r>
            <a:endParaRPr lang="en-US" i="1" dirty="0">
              <a:latin typeface="AngsanaUPC" pitchFamily="18" charset="-34"/>
              <a:cs typeface="AngsanaUPC" pitchFamily="18" charset="-34"/>
            </a:endParaRPr>
          </a:p>
          <a:p>
            <a:r>
              <a:rPr lang="en-US" i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b="1" i="1" dirty="0">
                <a:latin typeface="AngsanaUPC" pitchFamily="18" charset="-34"/>
                <a:cs typeface="AngsanaUPC" pitchFamily="18" charset="-34"/>
              </a:rPr>
              <a:t>4. </a:t>
            </a:r>
            <a:r>
              <a:rPr lang="th-TH" b="1" i="1" dirty="0">
                <a:latin typeface="AngsanaUPC" pitchFamily="18" charset="-34"/>
                <a:cs typeface="AngsanaUPC" pitchFamily="18" charset="-34"/>
              </a:rPr>
              <a:t>รายการทางบัญชี </a:t>
            </a:r>
            <a:r>
              <a:rPr lang="en-US" b="1" i="1" dirty="0">
                <a:latin typeface="AngsanaUPC" pitchFamily="18" charset="-34"/>
                <a:cs typeface="AngsanaUPC" pitchFamily="18" charset="-34"/>
              </a:rPr>
              <a:t>(Accounting  statement)</a:t>
            </a:r>
          </a:p>
          <a:p>
            <a:r>
              <a:rPr lang="en-US" b="1" dirty="0"/>
              <a:t>	</a:t>
            </a:r>
            <a:r>
              <a:rPr lang="en-US" b="1" i="1" dirty="0">
                <a:latin typeface="AngsanaUPC" pitchFamily="18" charset="-34"/>
                <a:cs typeface="AngsanaUPC" pitchFamily="18" charset="-34"/>
              </a:rPr>
              <a:t>5. </a:t>
            </a:r>
            <a:r>
              <a:rPr lang="th-TH" b="1" i="1" dirty="0">
                <a:latin typeface="AngsanaUPC" pitchFamily="18" charset="-34"/>
                <a:cs typeface="AngsanaUPC" pitchFamily="18" charset="-34"/>
              </a:rPr>
              <a:t>การควบคุมรายการ  </a:t>
            </a:r>
            <a:r>
              <a:rPr lang="en-US" b="1" i="1" dirty="0">
                <a:latin typeface="AngsanaUPC" pitchFamily="18" charset="-34"/>
                <a:cs typeface="AngsanaUPC" pitchFamily="18" charset="-34"/>
              </a:rPr>
              <a:t>(Control  listing) </a:t>
            </a:r>
          </a:p>
          <a:p>
            <a:r>
              <a:rPr lang="en-US" b="1" i="1" dirty="0">
                <a:latin typeface="AngsanaUPC" pitchFamily="18" charset="-34"/>
                <a:cs typeface="AngsanaUPC" pitchFamily="18" charset="-34"/>
              </a:rPr>
              <a:t>	6. </a:t>
            </a:r>
            <a:r>
              <a:rPr lang="th-TH" b="1" i="1" dirty="0">
                <a:latin typeface="AngsanaUPC" pitchFamily="18" charset="-34"/>
                <a:cs typeface="AngsanaUPC" pitchFamily="18" charset="-34"/>
              </a:rPr>
              <a:t>รายงานการแก้ไข </a:t>
            </a:r>
            <a:r>
              <a:rPr lang="en-US" b="1" i="1" dirty="0">
                <a:latin typeface="AngsanaUPC" pitchFamily="18" charset="-34"/>
                <a:cs typeface="AngsanaUPC" pitchFamily="18" charset="-34"/>
              </a:rPr>
              <a:t>(Edit  reports)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544" y="933049"/>
            <a:ext cx="820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วงจรการประมวลผลรายการ  </a:t>
            </a:r>
            <a:r>
              <a:rPr lang="en-US" sz="34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(The transaction processing cycle) </a:t>
            </a:r>
            <a:endParaRPr lang="en-US" sz="34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รายวิชา\วิชาระบบสารสนเทศสำหรับการบริหาร\เอกสารประกอบ\online-student-clubs-interacting-beyond-the-virtual-classroom_000011623759[1].jpg"/>
          <p:cNvPicPr>
            <a:picLocks noChangeAspect="1" noChangeArrowheads="1"/>
          </p:cNvPicPr>
          <p:nvPr/>
        </p:nvPicPr>
        <p:blipFill>
          <a:blip r:embed="rId2" cstate="print"/>
          <a:srcRect b="10984"/>
          <a:stretch>
            <a:fillRect/>
          </a:stretch>
        </p:blipFill>
        <p:spPr bwMode="auto">
          <a:xfrm>
            <a:off x="4427984" y="4149080"/>
            <a:ext cx="4198888" cy="1944216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611560" y="1700809"/>
            <a:ext cx="7992888" cy="2520279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0286" y="1846069"/>
            <a:ext cx="7632848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5. </a:t>
            </a:r>
            <a:r>
              <a:rPr lang="th-TH" sz="30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การให้บริการสอบถาม (</a:t>
            </a:r>
            <a:r>
              <a:rPr lang="en-US" sz="30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Inquiring Processing)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ผู้ใช้สามารถที่จะสอบถามข้อมูลจากแฟ้มหรือฐานข้อมูลได้  เช่น การตรวจสอบสินค้าคงเหลือ  กรณีที่ลูกค้าสั่งซื้อสินค้าผู้ใช้สามารถที่จะสอบถามจากคอมพิวเตอร์และสามารถที่จะตัดสินค้าที่ขายออก 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(Stock)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และนำข้อมูลดังกล่าวมาพิมพ์ใบกำกับสินค้า  ตั้งบัญชีลูกหนี้  และส่งข้อมูลไปที่ระบบบัญชี</a:t>
            </a:r>
            <a:endParaRPr lang="en-US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933049"/>
            <a:ext cx="820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วงจรการประมวลผลรายการ  </a:t>
            </a:r>
            <a:r>
              <a:rPr lang="en-US" sz="34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(The transaction processing cycle) </a:t>
            </a:r>
            <a:endParaRPr lang="en-US" sz="34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pic>
        <p:nvPicPr>
          <p:cNvPr id="2050" name="Picture 2" descr="D:\รายวิชา\วิชาระบบสารสนเทศสำหรับการบริหาร\tps2.jpg"/>
          <p:cNvPicPr>
            <a:picLocks noChangeAspect="1" noChangeArrowheads="1"/>
          </p:cNvPicPr>
          <p:nvPr/>
        </p:nvPicPr>
        <p:blipFill>
          <a:blip r:embed="rId2" cstate="print"/>
          <a:srcRect t="45927" b="10756"/>
          <a:stretch>
            <a:fillRect/>
          </a:stretch>
        </p:blipFill>
        <p:spPr bwMode="auto">
          <a:xfrm>
            <a:off x="252066" y="1564296"/>
            <a:ext cx="8640414" cy="4536504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467544" y="933049"/>
            <a:ext cx="820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วงจรการประมวลผลรายการ  </a:t>
            </a:r>
            <a:r>
              <a:rPr lang="en-US" sz="34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(The transaction processing cycle) </a:t>
            </a:r>
            <a:endParaRPr lang="en-US" sz="34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:\รายวิชา\วิชาระบบสารสนเทศสำหรับการบริหาร\tps.jpg"/>
          <p:cNvPicPr>
            <a:picLocks noChangeAspect="1" noChangeArrowheads="1"/>
          </p:cNvPicPr>
          <p:nvPr/>
        </p:nvPicPr>
        <p:blipFill>
          <a:blip r:embed="rId2" cstate="print"/>
          <a:srcRect t="5909" b="50774"/>
          <a:stretch>
            <a:fillRect/>
          </a:stretch>
        </p:blipFill>
        <p:spPr bwMode="auto">
          <a:xfrm>
            <a:off x="303650" y="1556792"/>
            <a:ext cx="8576456" cy="4536504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467544" y="944496"/>
            <a:ext cx="80648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b="1" u="sng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ตัวอย่าง</a:t>
            </a: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กิจกรรมการทำงานของระบบแจ้งความประสงค์ในการจดทะเบียนวิชา</a:t>
            </a:r>
            <a:b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และจัดสรรวิชา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611560" y="1556793"/>
            <a:ext cx="7992888" cy="439248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3568" y="1609750"/>
            <a:ext cx="783401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1. ระบบจ่ายเงินเดือน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Payroll Processing System)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2. ระบบบันทึกคำสั่งซื้อ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Order Entry System)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3. ระบบสินค้าคงคลัง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Inventory System)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4. ระบบใบกำกับสินค้า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Invoicing System)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5. ระบบส่งสินค้า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Shipping System)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	6. ระบบบัญชีลูกหนี้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Accounts Receivable System)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	7. ระบบสั่งซื้อสินค้า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Purchasing System)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	8. ระบบรับสินค้า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Receiving System) 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	9. ระบบบัญชีเจ้าหนี้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Account Payable) 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	10. ระบบบัญชีแยกประเภททั่วไป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General Ledger System)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ระบบย่อย</a:t>
            </a:r>
            <a:r>
              <a:rPr lang="th-TH" sz="34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ของ </a:t>
            </a:r>
            <a:r>
              <a:rPr lang="en-US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TPS</a:t>
            </a:r>
            <a:endParaRPr lang="th-TH" sz="32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611560" y="1556793"/>
            <a:ext cx="7992888" cy="3744415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3568" y="1609750"/>
            <a:ext cx="783401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1. ระบบจ่ายเงินเดือน (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Payroll Processing System)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เป็นระบบที่นิยมใช้คอมพิวเตอร์ช่วยทำงาน  โดยเริ่มจากขั้นตอนการบันทึกเวลาการทำงาน  แล้วคำนวณค่าแรงหรือค่าจ้าง  ตลอดจนการพิมพ์รายงานแสดงเงินได้ของพนักงานเพื่อคำนวณเงินหักต่างๆ เช่น ภาษีเงินได้หัก  ณ ที่จ่าย  เงินกู้  เป็นต้น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บัญชีเงินเดือน  สามารถแยกได้หลายแบบ เช่น</a:t>
            </a:r>
            <a:endParaRPr lang="en-US" b="1" dirty="0">
              <a:latin typeface="AngsanaUPC" pitchFamily="18" charset="-34"/>
              <a:cs typeface="AngsanaUPC" pitchFamily="18" charset="-34"/>
            </a:endParaRPr>
          </a:p>
          <a:p>
            <a:r>
              <a:rPr lang="en-US" b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b="1" i="1" dirty="0">
                <a:latin typeface="AngsanaUPC" pitchFamily="18" charset="-34"/>
                <a:cs typeface="AngsanaUPC" pitchFamily="18" charset="-34"/>
              </a:rPr>
              <a:t>1.1</a:t>
            </a:r>
            <a:r>
              <a:rPr lang="th-TH" b="1" i="1" dirty="0">
                <a:latin typeface="AngsanaUPC" pitchFamily="18" charset="-34"/>
                <a:cs typeface="AngsanaUPC" pitchFamily="18" charset="-34"/>
              </a:rPr>
              <a:t> ค่าจ้างรายเดือน</a:t>
            </a:r>
            <a:endParaRPr lang="en-US" b="1" i="1" dirty="0">
              <a:latin typeface="AngsanaUPC" pitchFamily="18" charset="-34"/>
              <a:cs typeface="AngsanaUPC" pitchFamily="18" charset="-34"/>
            </a:endParaRPr>
          </a:p>
          <a:p>
            <a:r>
              <a:rPr lang="en-US" b="1" i="1" dirty="0">
                <a:latin typeface="AngsanaUPC" pitchFamily="18" charset="-34"/>
                <a:cs typeface="AngsanaUPC" pitchFamily="18" charset="-34"/>
              </a:rPr>
              <a:t>	1.2</a:t>
            </a:r>
            <a:r>
              <a:rPr lang="th-TH" b="1" i="1" dirty="0">
                <a:latin typeface="AngsanaUPC" pitchFamily="18" charset="-34"/>
                <a:cs typeface="AngsanaUPC" pitchFamily="18" charset="-34"/>
              </a:rPr>
              <a:t> ค่าจ้างรายวัน</a:t>
            </a:r>
            <a:endParaRPr lang="en-US" b="1" i="1" dirty="0">
              <a:latin typeface="AngsanaUPC" pitchFamily="18" charset="-34"/>
              <a:cs typeface="AngsanaUPC" pitchFamily="18" charset="-34"/>
            </a:endParaRPr>
          </a:p>
          <a:p>
            <a:r>
              <a:rPr lang="en-US" b="1" i="1" dirty="0">
                <a:latin typeface="AngsanaUPC" pitchFamily="18" charset="-34"/>
                <a:cs typeface="AngsanaUPC" pitchFamily="18" charset="-34"/>
              </a:rPr>
              <a:t>	1.3</a:t>
            </a:r>
            <a:r>
              <a:rPr lang="th-TH" b="1" i="1" dirty="0">
                <a:latin typeface="AngsanaUPC" pitchFamily="18" charset="-34"/>
                <a:cs typeface="AngsanaUPC" pitchFamily="18" charset="-34"/>
              </a:rPr>
              <a:t> ค่าจ้างตามผลงาน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u="sng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ตัวอย่าง</a:t>
            </a: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ระบบย่อย</a:t>
            </a:r>
            <a:r>
              <a:rPr lang="th-TH" sz="34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ของ </a:t>
            </a:r>
            <a:r>
              <a:rPr lang="en-US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TPS</a:t>
            </a:r>
            <a:endParaRPr lang="th-TH" sz="32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8195" name="Picture 3" descr="D:\รายวิชา\วิชาระบบสารสนเทศสำหรับการบริหาร\บทที่ 3 ประเภทของระบบสารสนเทศเพื่อการจัดการ\เอกสารอื่นๆ\coin-graph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6056" y="3789040"/>
            <a:ext cx="3879354" cy="2327920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539552" y="1499643"/>
            <a:ext cx="7992888" cy="4536503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1495450"/>
            <a:ext cx="7834014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1. ระบบจ่ายเงินเดือน (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Payroll Processing System) </a:t>
            </a: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(ต่อ)</a:t>
            </a:r>
          </a:p>
          <a:p>
            <a:r>
              <a:rPr lang="th-TH" sz="24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ลักษณะสำคัญ</a:t>
            </a:r>
          </a:p>
          <a:p>
            <a:pPr>
              <a:buFont typeface="Wingdings" pitchFamily="2" charset="2"/>
              <a:buChar char="§"/>
            </a:pP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 การจัดการประเภทเงินได้ – เงินหัก โดยสามารถสร้างสูตรได้ด้วยตนเอง</a:t>
            </a:r>
          </a:p>
          <a:p>
            <a:pPr>
              <a:buFont typeface="Wingdings" pitchFamily="2" charset="2"/>
              <a:buChar char="§"/>
            </a:pP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 สามารถนำเข้าข้อมูล เงินได้ – เงินหักจาก </a:t>
            </a:r>
            <a:r>
              <a:rPr lang="en-US" sz="2400" b="1" dirty="0">
                <a:latin typeface="AngsanaUPC" pitchFamily="18" charset="-34"/>
                <a:cs typeface="AngsanaUPC" pitchFamily="18" charset="-34"/>
              </a:rPr>
              <a:t>MS-Excel </a:t>
            </a: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เข้าสู่ระบบ</a:t>
            </a:r>
          </a:p>
          <a:p>
            <a:pPr>
              <a:buFont typeface="Wingdings" pitchFamily="2" charset="2"/>
              <a:buChar char="§"/>
            </a:pP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 สามารถเชื่อมต่อข้อมูลจากระบบการประมวลผลเวลาโดยอัตโนมัติ</a:t>
            </a:r>
          </a:p>
          <a:p>
            <a:pPr>
              <a:buFont typeface="Wingdings" pitchFamily="2" charset="2"/>
              <a:buChar char="§"/>
            </a:pP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 สามารถเชื่อมต่อข้อมูลจากระบบสวัสดิการโดยอัตโนมัติ</a:t>
            </a:r>
          </a:p>
          <a:p>
            <a:pPr>
              <a:buFont typeface="Wingdings" pitchFamily="2" charset="2"/>
              <a:buChar char="§"/>
            </a:pP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 สามารถ </a:t>
            </a:r>
            <a:r>
              <a:rPr lang="en-US" sz="2400" b="1" dirty="0">
                <a:latin typeface="AngsanaUPC" pitchFamily="18" charset="-34"/>
                <a:cs typeface="AngsanaUPC" pitchFamily="18" charset="-34"/>
              </a:rPr>
              <a:t>Prorate </a:t>
            </a: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เงินได้ – เงินหัก โดยอัตโนมัติ</a:t>
            </a:r>
          </a:p>
          <a:p>
            <a:pPr>
              <a:buFont typeface="Wingdings" pitchFamily="2" charset="2"/>
              <a:buChar char="§"/>
            </a:pP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 ระบบสามารถคำนวณเงินประกันสังคม และ กองทุนสำรองเลี้ยงชีพโดยอัตโนมัติ</a:t>
            </a:r>
          </a:p>
          <a:p>
            <a:pPr>
              <a:buFont typeface="Wingdings" pitchFamily="2" charset="2"/>
              <a:buChar char="§"/>
            </a:pP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 รองรับการคำนวณภาษีที่บริษัทจ่ายให้ครั้งเดียว หรือ จ่ายให้ตลอดไป รวมถึงการจ่ายภาษี</a:t>
            </a:r>
            <a:br>
              <a:rPr lang="th-TH" sz="2400" b="1" dirty="0">
                <a:latin typeface="AngsanaUPC" pitchFamily="18" charset="-34"/>
                <a:cs typeface="AngsanaUPC" pitchFamily="18" charset="-34"/>
              </a:rPr>
            </a:b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ให้เพียงบางรายการของเงินได้</a:t>
            </a:r>
          </a:p>
          <a:p>
            <a:pPr>
              <a:buFont typeface="Wingdings" pitchFamily="2" charset="2"/>
              <a:buChar char="§"/>
            </a:pP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 รองรับการบันทึกรายการเงินได้ – เงินหัก ได้หลายสกุลเงิน</a:t>
            </a:r>
          </a:p>
          <a:p>
            <a:pPr>
              <a:buFont typeface="Wingdings" pitchFamily="2" charset="2"/>
              <a:buChar char="§"/>
            </a:pPr>
            <a:r>
              <a:rPr lang="th-TH" sz="2400" b="1" dirty="0">
                <a:latin typeface="AngsanaUPC" pitchFamily="18" charset="-34"/>
                <a:cs typeface="AngsanaUPC" pitchFamily="18" charset="-34"/>
              </a:rPr>
              <a:t> มีการจัดเก็บประวัติเงินได้ – เงินหักของพนักงาน</a:t>
            </a:r>
            <a:endParaRPr lang="en-US" sz="24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u="sng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ตัวอย่าง</a:t>
            </a: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ระบบย่อย</a:t>
            </a:r>
            <a:r>
              <a:rPr lang="th-TH" sz="34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ของ </a:t>
            </a:r>
            <a:r>
              <a:rPr lang="en-US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TPS</a:t>
            </a:r>
            <a:endParaRPr lang="th-TH" sz="32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9220" name="Picture 4" descr="D:\รายวิชา\วิชาระบบสารสนเทศสำหรับการบริหาร\บทที่ 3 ประเภทของระบบสารสนเทศเพื่อการจัดการ\เอกสารอื่นๆ\icon-payroll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77330" y="498004"/>
            <a:ext cx="2070043" cy="1922884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sp>
        <p:nvSpPr>
          <p:cNvPr id="8" name="TextBox 7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77304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u="sng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ตัวอย่าง</a:t>
            </a: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ระบบจ่ายเงินเดือน (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Payroll Processing System)</a:t>
            </a:r>
            <a:endParaRPr lang="th-TH" sz="32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10243" name="Picture 3" descr="D:\รายวิชา\วิชาระบบสารสนเทศสำหรับการบริหาร\บทที่ 3 ประเภทของระบบสารสนเทศเพื่อการจัดการ\เอกสารอื่นๆ\ประมวลผลเข้าระบบเงินเดือน_processL[1].jpg"/>
          <p:cNvPicPr>
            <a:picLocks noChangeAspect="1" noChangeArrowheads="1"/>
          </p:cNvPicPr>
          <p:nvPr/>
        </p:nvPicPr>
        <p:blipFill>
          <a:blip r:embed="rId2" cstate="print"/>
          <a:srcRect b="13504"/>
          <a:stretch>
            <a:fillRect/>
          </a:stretch>
        </p:blipFill>
        <p:spPr bwMode="auto">
          <a:xfrm>
            <a:off x="213420" y="1294284"/>
            <a:ext cx="8717159" cy="4799012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th-TH" b="1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611560" y="1556793"/>
            <a:ext cx="7992888" cy="3888431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2442" y="1609750"/>
            <a:ext cx="783401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1. ระบบจ่ายเงินเดือน (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Payroll Processing System) </a:t>
            </a: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(ต่อ)</a:t>
            </a:r>
          </a:p>
          <a:p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ประโยชน์ที่เกิดจากการใช้เครื่องคอมพิวเตอร์ ในระบบจ่ายเงินเดือน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endParaRPr>
          </a:p>
          <a:p>
            <a:r>
              <a:rPr lang="en-US" b="1" dirty="0">
                <a:latin typeface="AngsanaUPC" pitchFamily="18" charset="-34"/>
                <a:cs typeface="AngsanaUPC" pitchFamily="18" charset="-34"/>
              </a:rPr>
              <a:t> 	1.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สามารถเรียกข้อมูลการจ่ายเงินเดือนขึ้นมาได้ทุกเดือนตามที่ต้องการ</a:t>
            </a:r>
            <a:endParaRPr lang="en-US" b="1" dirty="0">
              <a:latin typeface="AngsanaUPC" pitchFamily="18" charset="-34"/>
              <a:cs typeface="AngsanaUPC" pitchFamily="18" charset="-34"/>
            </a:endParaRPr>
          </a:p>
          <a:p>
            <a:r>
              <a:rPr lang="en-US" b="1" dirty="0">
                <a:latin typeface="AngsanaUPC" pitchFamily="18" charset="-34"/>
                <a:cs typeface="AngsanaUPC" pitchFamily="18" charset="-34"/>
              </a:rPr>
              <a:t> 	2.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ช่วยในเรื่องการคำนวณภาษี  เงินหัก  และเงินได้สุทธิ ที่จะต้องคำนวณซ้ำกันทุกคน  ทำให้เสียเวลา  หากใช้คอมพิวเตอร์การคำนวณซ้ำ 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จะสะดวก  รวดเร็ว  และถูกต้อง </a:t>
            </a:r>
            <a:endParaRPr lang="en-US" b="1" dirty="0">
              <a:latin typeface="AngsanaUPC" pitchFamily="18" charset="-34"/>
              <a:cs typeface="AngsanaUPC" pitchFamily="18" charset="-34"/>
            </a:endParaRPr>
          </a:p>
          <a:p>
            <a:r>
              <a:rPr lang="en-US" b="1" dirty="0">
                <a:latin typeface="AngsanaUPC" pitchFamily="18" charset="-34"/>
                <a:cs typeface="AngsanaUPC" pitchFamily="18" charset="-34"/>
              </a:rPr>
              <a:t> 	3.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ช่วยลดปัญหาในเรื่องการหักภาษี  ณ จ่ายเกินหรือขาด  ซึ่งทำให้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ต้องมีการจ่ายภาษีเพิ่มหรือเรียกคืนภาษี</a:t>
            </a:r>
            <a:endParaRPr lang="en-US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ระบบประมวลผลรายการ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TPS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9444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u="sng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ตัวอย่าง</a:t>
            </a: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ระบบย่อย</a:t>
            </a:r>
            <a:r>
              <a:rPr lang="th-TH" sz="34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ของ </a:t>
            </a:r>
            <a:r>
              <a:rPr lang="en-US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TPS</a:t>
            </a:r>
            <a:endParaRPr lang="th-TH" sz="32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4</a:t>
            </a:r>
            <a:endParaRPr lang="th-TH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937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 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Customer Integrated Systems (CIS)</a:t>
            </a:r>
            <a:endParaRPr lang="en-US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868296"/>
            <a:ext cx="806489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accent6">
                  <a:lumMod val="75000"/>
                </a:schemeClr>
              </a:buClr>
              <a:defRPr/>
            </a:pPr>
            <a:r>
              <a:rPr lang="th-TH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ระบบการประมวลผลธุรกรรมที่ลูกค้าสามารถป้อนขอมูลและประมวลผลด้วยตนเอง</a:t>
            </a:r>
          </a:p>
          <a:p>
            <a:pPr algn="ctr"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ระบบ 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Customer Integrated Systems (CIS)</a:t>
            </a:r>
            <a:endParaRPr lang="en-US" sz="36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916832"/>
            <a:ext cx="7272808" cy="4102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4</a:t>
            </a:r>
            <a:endParaRPr lang="th-TH" b="1" dirty="0"/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611560" y="1556793"/>
            <a:ext cx="7992888" cy="367240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6242" y="1609750"/>
            <a:ext cx="783401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เป็นระบบสารสนเทศซึ่งพัฒนามาจาก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TPS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โดยลูกค้าสามารถป้อนข้อมูล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และทำการประมวลผลด้วยตนเองได้ เช่น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ATM (Automated teller machines)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 ซึ่งช่วยให้ลูกค้า สามารถติดต่อกับธนาคารได้ทุกที่และทุกเวลา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ATM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ทำให้ลูกค้ามีความคล่องตัวในการเข้าถึง มากขึ้น และทำให้ธนาคารไม่จำเป็นต้องจ้างพนักงานจำนวนมากอีกต่อไป</a:t>
            </a:r>
          </a:p>
          <a:p>
            <a:pP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นอกจากงานของธนาคารแล้ว ในปัจจุบัน มหาวิทยาลัยต่างๆ ได้นำระบบ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CIS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มาใช้เพื่อให้นักศึกษาสามารถลงทะเบียน โดยผ่านเครื่องโทรศัพท์ นอกจากนี้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CIS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ยังช่วยให้ประชาชนสามารถจ่ายค่าน้ำ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-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ค่าไฟ จากคอมพิวเตอร์ที่บ้านก็ได้</a:t>
            </a:r>
            <a:endParaRPr lang="en-US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37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 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Customer Integrated Systems (CIS)</a:t>
            </a:r>
            <a:endParaRPr lang="en-US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8682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ระบบ 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Customer Integrated Systems (CIS)</a:t>
            </a:r>
            <a:endParaRPr lang="en-US" sz="36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67544" y="8682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ระบบ 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Customer Integrated Systems (CIS)</a:t>
            </a:r>
            <a:endParaRPr lang="en-US" sz="3600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3" name="สี่เหลี่ยมผืนผ้า 12"/>
          <p:cNvSpPr/>
          <p:nvPr/>
        </p:nvSpPr>
        <p:spPr>
          <a:xfrm>
            <a:off x="611560" y="1556792"/>
            <a:ext cx="7992888" cy="4176464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7192" y="1643658"/>
            <a:ext cx="783401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ระบบ </a:t>
            </a:r>
            <a:r>
              <a:rPr lang="en-US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CIS </a:t>
            </a:r>
            <a:r>
              <a:rPr lang="th-TH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ของธนาคาร</a:t>
            </a:r>
            <a:endParaRPr lang="th-TH" b="1" dirty="0">
              <a:solidFill>
                <a:srgbClr val="C00000"/>
              </a:solidFill>
              <a:latin typeface="AngsanaUPC" pitchFamily="18" charset="-34"/>
              <a:cs typeface="AngsanaUPC" pitchFamily="18" charset="-34"/>
            </a:endParaRPr>
          </a:p>
          <a:p>
            <a:pPr>
              <a:buFont typeface="Wingdings" pitchFamily="2" charset="2"/>
              <a:buChar char="§"/>
            </a:pP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เครื่อง 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ATM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ย่อมาจาก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Automatic Telling Machine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คือ เครื่องเบิกถอนเงินสดอัตโนมัติจากบัญชีเงินฝากของผู้ใช้ ซึ่งผู้ใช้สามารถทำรายการได้เองที่เครื่อง </a:t>
            </a:r>
            <a:br>
              <a:rPr lang="en-US" b="1" dirty="0">
                <a:latin typeface="AngsanaUPC" pitchFamily="18" charset="-34"/>
                <a:cs typeface="AngsanaUPC" pitchFamily="18" charset="-34"/>
              </a:rPr>
            </a:br>
            <a:r>
              <a:rPr lang="en-US" b="1" dirty="0">
                <a:latin typeface="AngsanaUPC" pitchFamily="18" charset="-34"/>
                <a:cs typeface="AngsanaUPC" pitchFamily="18" charset="-34"/>
              </a:rPr>
              <a:t>ATM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โดยที่ไม่ต้องใช้สมุดบัญชีไปเบิกที่ธนาคาร เพียงแต่มีบัตร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ATM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ที่ทางธนาคารออกให้กับเจ้าของบัญชีนั้นๆ</a:t>
            </a:r>
          </a:p>
          <a:p>
            <a:pPr>
              <a:buFont typeface="Wingdings" pitchFamily="2" charset="2"/>
              <a:buChar char="§"/>
            </a:pP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เครื่อง 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ADM </a:t>
            </a: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ย่อมาจาก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Automatic Deposit Machine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เป็นเครื่องฝากเงินอัตโนมัติ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(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หลักการคล้ายเครื่อง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ATM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แต่เปลี่ยนจากถอนเป็นฝาก)</a:t>
            </a:r>
          </a:p>
          <a:p>
            <a:pPr>
              <a:buFont typeface="Wingdings" pitchFamily="2" charset="2"/>
              <a:buChar char="§"/>
            </a:pP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Internet Banking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หรือ ธนาคารทางอินเทอร์เน็ต</a:t>
            </a:r>
          </a:p>
          <a:p>
            <a:pPr>
              <a:buFont typeface="Wingdings" pitchFamily="2" charset="2"/>
              <a:buChar char="§"/>
            </a:pP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M-Banking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บริการธนาคารผ่านโทรศัพท์มือถือ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4</a:t>
            </a:r>
            <a:endParaRPr lang="th-TH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7937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 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Customer Integrated Systems (CIS)</a:t>
            </a:r>
            <a:endParaRPr lang="en-US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สี่เหลี่ยมผืนผ้า 5"/>
          <p:cNvSpPr/>
          <p:nvPr/>
        </p:nvSpPr>
        <p:spPr>
          <a:xfrm>
            <a:off x="611560" y="1556793"/>
            <a:ext cx="7992888" cy="3888431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2442" y="1728242"/>
            <a:ext cx="7834014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Electronic Banking  : ATM </a:t>
            </a: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ให้บริการ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endParaRPr>
          </a:p>
          <a:p>
            <a:pP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โอนเงิน</a:t>
            </a:r>
          </a:p>
          <a:p>
            <a:pP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พิมพ์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Statement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  <a:p>
            <a:pP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เคาน์เตอร์เซอร์วิส </a:t>
            </a:r>
            <a:br>
              <a:rPr lang="th-TH" dirty="0">
                <a:latin typeface="AngsanaUPC" pitchFamily="18" charset="-34"/>
                <a:cs typeface="AngsanaUPC" pitchFamily="18" charset="-34"/>
              </a:rPr>
            </a:br>
            <a:r>
              <a:rPr lang="th-TH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จ่ายค่าสินค้าและบริการจ่ายค่าบริการสาธารณูปโภค </a:t>
            </a:r>
            <a:r>
              <a:rPr lang="en-US" sz="2400" dirty="0">
                <a:latin typeface="AngsanaUPC" pitchFamily="18" charset="-34"/>
                <a:cs typeface="AngsanaUPC" pitchFamily="18" charset="-34"/>
              </a:rPr>
              <a:t>, 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จ่ายค่าโทรศัพท์บ้าน </a:t>
            </a:r>
          </a:p>
          <a:p>
            <a:r>
              <a:rPr lang="th-TH" sz="2400" dirty="0">
                <a:latin typeface="AngsanaUPC" pitchFamily="18" charset="-34"/>
                <a:cs typeface="AngsanaUPC" pitchFamily="18" charset="-34"/>
              </a:rPr>
              <a:t>และมือถือ</a:t>
            </a:r>
            <a:r>
              <a:rPr lang="en-US" sz="2400" dirty="0">
                <a:latin typeface="AngsanaUPC" pitchFamily="18" charset="-34"/>
                <a:cs typeface="AngsanaUPC" pitchFamily="18" charset="-34"/>
              </a:rPr>
              <a:t>,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 จ่ายค่าบัตรเครดิต หรือเบี้ยประกันภัย</a:t>
            </a:r>
            <a:r>
              <a:rPr lang="en-US" sz="2400" dirty="0">
                <a:latin typeface="AngsanaUPC" pitchFamily="18" charset="-34"/>
                <a:cs typeface="AngsanaUPC" pitchFamily="18" charset="-34"/>
              </a:rPr>
              <a:t>, 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จ่ายภาษีเงินได้ประจำปี และภาษีประจำปีรถยนต์</a:t>
            </a:r>
            <a:r>
              <a:rPr lang="en-US" sz="2400" dirty="0">
                <a:latin typeface="AngsanaUPC" pitchFamily="18" charset="-34"/>
                <a:cs typeface="AngsanaUPC" pitchFamily="18" charset="-34"/>
              </a:rPr>
              <a:t>,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 จ่ายค่าเคเบิ้ลทีวี</a:t>
            </a:r>
            <a:r>
              <a:rPr lang="en-US" sz="2400" dirty="0">
                <a:latin typeface="AngsanaUPC" pitchFamily="18" charset="-34"/>
                <a:cs typeface="AngsanaUPC" pitchFamily="18" charset="-34"/>
              </a:rPr>
              <a:t>,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 ซื้อประกันอุบัติเหตุการเดินทาง</a:t>
            </a:r>
            <a:r>
              <a:rPr lang="en-US" sz="2400" dirty="0">
                <a:latin typeface="AngsanaUPC" pitchFamily="18" charset="-34"/>
                <a:cs typeface="AngsanaUPC" pitchFamily="18" charset="-34"/>
              </a:rPr>
              <a:t>, 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จ่ายเงินกู้ธนาคาร</a:t>
            </a:r>
            <a:r>
              <a:rPr lang="en-US" sz="2400" b="1" dirty="0">
                <a:latin typeface="AngsanaUPC" pitchFamily="18" charset="-34"/>
                <a:cs typeface="AngsanaUPC" pitchFamily="18" charset="-34"/>
              </a:rPr>
              <a:t>,</a:t>
            </a:r>
            <a:endParaRPr lang="en-US" sz="2400" dirty="0">
              <a:latin typeface="AngsanaUPC" pitchFamily="18" charset="-34"/>
              <a:cs typeface="AngsanaUPC" pitchFamily="18" charset="-34"/>
            </a:endParaRPr>
          </a:p>
          <a:p>
            <a:r>
              <a:rPr lang="th-TH" sz="2400" dirty="0">
                <a:latin typeface="AngsanaUPC" pitchFamily="18" charset="-34"/>
                <a:cs typeface="AngsanaUPC" pitchFamily="18" charset="-34"/>
              </a:rPr>
              <a:t>บริการเติมเงินค่าใช้โทรศัพท์มือถือ</a:t>
            </a:r>
            <a:r>
              <a:rPr lang="en-US" sz="2400" dirty="0">
                <a:latin typeface="AngsanaUPC" pitchFamily="18" charset="-34"/>
                <a:cs typeface="AngsanaUPC" pitchFamily="18" charset="-34"/>
              </a:rPr>
              <a:t>,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 จ่ายค่าตั๋วสายการบินนก</a:t>
            </a:r>
            <a:r>
              <a:rPr lang="th-TH" sz="2400" dirty="0" err="1">
                <a:latin typeface="AngsanaUPC" pitchFamily="18" charset="-34"/>
                <a:cs typeface="AngsanaUPC" pitchFamily="18" charset="-34"/>
              </a:rPr>
              <a:t>แอร์</a:t>
            </a:r>
            <a:r>
              <a:rPr lang="en-US" sz="2400" dirty="0">
                <a:latin typeface="AngsanaUPC" pitchFamily="18" charset="-34"/>
                <a:cs typeface="AngsanaUPC" pitchFamily="18" charset="-34"/>
              </a:rPr>
              <a:t>,</a:t>
            </a:r>
            <a:r>
              <a:rPr lang="th-TH" sz="2400" dirty="0">
                <a:latin typeface="AngsanaUPC" pitchFamily="18" charset="-34"/>
                <a:cs typeface="AngsanaUPC" pitchFamily="18" charset="-34"/>
              </a:rPr>
              <a:t> บริการซื้อ/ขายกองทุน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544" y="8682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u="sng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ตัวอย่าง</a:t>
            </a: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ระบบ 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CIS </a:t>
            </a: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ของธนาคาร</a:t>
            </a:r>
            <a:endParaRPr lang="th-TH" sz="3600" b="1" dirty="0">
              <a:solidFill>
                <a:srgbClr val="C0000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 l="2487" t="34078" r="60433" b="35407"/>
          <a:stretch>
            <a:fillRect/>
          </a:stretch>
        </p:blipFill>
        <p:spPr bwMode="auto">
          <a:xfrm>
            <a:off x="4972009" y="1556792"/>
            <a:ext cx="3890755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4</a:t>
            </a:r>
            <a:endParaRPr lang="th-TH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937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 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Customer Integrated Systems (CIS)</a:t>
            </a:r>
            <a:endParaRPr lang="en-US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สี่เหลี่ยมผืนผ้า 5"/>
          <p:cNvSpPr/>
          <p:nvPr/>
        </p:nvSpPr>
        <p:spPr>
          <a:xfrm>
            <a:off x="611560" y="1556793"/>
            <a:ext cx="7992888" cy="367240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7192" y="1556792"/>
            <a:ext cx="783401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Electronic Banking  : ADM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endParaRP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เครื่อง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 ADM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สามารถบริการรับฝากเงินสดอัตโนมัติ และทำรายการได้ทุกประเภทเหมือนตู้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ATM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ไม่ว่าจะเป็นการฝากเงินสดเข้าบัญชีธนาคาร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,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บริการรับฝากเงินสดระหว่างธนาคาร หรือ จ่ายค่าสินค้าและบริการหลากหลายด้วยเงินสด</a:t>
            </a:r>
            <a:endParaRPr lang="th-TH" sz="2400" b="1" dirty="0">
              <a:latin typeface="AngsanaUPC" pitchFamily="18" charset="-34"/>
              <a:cs typeface="AngsanaUPC" pitchFamily="18" charset="-34"/>
            </a:endParaRPr>
          </a:p>
          <a:p>
            <a:pPr>
              <a:buFont typeface="Wingdings" pitchFamily="2" charset="2"/>
              <a:buChar char="§"/>
            </a:pP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Electronic Banking  :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Passbook Update </a:t>
            </a:r>
            <a:b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เครื่องปรับรายการสมุดเงินฝากอัตโนมัติ เป็นเครื่องมือที่ใช้ในการปรับรายการยอดเงินในบัญชีออมทรัพย์ของลูกค้า โดยลูกค้าสามารถทำรายการได้ด้วยตนเอง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ที่ตู้ปรับ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โดยไม่ต้องไปทำรายการที่เคาน์เตอร์ของธนาคาร</a:t>
            </a:r>
            <a:endParaRPr lang="th-TH" b="1" dirty="0">
              <a:solidFill>
                <a:srgbClr val="C0000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7544" y="8682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u="sng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ตัวอย่าง</a:t>
            </a: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ระบบ 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CIS </a:t>
            </a: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ของธนาคาร</a:t>
            </a:r>
            <a:endParaRPr lang="th-TH" sz="3600" b="1" dirty="0">
              <a:solidFill>
                <a:srgbClr val="C0000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4</a:t>
            </a:r>
            <a:endParaRPr lang="th-TH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937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 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Customer Integrated Systems (CIS)</a:t>
            </a:r>
            <a:endParaRPr lang="en-US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สี่เหลี่ยมผืนผ้า 10"/>
          <p:cNvSpPr/>
          <p:nvPr/>
        </p:nvSpPr>
        <p:spPr>
          <a:xfrm>
            <a:off x="611560" y="1556793"/>
            <a:ext cx="7992888" cy="3888431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1560" y="1556792"/>
            <a:ext cx="783401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Electronic Banking  : Internet Banking 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ให้บริการ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endParaRPr>
          </a:p>
          <a:p>
            <a:pP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เช็ครายการโอนเงินหรือชำระเงินย้อนหลัง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     (สูงสุด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6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 เดือน)</a:t>
            </a:r>
          </a:p>
          <a:p>
            <a:pP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จ่ายค่าบริการผ่านเคาน์เตอร์เซอร์วิสของธนาคาร</a:t>
            </a:r>
          </a:p>
          <a:p>
            <a:pP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โอนเงิน</a:t>
            </a:r>
          </a:p>
          <a:p>
            <a:pP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เช็ครายการเดินบัญชี</a:t>
            </a:r>
          </a:p>
          <a:p>
            <a:pP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ตรวจสอบยอดเงินคงเหลือ</a:t>
            </a:r>
          </a:p>
          <a:p>
            <a:pP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จัดการเรื่องเช็ค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544" y="8682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u="sng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ตัวอย่าง</a:t>
            </a: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ระบบ 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CIS </a:t>
            </a: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ของธนาคาร</a:t>
            </a:r>
            <a:endParaRPr lang="th-TH" sz="3600" b="1" dirty="0">
              <a:solidFill>
                <a:srgbClr val="C0000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5127" name="Picture 7" descr="D:\รายวิชา\วิชาระบบสารสนเทศสำหรับการบริหาร\บทที่ 3 ประเภทของระบบสารสนเทศเพื่อการจัดการ\เอกสารอื่นๆ\online_banking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5976" y="3356993"/>
            <a:ext cx="4588024" cy="2745506"/>
          </a:xfrm>
          <a:prstGeom prst="rect">
            <a:avLst/>
          </a:prstGeom>
          <a:noFill/>
        </p:spPr>
      </p:pic>
      <p:pic>
        <p:nvPicPr>
          <p:cNvPr id="5128" name="Picture 8" descr="D:\รายวิชา\วิชาระบบสารสนเทศสำหรับการบริหาร\บทที่ 3 ประเภทของระบบสารสนเทศเพื่อการจัดการ\เอกสารอื่นๆ\1217062116k10khL[1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8144" y="862187"/>
            <a:ext cx="3110051" cy="2486421"/>
          </a:xfrm>
          <a:prstGeom prst="rect">
            <a:avLst/>
          </a:prstGeom>
          <a:noFill/>
        </p:spPr>
      </p:pic>
      <p:sp>
        <p:nvSpPr>
          <p:cNvPr id="23" name="TextBox 22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4</a:t>
            </a:r>
            <a:endParaRPr lang="th-TH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937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 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Customer Integrated Systems (CIS)</a:t>
            </a:r>
            <a:endParaRPr lang="en-US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สี่เหลี่ยมผืนผ้า 12"/>
          <p:cNvSpPr/>
          <p:nvPr/>
        </p:nvSpPr>
        <p:spPr>
          <a:xfrm>
            <a:off x="611560" y="1556793"/>
            <a:ext cx="4824536" cy="3240359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1560" y="1556792"/>
            <a:ext cx="783401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Electronic Banking  : M-Banking 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ให้บริการ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endParaRPr>
          </a:p>
          <a:p>
            <a:pP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สอบถามยอดบัญชี</a:t>
            </a:r>
          </a:p>
          <a:p>
            <a:pP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ตรวจสอบรายการเดินบัญชี</a:t>
            </a:r>
          </a:p>
          <a:p>
            <a:pP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โอนเงิน</a:t>
            </a:r>
          </a:p>
          <a:p>
            <a:pP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จ่ายบิล</a:t>
            </a:r>
          </a:p>
          <a:p>
            <a:pP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เช็คอัตราแลกเปลี่ยน</a:t>
            </a:r>
          </a:p>
          <a:p>
            <a:pP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เช็คอัตราดอกเบี้ย</a:t>
            </a:r>
          </a:p>
          <a:p>
            <a:pPr>
              <a:buFont typeface="Wingdings" pitchFamily="2" charset="2"/>
              <a:buChar char="§"/>
            </a:pPr>
            <a:endParaRPr lang="th-TH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7544" y="868296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u="sng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ตัวอย่าง</a:t>
            </a: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ระบบ 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CIS </a:t>
            </a: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ของธนาคาร</a:t>
            </a:r>
            <a:endParaRPr lang="th-TH" sz="3600" b="1" dirty="0">
              <a:solidFill>
                <a:srgbClr val="C0000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7170" name="Picture 2" descr="D:\รายวิชา\วิชาระบบสารสนเทศสำหรับการบริหาร\บทที่ 3 ประเภทของระบบสารสนเทศเพื่อการจัดการ\เอกสารอื่นๆ\mobile-banking[1].jpg"/>
          <p:cNvPicPr>
            <a:picLocks noChangeAspect="1" noChangeArrowheads="1"/>
          </p:cNvPicPr>
          <p:nvPr/>
        </p:nvPicPr>
        <p:blipFill>
          <a:blip r:embed="rId2" cstate="print"/>
          <a:srcRect r="12232"/>
          <a:stretch>
            <a:fillRect/>
          </a:stretch>
        </p:blipFill>
        <p:spPr bwMode="auto">
          <a:xfrm>
            <a:off x="6232895" y="790228"/>
            <a:ext cx="2731593" cy="3672408"/>
          </a:xfrm>
          <a:prstGeom prst="rect">
            <a:avLst/>
          </a:prstGeom>
          <a:noFill/>
        </p:spPr>
      </p:pic>
      <p:pic>
        <p:nvPicPr>
          <p:cNvPr id="7171" name="Picture 3" descr="D:\รายวิชา\วิชาระบบสารสนเทศสำหรับการบริหาร\บทที่ 3 ประเภทของระบบสารสนเทศเพื่อการจัดการ\เอกสารอื่นๆ\mobile-banking[1] (2)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65713" y="2395364"/>
            <a:ext cx="2566527" cy="3698007"/>
          </a:xfrm>
          <a:prstGeom prst="rect">
            <a:avLst/>
          </a:prstGeom>
          <a:noFill/>
        </p:spPr>
      </p:pic>
      <p:sp>
        <p:nvSpPr>
          <p:cNvPr id="20" name="TextBox 19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4</a:t>
            </a:r>
            <a:endParaRPr lang="th-TH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7937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 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Customer Integrated Systems (CIS)</a:t>
            </a:r>
            <a:endParaRPr lang="en-US" sz="4000" dirty="0">
              <a:solidFill>
                <a:srgbClr val="FF0066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ระบบสารสนเทศแบบรายงาน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MRS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539552" y="2420888"/>
            <a:ext cx="7992888" cy="331236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944496"/>
            <a:ext cx="86764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ระบบสารสนเทศแบบรายงานเพื่อการจัดการ </a:t>
            </a:r>
            <a:b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(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Management Reporting Systems : MRS)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pic>
        <p:nvPicPr>
          <p:cNvPr id="3075" name="Picture 3" descr="D:\รายวิชา\วิชาระบบสารสนเทศสำหรับการบริหาร\บทที่ 3 ประเภทของระบบสารสนเทศเพื่อการจัดการ\เอกสารอื่นๆ\report[1].jpg"/>
          <p:cNvPicPr>
            <a:picLocks noChangeAspect="1" noChangeArrowheads="1"/>
          </p:cNvPicPr>
          <p:nvPr/>
        </p:nvPicPr>
        <p:blipFill>
          <a:blip r:embed="rId2" cstate="print"/>
          <a:srcRect l="3780" r="13061" b="1721"/>
          <a:stretch>
            <a:fillRect/>
          </a:stretch>
        </p:blipFill>
        <p:spPr bwMode="auto">
          <a:xfrm>
            <a:off x="6012160" y="773088"/>
            <a:ext cx="2937470" cy="2223864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755576" y="2550045"/>
            <a:ext cx="783401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ระบบสารสนเทศแบบรายงานเพื่อการจัดการ </a:t>
            </a:r>
          </a:p>
          <a:p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เป็นระบบสารสนเทศที่ช่วยในการทำรายงานตามระยะเวลาที่กำหนดไว้ </a:t>
            </a:r>
            <a:b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โดยการสรุปสารสนเทศที่มีอยู่ไว้ในฐานข้อมูล หรือช่วยในการตัดสินใจ</a:t>
            </a:r>
            <a:b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ในลักษณะที่โครงสร้างชัดเจนและเป็นเรื่องที่ทราบล่วงหน้า 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endParaRPr>
          </a:p>
          <a:p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MRS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จะรวบรวมและประมวลผลข้อมูลแล้วจัดทำผลลัพธ์ในรูปรายงานเสนอ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ต่อผู้จัดการ   โดยจัดทำรายงานสรุปผลการดำเนินงานในแต่ละช่วงเวลา   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หรือจัดทำรายงานตามความต้องการของผู้ใช้ 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สี่เหลี่ยมผืนผ้า 6"/>
          <p:cNvSpPr/>
          <p:nvPr/>
        </p:nvSpPr>
        <p:spPr>
          <a:xfrm>
            <a:off x="899592" y="1628800"/>
            <a:ext cx="7560840" cy="2376264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616" y="1796057"/>
            <a:ext cx="740196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AngsanaUPC" pitchFamily="18" charset="-34"/>
                <a:cs typeface="AngsanaUPC" pitchFamily="18" charset="-34"/>
              </a:rPr>
              <a:t>1. </a:t>
            </a:r>
            <a:r>
              <a:rPr lang="th-TH" sz="3000" b="1" dirty="0">
                <a:latin typeface="AngsanaUPC" pitchFamily="18" charset="-34"/>
                <a:cs typeface="AngsanaUPC" pitchFamily="18" charset="-34"/>
              </a:rPr>
              <a:t>ช่วยในการตัดสินใจงานประจำของผู้บริหารระดับกลาง </a:t>
            </a:r>
            <a:endParaRPr lang="en-US" sz="3000" b="1" dirty="0">
              <a:latin typeface="AngsanaUPC" pitchFamily="18" charset="-34"/>
              <a:cs typeface="AngsanaUPC" pitchFamily="18" charset="-34"/>
            </a:endParaRPr>
          </a:p>
          <a:p>
            <a:r>
              <a:rPr lang="en-US" sz="3000" b="1" dirty="0">
                <a:latin typeface="AngsanaUPC" pitchFamily="18" charset="-34"/>
                <a:cs typeface="AngsanaUPC" pitchFamily="18" charset="-34"/>
              </a:rPr>
              <a:t>2. </a:t>
            </a:r>
            <a:r>
              <a:rPr lang="th-TH" sz="3000" b="1" dirty="0">
                <a:latin typeface="AngsanaUPC" pitchFamily="18" charset="-34"/>
                <a:cs typeface="AngsanaUPC" pitchFamily="18" charset="-34"/>
              </a:rPr>
              <a:t>ช่วยในการทำรายงาน </a:t>
            </a:r>
            <a:endParaRPr lang="en-US" sz="3000" b="1" dirty="0">
              <a:latin typeface="AngsanaUPC" pitchFamily="18" charset="-34"/>
              <a:cs typeface="AngsanaUPC" pitchFamily="18" charset="-34"/>
            </a:endParaRPr>
          </a:p>
          <a:p>
            <a:r>
              <a:rPr lang="en-US" sz="3000" b="1" dirty="0">
                <a:latin typeface="AngsanaUPC" pitchFamily="18" charset="-34"/>
                <a:cs typeface="AngsanaUPC" pitchFamily="18" charset="-34"/>
              </a:rPr>
              <a:t>3. </a:t>
            </a:r>
            <a:r>
              <a:rPr lang="th-TH" sz="3000" b="1" dirty="0">
                <a:latin typeface="AngsanaUPC" pitchFamily="18" charset="-34"/>
                <a:cs typeface="AngsanaUPC" pitchFamily="18" charset="-34"/>
              </a:rPr>
              <a:t>ช่วยในการตัดสินใจที่เป็นเหตุการณ์ที่เกิดขึ้นบ่อยๆ และมีโครงสร้างแน่นอน เช่น การอนุมัติสินเชื่อให้กับลูกค้า </a:t>
            </a:r>
            <a:endParaRPr lang="en-US" sz="30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หน้าที่ของ 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MRS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ระบบสารสนเทศแบบรายงาน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MRS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D:\รายวิชา\วิชาระบบสารสนเทศสำหรับการบริหาร\เอกสารประกอบ\data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4086" y="2943994"/>
            <a:ext cx="3958246" cy="297111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คุณสมบัติของ 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MRS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505646" y="1663006"/>
            <a:ext cx="7992886" cy="4070135"/>
            <a:chOff x="1410" y="3072"/>
            <a:chExt cx="8288" cy="5374"/>
          </a:xfrm>
        </p:grpSpPr>
        <p:sp>
          <p:nvSpPr>
            <p:cNvPr id="5123" name="Text Box 3"/>
            <p:cNvSpPr txBox="1">
              <a:spLocks noChangeArrowheads="1"/>
            </p:cNvSpPr>
            <p:nvPr/>
          </p:nvSpPr>
          <p:spPr bwMode="auto">
            <a:xfrm>
              <a:off x="1410" y="3287"/>
              <a:ext cx="3755" cy="856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h-TH" sz="4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latin typeface="AngsanaUPC" pitchFamily="18" charset="-34"/>
                  <a:ea typeface="Angsana New" pitchFamily="18" charset="-34"/>
                  <a:cs typeface="AngsanaUPC" pitchFamily="18" charset="-34"/>
                </a:rPr>
                <a:t>ระบบการจัดการรายงาน</a:t>
              </a:r>
              <a:endParaRPr kumimoji="0" lang="th-TH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ngsanaUPC" pitchFamily="18" charset="-34"/>
                <a:cs typeface="AngsanaUPC" pitchFamily="18" charset="-34"/>
              </a:endParaRPr>
            </a:p>
          </p:txBody>
        </p:sp>
        <p:sp>
          <p:nvSpPr>
            <p:cNvPr id="5124" name="Text Box 4"/>
            <p:cNvSpPr txBox="1">
              <a:spLocks noChangeArrowheads="1"/>
            </p:cNvSpPr>
            <p:nvPr/>
          </p:nvSpPr>
          <p:spPr bwMode="auto">
            <a:xfrm>
              <a:off x="5890" y="4224"/>
              <a:ext cx="3808" cy="89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h-TH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latin typeface="AngsanaUPC" pitchFamily="18" charset="-34"/>
                  <a:ea typeface="Angsana New" pitchFamily="18" charset="-34"/>
                  <a:cs typeface="AngsanaUPC" pitchFamily="18" charset="-34"/>
                </a:rPr>
                <a:t>ผลิตรายงานตามตารางที่กำหนด</a:t>
              </a:r>
              <a:endParaRPr kumimoji="0" lang="th-TH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ngsanaUPC" pitchFamily="18" charset="-34"/>
                <a:cs typeface="AngsanaUPC" pitchFamily="18" charset="-34"/>
              </a:endParaRPr>
            </a:p>
          </p:txBody>
        </p:sp>
        <p:sp>
          <p:nvSpPr>
            <p:cNvPr id="5125" name="Text Box 5"/>
            <p:cNvSpPr txBox="1">
              <a:spLocks noChangeArrowheads="1"/>
            </p:cNvSpPr>
            <p:nvPr/>
          </p:nvSpPr>
          <p:spPr bwMode="auto">
            <a:xfrm>
              <a:off x="5890" y="3072"/>
              <a:ext cx="3808" cy="811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h-TH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latin typeface="AngsanaUPC" pitchFamily="18" charset="-34"/>
                  <a:ea typeface="Angsana New" pitchFamily="18" charset="-34"/>
                  <a:cs typeface="AngsanaUPC" pitchFamily="18" charset="-34"/>
                </a:rPr>
                <a:t>สนับสนุนการตัดสินใจ</a:t>
              </a:r>
              <a:endParaRPr kumimoji="0" lang="th-TH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ngsanaUPC" pitchFamily="18" charset="-34"/>
                <a:cs typeface="AngsanaUPC" pitchFamily="18" charset="-34"/>
              </a:endParaRPr>
            </a:p>
          </p:txBody>
        </p:sp>
        <p:sp>
          <p:nvSpPr>
            <p:cNvPr id="5126" name="Text Box 6"/>
            <p:cNvSpPr txBox="1">
              <a:spLocks noChangeArrowheads="1"/>
            </p:cNvSpPr>
            <p:nvPr/>
          </p:nvSpPr>
          <p:spPr bwMode="auto">
            <a:xfrm>
              <a:off x="5890" y="5376"/>
              <a:ext cx="3808" cy="88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h-TH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latin typeface="AngsanaUPC" pitchFamily="18" charset="-34"/>
                  <a:ea typeface="Angsana New" pitchFamily="18" charset="-34"/>
                  <a:cs typeface="AngsanaUPC" pitchFamily="18" charset="-34"/>
                </a:rPr>
                <a:t>ผลิตรายงานตามรูปแบบที่กำหนด</a:t>
              </a:r>
              <a:endParaRPr kumimoji="0" lang="th-TH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ngsanaUPC" pitchFamily="18" charset="-34"/>
                <a:cs typeface="AngsanaUPC" pitchFamily="18" charset="-34"/>
              </a:endParaRPr>
            </a:p>
          </p:txBody>
        </p:sp>
        <p:sp>
          <p:nvSpPr>
            <p:cNvPr id="5127" name="Text Box 7"/>
            <p:cNvSpPr txBox="1">
              <a:spLocks noChangeArrowheads="1"/>
            </p:cNvSpPr>
            <p:nvPr/>
          </p:nvSpPr>
          <p:spPr bwMode="auto">
            <a:xfrm>
              <a:off x="5890" y="6528"/>
              <a:ext cx="3808" cy="87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h-TH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latin typeface="AngsanaUPC" pitchFamily="18" charset="-34"/>
                  <a:ea typeface="Angsana New" pitchFamily="18" charset="-34"/>
                  <a:cs typeface="AngsanaUPC" pitchFamily="18" charset="-34"/>
                </a:rPr>
                <a:t>รวบรวมและประมวลผลข้อมูล</a:t>
              </a:r>
              <a:endParaRPr kumimoji="0" lang="th-TH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ngsanaUPC" pitchFamily="18" charset="-34"/>
                <a:cs typeface="AngsanaUPC" pitchFamily="18" charset="-34"/>
              </a:endParaRPr>
            </a:p>
          </p:txBody>
        </p:sp>
        <p:sp>
          <p:nvSpPr>
            <p:cNvPr id="5128" name="Text Box 8"/>
            <p:cNvSpPr txBox="1">
              <a:spLocks noChangeArrowheads="1"/>
            </p:cNvSpPr>
            <p:nvPr/>
          </p:nvSpPr>
          <p:spPr bwMode="auto">
            <a:xfrm>
              <a:off x="5890" y="7680"/>
              <a:ext cx="3808" cy="76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th-TH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latin typeface="AngsanaUPC" pitchFamily="18" charset="-34"/>
                  <a:ea typeface="Angsana New" pitchFamily="18" charset="-34"/>
                  <a:cs typeface="AngsanaUPC" pitchFamily="18" charset="-34"/>
                </a:rPr>
                <a:t>ผลิตรายงานออกมาในรูปกระดาษ</a:t>
              </a:r>
              <a:endParaRPr kumimoji="0" lang="th-TH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AngsanaUPC" pitchFamily="18" charset="-34"/>
                <a:cs typeface="AngsanaUPC" pitchFamily="18" charset="-34"/>
              </a:endParaRPr>
            </a:p>
          </p:txBody>
        </p:sp>
        <p:sp>
          <p:nvSpPr>
            <p:cNvPr id="5129" name="Line 9"/>
            <p:cNvSpPr>
              <a:spLocks noChangeShapeType="1"/>
            </p:cNvSpPr>
            <p:nvPr/>
          </p:nvSpPr>
          <p:spPr bwMode="auto">
            <a:xfrm>
              <a:off x="5522" y="3360"/>
              <a:ext cx="0" cy="470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h-TH" sz="2400" b="1">
                <a:latin typeface="AngsanaUPC" pitchFamily="18" charset="-34"/>
                <a:cs typeface="AngsanaUPC" pitchFamily="18" charset="-34"/>
              </a:endParaRPr>
            </a:p>
          </p:txBody>
        </p:sp>
        <p:sp>
          <p:nvSpPr>
            <p:cNvPr id="5130" name="Line 10"/>
            <p:cNvSpPr>
              <a:spLocks noChangeShapeType="1"/>
            </p:cNvSpPr>
            <p:nvPr/>
          </p:nvSpPr>
          <p:spPr bwMode="auto">
            <a:xfrm>
              <a:off x="5522" y="8052"/>
              <a:ext cx="36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h-TH" sz="2400" b="1">
                <a:latin typeface="AngsanaUPC" pitchFamily="18" charset="-34"/>
                <a:cs typeface="AngsanaUPC" pitchFamily="18" charset="-34"/>
              </a:endParaRPr>
            </a:p>
          </p:txBody>
        </p:sp>
        <p:sp>
          <p:nvSpPr>
            <p:cNvPr id="5131" name="Line 11"/>
            <p:cNvSpPr>
              <a:spLocks noChangeShapeType="1"/>
            </p:cNvSpPr>
            <p:nvPr/>
          </p:nvSpPr>
          <p:spPr bwMode="auto">
            <a:xfrm>
              <a:off x="5517" y="7020"/>
              <a:ext cx="36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h-TH" sz="2400" b="1">
                <a:latin typeface="AngsanaUPC" pitchFamily="18" charset="-34"/>
                <a:cs typeface="AngsanaUPC" pitchFamily="18" charset="-34"/>
              </a:endParaRPr>
            </a:p>
          </p:txBody>
        </p:sp>
        <p:sp>
          <p:nvSpPr>
            <p:cNvPr id="5132" name="Line 12"/>
            <p:cNvSpPr>
              <a:spLocks noChangeShapeType="1"/>
            </p:cNvSpPr>
            <p:nvPr/>
          </p:nvSpPr>
          <p:spPr bwMode="auto">
            <a:xfrm>
              <a:off x="5517" y="4738"/>
              <a:ext cx="36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h-TH" sz="2400" b="1">
                <a:latin typeface="AngsanaUPC" pitchFamily="18" charset="-34"/>
                <a:cs typeface="AngsanaUPC" pitchFamily="18" charset="-34"/>
              </a:endParaRPr>
            </a:p>
          </p:txBody>
        </p:sp>
        <p:sp>
          <p:nvSpPr>
            <p:cNvPr id="5133" name="Line 13"/>
            <p:cNvSpPr>
              <a:spLocks noChangeShapeType="1"/>
            </p:cNvSpPr>
            <p:nvPr/>
          </p:nvSpPr>
          <p:spPr bwMode="auto">
            <a:xfrm>
              <a:off x="5522" y="3360"/>
              <a:ext cx="36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th-TH" sz="2400" b="1">
                <a:latin typeface="AngsanaUPC" pitchFamily="18" charset="-34"/>
                <a:cs typeface="AngsanaUPC" pitchFamily="18" charset="-34"/>
              </a:endParaRPr>
            </a:p>
          </p:txBody>
        </p:sp>
      </p:grpSp>
      <p:sp>
        <p:nvSpPr>
          <p:cNvPr id="20" name="Line 12"/>
          <p:cNvSpPr>
            <a:spLocks noChangeShapeType="1"/>
          </p:cNvSpPr>
          <p:nvPr/>
        </p:nvSpPr>
        <p:spPr bwMode="auto">
          <a:xfrm>
            <a:off x="4499991" y="3789040"/>
            <a:ext cx="32613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 sz="2400" b="1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21" name="Line 12"/>
          <p:cNvSpPr>
            <a:spLocks noChangeShapeType="1"/>
          </p:cNvSpPr>
          <p:nvPr/>
        </p:nvSpPr>
        <p:spPr bwMode="auto">
          <a:xfrm>
            <a:off x="4139952" y="2132856"/>
            <a:ext cx="32613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th-TH" sz="2400" b="1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ระบบสารสนเทศแบบรายงาน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MRS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สี่เหลี่ยมผืนผ้า 6"/>
          <p:cNvSpPr/>
          <p:nvPr/>
        </p:nvSpPr>
        <p:spPr>
          <a:xfrm>
            <a:off x="611560" y="1556793"/>
            <a:ext cx="7992888" cy="2304255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1609750"/>
            <a:ext cx="783401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	รายงาน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Report)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เป็นเอกสารที่จัดทำขึ้นโดยรวบรวมข้อมูลสำคัญ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ในแต่ละเรื่อง เพื่อใช้ประกอบการปฏิบัติงานของผู้ใช้หรือการตัดสินใจของผู้บริหาร ปกติผู้จัดการต้องการรายงานในเรื่องต่าง ๆ เช่น ยอดขาย สินค้ารับคืน หรือต้นทุนการดำเนินงาน เป็นต้น เพื่อใช้ประกอบการบริหารงานให้มีประสิทธิภาพ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ประเภทของรายงาน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ระบบสารสนเทศแบบรายงาน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MRS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  <p:pic>
        <p:nvPicPr>
          <p:cNvPr id="13" name="Picture 4" descr="D:\รายวิชา\วิชาระบบสารสนเทศสำหรับการบริหาร\บทที่ 3 ประเภทของระบบสารสนเทศเพื่อการจัดการ\เอกสารอื่นๆ\4878226_annual_report_3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3861048"/>
            <a:ext cx="7848872" cy="2210966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สี่เหลี่ยมผืนผ้า 6"/>
          <p:cNvSpPr/>
          <p:nvPr/>
        </p:nvSpPr>
        <p:spPr>
          <a:xfrm>
            <a:off x="611560" y="1556793"/>
            <a:ext cx="7992888" cy="3816423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1761778"/>
            <a:ext cx="783401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1. รายงานที่ออกตามตาราง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Periodic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หรือ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Schedule Report)</a:t>
            </a:r>
          </a:p>
          <a:p>
            <a:r>
              <a:rPr lang="en-US" b="1" i="1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th-TH" i="1" dirty="0">
                <a:latin typeface="AngsanaUPC" pitchFamily="18" charset="-34"/>
                <a:cs typeface="AngsanaUPC" pitchFamily="18" charset="-34"/>
              </a:rPr>
              <a:t>คือ รายงานที่ถูกสร้างเป็นประจำตามกำหนด </a:t>
            </a:r>
            <a:endParaRPr lang="th-TH" b="1" i="1" dirty="0">
              <a:latin typeface="AngsanaUPC" pitchFamily="18" charset="-34"/>
              <a:cs typeface="AngsanaUPC" pitchFamily="18" charset="-34"/>
            </a:endParaRP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2. รายงานที่ออกในกรณีพิเศษ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Exception Report)</a:t>
            </a:r>
          </a:p>
          <a:p>
            <a:r>
              <a:rPr lang="en-US" b="1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th-TH" i="1" dirty="0">
                <a:latin typeface="AngsanaUPC" pitchFamily="18" charset="-34"/>
                <a:cs typeface="AngsanaUPC" pitchFamily="18" charset="-34"/>
              </a:rPr>
              <a:t>คือ รายงานที่สร้างเป็นกรณีพิเศษ มักไม่ร้องขออีก </a:t>
            </a:r>
            <a:endParaRPr lang="th-TH" b="1" i="1" dirty="0">
              <a:latin typeface="AngsanaUPC" pitchFamily="18" charset="-34"/>
              <a:cs typeface="AngsanaUPC" pitchFamily="18" charset="-34"/>
            </a:endParaRP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3. รายงานที่ออกตามความต้องการ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Demand Report)</a:t>
            </a:r>
          </a:p>
          <a:p>
            <a:r>
              <a:rPr lang="en-US" b="1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th-TH" i="1" dirty="0">
                <a:latin typeface="AngsanaUPC" pitchFamily="18" charset="-34"/>
                <a:cs typeface="AngsanaUPC" pitchFamily="18" charset="-34"/>
              </a:rPr>
              <a:t>คือ รายงานที่สร้างทันทีเมื่อถูกร้องขอ </a:t>
            </a:r>
            <a:endParaRPr lang="th-TH" b="1" i="1" dirty="0">
              <a:latin typeface="AngsanaUPC" pitchFamily="18" charset="-34"/>
              <a:cs typeface="AngsanaUPC" pitchFamily="18" charset="-34"/>
            </a:endParaRP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4. รายงานที่ออกเพื่อพยากรณ์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Predictive Report)</a:t>
            </a:r>
          </a:p>
          <a:p>
            <a:r>
              <a:rPr lang="en-US" b="1" dirty="0">
                <a:latin typeface="AngsanaUPC" pitchFamily="18" charset="-34"/>
                <a:cs typeface="AngsanaUPC" pitchFamily="18" charset="-34"/>
              </a:rPr>
              <a:t> 	</a:t>
            </a:r>
            <a:r>
              <a:rPr lang="th-TH" i="1" dirty="0">
                <a:latin typeface="AngsanaUPC" pitchFamily="18" charset="-34"/>
                <a:cs typeface="AngsanaUPC" pitchFamily="18" charset="-34"/>
              </a:rPr>
              <a:t>คือ รายงานที่ผู้บริหารร้องขอ ไปประกอบการตัดสินใจ </a:t>
            </a:r>
            <a:endParaRPr lang="en-US" b="1" i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ประเภทของรายงาน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ระบบสารสนเทศแบบรายงาน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MRS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คุณสมบัติของสารสนเทศในระบบจัดทำรายงาน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ระบบสารสนเทศแบบรายงาน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MRS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2" cstate="print"/>
          <a:srcRect l="22410" t="28172" r="20586" b="6250"/>
          <a:stretch>
            <a:fillRect/>
          </a:stretch>
        </p:blipFill>
        <p:spPr bwMode="auto">
          <a:xfrm>
            <a:off x="1113334" y="1514500"/>
            <a:ext cx="7416824" cy="450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สี่เหลี่ยมผืนผ้า 6"/>
          <p:cNvSpPr/>
          <p:nvPr/>
        </p:nvSpPr>
        <p:spPr>
          <a:xfrm>
            <a:off x="611560" y="1556793"/>
            <a:ext cx="7992888" cy="3024335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1609750"/>
            <a:ext cx="783401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เอกสารสารสนเทศ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Information Document)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i="1" dirty="0">
                <a:latin typeface="AngsanaUPC" pitchFamily="18" charset="-34"/>
                <a:cs typeface="AngsanaUPC" pitchFamily="18" charset="-34"/>
              </a:rPr>
              <a:t>เช่น ใบยืนยันการสั่งซื้อ </a:t>
            </a:r>
            <a:endParaRPr lang="en-US" i="1" dirty="0">
              <a:latin typeface="AngsanaUPC" pitchFamily="18" charset="-34"/>
              <a:cs typeface="AngsanaUPC" pitchFamily="18" charset="-34"/>
            </a:endParaRPr>
          </a:p>
          <a:p>
            <a:pPr lvl="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เอกสารการส่งคืน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Turnaround Document) </a:t>
            </a:r>
            <a:r>
              <a:rPr lang="th-TH" i="1" dirty="0">
                <a:latin typeface="AngsanaUPC" pitchFamily="18" charset="-34"/>
                <a:cs typeface="AngsanaUPC" pitchFamily="18" charset="-34"/>
              </a:rPr>
              <a:t>เช่น ใบเสร็จที่ต้องส่งคืนผู้ขาย </a:t>
            </a:r>
            <a:endParaRPr lang="en-US" i="1" dirty="0">
              <a:latin typeface="AngsanaUPC" pitchFamily="18" charset="-34"/>
              <a:cs typeface="AngsanaUPC" pitchFamily="18" charset="-34"/>
            </a:endParaRPr>
          </a:p>
          <a:p>
            <a:pPr lvl="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เอกสารที่ใช้ปฏิบัติ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Action Document) </a:t>
            </a:r>
            <a:r>
              <a:rPr lang="th-TH" i="1" dirty="0">
                <a:latin typeface="AngsanaUPC" pitchFamily="18" charset="-34"/>
                <a:cs typeface="AngsanaUPC" pitchFamily="18" charset="-34"/>
              </a:rPr>
              <a:t>เช่น การจ่ายเช็ค หรือใบสั่งซื้อ </a:t>
            </a:r>
            <a:endParaRPr lang="en-US" i="1" dirty="0">
              <a:latin typeface="AngsanaUPC" pitchFamily="18" charset="-34"/>
              <a:cs typeface="AngsanaUPC" pitchFamily="18" charset="-34"/>
            </a:endParaRPr>
          </a:p>
          <a:p>
            <a:pPr lvl="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รายการทางบัญชี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Accounting Statement) </a:t>
            </a:r>
            <a:r>
              <a:rPr lang="th-TH" i="1" dirty="0">
                <a:latin typeface="AngsanaUPC" pitchFamily="18" charset="-34"/>
                <a:cs typeface="AngsanaUPC" pitchFamily="18" charset="-34"/>
              </a:rPr>
              <a:t>เช่น เดบิต เครดิต </a:t>
            </a:r>
            <a:endParaRPr lang="en-US" i="1" dirty="0">
              <a:latin typeface="AngsanaUPC" pitchFamily="18" charset="-34"/>
              <a:cs typeface="AngsanaUPC" pitchFamily="18" charset="-34"/>
            </a:endParaRPr>
          </a:p>
          <a:p>
            <a:pPr lvl="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การควบคุมรายการ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Control Listing) </a:t>
            </a:r>
            <a:r>
              <a:rPr lang="th-TH" i="1" dirty="0">
                <a:latin typeface="AngsanaUPC" pitchFamily="18" charset="-34"/>
                <a:cs typeface="AngsanaUPC" pitchFamily="18" charset="-34"/>
              </a:rPr>
              <a:t>เช่น รายการจ่ายเงินเดือน </a:t>
            </a:r>
            <a:endParaRPr lang="en-US" i="1" dirty="0">
              <a:latin typeface="AngsanaUPC" pitchFamily="18" charset="-34"/>
              <a:cs typeface="AngsanaUPC" pitchFamily="18" charset="-34"/>
            </a:endParaRPr>
          </a:p>
          <a:p>
            <a:pPr lvl="0">
              <a:buClr>
                <a:schemeClr val="accent6">
                  <a:lumMod val="75000"/>
                </a:schemeClr>
              </a:buClr>
              <a:buFont typeface="Wingdings" pitchFamily="2" charset="2"/>
              <a:buChar char="§"/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 รายงานการแก้ไข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Edit Reports) </a:t>
            </a:r>
            <a:r>
              <a:rPr lang="th-TH" i="1" dirty="0">
                <a:latin typeface="AngsanaUPC" pitchFamily="18" charset="-34"/>
                <a:cs typeface="AngsanaUPC" pitchFamily="18" charset="-34"/>
              </a:rPr>
              <a:t>เช่น การอธิบายถึงสิ่งผิดพลาด </a:t>
            </a:r>
            <a:endParaRPr lang="en-US" i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รูปแบบของเอกสาร และการสร้างรายงาน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ระบบสารสนเทศแบบรายงาน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MRS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92888" cy="367240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09750"/>
            <a:ext cx="783401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chemeClr val="accent6">
                  <a:lumMod val="75000"/>
                </a:schemeClr>
              </a:buClr>
            </a:pP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Office Information System) </a:t>
            </a: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หรือที่เรียกว่า 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OIS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หมายถึง ระบบสารสนเทศที่ถูกออกแบบและพัฒนาขึ้น เพื่อช่วยให้การทำงาน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ในสำนักงานมีประสิทธิภาพ โดย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OIS )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จะประกอบขึ้นจาก</a:t>
            </a:r>
            <a:r>
              <a:rPr lang="th-TH" b="1" i="1" u="sng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เทคโนโลยีสารสนเทศ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และ</a:t>
            </a:r>
            <a:r>
              <a:rPr lang="th-TH" b="1" i="1" u="sng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เทคโนโลยีเครื่องใช้สำนักงาน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ที่ถูกออกแบบให้ปฏิบัติงานร่วมกัน เพื่อให้การปฏิบัติงานในสำนักงานเกิดผลสูงสุด หรือเราสามารถกล่าวอีกนัยหนึ่งว่า ระบบสารสนเทศสำนักงานมีวัตถุประสงค์ เพื่อที่จะอำนวยความสะดวกในการติดต่อสื่อสารระหว่างพนักงานในองค์การเดี่ยวกัน และระหว่างองค์กร รวมทั้ง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การติดต่อกับสิ่งแวดล้อมภายนอก</a:t>
            </a:r>
            <a:endParaRPr lang="en-US" b="1" i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92888" cy="367240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09750"/>
            <a:ext cx="783401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ช่วยลดต้นทุนในการบริหาร 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การทำงานมีความถูกต้องแม่นยำ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ประหยัดพื้นที่ในการเก็บข้อมูล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ใช้จำนวนทรัพยากรมนุษย์น้อยลง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ช่วยเพิ่มประสิทธิภาพในการติดต่อสื่อสาร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วิวัฒนาการของอุปกรณ์ในสำนักงานอัตโนมัติ ทำให้อุปกรณ์ต่างๆ </a:t>
            </a:r>
          </a:p>
          <a:p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มีราคาถูกลง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ความสำคัญของระบบสารสนเทศสำนักงาน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776864" cy="439248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590700"/>
            <a:ext cx="783401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1. ผู้บริหาร (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Manager) </a:t>
            </a:r>
            <a:endParaRPr lang="th-TH" b="1" dirty="0">
              <a:solidFill>
                <a:srgbClr val="C00000"/>
              </a:solidFill>
              <a:latin typeface="AngsanaUPC" pitchFamily="18" charset="-34"/>
              <a:cs typeface="AngsanaUPC" pitchFamily="18" charset="-34"/>
            </a:endParaRP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	วางแผน ประสานงาน และควบคุม</a:t>
            </a:r>
          </a:p>
          <a:p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2. ที่ปรึกษา (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Staff professionals)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 	ให้คำปรึกษา วางแผน แต่ไม่รับผิดชอบตรง</a:t>
            </a:r>
          </a:p>
          <a:p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3. เจ้าหน้าที่ในสายงาน (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Line professionals)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 	มีหน้าที่เช่น ตลาด บัญชี เป็นต้น</a:t>
            </a:r>
          </a:p>
          <a:p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4. เลขานุการ (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Secretaries)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 	ช่วยผู้บริหาร การพิมพ์ และอื่น ๆ</a:t>
            </a:r>
          </a:p>
          <a:p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5. เสมียน (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Clerical personnel)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 	ไม่มีหน้าที่แน่นอน ช่วยทุกคน</a:t>
            </a:r>
            <a:endParaRPr lang="en-US" b="1" i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ประเภทของบุคลากรในสำนักงาน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2"/>
            <a:ext cx="7776864" cy="2808311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590700"/>
            <a:ext cx="783401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การตัดสินใจ (</a:t>
            </a: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Decision Making) 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การจัดการเอกสาร (</a:t>
            </a: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Document Handling) 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การเก็บรักษา (</a:t>
            </a: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Storage) 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การจัดเตรียมข้อมูล (</a:t>
            </a: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Data Manipulation) 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การติดต่อสื่อสาร (</a:t>
            </a: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Communication)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ประเภทของงานในสำนักงาน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776864" cy="2376264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93029"/>
            <a:ext cx="783401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จัดทำขึ้นเองโดยอาศัยเจ้าหน้าที่หรือนักวิชาการคอมพิวเตอร์ 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ว่าจ้างบริษัทที่ปรึกษาจัดทำระบบให้ 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ซื้อระบบสำเร็จมาใช้ </a:t>
            </a:r>
          </a:p>
          <a:p>
            <a:pPr>
              <a:buFont typeface="Wingdings" pitchFamily="2" charset="2"/>
              <a:buChar char="§"/>
            </a:pPr>
            <a:r>
              <a:rPr lang="th-TH" sz="3200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ผู้ใช้ทำเอง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วิธีพัฒนาระบบสารสนเทศสำนักงาน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สี่เหลี่ยมผืนผ้า 5"/>
          <p:cNvSpPr/>
          <p:nvPr/>
        </p:nvSpPr>
        <p:spPr>
          <a:xfrm>
            <a:off x="611560" y="1556793"/>
            <a:ext cx="7992888" cy="2736303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1609750"/>
            <a:ext cx="7834014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แบ่งได้เป็น 4 ประเภท</a:t>
            </a:r>
          </a:p>
          <a:p>
            <a:pPr lvl="1"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ระบบการจัดการเอกสาร (</a:t>
            </a: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Document Management Systems) 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en-US" sz="3200" b="1" dirty="0" err="1">
                <a:latin typeface="AngsanaUPC" pitchFamily="18" charset="-34"/>
                <a:cs typeface="AngsanaUPC" pitchFamily="18" charset="-34"/>
              </a:rPr>
              <a:t>ระบบการจัดการข่าวสาร</a:t>
            </a: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(</a:t>
            </a: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Message-handling systems)</a:t>
            </a:r>
          </a:p>
          <a:p>
            <a:pPr lvl="1"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ระบบประชุมทางไกล </a:t>
            </a: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(Teleconferencing system)</a:t>
            </a:r>
          </a:p>
          <a:p>
            <a:pPr lvl="1"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ระบบสนับสนุนสำนักงาน (</a:t>
            </a: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Office Support systems)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ชนิดของระบบ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OIS 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210" name="Object 2"/>
          <p:cNvGraphicFramePr>
            <a:graphicFrameLocks noChangeAspect="1"/>
          </p:cNvGraphicFramePr>
          <p:nvPr/>
        </p:nvGraphicFramePr>
        <p:xfrm>
          <a:off x="35496" y="0"/>
          <a:ext cx="9113838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S Org Chart" r:id="rId2" imgW="3403440" imgH="1873080" progId="">
                  <p:embed followColorScheme="full"/>
                </p:oleObj>
              </mc:Choice>
              <mc:Fallback>
                <p:oleObj name="MS Org Chart" r:id="rId2" imgW="3403440" imgH="1873080" progId="">
                  <p:embed followColorScheme="full"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96" y="0"/>
                        <a:ext cx="9113838" cy="6858000"/>
                      </a:xfrm>
                      <a:prstGeom prst="rect">
                        <a:avLst/>
                      </a:prstGeom>
                      <a:solidFill>
                        <a:srgbClr val="E9FC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 thruBlk="1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92888" cy="331236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09750"/>
            <a:ext cx="7834014" cy="2911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ระบบการจัดการเอกสาร (</a:t>
            </a:r>
            <a:r>
              <a:rPr lang="en-US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Document Management Systems) 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0000FF"/>
                </a:solidFill>
                <a:latin typeface="AngsanaUPC" pitchFamily="18" charset="-34"/>
                <a:cs typeface="AngsanaUPC" pitchFamily="18" charset="-34"/>
              </a:rPr>
              <a:t>1.</a:t>
            </a:r>
            <a:r>
              <a:rPr lang="th-TH" b="1" dirty="0">
                <a:solidFill>
                  <a:srgbClr val="0000FF"/>
                </a:solidFill>
                <a:latin typeface="AngsanaUPC" pitchFamily="18" charset="-34"/>
                <a:cs typeface="AngsanaUPC" pitchFamily="18" charset="-34"/>
              </a:rPr>
              <a:t> การผลิตเอกสารและนำเสนอ</a:t>
            </a:r>
          </a:p>
          <a:p>
            <a:pPr>
              <a:lnSpc>
                <a:spcPct val="90000"/>
              </a:lnSpc>
            </a:pPr>
            <a:r>
              <a:rPr lang="en-US" b="1" dirty="0">
                <a:latin typeface="AngsanaUPC" pitchFamily="18" charset="-34"/>
                <a:cs typeface="AngsanaUPC" pitchFamily="18" charset="-34"/>
              </a:rPr>
              <a:t>	1.1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การประมวลคำ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(Word  Processing) </a:t>
            </a:r>
          </a:p>
          <a:p>
            <a:pPr>
              <a:lnSpc>
                <a:spcPct val="90000"/>
              </a:lnSpc>
            </a:pPr>
            <a:r>
              <a:rPr lang="en-US" b="1" dirty="0">
                <a:latin typeface="AngsanaUPC" pitchFamily="18" charset="-34"/>
                <a:cs typeface="AngsanaUPC" pitchFamily="18" charset="-34"/>
              </a:rPr>
              <a:t>	1.2 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การจัดพิมพ์ตั้งโต๊ะ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(Desktop Publishing)</a:t>
            </a:r>
          </a:p>
          <a:p>
            <a:pPr>
              <a:lnSpc>
                <a:spcPct val="90000"/>
              </a:lnSpc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1.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3  การใช้ตารางอิเล็คทรอนิคส์ 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Electronic Spreadsheet)</a:t>
            </a:r>
          </a:p>
          <a:p>
            <a:pPr>
              <a:lnSpc>
                <a:spcPct val="90000"/>
              </a:lnSpc>
            </a:pPr>
            <a:r>
              <a:rPr lang="en-US" b="1" dirty="0">
                <a:latin typeface="AngsanaUPC" pitchFamily="18" charset="-34"/>
                <a:cs typeface="AngsanaUPC" pitchFamily="18" charset="-34"/>
              </a:rPr>
              <a:t>	1.4  </a:t>
            </a:r>
            <a:r>
              <a:rPr lang="en-US" b="1" dirty="0" err="1">
                <a:latin typeface="AngsanaUPC" pitchFamily="18" charset="-34"/>
                <a:cs typeface="AngsanaUPC" pitchFamily="18" charset="-34"/>
              </a:rPr>
              <a:t>งานด้านการเก็บข้อมูล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 (Database) </a:t>
            </a:r>
          </a:p>
          <a:p>
            <a:pPr>
              <a:lnSpc>
                <a:spcPct val="90000"/>
              </a:lnSpc>
            </a:pPr>
            <a:r>
              <a:rPr lang="th-TH" b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1.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5  การนำเสนอผลงาน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Presentation)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ชนิดของระบบ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OIS 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92888" cy="2304255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09750"/>
            <a:ext cx="74168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ระบบการจัดการเอกสาร (</a:t>
            </a:r>
            <a:r>
              <a:rPr lang="en-US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Document Management Systems) </a:t>
            </a:r>
            <a:endParaRPr lang="th-TH" sz="3200" b="1" dirty="0">
              <a:solidFill>
                <a:srgbClr val="C00000"/>
              </a:solidFill>
              <a:latin typeface="AngsanaUPC" pitchFamily="18" charset="-34"/>
              <a:cs typeface="AngsanaUPC" pitchFamily="18" charset="-34"/>
            </a:endParaRPr>
          </a:p>
          <a:p>
            <a:r>
              <a:rPr lang="en-US" b="1" dirty="0">
                <a:solidFill>
                  <a:srgbClr val="0000FF"/>
                </a:solidFill>
                <a:latin typeface="AngsanaUPC" pitchFamily="18" charset="-34"/>
                <a:cs typeface="AngsanaUPC" pitchFamily="18" charset="-34"/>
              </a:rPr>
              <a:t>1</a:t>
            </a:r>
            <a:r>
              <a:rPr lang="th-TH" b="1" dirty="0">
                <a:solidFill>
                  <a:srgbClr val="0000FF"/>
                </a:solidFill>
                <a:latin typeface="AngsanaUPC" pitchFamily="18" charset="-34"/>
                <a:cs typeface="AngsanaUPC" pitchFamily="18" charset="-34"/>
              </a:rPr>
              <a:t>. ระบบการประมวลคำ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เป็นโปรแกรมที่ใช้สำหรับจัดพิมพ์เอกสาร จัดรูปแบบเอกสาร สั่งพิมพ์เอกสาร ซึ่งสามารถที่จะประยุกต์ใช้กับงานได้หลากหลายประเภทเช่น การจัดพิมพ์รายงาน การสร้างแผนภูมิเพื่อนำเสนอผลงาน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ชนิดของระบบ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OIS 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  <p:pic>
        <p:nvPicPr>
          <p:cNvPr id="1024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0482" y="4005064"/>
            <a:ext cx="3528391" cy="205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0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02782" y="4005064"/>
            <a:ext cx="4057650" cy="2068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92888" cy="223224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09750"/>
            <a:ext cx="7416824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ระบบการจัดการเอกสาร (</a:t>
            </a:r>
            <a:r>
              <a:rPr lang="en-US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Document Management Systems) </a:t>
            </a:r>
            <a:endParaRPr lang="th-TH" sz="3200" b="1" dirty="0">
              <a:solidFill>
                <a:srgbClr val="C00000"/>
              </a:solidFill>
              <a:latin typeface="AngsanaUPC" pitchFamily="18" charset="-34"/>
              <a:cs typeface="AngsanaUPC" pitchFamily="18" charset="-34"/>
            </a:endParaRPr>
          </a:p>
          <a:p>
            <a:r>
              <a:rPr lang="th-TH" b="1" dirty="0">
                <a:solidFill>
                  <a:srgbClr val="0000FF"/>
                </a:solidFill>
                <a:latin typeface="AngsanaUPC" pitchFamily="18" charset="-34"/>
                <a:cs typeface="AngsanaUPC" pitchFamily="18" charset="-34"/>
              </a:rPr>
              <a:t>2. ระบบการประมวลภาพ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 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เป็นระบบที่มีการประมวลผลโดยอาศัยรูปภาพ โดยการอาศัยอุปกรณ์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ในการสแกนภาพเข้าไปในคอมพิวเตอร์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ชนิดของระบบ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OIS 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92888" cy="223224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09750"/>
            <a:ext cx="74168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ระบบการจัดการเอกสาร (</a:t>
            </a:r>
            <a:r>
              <a:rPr lang="en-US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Document Management Systems) </a:t>
            </a:r>
            <a:endParaRPr lang="th-TH" sz="3200" b="1" dirty="0">
              <a:solidFill>
                <a:srgbClr val="C00000"/>
              </a:solidFill>
              <a:latin typeface="AngsanaUPC" pitchFamily="18" charset="-34"/>
              <a:cs typeface="AngsanaUPC" pitchFamily="18" charset="-34"/>
            </a:endParaRPr>
          </a:p>
          <a:p>
            <a:r>
              <a:rPr lang="th-TH" b="1" dirty="0">
                <a:solidFill>
                  <a:srgbClr val="0000FF"/>
                </a:solidFill>
                <a:latin typeface="AngsanaUPC" pitchFamily="18" charset="-34"/>
                <a:cs typeface="AngsanaUPC" pitchFamily="18" charset="-34"/>
              </a:rPr>
              <a:t>3. การทำสำเนาเอกสาร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 เป็นกระบวนการทำสำเนาเอกสารต่าง ๆ 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เพื่อที่จะสามารถแจกจ่ายเอกสารให้กับผู้ที่เกี่ยวข้องได้รวดเร็ว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ชนิดของระบบ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OIS 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92888" cy="223224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09750"/>
            <a:ext cx="7416824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ระบบการจัดการเอกสาร (</a:t>
            </a:r>
            <a:r>
              <a:rPr lang="en-US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Document Management Systems) </a:t>
            </a:r>
          </a:p>
          <a:p>
            <a:r>
              <a:rPr lang="en-US" b="1" dirty="0">
                <a:solidFill>
                  <a:srgbClr val="0000FF"/>
                </a:solidFill>
                <a:latin typeface="AngsanaUPC" pitchFamily="18" charset="-34"/>
                <a:cs typeface="AngsanaUPC" pitchFamily="18" charset="-34"/>
              </a:rPr>
              <a:t>4. </a:t>
            </a:r>
            <a:r>
              <a:rPr lang="th-TH" b="1" dirty="0">
                <a:solidFill>
                  <a:srgbClr val="0000FF"/>
                </a:solidFill>
                <a:latin typeface="AngsanaUPC" pitchFamily="18" charset="-34"/>
                <a:cs typeface="AngsanaUPC" pitchFamily="18" charset="-34"/>
              </a:rPr>
              <a:t>หน่วยเก็บข้อมูลถาวร  </a:t>
            </a:r>
            <a:r>
              <a:rPr lang="en-US" b="1" dirty="0">
                <a:solidFill>
                  <a:srgbClr val="0000FF"/>
                </a:solidFill>
                <a:latin typeface="AngsanaUPC" pitchFamily="18" charset="-34"/>
                <a:cs typeface="AngsanaUPC" pitchFamily="18" charset="-34"/>
              </a:rPr>
              <a:t>(Archival  Storage)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ปัจจุบันเอกสารต่าง ๆ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 ได้ถูกเก็บบันทึกไว้ในคอมพิวเตอร์โดยเฉพาะหน่วยเก็บข้อมูลสำรอง 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เช่น  จานแม่เหล็ก 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(Disk) 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แผ่นแม่เหล็ก 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(Diskette) 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เทปแม่เหล็ก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ชนิดของระบบ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OIS 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92888" cy="4248471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09750"/>
            <a:ext cx="741682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ตัวอย่างโปรแกรมช่วยจัดการเอกสาร </a:t>
            </a:r>
            <a:b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และการประมวลผลสารสนเทศสำนักงาน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th-TH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โปรแกรมประมวลผลคำ (</a:t>
            </a:r>
            <a:r>
              <a:rPr lang="en-US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Word Processing) 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เช่น โปรแกรม </a:t>
            </a:r>
            <a:r>
              <a:rPr lang="th-TH" b="1" dirty="0" err="1">
                <a:latin typeface="AngsanaUPC" pitchFamily="18" charset="-34"/>
                <a:cs typeface="AngsanaUPC" pitchFamily="18" charset="-34"/>
              </a:rPr>
              <a:t>Microsoft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 err="1">
                <a:latin typeface="AngsanaUPC" pitchFamily="18" charset="-34"/>
                <a:cs typeface="AngsanaUPC" pitchFamily="18" charset="-34"/>
              </a:rPr>
              <a:t>Word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 , </a:t>
            </a:r>
            <a:r>
              <a:rPr lang="th-TH" b="1" dirty="0" err="1">
                <a:latin typeface="AngsanaUPC" pitchFamily="18" charset="-34"/>
                <a:cs typeface="AngsanaUPC" pitchFamily="18" charset="-34"/>
              </a:rPr>
              <a:t>Word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 err="1">
                <a:latin typeface="AngsanaUPC" pitchFamily="18" charset="-34"/>
                <a:cs typeface="AngsanaUPC" pitchFamily="18" charset="-34"/>
              </a:rPr>
              <a:t>Perfect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 ,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Cu-Writer , Word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ราชวิถี , </a:t>
            </a:r>
            <a:r>
              <a:rPr lang="th-TH" b="1" dirty="0" err="1">
                <a:latin typeface="AngsanaUPC" pitchFamily="18" charset="-34"/>
                <a:cs typeface="AngsanaUPC" pitchFamily="18" charset="-34"/>
              </a:rPr>
              <a:t>Writer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 เอกสารข้อความ , </a:t>
            </a:r>
            <a:r>
              <a:rPr lang="th-TH" b="1" dirty="0" err="1">
                <a:latin typeface="AngsanaUPC" pitchFamily="18" charset="-34"/>
                <a:cs typeface="AngsanaUPC" pitchFamily="18" charset="-34"/>
              </a:rPr>
              <a:t>Lotus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 err="1">
                <a:latin typeface="AngsanaUPC" pitchFamily="18" charset="-34"/>
                <a:cs typeface="AngsanaUPC" pitchFamily="18" charset="-34"/>
              </a:rPr>
              <a:t>Word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 err="1">
                <a:latin typeface="AngsanaUPC" pitchFamily="18" charset="-34"/>
                <a:cs typeface="AngsanaUPC" pitchFamily="18" charset="-34"/>
              </a:rPr>
              <a:t>Pro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en-US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โปรแกรม</a:t>
            </a:r>
            <a:r>
              <a:rPr lang="th-TH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จัดพิมพ์</a:t>
            </a:r>
            <a:r>
              <a:rPr lang="en-US" b="1" dirty="0" err="1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ตั้งโต๊ะ</a:t>
            </a:r>
            <a:r>
              <a:rPr lang="en-US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(Desktop Publishing)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เช่น โปรแกรม </a:t>
            </a:r>
            <a:br>
              <a:rPr lang="en-US" b="1" dirty="0">
                <a:latin typeface="AngsanaUPC" pitchFamily="18" charset="-34"/>
                <a:cs typeface="AngsanaUPC" pitchFamily="18" charset="-34"/>
              </a:rPr>
            </a:br>
            <a:r>
              <a:rPr lang="en-US" b="1" dirty="0">
                <a:latin typeface="AngsanaUPC" pitchFamily="18" charset="-34"/>
                <a:cs typeface="AngsanaUPC" pitchFamily="18" charset="-34"/>
              </a:rPr>
              <a:t>Page Maker , Corel Draw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th-TH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โปรแกรมตาราง</a:t>
            </a:r>
            <a:r>
              <a:rPr lang="th-TH" b="1" dirty="0" err="1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อิเล็คทรอนิกส์</a:t>
            </a:r>
            <a:r>
              <a:rPr lang="th-TH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(Electronic Spreadsheet) </a:t>
            </a:r>
            <a:r>
              <a:rPr lang="en-US" b="1" dirty="0" err="1">
                <a:latin typeface="AngsanaUPC" pitchFamily="18" charset="-34"/>
                <a:cs typeface="AngsanaUPC" pitchFamily="18" charset="-34"/>
              </a:rPr>
              <a:t>เช่น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en-US" b="1" dirty="0" err="1">
                <a:latin typeface="AngsanaUPC" pitchFamily="18" charset="-34"/>
                <a:cs typeface="AngsanaUPC" pitchFamily="18" charset="-34"/>
              </a:rPr>
              <a:t>โปรแกรม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 Microsoft Excel , Lotus 123, Calc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โปรแกรมตารางคำนวณ</a:t>
            </a:r>
            <a:endParaRPr lang="en-US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ชนิดของระบบ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OIS 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92888" cy="3960439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09750"/>
            <a:ext cx="7416824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70C0"/>
              </a:buClr>
            </a:pPr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ตัวอย่างโปรแกรมช่วยจัดการเอกสาร </a:t>
            </a:r>
            <a:b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และการประมวลผลสารสนเทศสำนักงาน</a:t>
            </a: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th-TH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โปรแกรมฐานข้อมูล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เช่น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Microsoft Access , Dbase, Paradox , My SQL , Microsoft SQL , Lotus </a:t>
            </a:r>
            <a:r>
              <a:rPr lang="en-US" b="1" dirty="0" err="1">
                <a:latin typeface="AngsanaUPC" pitchFamily="18" charset="-34"/>
                <a:cs typeface="AngsanaUPC" pitchFamily="18" charset="-34"/>
              </a:rPr>
              <a:t>Approch</a:t>
            </a:r>
            <a:endParaRPr lang="en-US" b="1" dirty="0">
              <a:latin typeface="AngsanaUPC" pitchFamily="18" charset="-34"/>
              <a:cs typeface="AngsanaUPC" pitchFamily="18" charset="-34"/>
            </a:endParaRP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th-TH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โปรแกรมนำเสนอข้อมูล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เช่น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PowerPoint , Impress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การนำเสนอ</a:t>
            </a:r>
            <a:r>
              <a:rPr lang="th-TH" b="1" dirty="0" err="1">
                <a:latin typeface="AngsanaUPC" pitchFamily="18" charset="-34"/>
                <a:cs typeface="AngsanaUPC" pitchFamily="18" charset="-34"/>
              </a:rPr>
              <a:t>Lotus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 err="1">
                <a:latin typeface="AngsanaUPC" pitchFamily="18" charset="-34"/>
                <a:cs typeface="AngsanaUPC" pitchFamily="18" charset="-34"/>
              </a:rPr>
              <a:t>Freelance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b="1" dirty="0" err="1">
                <a:latin typeface="AngsanaUPC" pitchFamily="18" charset="-34"/>
                <a:cs typeface="AngsanaUPC" pitchFamily="18" charset="-34"/>
              </a:rPr>
              <a:t>Graphics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  <a:p>
            <a:pPr lvl="1">
              <a:buClr>
                <a:srgbClr val="0070C0"/>
              </a:buClr>
              <a:buFont typeface="Wingdings" pitchFamily="2" charset="2"/>
              <a:buChar char="§"/>
            </a:pPr>
            <a:r>
              <a:rPr lang="th-TH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โปรแกรมประมวลภาพ (</a:t>
            </a:r>
            <a:r>
              <a:rPr lang="en-US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Image Processing)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เช่น โปรแกรม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Photoshop , Imaging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ชนิดของระบบ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OIS 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92888" cy="331236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09750"/>
            <a:ext cx="7416824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ระบบการจัดการข่าวสาร </a:t>
            </a:r>
            <a:r>
              <a:rPr lang="th-TH" sz="3200" b="1" dirty="0">
                <a:solidFill>
                  <a:srgbClr val="C00000"/>
                </a:solidFill>
                <a:latin typeface="Angsana New" pitchFamily="18" charset="-34"/>
              </a:rPr>
              <a:t>(</a:t>
            </a:r>
            <a:r>
              <a:rPr lang="en-US" sz="3200" b="1" dirty="0">
                <a:solidFill>
                  <a:srgbClr val="C00000"/>
                </a:solidFill>
                <a:latin typeface="Angsana New" pitchFamily="18" charset="-34"/>
              </a:rPr>
              <a:t>Message-Handling Systems)</a:t>
            </a:r>
            <a:endParaRPr lang="en-US" sz="3200" b="1" dirty="0">
              <a:solidFill>
                <a:srgbClr val="C00000"/>
              </a:solidFill>
              <a:latin typeface="AngsanaUPC" pitchFamily="18" charset="-34"/>
              <a:cs typeface="AngsanaUPC" pitchFamily="18" charset="-34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en-US" sz="3200" b="1" dirty="0" err="1">
                <a:latin typeface="AngsanaUPC" pitchFamily="18" charset="-34"/>
                <a:cs typeface="AngsanaUPC" pitchFamily="18" charset="-34"/>
              </a:rPr>
              <a:t>ไปรษณีย์อิเล็คทรอนิคส์</a:t>
            </a: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(</a:t>
            </a: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Electronic mail : E-mail)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en-US" sz="3200" b="1" dirty="0" err="1">
                <a:latin typeface="AngsanaUPC" pitchFamily="18" charset="-34"/>
                <a:cs typeface="AngsanaUPC" pitchFamily="18" charset="-34"/>
              </a:rPr>
              <a:t>กระดานข่าว</a:t>
            </a: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 (Web Board)</a:t>
            </a:r>
          </a:p>
          <a:p>
            <a:pPr lvl="1"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ไปรษณีย์เสียง </a:t>
            </a: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(Voice mail)</a:t>
            </a:r>
          </a:p>
          <a:p>
            <a:pPr lvl="1"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โทรสาร (</a:t>
            </a: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Facsimile) </a:t>
            </a:r>
          </a:p>
          <a:p>
            <a:pPr lvl="1"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การสืบค้นข้อมูลด้วยเครือข่ายใยแมงมุม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ชนิดของระบบ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OIS 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92888" cy="331236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09750"/>
            <a:ext cx="7416824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ระบบการจัดการข่าวสาร (</a:t>
            </a:r>
            <a:r>
              <a:rPr lang="en-US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Message-Handling Systems)</a:t>
            </a:r>
          </a:p>
          <a:p>
            <a:pPr lvl="1">
              <a:buFont typeface="Wingdings" pitchFamily="2" charset="2"/>
              <a:buChar char="§"/>
            </a:pPr>
            <a:r>
              <a:rPr lang="en-US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ไปรษณีย์อิเล็</a:t>
            </a:r>
            <a:r>
              <a:rPr lang="th-TH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</a:t>
            </a:r>
            <a:r>
              <a:rPr lang="en-US" sz="3200" b="1" dirty="0" err="1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ทรอนิ</a:t>
            </a:r>
            <a:r>
              <a:rPr lang="th-TH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</a:t>
            </a:r>
            <a:r>
              <a:rPr lang="en-US" sz="3200" b="1" dirty="0" err="1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ส์</a:t>
            </a:r>
            <a:r>
              <a:rPr lang="en-US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th-TH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(</a:t>
            </a:r>
            <a:r>
              <a:rPr lang="en-US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Electronic mail : E-mail</a:t>
            </a:r>
            <a:r>
              <a:rPr lang="en-US" sz="33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sz="33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  <a:p>
            <a:pPr lvl="1"/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เป็นการส่งข่าวสารไปยังบุคคลอื่น โดยอาศัยเครื่องคอมพิวเตอร์ โมเด็ม และสื่อในการติดต่อ เช่น สายโทรศัพท์ และอาศัยที่อยู่ในรูปของไปรษณีย์อิเล็คทรอนิคส์ เช่น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XXX@mail.rid.go.th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สมัครเป็นสมาชิกกับเว็บไซต์ที่ให้บริการ ในปัจจุบันมีเว็บไซด์ที่ให้บริการฟรี เช่น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www.gmail.com www.yahoo.com ,  www.hotmail.com </a:t>
            </a:r>
            <a:r>
              <a:rPr lang="th-TH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เป็นต้น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ชนิดของระบบ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OIS 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92888" cy="331236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09750"/>
            <a:ext cx="741682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ระบบการจัดการข่าวสาร (</a:t>
            </a:r>
            <a:r>
              <a:rPr lang="en-US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Message-Handling Systems)</a:t>
            </a:r>
            <a:endParaRPr lang="en-US" sz="3200" b="1" dirty="0">
              <a:latin typeface="AngsanaUPC" pitchFamily="18" charset="-34"/>
              <a:cs typeface="AngsanaUPC" pitchFamily="18" charset="-34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กระดานข่าว</a:t>
            </a:r>
            <a:r>
              <a:rPr lang="en-US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(Web Board)</a:t>
            </a:r>
          </a:p>
          <a:p>
            <a:pPr lvl="1"/>
            <a:r>
              <a:rPr lang="th-TH" b="1" dirty="0">
                <a:latin typeface="AngsanaUPC" pitchFamily="18" charset="-34"/>
                <a:cs typeface="AngsanaUPC" pitchFamily="18" charset="-34"/>
              </a:rPr>
              <a:t>เป็นการฝากข่าวสารผ่านทางเครือข่ายถึงผู้รับ เป็นบริการอีกรูปแบบหนึ่ง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ซึ่งผู้สนใจสามารถเข้าไปอ่านและแสดงความคิดเห็นได้ กระดานข่าวสามารถใช้ได้ทั้งอินเทอร์เน็ต และอินทราเน็ต </a:t>
            </a:r>
          </a:p>
          <a:p>
            <a:pPr lvl="1"/>
            <a:endParaRPr lang="en-US" sz="33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ชนิดของระบบ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OIS 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92888" cy="2016223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09750"/>
            <a:ext cx="7416824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ระบบการจัดการข่าวสาร (</a:t>
            </a:r>
            <a:r>
              <a:rPr lang="en-US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Message-Handling Systems)</a:t>
            </a:r>
          </a:p>
          <a:p>
            <a:pPr lvl="1">
              <a:buFont typeface="Wingdings" pitchFamily="2" charset="2"/>
              <a:buChar char="§"/>
            </a:pPr>
            <a:r>
              <a:rPr lang="th-TH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ไปรษณีย์เสียง </a:t>
            </a:r>
            <a:r>
              <a:rPr lang="en-US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(Voice mail)</a:t>
            </a:r>
          </a:p>
          <a:p>
            <a:pPr lvl="1"/>
            <a:r>
              <a:rPr lang="th-TH" b="1" dirty="0">
                <a:latin typeface="AngsanaUPC" pitchFamily="18" charset="-34"/>
                <a:cs typeface="AngsanaUPC" pitchFamily="18" charset="-34"/>
              </a:rPr>
              <a:t>เป็นระบบที่ช่วยเก็บเสียงพูดของผู้ใช้โทรศัพท์ที่ติดต่อเข้ามา  โดยที่เรา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ไม่อยู่ที่โต๊ะทำงานหรือสำนักงาน</a:t>
            </a:r>
            <a:endParaRPr lang="en-US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ชนิดของระบบ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OIS 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3" y="3648218"/>
            <a:ext cx="3240360" cy="2430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3621778"/>
            <a:ext cx="3744416" cy="2439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92888" cy="2448271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09750"/>
            <a:ext cx="741682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ระบบการจัดการข่าวสาร (</a:t>
            </a:r>
            <a:r>
              <a:rPr lang="en-US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Message-Handling Systems)</a:t>
            </a:r>
          </a:p>
          <a:p>
            <a:pPr lvl="1">
              <a:buFont typeface="Wingdings" pitchFamily="2" charset="2"/>
              <a:buChar char="§"/>
            </a:pPr>
            <a:r>
              <a:rPr lang="th-TH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โทรสาร (</a:t>
            </a:r>
            <a:r>
              <a:rPr lang="en-US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Facsimile) </a:t>
            </a:r>
          </a:p>
          <a:p>
            <a:pPr lvl="1"/>
            <a:r>
              <a:rPr lang="th-TH" b="1" dirty="0">
                <a:latin typeface="AngsanaUPC" pitchFamily="18" charset="-34"/>
                <a:cs typeface="AngsanaUPC" pitchFamily="18" charset="-34"/>
              </a:rPr>
              <a:t>เป็นเครื่องมือที่ใช้ในการส่งข้อความ รูปภาพ จากที่หนึ่งไปยังอีกที่หนึ่ง โดยอาศัยเครื่องโทรสารและสายโทรศัพท์  โปรแกรมส่งเอกสารด้วยแฟกซ์ เช่น </a:t>
            </a:r>
            <a:r>
              <a:rPr lang="en-US" b="1" dirty="0" err="1">
                <a:latin typeface="AngsanaUPC" pitchFamily="18" charset="-34"/>
                <a:cs typeface="AngsanaUPC" pitchFamily="18" charset="-34"/>
              </a:rPr>
              <a:t>Winfax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 , </a:t>
            </a:r>
            <a:r>
              <a:rPr lang="en-US" b="1" dirty="0" err="1">
                <a:latin typeface="AngsanaUPC" pitchFamily="18" charset="-34"/>
                <a:cs typeface="AngsanaUPC" pitchFamily="18" charset="-34"/>
              </a:rPr>
              <a:t>Winfax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 Pro ,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โปรแกรมที่ติดมากับ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Fax Modem</a:t>
            </a:r>
            <a:endParaRPr lang="en-US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  <a:p>
            <a:endParaRPr lang="th-TH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ชนิดของระบบ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OIS 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  <p:pic>
        <p:nvPicPr>
          <p:cNvPr id="1064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9952" y="4077072"/>
            <a:ext cx="2376264" cy="1972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64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0124" y="4024114"/>
            <a:ext cx="2060848" cy="206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92888" cy="3024335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09750"/>
            <a:ext cx="741682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ระบบการจัดการข่าวสาร (</a:t>
            </a:r>
            <a:r>
              <a:rPr lang="en-US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Message-Handling Systems)</a:t>
            </a:r>
          </a:p>
          <a:p>
            <a:pPr lvl="1">
              <a:buFont typeface="Wingdings" pitchFamily="2" charset="2"/>
              <a:buChar char="§"/>
            </a:pPr>
            <a:r>
              <a:rPr lang="th-TH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การสืบค้นข้อมูลด้วยเครือข่ายใยแมงมุม</a:t>
            </a:r>
            <a:endParaRPr lang="en-US" sz="32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  <a:p>
            <a:r>
              <a:rPr lang="th-TH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อินเทอร์เน็ต เป็นการรวมเครือข่ายหลาย ๆ เครือข่ายเข้าด้วยกัน เพื่อให้สามารถใช้ทรัพยากรร่วมกันได้ ดังนั้น อินเทอร์เน็ตจึงเป็นแหล่งรวบรวมข้อมูลข่าวสารต่าง ๆ ไว้เพื่อให้บริการแก่ผู้ใช้บริการ ทำให้สามารถค้นหาข้อมูลสำคัญผ่านระบบอินเทอร์เน็ตได้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ชนิดของระบบ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OIS 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  <p:pic>
        <p:nvPicPr>
          <p:cNvPr id="1054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064" y="4005064"/>
            <a:ext cx="3744416" cy="21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92888" cy="2880319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09750"/>
            <a:ext cx="741682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ระบบประชุมทางไกล (</a:t>
            </a:r>
            <a:r>
              <a:rPr lang="en-US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Teleconferencing system)</a:t>
            </a:r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การประชุมด้วยภาพ (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Video teleconferencing)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การประชุมด้วยเสียง (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Audio teleconferencing)</a:t>
            </a:r>
            <a:endParaRPr lang="th-TH" sz="32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endParaRP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โทรศัพท์ภายใน (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In-house television)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 การทำงานทางไกล (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UPC" pitchFamily="18" charset="-34"/>
                <a:cs typeface="AngsanaUPC" pitchFamily="18" charset="-34"/>
              </a:rPr>
              <a:t>Telecommuting)</a:t>
            </a:r>
            <a:endParaRPr lang="th-TH" sz="32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ชนิดของระบบ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OIS 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92888" cy="259228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09750"/>
            <a:ext cx="741682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ระบบประชุมทางไกล (</a:t>
            </a:r>
            <a:r>
              <a:rPr lang="en-US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Teleconferencing system)</a:t>
            </a:r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การประชุมด้วยภาพ (</a:t>
            </a:r>
            <a:r>
              <a:rPr lang="en-US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Video teleconferencing)</a:t>
            </a:r>
          </a:p>
          <a:p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เป็นการประชุมทางไกล โดยผู้ร่วมประชุมสามารถที่จะติดต่อพูดคุยกันได้ โดยผู้สนทนาจะได้ยินเสียงและภาพของคู่สนทนาในขณะที่มีการประชุม 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ชนิดของระบบ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OIS 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  <p:pic>
        <p:nvPicPr>
          <p:cNvPr id="1044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3933056"/>
            <a:ext cx="3168352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4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02188" y="3933056"/>
            <a:ext cx="3384376" cy="216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92888" cy="2376263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09750"/>
            <a:ext cx="741682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ระบบประชุมทางไกล (</a:t>
            </a:r>
            <a:r>
              <a:rPr lang="en-US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Teleconferencing system)</a:t>
            </a:r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การประชุมด้วยเสียง (</a:t>
            </a:r>
            <a:r>
              <a:rPr lang="en-US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Audio teleconferencing)</a:t>
            </a:r>
            <a:endParaRPr lang="th-TH" sz="32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  <a:p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เป็นการประชุมทางไกลหรือการติดต่อสื่อสารทางไกล โดยคู่สนทนาจะสามารถได้ยินแต่เพียงผู้ที่เกี่ยวข้องในการประชุมเท่านั้น</a:t>
            </a:r>
            <a:br>
              <a:rPr lang="th-TH" sz="3200" b="1" dirty="0">
                <a:latin typeface="AngsanaUPC" pitchFamily="18" charset="-34"/>
                <a:cs typeface="AngsanaUPC" pitchFamily="18" charset="-34"/>
              </a:rPr>
            </a:br>
            <a:endParaRPr lang="th-TH" sz="32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ชนิดของระบบ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OIS 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92888" cy="2664295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09750"/>
            <a:ext cx="7416824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ระบบประชุมทางไกล (</a:t>
            </a:r>
            <a:r>
              <a:rPr lang="en-US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Teleconferencing system)</a:t>
            </a:r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</a:t>
            </a:r>
            <a:endParaRPr lang="th-TH" sz="32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endParaRP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โทรศัพท์ภายใน (</a:t>
            </a:r>
            <a:r>
              <a:rPr lang="en-US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In-house television)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เป็นเครื่องมือที่ใช้ในการติดต่อทางธุรกิจ โดยสำนักงานจะมีการกระจายข่าวให้สมาชิก เพื่อเอื้ออำนวยในการติดต่อสั่งซื้อสินค้า โดยผ่านโทรทัศน์ที่เป็นช่วงสถานีของสำนักนั้น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br>
              <a:rPr lang="th-TH" sz="3200" b="1" dirty="0">
                <a:latin typeface="AngsanaUPC" pitchFamily="18" charset="-34"/>
                <a:cs typeface="AngsanaUPC" pitchFamily="18" charset="-34"/>
              </a:rPr>
            </a:b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ชนิดของระบบ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OIS 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92888" cy="331236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09750"/>
            <a:ext cx="741682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ระบบประชุมทางไกล (</a:t>
            </a:r>
            <a:r>
              <a:rPr lang="en-US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Teleconferencing system)</a:t>
            </a:r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endParaRP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การทำงานทางไกล (</a:t>
            </a:r>
            <a:r>
              <a:rPr lang="en-US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Telecommuting)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เป็นเทคโนโลยีที่ใช้ติดต่อระหว่างบ้านกับสำนักงาน โดยผู้ปฏิบัติงานสามารถปฏิบัติงานที่บ้านแล้วส่งงานดังกล่าวไปยังที่ทำงาน ผู้ใช้สามารถเชื่อมต่อคอมพิวเตอร์ของตนเองเข้ากับคอมพิวเตอร์ของสำนักงานเพื่อเข้าไปใช้โปรแกรม</a:t>
            </a:r>
            <a:endParaRPr lang="th-TH" sz="32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ชนิดของระบบ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OIS 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92888" cy="4248471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09750"/>
            <a:ext cx="741682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ระบบประชุมทางไกล (</a:t>
            </a:r>
            <a:r>
              <a:rPr lang="en-US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Teleconferencing system)</a:t>
            </a:r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endParaRPr>
          </a:p>
          <a:p>
            <a:r>
              <a:rPr lang="th-TH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ข้อดีของการทำงานทางไกล</a:t>
            </a:r>
            <a:endParaRPr lang="th-TH" dirty="0">
              <a:latin typeface="AngsanaUPC" pitchFamily="18" charset="-34"/>
              <a:cs typeface="AngsanaUPC" pitchFamily="18" charset="-34"/>
            </a:endParaRP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ประหยัดเวลาในการเดินทาง 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ลดค่าใช้จ่าย 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ลดเวลาการอยู่ในสำนักงาน 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สามารถเปลี่ยนสถานที่ทางานไปเรื่อยๆ 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สร้างความสะดวกสบายในการทำงานเพราะทาอยู่กับบ้าน 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สามารถทางานอื่นๆ ส่วนตัว ได้ในเวลาเดียวกัน 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ช่วยลดปัญหาการจราจรติดขัด และมลภาวะ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ชนิดของระบบ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OIS 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92888" cy="2736303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09750"/>
            <a:ext cx="7416824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ระบบประชุมทางไกล (</a:t>
            </a:r>
            <a:r>
              <a:rPr lang="en-US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Teleconferencing system)</a:t>
            </a:r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 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ngsanaUPC" pitchFamily="18" charset="-34"/>
              <a:cs typeface="AngsanaUPC" pitchFamily="18" charset="-34"/>
            </a:endParaRPr>
          </a:p>
          <a:p>
            <a:r>
              <a:rPr lang="th-TH" sz="32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ข้อเสียของการทำงานทางไกล</a:t>
            </a:r>
            <a:endParaRPr lang="th-TH" dirty="0">
              <a:latin typeface="AngsanaUPC" pitchFamily="18" charset="-34"/>
              <a:cs typeface="AngsanaUPC" pitchFamily="18" charset="-34"/>
            </a:endParaRP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ขาดมนุษย์สัมพันธ์ในการทำงาน 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ขาดเวลาเป็นส่วนตัว 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การเปิดโอกาสให้ข้อมูลถูกจารกรรมจากบุคคลภายนอก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ชนิดของระบบ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OIS 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560840" cy="3312367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3608" y="1609750"/>
            <a:ext cx="63367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ระบบสนับสนุนสำนักงาน (</a:t>
            </a:r>
            <a:r>
              <a:rPr lang="en-US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Office support systems) </a:t>
            </a:r>
            <a:endParaRPr lang="th-TH" sz="3200" b="1" dirty="0">
              <a:solidFill>
                <a:srgbClr val="C00000"/>
              </a:solidFill>
              <a:latin typeface="AngsanaUPC" pitchFamily="18" charset="-34"/>
              <a:cs typeface="AngsanaUPC" pitchFamily="18" charset="-34"/>
            </a:endParaRPr>
          </a:p>
          <a:p>
            <a:pPr>
              <a:buFont typeface="Wingdings" pitchFamily="2" charset="2"/>
              <a:buChar char="§"/>
            </a:pP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Groupware </a:t>
            </a:r>
          </a:p>
          <a:p>
            <a:pPr>
              <a:buFont typeface="Wingdings" pitchFamily="2" charset="2"/>
              <a:buChar char="§"/>
            </a:pP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 Computer Aided design : CAD </a:t>
            </a:r>
            <a:endParaRPr lang="th-TH" sz="3200" b="1" dirty="0">
              <a:latin typeface="AngsanaUPC" pitchFamily="18" charset="-34"/>
              <a:cs typeface="AngsanaUPC" pitchFamily="18" charset="-34"/>
            </a:endParaRPr>
          </a:p>
          <a:p>
            <a:pPr>
              <a:buFont typeface="Wingdings" pitchFamily="2" charset="2"/>
              <a:buChar char="§"/>
            </a:pP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 Desktop organizers </a:t>
            </a:r>
            <a:endParaRPr lang="th-TH" sz="3200" b="1" dirty="0">
              <a:latin typeface="AngsanaUPC" pitchFamily="18" charset="-34"/>
              <a:cs typeface="AngsanaUPC" pitchFamily="18" charset="-34"/>
            </a:endParaRPr>
          </a:p>
          <a:p>
            <a:pPr>
              <a:buFont typeface="Wingdings" pitchFamily="2" charset="2"/>
              <a:buChar char="§"/>
            </a:pP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 Presentation Graphics</a:t>
            </a:r>
          </a:p>
          <a:p>
            <a:pPr>
              <a:buFont typeface="Wingdings" pitchFamily="2" charset="2"/>
              <a:buChar char="§"/>
            </a:pP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 In-house Electronic bulletin board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ชนิดของระบบ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 OIS 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ระบบสารสนเทศสำนักงาน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OIS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776864" cy="2088231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85950"/>
            <a:ext cx="712879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สำนักงานอัตโนมัติเป็นการประยุกต์ใช้เทคโนโลยี และเทคโนโลยีสารสนเทศ เพื่อหลีกเลี่ยงการปฏิบัติด้วยมือให้มากที่สุดโดยมีวัตถุประสงค์ที่สำคัญ คือ การเพิ่มประสิทธิภาพในการทำงานลดระยะเวลาในการทำงาน และประหยัดค่าใช้จ่าย</a:t>
            </a:r>
            <a:endParaRPr lang="en-US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สำนักงานอัตโนมัติ (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Office Automation</a:t>
            </a: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สำนักงานอัตโนมัติ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Office Automation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6</a:t>
            </a:r>
            <a:endParaRPr lang="th-TH" b="1" dirty="0"/>
          </a:p>
        </p:txBody>
      </p:sp>
      <p:pic>
        <p:nvPicPr>
          <p:cNvPr id="952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3799026"/>
            <a:ext cx="7704856" cy="2148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สำนักงานอัตโนมัติ (</a:t>
            </a:r>
            <a:r>
              <a:rPr lang="en-US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Office Automation</a:t>
            </a: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)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สำนักงานอัตโนมัติ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Office Automation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6</a:t>
            </a:r>
            <a:endParaRPr lang="th-TH" b="1" dirty="0"/>
          </a:p>
        </p:txBody>
      </p:sp>
      <p:pic>
        <p:nvPicPr>
          <p:cNvPr id="962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556792"/>
            <a:ext cx="5328592" cy="4419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6013166" y="3861048"/>
            <a:ext cx="287931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รูปภาพ ตัวอย่างของ</a:t>
            </a:r>
            <a:b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ระบบสำนักงานอัตโนมัติ</a:t>
            </a:r>
            <a:endParaRPr lang="th-TH" sz="3200" dirty="0">
              <a:solidFill>
                <a:srgbClr val="C0000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การประยุกต์ใช้โปรแกรมต่างๆใน สำนักงานอัตโนมัติ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สำนักงานอัตโนมัติ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Office Automation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6</a:t>
            </a:r>
            <a:endParaRPr lang="th-TH" b="1" dirty="0"/>
          </a:p>
        </p:txBody>
      </p:sp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43658"/>
            <a:ext cx="4392488" cy="3058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2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6232" y="1628800"/>
            <a:ext cx="3667125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38386" y="4759052"/>
            <a:ext cx="46085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รูปภาพ การประยุกต์ใช้งาน 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E-mail </a:t>
            </a: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ในการส่งจดหมายภายในองค์กร</a:t>
            </a:r>
            <a:endParaRPr lang="th-TH" dirty="0">
              <a:solidFill>
                <a:srgbClr val="C0000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45732" y="4740002"/>
            <a:ext cx="46085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รูปภาพ การประยุกต์ใช้งาน 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MMS </a:t>
            </a:r>
            <a:b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ในการส่งข้อความไปยังอีเมล์ </a:t>
            </a:r>
            <a:b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และโทรศัพท์มือถือ</a:t>
            </a:r>
            <a:endParaRPr lang="th-TH" dirty="0">
              <a:solidFill>
                <a:srgbClr val="C00000"/>
              </a:solidFill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4752528" cy="2880319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85950"/>
            <a:ext cx="712879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ความสะดวกรวดเร็ว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ลดจำนวนเอกสาร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ใช้สารสนเทศให้เกิดประโยชน์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ความยืดหยุ่นในการทำงาน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สามารถขยายงานต่อไปในอนาคต</a:t>
            </a:r>
            <a:endParaRPr lang="en-US" sz="32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วัตถุประสงค์ของการใช้สำนักงานอัตโนมัติ</a:t>
            </a:r>
            <a:endParaRPr lang="th-TH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สำนักงานอัตโนมัติ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Office Automation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6</a:t>
            </a:r>
            <a:endParaRPr lang="th-TH" b="1" dirty="0"/>
          </a:p>
        </p:txBody>
      </p:sp>
      <p:pic>
        <p:nvPicPr>
          <p:cNvPr id="9830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8104" y="1499641"/>
            <a:ext cx="3278138" cy="218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831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4509214"/>
            <a:ext cx="2304256" cy="1418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8312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8104" y="3717032"/>
            <a:ext cx="3289548" cy="2209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920880" cy="3384375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584" y="1685950"/>
            <a:ext cx="712879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วิเคราะห์ความต้องการของผู้ใช้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การออกแบบระบบ และอุปกรณ์อัตโนมัติที่ต้องการ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การจัดหาอุปกรณ์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การจัดเตรียมสถานที่ติดตั้งอุปกรณ์ และการจัดฝึกอบรม</a:t>
            </a:r>
            <a:br>
              <a:rPr lang="th-TH" sz="3200" b="1" dirty="0">
                <a:latin typeface="AngsanaUPC" pitchFamily="18" charset="-34"/>
                <a:cs typeface="AngsanaUPC" pitchFamily="18" charset="-34"/>
              </a:rPr>
            </a:b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ให้ความรู้แก่พนักงาน</a:t>
            </a:r>
          </a:p>
          <a:p>
            <a:pPr>
              <a:buFont typeface="Wingdings" pitchFamily="2" charset="2"/>
              <a:buChar char="§"/>
            </a:pP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การประเมินผล และการบำรุงรักษาระบบ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4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ข้อควรพิจารณาในการนำระบบสำนักงานอัตโนมัติมาใช้ในสำนักงาน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สำนักงานอัตโนมัติ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Office Automation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6</a:t>
            </a:r>
            <a:endParaRPr lang="th-TH" b="1" dirty="0"/>
          </a:p>
        </p:txBody>
      </p:sp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24128" y="3931166"/>
            <a:ext cx="3083495" cy="20543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632848" cy="2448271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616" y="1685950"/>
            <a:ext cx="712879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กระบวนการทำงานของระบบสำนักงานอัตโนมัติเพื่อให้ได้สารสนเทศ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ที่สามารถนำไปใช้งานได้จริงนั้น มีอยู่ 3 ขั้นตอนคือ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	1. การป้อนข้อมูล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Input)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	2. การประมวลผลข้อมูล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Process)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	3. การแสดงผลลัพธ์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Output)</a:t>
            </a:r>
            <a:endParaRPr lang="th-TH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กระบวนการทำงานของระบบสำนักงานอัตโนมัติ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สำนักงานอัตโนมัติ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Office Automation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6</a:t>
            </a:r>
            <a:endParaRPr lang="th-TH" b="1" dirty="0"/>
          </a:p>
        </p:txBody>
      </p:sp>
      <p:pic>
        <p:nvPicPr>
          <p:cNvPr id="100354" name="Picture 2"/>
          <p:cNvPicPr>
            <a:picLocks noChangeAspect="1" noChangeArrowheads="1"/>
          </p:cNvPicPr>
          <p:nvPr/>
        </p:nvPicPr>
        <p:blipFill>
          <a:blip r:embed="rId2" cstate="print"/>
          <a:srcRect l="18536" t="29156" r="16159" b="36391"/>
          <a:stretch>
            <a:fillRect/>
          </a:stretch>
        </p:blipFill>
        <p:spPr bwMode="auto">
          <a:xfrm>
            <a:off x="647056" y="4077072"/>
            <a:ext cx="7597352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632848" cy="3096343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5576" y="1685950"/>
            <a:ext cx="748883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การประมวลผลข้อมูล (</a:t>
            </a:r>
            <a:r>
              <a:rPr lang="en-US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Process)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กระบวนการประมวลผลข้อมูล สามารถแบ่งวิธีการประมวลผลได้ 2 วิธีหลัก ดังนี้</a:t>
            </a:r>
            <a:endParaRPr lang="en-US" b="1" dirty="0">
              <a:latin typeface="AngsanaUPC" pitchFamily="18" charset="-34"/>
              <a:cs typeface="AngsanaUPC" pitchFamily="18" charset="-34"/>
            </a:endParaRP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การประมวลผลด้วยมือ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Manual Data Processing)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	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-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การประมวลผลด้วยเครื่องอิเล็กทรอนิกส์ 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 	   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Electronically Data Processing)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กระบวนการทำงานของระบบสำนักงานอัตโนมัติ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สำนักงานอัตโนมัติ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Office Automation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6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632848" cy="3096343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1600" y="1685950"/>
            <a:ext cx="748883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1. ความรวดเร็วในการนำไปใช้งาน (</a:t>
            </a: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Timelines)</a:t>
            </a:r>
          </a:p>
          <a:p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2. ความถูกต้อง (</a:t>
            </a: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Accuracy)</a:t>
            </a:r>
          </a:p>
          <a:p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3. ลดเวลาในการทำงาน (</a:t>
            </a: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Reduce Time)</a:t>
            </a:r>
          </a:p>
          <a:p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4. ลดค่าใช้จ่าย (</a:t>
            </a: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Reduce Cost)</a:t>
            </a:r>
          </a:p>
          <a:p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5. เพิ่มประสิทธิภาพ (</a:t>
            </a:r>
            <a:r>
              <a:rPr lang="en-US" sz="3200" b="1" dirty="0">
                <a:latin typeface="AngsanaUPC" pitchFamily="18" charset="-34"/>
                <a:cs typeface="AngsanaUPC" pitchFamily="18" charset="-34"/>
              </a:rPr>
              <a:t>Efficiency)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ประโยชน์ของระบบสำนักงานอัตโนมัติ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สำนักงานอัตโนมัติ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Office Automation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6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632848" cy="3744415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1600" y="1685950"/>
            <a:ext cx="748883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ข้อดีของการนำระบบสำนักงานอัตโนมัติเข้ามาใช้งาน</a:t>
            </a:r>
          </a:p>
          <a:p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	1. ข้อมูล หรือสารสนเทศที่ได้มีความรวมเร็ว </a:t>
            </a:r>
            <a:br>
              <a:rPr lang="th-TH" sz="3200" b="1" dirty="0">
                <a:latin typeface="AngsanaUPC" pitchFamily="18" charset="-34"/>
                <a:cs typeface="AngsanaUPC" pitchFamily="18" charset="-34"/>
              </a:rPr>
            </a:br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ทันต่อความต้องการของผู้ใช้งาน</a:t>
            </a:r>
          </a:p>
          <a:p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	2. ข้อมูลมีความถูกต้องมากขึ้น</a:t>
            </a:r>
          </a:p>
          <a:p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	3. ประหยัดเวลาในการทำงาน</a:t>
            </a:r>
          </a:p>
          <a:p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	4. ลดปริมาณงานที่ไม่จำเป็น</a:t>
            </a:r>
          </a:p>
          <a:p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 	5. เพิ่มประสิทธิภาพในการทำงาน</a:t>
            </a:r>
            <a:endParaRPr lang="en-US" sz="32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ข้อดี และข้อเสียของการนำระบบสำนักงานอัตโนมัติเข้ามาใช้งาน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สำนักงานอัตโนมัติ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Office Automation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6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632848" cy="3888431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1600" y="1685950"/>
            <a:ext cx="748883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C00000"/>
                </a:solidFill>
                <a:latin typeface="AngsanaUPC" pitchFamily="18" charset="-34"/>
                <a:cs typeface="AngsanaUPC" pitchFamily="18" charset="-34"/>
              </a:rPr>
              <a:t>ข้อเสียของการนำระบบสำนักงานอัตโนมัติเข้ามาใช้งาน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	1. สิ้นเปลืองพลังงาน (อุปกรณ์สำนักงานอัตโนมัติทุกชนิดต้องใช้กระแสไฟฟ้า)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	2. อุปกรณ์ราคาแพง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	3. ขาดบุคลากรที่มีความชำนาญเฉพาะทาง (อุปกรณ์บางชนิด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ต้องผ่านการอบรมก่อนที่จะใช้งาน)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	4. เทคโนโลยีมีการเปลี่ยนแปลงที่รวดเร็ว (มีอุปกรณ์ที่ทันสมัย</a:t>
            </a:r>
            <a:br>
              <a:rPr lang="th-TH" b="1" dirty="0">
                <a:latin typeface="AngsanaUPC" pitchFamily="18" charset="-34"/>
                <a:cs typeface="AngsanaUPC" pitchFamily="18" charset="-34"/>
              </a:rPr>
            </a:br>
            <a:r>
              <a:rPr lang="th-TH" b="1" dirty="0">
                <a:latin typeface="AngsanaUPC" pitchFamily="18" charset="-34"/>
                <a:cs typeface="AngsanaUPC" pitchFamily="18" charset="-34"/>
              </a:rPr>
              <a:t>เกิดขึ้นอยู่ตลอดเวลา)</a:t>
            </a:r>
            <a:endParaRPr lang="en-US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ข้อดี และข้อเสียของการนำระบบสำนักงานอัตโนมัติเข้ามาใช้งาน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สำนักงานอัตโนมัติ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Office Automation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6</a:t>
            </a:r>
            <a:endParaRPr lang="th-TH" b="1" dirty="0"/>
          </a:p>
        </p:txBody>
      </p:sp>
    </p:spTree>
  </p:cSld>
  <p:clrMapOvr>
    <a:masterClrMapping/>
  </p:clrMapOvr>
  <p:transition>
    <p:fade thruBlk="1"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/>
          <p:cNvSpPr/>
          <p:nvPr/>
        </p:nvSpPr>
        <p:spPr>
          <a:xfrm>
            <a:off x="611560" y="1556793"/>
            <a:ext cx="7632848" cy="1800199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1600" y="1685950"/>
            <a:ext cx="74888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1. เทคโนโลยีอุปกรณ์สำนักงาน</a:t>
            </a:r>
          </a:p>
          <a:p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2. เทคโนโลยีคอมพิวเตอร์</a:t>
            </a:r>
          </a:p>
          <a:p>
            <a:r>
              <a:rPr lang="th-TH" sz="3200" b="1" dirty="0">
                <a:latin typeface="AngsanaUPC" pitchFamily="18" charset="-34"/>
                <a:cs typeface="AngsanaUPC" pitchFamily="18" charset="-34"/>
              </a:rPr>
              <a:t>3. เทคโนโลยีโทรคมนาคม</a:t>
            </a:r>
            <a:endParaRPr lang="en-US" sz="3200" b="1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944496"/>
            <a:ext cx="8676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3600" b="1" dirty="0">
                <a:solidFill>
                  <a:srgbClr val="0070C0"/>
                </a:solidFill>
                <a:latin typeface="AngsanaUPC" pitchFamily="18" charset="-34"/>
                <a:cs typeface="AngsanaUPC" pitchFamily="18" charset="-34"/>
              </a:rPr>
              <a:t>เทคโนโลยีสำหรับระบบสำนักงานอัตโนมัติ</a:t>
            </a:r>
            <a:endParaRPr lang="th-TH" sz="3400" b="1" dirty="0">
              <a:solidFill>
                <a:srgbClr val="0070C0"/>
              </a:solidFill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28" y="87193"/>
            <a:ext cx="72728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6">
                  <a:lumMod val="75000"/>
                </a:schemeClr>
              </a:buClr>
              <a:defRPr/>
            </a:pP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สำนักงานอัตโนมัติ (</a:t>
            </a:r>
            <a:r>
              <a:rPr lang="en-US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Office Automation</a:t>
            </a:r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896" y="226998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th-TH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3896" y="195466"/>
            <a:ext cx="367408" cy="523220"/>
          </a:xfrm>
          <a:prstGeom prst="rect">
            <a:avLst/>
          </a:prstGeom>
          <a:solidFill>
            <a:srgbClr val="EAB200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6</a:t>
            </a:r>
            <a:endParaRPr lang="th-TH" b="1" dirty="0"/>
          </a:p>
        </p:txBody>
      </p:sp>
      <p:pic>
        <p:nvPicPr>
          <p:cNvPr id="1013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3452242"/>
            <a:ext cx="2160240" cy="1617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137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71801" y="3452243"/>
            <a:ext cx="1584176" cy="1643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138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01158" y="3448050"/>
            <a:ext cx="1957858" cy="266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138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660232" y="3429000"/>
            <a:ext cx="2218134" cy="2674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1788" y="87193"/>
            <a:ext cx="28760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4000" b="1" dirty="0">
                <a:solidFill>
                  <a:srgbClr val="FF0066"/>
                </a:solidFill>
                <a:latin typeface="AngsanaUPC" pitchFamily="18" charset="-34"/>
                <a:cs typeface="AngsanaUPC" pitchFamily="18" charset="-34"/>
              </a:rPr>
              <a:t>อ้างอิง</a:t>
            </a:r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611560" y="1556793"/>
            <a:ext cx="7560840" cy="3024335"/>
          </a:xfrm>
          <a:prstGeom prst="rect">
            <a:avLst/>
          </a:prstGeom>
          <a:solidFill>
            <a:srgbClr val="F2F2F2">
              <a:alpha val="50196"/>
            </a:srgbClr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th-TH" dirty="0">
              <a:latin typeface="Browallia New" pitchFamily="34" charset="-34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1609750"/>
            <a:ext cx="783401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ประสงค์ </a:t>
            </a:r>
            <a:r>
              <a:rPr lang="th-TH" b="1" dirty="0" err="1">
                <a:latin typeface="AngsanaUPC" pitchFamily="18" charset="-34"/>
                <a:cs typeface="AngsanaUPC" pitchFamily="18" charset="-34"/>
              </a:rPr>
              <a:t>ปราณีต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พลกรัง และคณะ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.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   </a:t>
            </a:r>
            <a:r>
              <a:rPr lang="th-TH" b="1" i="1" dirty="0">
                <a:latin typeface="AngsanaUPC" pitchFamily="18" charset="-34"/>
                <a:cs typeface="AngsanaUPC" pitchFamily="18" charset="-34"/>
              </a:rPr>
              <a:t>ระบบสารสนเทศเพื่อการจัดการ </a:t>
            </a:r>
          </a:p>
          <a:p>
            <a:r>
              <a:rPr lang="th-TH" b="1" i="1" dirty="0">
                <a:latin typeface="AngsanaUPC" pitchFamily="18" charset="-34"/>
                <a:cs typeface="AngsanaUPC" pitchFamily="18" charset="-34"/>
              </a:rPr>
              <a:t> 	ฉบับสมบูรณ์ </a:t>
            </a:r>
            <a:r>
              <a:rPr lang="en-US" b="1" i="1" dirty="0">
                <a:latin typeface="AngsanaUPC" pitchFamily="18" charset="-34"/>
                <a:cs typeface="AngsanaUPC" pitchFamily="18" charset="-34"/>
              </a:rPr>
              <a:t>.</a:t>
            </a:r>
            <a:r>
              <a:rPr lang="th-TH" b="1" i="1" dirty="0">
                <a:latin typeface="AngsanaUPC" pitchFamily="18" charset="-34"/>
                <a:cs typeface="AngsanaUPC" pitchFamily="18" charset="-34"/>
              </a:rPr>
              <a:t>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Diamond in Business World.</a:t>
            </a:r>
          </a:p>
          <a:p>
            <a:r>
              <a:rPr lang="th-TH" b="1" dirty="0" err="1">
                <a:latin typeface="AngsanaUPC" pitchFamily="18" charset="-34"/>
                <a:cs typeface="AngsanaUPC" pitchFamily="18" charset="-34"/>
              </a:rPr>
              <a:t>ณัฐ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พันธ์ เขจรนันทน์ และไพบูลย์ เกียรติโกมล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. 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(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2542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)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. </a:t>
            </a:r>
            <a:r>
              <a:rPr lang="th-TH" b="1" i="1" dirty="0">
                <a:latin typeface="AngsanaUPC" pitchFamily="18" charset="-34"/>
                <a:cs typeface="AngsanaUPC" pitchFamily="18" charset="-34"/>
              </a:rPr>
              <a:t>ระบบสารสนเทศ</a:t>
            </a:r>
            <a:br>
              <a:rPr lang="th-TH" b="1" i="1" dirty="0">
                <a:latin typeface="AngsanaUPC" pitchFamily="18" charset="-34"/>
                <a:cs typeface="AngsanaUPC" pitchFamily="18" charset="-34"/>
              </a:rPr>
            </a:br>
            <a:r>
              <a:rPr lang="th-TH" b="1" i="1" dirty="0">
                <a:latin typeface="AngsanaUPC" pitchFamily="18" charset="-34"/>
                <a:cs typeface="AngsanaUPC" pitchFamily="18" charset="-34"/>
              </a:rPr>
              <a:t> 	เพื่อการจัดการ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. 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(พิมพ์ครั้งที่ 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1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)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.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 กรุงเทพ ฯ  </a:t>
            </a:r>
            <a:r>
              <a:rPr lang="en-US" b="1" dirty="0">
                <a:latin typeface="AngsanaUPC" pitchFamily="18" charset="-34"/>
                <a:cs typeface="AngsanaUPC" pitchFamily="18" charset="-34"/>
              </a:rPr>
              <a:t>:</a:t>
            </a:r>
            <a:r>
              <a:rPr lang="th-TH" b="1" dirty="0">
                <a:latin typeface="AngsanaUPC" pitchFamily="18" charset="-34"/>
                <a:cs typeface="AngsanaUPC" pitchFamily="18" charset="-34"/>
              </a:rPr>
              <a:t> จุฬาลงกรณ์</a:t>
            </a:r>
          </a:p>
          <a:p>
            <a:r>
              <a:rPr lang="th-TH" b="1" dirty="0">
                <a:latin typeface="AngsanaUPC" pitchFamily="18" charset="-34"/>
                <a:cs typeface="AngsanaUPC" pitchFamily="18" charset="-34"/>
              </a:rPr>
              <a:t> 	มหาวิทยาลัย</a:t>
            </a:r>
            <a:endParaRPr lang="en-US" b="1" dirty="0">
              <a:latin typeface="AngsanaUPC" pitchFamily="18" charset="-34"/>
              <a:cs typeface="AngsanaUPC" pitchFamily="18" charset="-34"/>
            </a:endParaRPr>
          </a:p>
        </p:txBody>
      </p:sp>
    </p:spTree>
  </p:cSld>
  <p:clrMapOvr>
    <a:masterClrMapping/>
  </p:clrMapOvr>
  <p:transition>
    <p:fade thruBlk="1"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4"/>
          <p:cNvSpPr/>
          <p:nvPr/>
        </p:nvSpPr>
        <p:spPr>
          <a:xfrm>
            <a:off x="172008" y="139146"/>
            <a:ext cx="8784000" cy="590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026" name="Picture 2" descr="D:\รายวิชา\วิชาระบบสารสนเทศสำหรับการบริหาร\เอกสารประกอบ\imagesCA5WY95X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9631" y="332656"/>
            <a:ext cx="6624735" cy="5745102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16178</TotalTime>
  <Words>8301</Words>
  <Application>Microsoft Macintosh PowerPoint</Application>
  <PresentationFormat>On-screen Show (4:3)</PresentationFormat>
  <Paragraphs>848</Paragraphs>
  <Slides>116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116</vt:i4>
      </vt:variant>
    </vt:vector>
  </HeadingPairs>
  <TitlesOfParts>
    <vt:vector size="128" baseType="lpstr">
      <vt:lpstr>Aharoni</vt:lpstr>
      <vt:lpstr>Angsana New</vt:lpstr>
      <vt:lpstr>AngsanaUPC</vt:lpstr>
      <vt:lpstr>Arial</vt:lpstr>
      <vt:lpstr>Browallia New</vt:lpstr>
      <vt:lpstr>Calibri</vt:lpstr>
      <vt:lpstr>TH Baijam</vt:lpstr>
      <vt:lpstr>TH SarabunPSK</vt:lpstr>
      <vt:lpstr>Wide Latin</vt:lpstr>
      <vt:lpstr>Wingdings</vt:lpstr>
      <vt:lpstr>ชุดรูปแบบของ Office</vt:lpstr>
      <vt:lpstr>MS Org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ภาพนิ่ง 1</dc:title>
  <dc:creator>KIT</dc:creator>
  <cp:lastModifiedBy>เขมวิทย์ จิตตะยโศธร</cp:lastModifiedBy>
  <cp:revision>5499</cp:revision>
  <dcterms:created xsi:type="dcterms:W3CDTF">2011-07-24T06:58:47Z</dcterms:created>
  <dcterms:modified xsi:type="dcterms:W3CDTF">2026-01-20T01:01:57Z</dcterms:modified>
</cp:coreProperties>
</file>